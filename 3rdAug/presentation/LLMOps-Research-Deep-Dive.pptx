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tone: this is a working, practical session — not a sales pitch. We'll go through each component of LLMOps, compare the real tool options, and show the exact setup, from a small start up to a full production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components. Not all need building on day one — that's the whole point of the maturity-level plan later. But this is the complete list so nothing gets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argument. Most of the machinery is shared. Only the content — prompts, agents, and the golden test data — is written fresh each time. That's what makes a platform pay off after the first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levels. Level 0-1 gets one real use case live in about six weeks on a genuine (if minimal) LLMOps loop. Level 2 hardens it for production scale. Level 3 is when the platform serves many teams. This structure repeats through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literal folder structure in the Git repository. Point out: prompts and agents are code, not portal edits. Golden datasets live next to the code they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right. The amber boxes are where evaluation happens automatically. OIDC = the app authenticates to Azure without any stored password or key, using a short-lived federated token. This whole slide is 'what makes it LLMOps and not just DevOps' — the evaluation 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Prompts are treated exactly like code: they live in Git, go through pull request review, and are tested by the evaluation gate before anyone sees them in production. The registry is just a fast-access, labelled copy for the running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model name is hard-coded in the application. The app asks for a task alias; a config file (in Git, reviewed) decides which model that maps to today. A Model Router can also pick automatically by cost and quality, but explicit aliases give more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 dataset = the exam the system must keep passing. Three ways to build it. Then the metrics table — different use cases need different measures, and most are graded automatically, with a human check on a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real options, honestly compared. The recommendation is a pairing, not a single tool: Azure-native for the system of record, plus Langfuse for the LLM-specific view that Azure Monitor doesn't give out of the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checklist for 'did we instrument this properly'. If any of these five rows is missing, we can't fully diagnose an issue or measure quality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loop that makes this an operation, not a one-off build. Point at the light-teal loop-back arrow — that is the whole idea of LLMOps in one picture. Fine-tuning is mentioned as a later, optional step, not a starting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steps, left to right. This is the pipeline behind every RAG answer. Refresh can run on a timer or trigger the moment a source document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question, so it gets its own slide. The lakehouse is not replaced — it becomes the shared landing place, feeding the search index on one side and reporting/training data on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real frameworks, compared honestly. The default recommendation is the Microsoft one because it's built into the same Azure platform and supports long-running, resumable work. A2A is the standard that lets agents from different teams cooperate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common agent roles, then five coordination patterns. The last line is the key point of this whole section: multi-agent does not get a separate Ops process — it plugs into the exact same Git, evaluation, and tracing setup as everything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reference list. Don't read every row aloud — this is here so people can see the exact Azure service behind every component we've discussed, in one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single-picture summary of everything covered so far. Four flows: a change goes through review and testing; a live request runs through the system; everything is measured; and real usage feeds back into the test data. That closed loop is what LLMOps means end to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four levels, now with specifics. First production use case lands around week six. Each level is additive — we never redo earlier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brief. Small core team, clear assumptions, and the risks we already know about with a one-line fix for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 One clear ask at the end: agree the first six weeks of scope and get access to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 — leave this up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F3A5F"/>
                </a:solidFill>
                <a:latin typeface="Calibri"/>
              </a:rPr>
              <a:t>Practical LLMOps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2514600"/>
            <a:ext cx="18288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78892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0" i="0">
                <a:solidFill>
                  <a:srgbClr val="3C4654"/>
                </a:solidFill>
                <a:latin typeface="Calibri"/>
              </a:rPr>
              <a:t>What it means, what it covers, and exactly how to build it — component by component, on Azure.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1">
                <a:solidFill>
                  <a:srgbClr val="6B7480"/>
                </a:solidFill>
                <a:latin typeface="Calibri"/>
              </a:rPr>
              <a:t>LLM = Large Language Model. LLMOps = Large Language Model Operations. Research phase — implementation depth, no fluff.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806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F3A5F"/>
                </a:solidFill>
                <a:latin typeface="Calibri"/>
              </a:rPr>
              <a:t>Working draft  ·  editable  ·  research phase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</a:rPr>
              <a:t>What LLMOps covers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Practical LLMOps — research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3C4654"/>
                </a:solidFill>
                <a:latin typeface="Calibri"/>
              </a:rPr>
              <a:t>LLMOps = DevOps (build/test/release discipline) adapted for language-model apps. It is a set of components, not one tool.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Source control &amp; CI/CD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GitHub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82296" cy="9601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38144" y="169164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Prompt management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versioned, tested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8144" y="1691640"/>
            <a:ext cx="82296" cy="960120"/>
          </a:xfrm>
          <a:prstGeom prst="rect">
            <a:avLst/>
          </a:prstGeom>
          <a:solidFill>
            <a:srgbClr val="2F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69164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Model management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catalog, aliases, router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8" y="1691640"/>
            <a:ext cx="82296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34272" y="1691640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Evaluation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golden datasets, scoring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34272" y="1691640"/>
            <a:ext cx="82296" cy="960120"/>
          </a:xfrm>
          <a:prstGeom prst="rect">
            <a:avLst/>
          </a:prstGeom>
          <a:solidFill>
            <a:srgbClr val="51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798064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Observability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traces, cost, quality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98064"/>
            <a:ext cx="82296" cy="960120"/>
          </a:xfrm>
          <a:prstGeom prst="rect">
            <a:avLst/>
          </a:prstGeom>
          <a:solidFill>
            <a:srgbClr val="2E7D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38144" y="2798064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Feedback &amp; analytics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dashboards, improve loop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38144" y="2798064"/>
            <a:ext cx="82296" cy="960120"/>
          </a:xfrm>
          <a:prstGeom prst="rect">
            <a:avLst/>
          </a:prstGeom>
          <a:solidFill>
            <a:srgbClr val="6A51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36208" y="2798064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Data pipelines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ingestion, RAG, warehouse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6208" y="2798064"/>
            <a:ext cx="82296" cy="96012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34272" y="2798064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Guardrails &amp; safety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input/output checks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34272" y="2798064"/>
            <a:ext cx="82296" cy="960120"/>
          </a:xfrm>
          <a:prstGeom prst="rect">
            <a:avLst/>
          </a:prstGeom>
          <a:solidFill>
            <a:srgbClr val="C8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904488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Serving &amp; gateway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routing, quotas, cache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904488"/>
            <a:ext cx="82296" cy="960120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38144" y="3904488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Multi-agent orchestration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frameworks, workflows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38144" y="3904488"/>
            <a:ext cx="82296" cy="960120"/>
          </a:xfrm>
          <a:prstGeom prst="rect">
            <a:avLst/>
          </a:prstGeom>
          <a:solidFill>
            <a:srgbClr val="B04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36208" y="3904488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Security &amp; identity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access, secrets, network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8" y="3904488"/>
            <a:ext cx="82296" cy="960120"/>
          </a:xfrm>
          <a:prstGeom prst="rect">
            <a:avLst/>
          </a:prstGeom>
          <a:solidFill>
            <a:srgbClr val="3C46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34272" y="3904488"/>
            <a:ext cx="2651760" cy="96012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FinOps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cost tracking &amp; budgets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34272" y="3904488"/>
            <a:ext cx="82296" cy="960120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</a:rPr>
              <a:t>What's reusable, and what's per use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Practical LLMOps — research phase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25880"/>
          <a:ext cx="1109167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566160"/>
                <a:gridCol w="3867912"/>
              </a:tblGrid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Built once (shared)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Done again per use case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Source control &amp; CI/CD pipeline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Yes — one pipeline design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New folder + config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Model gateway &amp; catalog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Pick an alias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Evaluation engine &amp; CI gate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New golden dataset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Observability &amp; dashboards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New tags/filters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Data pipeline framework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New source connectors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Guardrail engine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Policy tuning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Agent orchestration runtime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New agents &amp; prompts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Prompts, agents, golden data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No — always new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Always new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Calibri"/>
              </a:rPr>
              <a:t>This is why we build the platform first: </a:t>
            </a:r>
            <a:r>
              <a:rPr sz="1300" b="0" i="0">
                <a:solidFill>
                  <a:srgbClr val="3C4654"/>
                </a:solidFill>
                <a:latin typeface="Calibri"/>
              </a:rPr>
              <a:t>most rows say 'Yes' — build once, reuse for every future use case.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</a:rPr>
              <a:t>Start small, grow: four levels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Practical LLMOps — research phase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697480" cy="548640"/>
          </a:xfrm>
          <a:prstGeom prst="roundRect">
            <a:avLst>
              <a:gd name="adj" fmla="val 8000"/>
            </a:avLst>
          </a:prstGeom>
          <a:solidFill>
            <a:srgbClr val="51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Level 0 ·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57984"/>
            <a:ext cx="2697480" cy="3657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Weeks 1-2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78608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/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Repo, Azure landing, basic tracing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55264" y="1828800"/>
            <a:ext cx="118872" cy="201168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1554480"/>
            <a:ext cx="2697480" cy="54864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Level 1 · Managed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157984"/>
            <a:ext cx="2697480" cy="3657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Weeks 3-6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578608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/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CI evals, prompt registry, RAG, guardrails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89904" y="1828800"/>
            <a:ext cx="118872" cy="201168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1554480"/>
            <a:ext cx="2697480" cy="548640"/>
          </a:xfrm>
          <a:prstGeom prst="roundRect">
            <a:avLst>
              <a:gd name="adj" fmla="val 8000"/>
            </a:avLst>
          </a:prstGeom>
          <a:solidFill>
            <a:srgbClr val="2F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Level 2 · Production-grade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157984"/>
            <a:ext cx="2697480" cy="3657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Months 2-4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578608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/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Full evals, canary, feedback loop, cost control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924544" y="1828800"/>
            <a:ext cx="118872" cy="201168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52560" y="1554480"/>
            <a:ext cx="2697480" cy="548640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Level 3 · Scaled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2157984"/>
            <a:ext cx="2697480" cy="3657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Months 4+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2578608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/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Self-service onboarding, fine-tuning, multi-team agents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06240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1">
                <a:solidFill>
                  <a:srgbClr val="1F3A5F"/>
                </a:solidFill>
                <a:latin typeface="Calibri"/>
              </a:rPr>
              <a:t>Each level adds capability without rework — nothing built at Level 0 is thrown away later.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</a:rPr>
              <a:t>The Ops backbone: repository layout on GitHub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Practical LLMOps — research phase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1417320"/>
            <a:ext cx="2377440" cy="530352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/prompts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417320"/>
            <a:ext cx="7680960" cy="530352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417320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C4654"/>
                </a:solidFill>
                <a:latin typeface="Calibri"/>
              </a:rPr>
              <a:t>versioned prompt templates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020824"/>
            <a:ext cx="2377440" cy="530352"/>
          </a:xfrm>
          <a:prstGeom prst="roundRect">
            <a:avLst>
              <a:gd name="adj" fmla="val 8000"/>
            </a:avLst>
          </a:prstGeom>
          <a:solidFill>
            <a:srgbClr val="2F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/agents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40" y="2020824"/>
            <a:ext cx="7680960" cy="530352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020824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C4654"/>
                </a:solidFill>
                <a:latin typeface="Calibri"/>
              </a:rPr>
              <a:t>agent &amp; workflow definitions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624328"/>
            <a:ext cx="2377440" cy="530352"/>
          </a:xfrm>
          <a:prstGeom prst="roundRect">
            <a:avLst>
              <a:gd name="adj" fmla="val 8000"/>
            </a:avLst>
          </a:prstGeom>
          <a:solidFill>
            <a:srgbClr val="C8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/evals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2624328"/>
            <a:ext cx="7680960" cy="530352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2624328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C4654"/>
                </a:solidFill>
                <a:latin typeface="Calibri"/>
              </a:rPr>
              <a:t>golden datasets + evaluator configs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227832"/>
            <a:ext cx="2377440" cy="530352"/>
          </a:xfrm>
          <a:prstGeom prst="roundRect">
            <a:avLst>
              <a:gd name="adj" fmla="val 8000"/>
            </a:avLst>
          </a:prstGeom>
          <a:solidFill>
            <a:srgbClr val="51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/src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3227832"/>
            <a:ext cx="7680960" cy="530352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3227832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C4654"/>
                </a:solidFill>
                <a:latin typeface="Calibri"/>
              </a:rPr>
              <a:t>application &amp; orchestration 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3831336"/>
            <a:ext cx="2377440" cy="530352"/>
          </a:xfrm>
          <a:prstGeom prst="roundRect">
            <a:avLst>
              <a:gd name="adj" fmla="val 8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/pipelines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3831336"/>
            <a:ext cx="7680960" cy="530352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3831336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C4654"/>
                </a:solidFill>
                <a:latin typeface="Calibri"/>
              </a:rPr>
              <a:t>GitHub Actions workflows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4434840"/>
            <a:ext cx="2377440" cy="530352"/>
          </a:xfrm>
          <a:prstGeom prst="roundRect">
            <a:avLst>
              <a:gd name="adj" fmla="val 8000"/>
            </a:avLst>
          </a:prstGeom>
          <a:solidFill>
            <a:srgbClr val="6A51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/infra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0440" y="4434840"/>
            <a:ext cx="7680960" cy="530352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4434840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C4654"/>
                </a:solidFill>
                <a:latin typeface="Calibri"/>
              </a:rPr>
              <a:t>Bicep/Terraform (infrastructure as code)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5038344"/>
            <a:ext cx="2377440" cy="530352"/>
          </a:xfrm>
          <a:prstGeom prst="roundRect">
            <a:avLst>
              <a:gd name="adj" fmla="val 8000"/>
            </a:avLst>
          </a:prstGeom>
          <a:solidFill>
            <a:srgbClr val="2E7D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/dashboards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5038344"/>
            <a:ext cx="7680960" cy="530352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5038344"/>
            <a:ext cx="7315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C4654"/>
                </a:solidFill>
                <a:latin typeface="Calibri"/>
              </a:rPr>
              <a:t>dashboard &amp; alert definitions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733288"/>
            <a:ext cx="10195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Calibri"/>
              </a:rPr>
              <a:t>One monorepo for the platform; one subfolder per use case inside /prompts, /agents, /evals. </a:t>
            </a:r>
            <a:r>
              <a:rPr sz="1300" b="0" i="0">
                <a:solidFill>
                  <a:srgbClr val="3C4654"/>
                </a:solidFill>
                <a:latin typeface="Calibri"/>
              </a:rPr>
              <a:t>Everything here is reviewed by pull request — nothing changes untracked.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</a:rPr>
              <a:t>GitHub Actions: from change to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Practical LLMOps — research phase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783080" cy="118872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Pull request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edit prompt/agent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22576" y="1920240"/>
            <a:ext cx="201168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68880" y="1463040"/>
            <a:ext cx="1783080" cy="1188720"/>
          </a:xfrm>
          <a:prstGeom prst="roundRect">
            <a:avLst>
              <a:gd name="adj" fmla="val 8000"/>
            </a:avLst>
          </a:prstGeom>
          <a:solidFill>
            <a:srgbClr val="F6E9E0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pr-checks.yml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lint + quick eval subset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242816" y="1920240"/>
            <a:ext cx="201168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1783080" cy="1188720"/>
          </a:xfrm>
          <a:prstGeom prst="roundRect">
            <a:avLst>
              <a:gd name="adj" fmla="val 8000"/>
            </a:avLst>
          </a:prstGeom>
          <a:solidFill>
            <a:srgbClr val="F6E9E0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Merge to main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eval-full.yml runs nightly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163056" y="1920240"/>
            <a:ext cx="201168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1783080" cy="118872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deploy.yml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build &amp; push to dev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083296" y="1920240"/>
            <a:ext cx="201168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1463040"/>
            <a:ext cx="1783080" cy="118872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Canary in prod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small traffic slice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0003536" y="1920240"/>
            <a:ext cx="201168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149840" y="1463040"/>
            <a:ext cx="1783080" cy="118872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Full rollout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or auto-rollback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Calibri"/>
              </a:rPr>
              <a:t>Required GitHub Environments: </a:t>
            </a:r>
            <a:r>
              <a:rPr sz="1300" b="0" i="0">
                <a:solidFill>
                  <a:srgbClr val="3C4654"/>
                </a:solidFill>
                <a:latin typeface="Calibri"/>
              </a:rPr>
              <a:t>dev → test → prod, each with required reviewers before promotion.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3429000"/>
          <a:ext cx="1109167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48472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Safeguard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No stored cloud keys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GitHub OIDC (federated login) signs in to Azure per run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Quality gate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pr-checks.yml fails the PR if eval score drops past a threshold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Gradual release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canary slice first, health + eval checks, then full rollout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Auto-rollback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deployment reverts automatically if alarms fire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PROMPTS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</a:rPr>
              <a:t>Prompt management: where prompts actually live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Practical LLMOps — research phase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400" b="1">
                <a:solidFill>
                  <a:srgbClr val="1F3A5F"/>
                </a:solidFill>
                <a:latin typeface="Calibri"/>
              </a:rPr>
              <a:t>Git (source of truth)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one YAML file per prompt: id, version, template, variables, eval refs, changelog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06440" y="2286000"/>
            <a:ext cx="365760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212080" cy="2011680"/>
          </a:xfrm>
          <a:prstGeom prst="roundRect">
            <a:avLst>
              <a:gd name="adj" fmla="val 8000"/>
            </a:avLst>
          </a:prstGeom>
          <a:solidFill>
            <a:srgbClr val="E9F3F0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400" b="1">
                <a:solidFill>
                  <a:srgbClr val="2A9D8F"/>
                </a:solidFill>
                <a:latin typeface="Calibri"/>
              </a:rPr>
              <a:t>Runtime registry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labelled prod / staging; app asks for "prompt X, label prod"; supports hot-swap and A/B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3703320"/>
          <a:ext cx="1109167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657600"/>
                <a:gridCol w="4416552"/>
              </a:tblGrid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Registry option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Good for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A5F"/>
                          </a:solidFill>
                          <a:latin typeface="Calibri"/>
                        </a:rPr>
                        <a:t>Langfuse Prompt Management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C4654"/>
                          </a:solidFill>
                          <a:latin typeface="Calibri"/>
                        </a:rPr>
                        <a:t>Open-source, self-hosted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C4654"/>
                          </a:solidFill>
                          <a:latin typeface="Calibri"/>
                        </a:rPr>
                        <a:t>Versioned prompts + built-in observability together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A5F"/>
                          </a:solidFill>
                          <a:latin typeface="Calibri"/>
                        </a:rPr>
                        <a:t>Foundry prompt assets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C4654"/>
                          </a:solidFill>
                          <a:latin typeface="Calibri"/>
                        </a:rPr>
                        <a:t>Native to the Azure AI platform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C4654"/>
                          </a:solidFill>
                          <a:latin typeface="Calibri"/>
                        </a:rPr>
                        <a:t>Staying inside one Microsoft portal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A5F"/>
                          </a:solidFill>
                          <a:latin typeface="Calibri"/>
                        </a:rPr>
                        <a:t>Git + in-app cache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C4654"/>
                          </a:solidFill>
                          <a:latin typeface="Calibri"/>
                        </a:rPr>
                        <a:t>Simplest option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C4654"/>
                          </a:solidFill>
                          <a:latin typeface="Calibri"/>
                        </a:rPr>
                        <a:t>Small setups; no separate registry service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B04A5A"/>
                </a:solidFill>
                <a:latin typeface="Calibri"/>
              </a:rPr>
              <a:t>Anti-pattern: </a:t>
            </a:r>
            <a:r>
              <a:rPr sz="1300" b="0" i="0">
                <a:solidFill>
                  <a:srgbClr val="3C4654"/>
                </a:solidFill>
                <a:latin typeface="Calibri"/>
              </a:rPr>
              <a:t>prompts typed directly into a chatbot portal or hard-coded in application code — untracked, untested, unreviewed.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</a:rPr>
              <a:t>Model management: how model choice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Practical LLMOps — research phase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App code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asks for a task alias, e.g. "summarize"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69080" y="1965960"/>
            <a:ext cx="310896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137160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E9F3F0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models.yaml (in Git)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alias -&gt; deployment, per environment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001000" y="1965960"/>
            <a:ext cx="310896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0" y="1371600"/>
            <a:ext cx="3063240" cy="13716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Model deployment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the actual model version running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1">
                <a:solidFill>
                  <a:srgbClr val="1F3A5F"/>
                </a:solidFill>
                <a:latin typeface="Calibri"/>
              </a:rPr>
              <a:t>Swapping a model = a config file change reviewed like any other code, and it must pass the evaluation gate.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3520440"/>
          <a:ext cx="1109167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474720"/>
                <a:gridCol w="5056632"/>
              </a:tblGrid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Task type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Typical choice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A5F"/>
                          </a:solidFill>
                          <a:latin typeface="Calibri"/>
                        </a:rPr>
                        <a:t>Complex reasoning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C4654"/>
                          </a:solidFill>
                          <a:latin typeface="Calibri"/>
                        </a:rPr>
                        <a:t>Larger flagship model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C4654"/>
                          </a:solidFill>
                          <a:latin typeface="Calibri"/>
                        </a:rPr>
                        <a:t>Higher accuracy on hard multi-step tasks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A5F"/>
                          </a:solidFill>
                          <a:latin typeface="Calibri"/>
                        </a:rPr>
                        <a:t>Bulk / simple tasks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C4654"/>
                          </a:solidFill>
                          <a:latin typeface="Calibri"/>
                        </a:rPr>
                        <a:t>Smaller, cheaper model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C4654"/>
                          </a:solidFill>
                          <a:latin typeface="Calibri"/>
                        </a:rPr>
                        <a:t>Good enough quality, much lower cost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A5F"/>
                          </a:solidFill>
                          <a:latin typeface="Calibri"/>
                        </a:rPr>
                        <a:t>Real-time voice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C4654"/>
                          </a:solidFill>
                          <a:latin typeface="Calibri"/>
                        </a:rPr>
                        <a:t>Realtime speech-to-speech model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C4654"/>
                          </a:solidFill>
                          <a:latin typeface="Calibri"/>
                        </a:rPr>
                        <a:t>Built for low-delay spoken conversation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A5F"/>
                          </a:solidFill>
                          <a:latin typeface="Calibri"/>
                        </a:rPr>
                        <a:t>Search / retrieval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C4654"/>
                          </a:solidFill>
                          <a:latin typeface="Calibri"/>
                        </a:rPr>
                        <a:t>Embedding model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C4654"/>
                          </a:solidFill>
                          <a:latin typeface="Calibri"/>
                        </a:rPr>
                        <a:t>Turns text into searchable vectors, not chat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</a:rPr>
              <a:t>Evaluation: what a golden dataset actually 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Practical LLMOps — research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3C4654"/>
                </a:solidFill>
                <a:latin typeface="Calibri"/>
              </a:rPr>
              <a:t>A golden dataset is a saved, versioned set of test questions with the expected answer or grading rule — used to check every change before it ships.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SME-authored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experts write realistic cases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82296" cy="10515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79392" y="182880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Mined from real traffic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anonymised past requests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828800"/>
            <a:ext cx="82296" cy="1051560"/>
          </a:xfrm>
          <a:prstGeom prst="rect">
            <a:avLst/>
          </a:prstGeom>
          <a:solidFill>
            <a:srgbClr val="2F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10144" y="1828800"/>
            <a:ext cx="3566160" cy="10515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Synthetic + reviewed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generated, then human-checked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10144" y="1828800"/>
            <a:ext cx="82296" cy="1051560"/>
          </a:xfrm>
          <a:prstGeom prst="rect">
            <a:avLst/>
          </a:prstGeom>
          <a:solidFill>
            <a:srgbClr val="C8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3108960"/>
          <a:ext cx="1109167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840480"/>
                <a:gridCol w="4599432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 group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 metric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 it's scored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Knowledge answers (RAG)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Groundedness — is it backed by real data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Automated grading model + rules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Writing quality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Coherence, tone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Automated grading model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Exact tasks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Exact match / F1 score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Rule-based comparison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Agent behaviour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Task success rate, correct tool used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Rule-based + automated grading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Running cost &amp; speed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Latency, cost per request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Measured directly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Safety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Unsafe content rate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Automated safety scanner + red-team tests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6B7480"/>
                </a:solidFill>
                <a:latin typeface="Calibri"/>
              </a:rPr>
              <a:t>Start with 50–200 test cases per use case; grow it from real feedback over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</a:rPr>
              <a:t>Observability: comparing the providers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Practical LLMOps — research phase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25880"/>
          <a:ext cx="11091672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920240"/>
                <a:gridCol w="3776472"/>
                <a:gridCol w="3017520"/>
              </a:tblGrid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Provider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tracks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Best fit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Azure Monitor + App Insights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Cloud-native (Microsoft)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Traces, tokens, latency, errors, custom events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Default; data stays in the tenant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Langfuse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Open source (self-hosted)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Traces, cost per model, prompt versions, user feedback, datasets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Best LLM-specific view; also does prompt management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LangSmith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SaaS (LangChain)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Traces, feedback, datasets, prompt hub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Teams already using LangChain tools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Arize Phoenix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Open source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Traces, evaluation scores, embedding drift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Watching for data/answer drift over time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3A5F"/>
                          </a:solidFill>
                          <a:latin typeface="Calibri"/>
                        </a:rPr>
                        <a:t>Datadog LLM Observability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SaaS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Traces, evaluation, cost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C4654"/>
                          </a:solidFill>
                          <a:latin typeface="Calibri"/>
                        </a:rPr>
                        <a:t>Already a Datadog shop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4892040"/>
            <a:ext cx="11091672" cy="1097280"/>
          </a:xfrm>
          <a:prstGeom prst="roundRect">
            <a:avLst>
              <a:gd name="adj" fmla="val 8000"/>
            </a:avLst>
          </a:prstGeom>
          <a:solidFill>
            <a:srgbClr val="E9F3F0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2A9D8F"/>
                </a:solidFill>
                <a:latin typeface="Calibri"/>
              </a:rPr>
              <a:t>Recommended pairing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Azure Monitor + Application Insights as the system of record  +  self-hosted Langfuse as the LLM-specific lens (cost per model, prompt versions, feedback)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</a:rPr>
              <a:t>What exactly gets tracked on every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Practical LLMOps — research phase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Model calls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463040"/>
            <a:ext cx="7955279" cy="77724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463040"/>
            <a:ext cx="7589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C4654"/>
                </a:solidFill>
                <a:latin typeface="Calibri"/>
              </a:rPr>
              <a:t>prompt, answer, tokens, cost, latency, model + prompt version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2F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Tool calls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2377440"/>
            <a:ext cx="7955279" cy="77724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377440"/>
            <a:ext cx="7589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C4654"/>
                </a:solidFill>
                <a:latin typeface="Calibri"/>
              </a:rPr>
              <a:t>which tool, inputs, outputs, success/failure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51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Agent hops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3291840"/>
            <a:ext cx="7955279" cy="77724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3291840"/>
            <a:ext cx="7589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C4654"/>
                </a:solidFill>
                <a:latin typeface="Calibri"/>
              </a:rPr>
              <a:t>which agent ran, in what order, handoffs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C87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Sessions &amp; users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4206240"/>
            <a:ext cx="7955279" cy="77724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4206240"/>
            <a:ext cx="7589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C4654"/>
                </a:solidFill>
                <a:latin typeface="Calibri"/>
              </a:rPr>
              <a:t>conversation id, user id (no raw personal data)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20640"/>
            <a:ext cx="2743200" cy="777240"/>
          </a:xfrm>
          <a:prstGeom prst="roundRect">
            <a:avLst>
              <a:gd name="adj" fmla="val 8000"/>
            </a:avLst>
          </a:prstGeom>
          <a:solidFill>
            <a:srgbClr val="2E7D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Feedback events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5120640"/>
            <a:ext cx="7955279" cy="77724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5120640"/>
            <a:ext cx="75895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C4654"/>
                </a:solidFill>
                <a:latin typeface="Calibri"/>
              </a:rPr>
              <a:t>thumbs up/down, reason, edits, escalations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80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1">
                <a:solidFill>
                  <a:srgbClr val="1F3A5F"/>
                </a:solidFill>
                <a:latin typeface="Calibri"/>
              </a:rPr>
              <a:t>Every one of these carries a trace ID, so a bad answer can be followed back to its exact request.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</a:rPr>
              <a:t>Feedback, analytics, and the improvement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Practical LLMOps — research phase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737360" cy="118872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Capture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feedback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76856" y="1920240"/>
            <a:ext cx="182880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423160" y="1463040"/>
            <a:ext cx="1737360" cy="118872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Land in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dashboards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51376" y="1920240"/>
            <a:ext cx="182880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1463040"/>
            <a:ext cx="1737360" cy="118872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Triage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negatives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25896" y="1920240"/>
            <a:ext cx="182880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463040"/>
            <a:ext cx="1737360" cy="118872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Add to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golden set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00416" y="1920240"/>
            <a:ext cx="182880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46720" y="1463040"/>
            <a:ext cx="1737360" cy="118872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Fix &amp;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re-evaluate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774936" y="1920240"/>
            <a:ext cx="182880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921240" y="1463040"/>
            <a:ext cx="1737360" cy="118872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Ship</a:t>
            </a:r>
          </a:p>
        </p:txBody>
      </p:sp>
      <p:sp>
        <p:nvSpPr>
          <p:cNvPr id="19" name="Left Arrow 18"/>
          <p:cNvSpPr/>
          <p:nvPr/>
        </p:nvSpPr>
        <p:spPr>
          <a:xfrm>
            <a:off x="731520" y="2971800"/>
            <a:ext cx="9966960" cy="182880"/>
          </a:xfrm>
          <a:prstGeom prst="leftArrow">
            <a:avLst/>
          </a:prstGeom>
          <a:solidFill>
            <a:srgbClr val="BFD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8640" y="3383280"/>
          <a:ext cx="1109167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891272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Dashboard tile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Shows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Volume &amp; containment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how many requests, how many resolved without a human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Speed &amp; cost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p95 latency, cost per use case per day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Quality trend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evaluation scores over time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Feedback rate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thumbs up/down rate and top negative reasons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Calibri"/>
              </a:rPr>
              <a:t>Later stage: </a:t>
            </a:r>
            <a:r>
              <a:rPr sz="1300" b="0" i="0">
                <a:solidFill>
                  <a:srgbClr val="3C4654"/>
                </a:solidFill>
                <a:latin typeface="Calibri"/>
              </a:rPr>
              <a:t>once prompts and search stop improving quality further, well-reviewed accepted answers can become fine-tuning data for a smaller, cheaper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</a:rPr>
              <a:t>Data pipelines: feeding answers from our own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Practical LLMOps — research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3C4654"/>
                </a:solidFill>
                <a:latin typeface="Calibri"/>
              </a:rPr>
              <a:t>RAG (Retrieval-Augmented Generation): search our documents first, then let the model answer using only what was found.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74519"/>
            <a:ext cx="2057400" cy="13716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Sources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files, records, systems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96896" y="2423159"/>
            <a:ext cx="310896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70632" y="1874519"/>
            <a:ext cx="2057400" cy="13716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Ingest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read &amp; clean, remove personal data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18888" y="2423159"/>
            <a:ext cx="310896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92624" y="1874519"/>
            <a:ext cx="2057400" cy="13716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Chunk &amp; embed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split text, turn into vectors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40880" y="2423159"/>
            <a:ext cx="310896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14616" y="1874519"/>
            <a:ext cx="2057400" cy="13716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Search index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store for meaning search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62872" y="2423159"/>
            <a:ext cx="310896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436608" y="1874519"/>
            <a:ext cx="2057400" cy="137160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Retrieve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find matching pieces at answer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6616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Calibri"/>
              </a:rPr>
              <a:t>Refresh: </a:t>
            </a:r>
            <a:r>
              <a:rPr sz="1300" b="0" i="0">
                <a:solidFill>
                  <a:srgbClr val="3C4654"/>
                </a:solidFill>
                <a:latin typeface="Calibri"/>
              </a:rPr>
              <a:t>on a schedule, or immediately when a source changes (change data capture).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</a:rPr>
              <a:t>Does this replace the data warehouse? No — it connects to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Practical LLMOps — research phase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3291840" cy="146304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Source systems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files, databases, CRM, call records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51960" y="2148840"/>
            <a:ext cx="310896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09160" y="1554480"/>
            <a:ext cx="3291840" cy="1463040"/>
          </a:xfrm>
          <a:prstGeom prst="roundRect">
            <a:avLst>
              <a:gd name="adj" fmla="val 8000"/>
            </a:avLst>
          </a:prstGeom>
          <a:solidFill>
            <a:srgbClr val="E9F3F0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2A9D8F"/>
                </a:solidFill>
                <a:latin typeface="Calibri"/>
              </a:rPr>
              <a:t>Lakehouse / warehouse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one place data lands and is governed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138160" y="2148840"/>
            <a:ext cx="310896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95360" y="1554480"/>
            <a:ext cx="2834640" cy="146304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Two consumers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search index  +  reporting dashboards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8328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3C4654"/>
                </a:solidFill>
                <a:latin typeface="Calibri"/>
              </a:rPr>
              <a:t>The lakehouse can be the same platform used for general company reporting — LLM apps are just another consumer of it, and another contributor to it (via captured telemetry).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22960" y="393192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772400"/>
              </a:tblGrid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Flow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moves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Into the lakehouse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source documents, plus captured request/response telemetry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Out of the lakehouse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the search index (for RAG) and curated training data (for fine-tuning)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Governance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data classification and lineage tracked centrally, one place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MULTI-AGENT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</a:rPr>
              <a:t>Multi-agent frameworks: comparing the 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Practical LLMOps — research phase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25880"/>
          <a:ext cx="11091672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690872"/>
                <a:gridCol w="3657600"/>
              </a:tblGrid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Framework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Style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Best fit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Microsoft Agent Framework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Combines two earlier Microsoft toolkits; built for durable, long-running workflows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Azure-native builds; enterprise reliability needs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LangGraph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Explicit graph / state-machine control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Fine-grained control over each step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CrewAI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Agents given roles, like a small team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Fast prototyping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A5F"/>
                          </a:solidFill>
                          <a:latin typeface="Calibri"/>
                        </a:rPr>
                        <a:t>OpenAI Agents SDK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Lightweight, minimal setup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C4654"/>
                          </a:solidFill>
                          <a:latin typeface="Calibri"/>
                        </a:rPr>
                        <a:t>Simple agent apps tied to one model provider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023360"/>
            <a:ext cx="11091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1">
                <a:solidFill>
                  <a:srgbClr val="1F3A5F"/>
                </a:solidFill>
                <a:latin typeface="Calibri"/>
              </a:rPr>
              <a:t>Recommended default: the Microsoft Agent Framework, hosted on the platform's managed agent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572000"/>
            <a:ext cx="11091672" cy="12801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300" b="1">
                <a:solidFill>
                  <a:srgbClr val="1F3A5F"/>
                </a:solidFill>
                <a:latin typeface="Calibri"/>
              </a:rPr>
              <a:t>Agent-to-agent (A2A)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0">
                <a:solidFill>
                  <a:srgbClr val="3C4654"/>
                </a:solidFill>
                <a:latin typeface="Calibri"/>
              </a:rPr>
              <a:t>a standard that lets an agent built by one team call an agent built by another team, even on a different framework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MULTI-AGENT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</a:rPr>
              <a:t>Agent types, and how they're coordinated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Practical LLMOps — research phase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70048" cy="77724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Router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decides what the request needs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417320"/>
            <a:ext cx="2670048" cy="77724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Planner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breaks work into steps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417320"/>
            <a:ext cx="2670048" cy="77724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Retrieval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searches documents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7696" y="1417320"/>
            <a:ext cx="2670048" cy="77724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Tool / action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calls outside systems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22576"/>
            <a:ext cx="2670048" cy="77724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Critic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checks the draft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2322576"/>
            <a:ext cx="2670048" cy="77724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Guardrail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checks policy &amp; safety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2322576"/>
            <a:ext cx="2670048" cy="77724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Summarizer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wraps up the result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97696" y="2322576"/>
            <a:ext cx="2670048" cy="77724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Human-proxy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asks a person to approve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37560"/>
            <a:ext cx="110916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Calibri"/>
              </a:rPr>
              <a:t>Coordination patterns: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03320"/>
            <a:ext cx="2084831" cy="86868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Sequential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0">
                <a:solidFill>
                  <a:srgbClr val="2A9D8F"/>
                </a:solidFill>
                <a:latin typeface="Calibri"/>
              </a:rPr>
              <a:t>A -&gt; B -&gt; 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703320"/>
            <a:ext cx="2084831" cy="86868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Concurrent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0">
                <a:solidFill>
                  <a:srgbClr val="2A9D8F"/>
                </a:solidFill>
                <a:latin typeface="Calibri"/>
              </a:rPr>
              <a:t>A -&gt; [B,C] -&gt; merge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3703320"/>
            <a:ext cx="2084831" cy="86868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Group chat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0">
                <a:solidFill>
                  <a:srgbClr val="2A9D8F"/>
                </a:solidFill>
                <a:latin typeface="Calibri"/>
              </a:rPr>
              <a:t>A &lt;-&gt; B &lt;-&gt; 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3703320"/>
            <a:ext cx="2084831" cy="86868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Handoff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0">
                <a:solidFill>
                  <a:srgbClr val="2A9D8F"/>
                </a:solidFill>
                <a:latin typeface="Calibri"/>
              </a:rPr>
              <a:t>A =&gt; specialist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3703320"/>
            <a:ext cx="2084831" cy="86868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00" b="1">
                <a:solidFill>
                  <a:srgbClr val="1F3A5F"/>
                </a:solidFill>
                <a:latin typeface="Calibri"/>
              </a:rPr>
              <a:t>Planner-led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00" b="0">
                <a:solidFill>
                  <a:srgbClr val="2A9D8F"/>
                </a:solidFill>
                <a:latin typeface="Calibri"/>
              </a:rPr>
              <a:t>Plan -&gt; workers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00600"/>
            <a:ext cx="110916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1">
                <a:solidFill>
                  <a:srgbClr val="1F3A5F"/>
                </a:solidFill>
                <a:latin typeface="Calibri"/>
              </a:rPr>
              <a:t>Agents are defined as code (YAML) in the same Git repository, tested by the same evaluation gate, and traced the same way as everything else.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AZURE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</a:rPr>
              <a:t>The Azure pieces, mapped to what they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Practical LLMOps — research phase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80160"/>
          <a:ext cx="11091672" cy="523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82712"/>
              </a:tblGrid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Azure service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is for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Azure AI Foundry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the portal: model catalog, agents, evaluation, tracing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Foundry Agent Service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runs and manages agents reliably (hosted, resumable)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Azure OpenAI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the language and voice models themselves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Model Router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auto-picks the cheapest model that meets a quality bar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Azure AI Search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the search index behind RAG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Azure AI Document Intelligence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reads and extracts text from files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Content Safety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checks inputs and outputs for unsafe content and personal data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Microsoft Fabric / OneLake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the lakehouse / data warehouse layer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Azure Cosmos DB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fast storage for agent memory and state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API Management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the gateway: one door in, usage limits, logging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Entra ID / Key Vault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identity and secret storage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Azure Monitor / App Insights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logs, traces, dashboards, alerts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</a:rPr>
              <a:t>Putting it together: one end-to-end picture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Practical LLMOps — research phase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286000" cy="21945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GitHub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prompts, agents,
evals, infra as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A9D8F"/>
                </a:solidFill>
                <a:latin typeface="Calibri"/>
              </a:rPr>
              <a:t>CI/CD pipeline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88920" y="2377440"/>
            <a:ext cx="310896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46120" y="1371600"/>
            <a:ext cx="2834640" cy="2194560"/>
          </a:xfrm>
          <a:prstGeom prst="roundRect">
            <a:avLst>
              <a:gd name="adj" fmla="val 8000"/>
            </a:avLst>
          </a:prstGeom>
          <a:solidFill>
            <a:srgbClr val="E9F3F0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2A9D8F"/>
                </a:solidFill>
                <a:latin typeface="Calibri"/>
              </a:rPr>
              <a:t>Azure runtime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gateway, orchestrator,
agents, models, search,
guardrails, memory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126480" y="2377440"/>
            <a:ext cx="310896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0" y="1371600"/>
            <a:ext cx="2377440" cy="21945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Telemetry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traces, cost,
quality scores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006840" y="2377440"/>
            <a:ext cx="310896" cy="274320"/>
          </a:xfrm>
          <a:prstGeom prst="rightArrow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64040" y="1371600"/>
            <a:ext cx="2267712" cy="21945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Lakehouse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00" b="0">
                <a:solidFill>
                  <a:srgbClr val="3C4654"/>
                </a:solidFill>
                <a:latin typeface="Calibri"/>
              </a:rPr>
              <a:t>dashboards +
training data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8869680" y="3886200"/>
            <a:ext cx="274320" cy="201168"/>
          </a:xfrm>
          <a:prstGeom prst="leftArrow">
            <a:avLst/>
          </a:prstGeom>
          <a:solidFill>
            <a:srgbClr val="BFD6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0607040" y="3566160"/>
            <a:ext cx="0" cy="420624"/>
          </a:xfrm>
          <a:prstGeom prst="line">
            <a:avLst/>
          </a:prstGeom>
          <a:ln w="25400">
            <a:solidFill>
              <a:srgbClr val="BF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48640" y="3986784"/>
            <a:ext cx="10058400" cy="0"/>
          </a:xfrm>
          <a:prstGeom prst="line">
            <a:avLst/>
          </a:prstGeom>
          <a:ln w="25400">
            <a:solidFill>
              <a:srgbClr val="BF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48640" y="3566160"/>
            <a:ext cx="0" cy="420624"/>
          </a:xfrm>
          <a:prstGeom prst="line">
            <a:avLst/>
          </a:prstGeom>
          <a:ln w="25400">
            <a:solidFill>
              <a:srgbClr val="BF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828800" y="3803904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1">
                <a:solidFill>
                  <a:srgbClr val="2A9D8F"/>
                </a:solidFill>
                <a:latin typeface="Calibri"/>
              </a:rPr>
              <a:t>Feedback flows back into golden datasets in GitHub — the loop closes.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4434840"/>
          <a:ext cx="1109167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9171432"/>
              </a:tblGrid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Flow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1. Change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a prompt/agent edit is reviewed and evaluated before merge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2. Request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a user request flows through the gateway, orchestrator, and agents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3. Telemetry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every step is traced, scored, and logged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A5F"/>
                          </a:solidFill>
                          <a:latin typeface="Calibri"/>
                        </a:rPr>
                        <a:t>4. Feedback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C4654"/>
                          </a:solidFill>
                          <a:latin typeface="Calibri"/>
                        </a:rPr>
                        <a:t>real usage and ratings become new golden test cases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</a:rPr>
              <a:t>The phased plan in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Practical LLMOps — research phase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25880"/>
          <a:ext cx="11091672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280160"/>
                <a:gridCol w="5029200"/>
                <a:gridCol w="3227832"/>
              </a:tblGrid>
              <a:tr h="777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gets added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you can now do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080" b="1">
                          <a:solidFill>
                            <a:srgbClr val="1F3A5F"/>
                          </a:solidFill>
                          <a:latin typeface="Calibri"/>
                        </a:rPr>
                        <a:t>0 — Baseline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>
                          <a:solidFill>
                            <a:srgbClr val="3C4654"/>
                          </a:solidFill>
                          <a:latin typeface="Calibri"/>
                        </a:rPr>
                        <a:t>2 weeks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>
                          <a:solidFill>
                            <a:srgbClr val="3C4654"/>
                          </a:solidFill>
                          <a:latin typeface="Calibri"/>
                        </a:rPr>
                        <a:t>Repo, Azure landing, basic tracing, one use case in a dev environment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>
                          <a:solidFill>
                            <a:srgbClr val="3C4654"/>
                          </a:solidFill>
                          <a:latin typeface="Calibri"/>
                        </a:rPr>
                        <a:t>Prove the wiring works end to end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080" b="1">
                          <a:solidFill>
                            <a:srgbClr val="1F3A5F"/>
                          </a:solidFill>
                          <a:latin typeface="Calibri"/>
                        </a:rPr>
                        <a:t>1 — Managed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>
                          <a:solidFill>
                            <a:srgbClr val="3C4654"/>
                          </a:solidFill>
                          <a:latin typeface="Calibri"/>
                        </a:rPr>
                        <a:t>4 weeks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>
                          <a:solidFill>
                            <a:srgbClr val="3C4654"/>
                          </a:solidFill>
                          <a:latin typeface="Calibri"/>
                        </a:rPr>
                        <a:t>CI evaluation gate, prompt registry, RAG search, guardrails, staged environments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>
                          <a:solidFill>
                            <a:srgbClr val="3C4654"/>
                          </a:solidFill>
                          <a:latin typeface="Calibri"/>
                        </a:rPr>
                        <a:t>Run the first use case safely in production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080" b="1">
                          <a:solidFill>
                            <a:srgbClr val="1F3A5F"/>
                          </a:solidFill>
                          <a:latin typeface="Calibri"/>
                        </a:rPr>
                        <a:t>2 — Production-grade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>
                          <a:solidFill>
                            <a:srgbClr val="3C4654"/>
                          </a:solidFill>
                          <a:latin typeface="Calibri"/>
                        </a:rPr>
                        <a:t>2-3 months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>
                          <a:solidFill>
                            <a:srgbClr val="3C4654"/>
                          </a:solidFill>
                          <a:latin typeface="Calibri"/>
                        </a:rPr>
                        <a:t>Full golden sets, canary releases, feedback dashboards, cost tracking, multi-agent orchestration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>
                          <a:solidFill>
                            <a:srgbClr val="3C4654"/>
                          </a:solidFill>
                          <a:latin typeface="Calibri"/>
                        </a:rPr>
                        <a:t>Scale one use case with confidence, add a second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080" b="1">
                          <a:solidFill>
                            <a:srgbClr val="1F3A5F"/>
                          </a:solidFill>
                          <a:latin typeface="Calibri"/>
                        </a:rPr>
                        <a:t>3 — Scaled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>
                          <a:solidFill>
                            <a:srgbClr val="3C4654"/>
                          </a:solidFill>
                          <a:latin typeface="Calibri"/>
                        </a:rPr>
                        <a:t>4+ months, ongoing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>
                          <a:solidFill>
                            <a:srgbClr val="3C4654"/>
                          </a:solidFill>
                          <a:latin typeface="Calibri"/>
                        </a:rPr>
                        <a:t>Self-service onboarding, model router, fine-tuning loop, cross-team agents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>
                          <a:solidFill>
                            <a:srgbClr val="3C4654"/>
                          </a:solidFill>
                          <a:latin typeface="Calibri"/>
                        </a:rPr>
                        <a:t>Onboard new use cases in weeks, not months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</a:rPr>
              <a:t>Team, timeline, and risks to plan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Practical LLMOps — research phase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303520" cy="21945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Core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484632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3C4654"/>
                </a:solidFill>
                <a:latin typeface="Calibri"/>
              </a:rPr>
              <a:t>•  1 lead / architect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3C4654"/>
                </a:solidFill>
                <a:latin typeface="Calibri"/>
              </a:rPr>
              <a:t>•  2-3 engineers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3C4654"/>
                </a:solidFill>
                <a:latin typeface="Calibri"/>
              </a:rPr>
              <a:t>•  1 data engineer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3C4654"/>
                </a:solidFill>
                <a:latin typeface="Calibri"/>
              </a:rPr>
              <a:t>•  Part-time: security, delivery support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71600"/>
            <a:ext cx="5513832" cy="2194560"/>
          </a:xfrm>
          <a:prstGeom prst="roundRect">
            <a:avLst>
              <a:gd name="adj" fmla="val 8000"/>
            </a:avLst>
          </a:prstGeom>
          <a:solidFill>
            <a:srgbClr val="EEF1F5"/>
          </a:solidFill>
          <a:ln w="12700">
            <a:solidFill>
              <a:srgbClr val="C9D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Assumptions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502920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3C4654"/>
                </a:solidFill>
                <a:latin typeface="Calibri"/>
              </a:rPr>
              <a:t>•  Cloud access &amp; model quota already approved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3C4654"/>
                </a:solidFill>
                <a:latin typeface="Calibri"/>
              </a:rPr>
              <a:t>•  Data sources are reachable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>
                <a:solidFill>
                  <a:srgbClr val="3C4654"/>
                </a:solidFill>
                <a:latin typeface="Calibri"/>
              </a:rPr>
              <a:t>•  Experts give ~4 hours a week for test data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48640" y="3794760"/>
          <a:ext cx="1109167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6976872"/>
              </a:tblGrid>
              <a:tr h="5303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anchor="ctr" marL="73152" marT="18288" marB="18288">
                    <a:solidFill>
                      <a:srgbClr val="1F3A5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A5F"/>
                          </a:solidFill>
                          <a:latin typeface="Calibri"/>
                        </a:rPr>
                        <a:t>Cloud quota / capacity delays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C4654"/>
                          </a:solidFill>
                          <a:latin typeface="Calibri"/>
                        </a:rPr>
                        <a:t>Request early, in parallel with other setup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A5F"/>
                          </a:solidFill>
                          <a:latin typeface="Calibri"/>
                        </a:rPr>
                        <a:t>Test-data quality ("garbage in")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C4654"/>
                          </a:solidFill>
                          <a:latin typeface="Calibri"/>
                        </a:rPr>
                        <a:t>Start small, review with experts, grow over time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A5F"/>
                          </a:solidFill>
                          <a:latin typeface="Calibri"/>
                        </a:rPr>
                        <a:t>Cost surprises from multiple agent calls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C4654"/>
                          </a:solidFill>
                          <a:latin typeface="Calibri"/>
                        </a:rPr>
                        <a:t>Set budgets and alerts from day one</a:t>
                      </a:r>
                    </a:p>
                  </a:txBody>
                  <a:tcPr anchor="ctr" marL="73152" marT="18288" marB="18288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3A5F"/>
                          </a:solidFill>
                          <a:latin typeface="Calibri"/>
                        </a:rPr>
                        <a:t>New use cases pulled in before platform is ready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3C4654"/>
                          </a:solidFill>
                          <a:latin typeface="Calibri"/>
                        </a:rPr>
                        <a:t>Agree the phased plan up front</a:t>
                      </a:r>
                    </a:p>
                  </a:txBody>
                  <a:tcPr anchor="ctr" marL="73152" marT="18288" marB="18288"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Practical LLMOps — research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10789920" cy="4754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•  LLMOps is twelve components, most of them reusable across every future use case.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>
                <a:solidFill>
                  <a:srgbClr val="3C4654"/>
                </a:solidFill>
                <a:latin typeface="Calibri"/>
              </a:rPr>
              <a:t>•  Multi-agent orchestration plugs into the same Git, evaluation, and tracing setup — no separate process.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>
                <a:solidFill>
                  <a:srgbClr val="3C4654"/>
                </a:solidFill>
                <a:latin typeface="Calibri"/>
              </a:rPr>
              <a:t>•  Start small: one use case, a real (if minimal) loop, live in about six weeks.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>
                <a:solidFill>
                  <a:srgbClr val="3C4654"/>
                </a:solidFill>
                <a:latin typeface="Calibri"/>
              </a:rPr>
              <a:t>•  Grow level by level; nothing built early gets thrown away later.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0">
                <a:solidFill>
                  <a:srgbClr val="3C4654"/>
                </a:solidFill>
                <a:latin typeface="Calibri"/>
              </a:rPr>
              <a:t>•  Every component maps to a specific, named Azure service.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>
                <a:solidFill>
                  <a:srgbClr val="1F3A5F"/>
                </a:solidFill>
                <a:latin typeface="Calibri"/>
              </a:rPr>
              <a:t>•  Next step: agree the Level 0-1 scope and get the cloud environment set up.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9D8F"/>
                </a:solidFill>
                <a:latin typeface="Calibri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12064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1F3A5F"/>
                </a:solidFill>
                <a:latin typeface="Calibri"/>
              </a:rPr>
              <a:t>Terms in plain English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060704"/>
            <a:ext cx="1371600" cy="381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7480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B7480"/>
                </a:solidFill>
                <a:latin typeface="Calibri"/>
              </a:rPr>
              <a:t>Practical LLMOps — research 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LLM  </a:t>
            </a:r>
            <a:r>
              <a:rPr sz="1100" b="0" i="0">
                <a:solidFill>
                  <a:srgbClr val="3C4654"/>
                </a:solidFill>
                <a:latin typeface="Calibri"/>
              </a:rPr>
              <a:t>Large Language Model — AI that reads and writes 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25880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LLMOps  </a:t>
            </a:r>
            <a:r>
              <a:rPr sz="1100" b="0" i="0">
                <a:solidFill>
                  <a:srgbClr val="3C4654"/>
                </a:solidFill>
                <a:latin typeface="Calibri"/>
              </a:rPr>
              <a:t>Large Language Model Operations — the discipline of running LLM apps reliably.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01952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RAG  </a:t>
            </a:r>
            <a:r>
              <a:rPr sz="1100" b="0" i="0">
                <a:solidFill>
                  <a:srgbClr val="3C4654"/>
                </a:solidFill>
                <a:latin typeface="Calibri"/>
              </a:rPr>
              <a:t>Retrieval-Augmented Generation — answering using our own searched documents.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01952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CI/CD  </a:t>
            </a:r>
            <a:r>
              <a:rPr sz="1100" b="0" i="0">
                <a:solidFill>
                  <a:srgbClr val="3C4654"/>
                </a:solidFill>
                <a:latin typeface="Calibri"/>
              </a:rPr>
              <a:t>Continuous Integration / Continuous Delivery — automated testing and release.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78024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Golden dataset  </a:t>
            </a:r>
            <a:r>
              <a:rPr sz="1100" b="0" i="0">
                <a:solidFill>
                  <a:srgbClr val="3C4654"/>
                </a:solidFill>
                <a:latin typeface="Calibri"/>
              </a:rPr>
              <a:t>A saved set of test questions with expected answers, used to check quality.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478024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Embeddings  </a:t>
            </a:r>
            <a:r>
              <a:rPr sz="1100" b="0" i="0">
                <a:solidFill>
                  <a:srgbClr val="3C4654"/>
                </a:solidFill>
                <a:latin typeface="Calibri"/>
              </a:rPr>
              <a:t>Text turned into numbers so it can be searched by meaning.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54096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OIDC  </a:t>
            </a:r>
            <a:r>
              <a:rPr sz="1100" b="0" i="0">
                <a:solidFill>
                  <a:srgbClr val="3C4654"/>
                </a:solidFill>
                <a:latin typeface="Calibri"/>
              </a:rPr>
              <a:t>A way to log in to the cloud without storing a password or key.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054096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Agent  </a:t>
            </a:r>
            <a:r>
              <a:rPr sz="1100" b="0" i="0">
                <a:solidFill>
                  <a:srgbClr val="3C4654"/>
                </a:solidFill>
                <a:latin typeface="Calibri"/>
              </a:rPr>
              <a:t>An LLM that can take steps and use tools, not just chat.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30168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Orchestrator  </a:t>
            </a:r>
            <a:r>
              <a:rPr sz="1100" b="0" i="0">
                <a:solidFill>
                  <a:srgbClr val="3C4654"/>
                </a:solidFill>
                <a:latin typeface="Calibri"/>
              </a:rPr>
              <a:t>The part that decides which agent does what, and when.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630168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A2A  </a:t>
            </a:r>
            <a:r>
              <a:rPr sz="1100" b="0" i="0">
                <a:solidFill>
                  <a:srgbClr val="3C4654"/>
                </a:solidFill>
                <a:latin typeface="Calibri"/>
              </a:rPr>
              <a:t>Agent-to-Agent — a standard for agents to call each other.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06240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MCP  </a:t>
            </a:r>
            <a:r>
              <a:rPr sz="1100" b="0" i="0">
                <a:solidFill>
                  <a:srgbClr val="3C4654"/>
                </a:solidFill>
                <a:latin typeface="Calibri"/>
              </a:rPr>
              <a:t>Model Context Protocol — a standard way for agents to use tools.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206240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Canary release  </a:t>
            </a:r>
            <a:r>
              <a:rPr sz="1100" b="0" i="0">
                <a:solidFill>
                  <a:srgbClr val="3C4654"/>
                </a:solidFill>
                <a:latin typeface="Calibri"/>
              </a:rPr>
              <a:t>Releasing to a small slice of traffic first, to catch problems early.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82312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Fine-tuning  </a:t>
            </a:r>
            <a:r>
              <a:rPr sz="1100" b="0" i="0">
                <a:solidFill>
                  <a:srgbClr val="3C4654"/>
                </a:solidFill>
                <a:latin typeface="Calibri"/>
              </a:rPr>
              <a:t>Further training a model on our own reviewed examples.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782312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Lakehouse  </a:t>
            </a:r>
            <a:r>
              <a:rPr sz="1100" b="0" i="0">
                <a:solidFill>
                  <a:srgbClr val="3C4654"/>
                </a:solidFill>
                <a:latin typeface="Calibri"/>
              </a:rPr>
              <a:t>A combined data-storage and analytics platform (here: Microsoft Fabric).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58384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PII  </a:t>
            </a:r>
            <a:r>
              <a:rPr sz="1100" b="0" i="0">
                <a:solidFill>
                  <a:srgbClr val="3C4654"/>
                </a:solidFill>
                <a:latin typeface="Calibri"/>
              </a:rPr>
              <a:t>Personally Identifiable Information — personal data like names or phone numbers.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358384"/>
            <a:ext cx="544068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Change data capture  </a:t>
            </a:r>
            <a:r>
              <a:rPr sz="1100" b="0" i="0">
                <a:solidFill>
                  <a:srgbClr val="3C4654"/>
                </a:solidFill>
                <a:latin typeface="Calibri"/>
              </a:rPr>
              <a:t>Detecting and reacting to changes in a source system automatically.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