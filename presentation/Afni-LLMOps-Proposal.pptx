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554480" cy="100584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D3"/>
                </a:solidFill>
                <a:latin typeface="Segoe UI"/>
              </a:rPr>
              <a:t>ENTERPRISE PROPOSAL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106070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Enterprise LLMOps Platform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Segoe UI"/>
              </a:rPr>
              <a:t>for Afni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977639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C7D0E0"/>
                </a:solidFill>
                <a:latin typeface="Segoe UI"/>
              </a:rPr>
              <a:t>Industrializing multi-agent Generative AI — Voice AI for contact centers and AI-driven HR recruitment on one governed platform.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5074920"/>
            <a:ext cx="10515600" cy="15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Prepared by Evoke Technologies · GenAI Architecture Practice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9FB0CC"/>
                </a:solidFill>
                <a:latin typeface="Segoe UI"/>
              </a:rPr>
              <a:t>Shyam — Senior GenAI Architect, embedded at Afni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9FB0CC"/>
                </a:solidFill>
                <a:latin typeface="Segoe UI"/>
              </a:rPr>
              <a:t>Draft v1.0 · Confidential — for Afni &amp; Evoke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ORIENTATION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What this proposal covers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846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54864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Foundations &amp; strategy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8"/>
            <a:ext cx="5157216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Why now — the BPO inflection point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The vision &amp; the platform-first strategy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Platform reference architecture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Multi-agent systems — one reusable pattern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Flagship use case 1 — Voice AI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Flagship use case 2 — HR recruitment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5486400" cy="4846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Delivery &amp; governance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938528"/>
            <a:ext cx="5157216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LLMOps lifecycle &amp; toolchain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Responsible AI, security &amp; compliance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Observability &amp; FinOps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Operating model &amp; Center of Excellence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Roadmap: Crawl → Walk → Run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1">
                <a:solidFill>
                  <a:srgbClr val="1C2433"/>
                </a:solidFill>
                <a:latin typeface="Segoe UI"/>
              </a:rPr>
              <a:t>▸  Business case, risks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AFNI BUSINESS CONTEXT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Who Afni is — and why GenAI matters now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25880"/>
            <a:ext cx="6035040" cy="3840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Global BPO &amp; customer-engagement leader, founded 1936, HQ Bloomington, IL.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~3,400+ professionals across US, Mexico, the Philippines, and Afni@Home.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Five service lines: Acquisition &amp; Growth, Care &amp; Retention, Collections, P&amp;C Insurance (incl. subrogation), under a partnership / Gainshare model.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Serves insurance, financial services, telecom, healthcare, fitness, media.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1">
                <a:solidFill>
                  <a:srgbClr val="121F3D"/>
                </a:solidFill>
                <a:latin typeface="Segoe UI"/>
              </a:rPr>
              <a:t>▸  Voice is the highest-volume, highest-cost channel — and hiring at scale is constant. Both are prime GenAI targets.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325880"/>
            <a:ext cx="4754880" cy="39776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325880"/>
            <a:ext cx="4754880" cy="4572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371600"/>
            <a:ext cx="4389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THE STRATEGIC PRESSURE ON BPOs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19202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Margin &amp; labor-cost pressure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22128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AI-native competitors reset price/quality expectations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61488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Agent attrition &amp; ramp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054096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High turnover keeps hiring and training in permanent motion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602736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Client CX expectations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3895344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24/7, instant, consistent, compliant interactions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443984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00A6A6"/>
                </a:solidFill>
                <a:latin typeface="Segoe UI"/>
              </a:rPr>
              <a:t>AI disruption is 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736592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Move first as an AI-enabled partner — or be repriced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THE VISION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One governed platform for fleets of AI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25880"/>
            <a:ext cx="11064240" cy="12344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463040"/>
            <a:ext cx="1042416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1">
                <a:solidFill>
                  <a:srgbClr val="FFFFFF"/>
                </a:solidFill>
                <a:latin typeface="Segoe UI"/>
              </a:rPr>
              <a:t>“Give Afni one secure, governed Azure platform to build, evaluate, deploy, govern, and continuously improve fleets of cooperating AI agents — with the same operational rigor Afni already applies to running contact centers.”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34640"/>
            <a:ext cx="2670048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834640"/>
            <a:ext cx="2670048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29809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Platform-first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401568"/>
            <a:ext cx="2340864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Build foundations once; every use case reuses them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46704" y="2834640"/>
            <a:ext cx="2670048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2834640"/>
            <a:ext cx="2670048" cy="82296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296" y="29809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Multi-agent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3401568"/>
            <a:ext cx="2340864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Orchestrator + specialists — the same pattern everywhere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4768" y="2834640"/>
            <a:ext cx="2670048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4768" y="2834640"/>
            <a:ext cx="2670048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809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Governed by design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3401568"/>
            <a:ext cx="2340864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Responsible AI, compliance &amp; human-in-the-loop built 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42832" y="2834640"/>
            <a:ext cx="2670048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42832" y="2834640"/>
            <a:ext cx="2670048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07424" y="2980944"/>
            <a:ext cx="234086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Measurable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3401568"/>
            <a:ext cx="2340864" cy="2560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Quality, cost, and business KPIs instrumented end to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WHY LLMOPS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Pilots are easy. Production at scale is the hard part.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8006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548640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Without LLMOps — the pilot trap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8"/>
            <a:ext cx="5157216" cy="4160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Demos that never reach production ('POC purgatory')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No repeatable evaluation — quality is a matter of opinion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Prompt &amp; model changes ship untested; regressions leak to customers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Runaway token spend with no cost attribution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Hallucinations &amp; compliance gaps discovered by customers, not tests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Every use case rebuilds the same plumbing from scratch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5486400" cy="48006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48640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With enterprise LLMOps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938528"/>
            <a:ext cx="5157216" cy="41605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Versioned prompts &amp; agents with automated evaluation gates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Canary / blue-green deploys with instant rollback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Full tracing: quality, groundedness, latency, drift, token cost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Guardrails &amp; human-in-the-loop enforced as policy, not hope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Cost showback per use case and business unit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A reusable platform — new use cases in weeks, not quarters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Platform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The reference stack every Afni use case is built 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REFERENCE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A layered platform on Azure AI Foundry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298448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298448"/>
            <a:ext cx="2743200" cy="54864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298448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Experience &amp; 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1298448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Voice / telephony (CCaaS + Azure Communication Services) · Web &amp; chat · Agent-assist desktop · ATS / HR portals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1901952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901952"/>
            <a:ext cx="2743200" cy="5486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1901952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Orchestration &amp;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1901952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Azure AI Agent Service · Semantic Kernel / AutoGen (Microsoft Agent Framework) · orchestrator + specialist agents · tool calling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05456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505456"/>
            <a:ext cx="2743200" cy="5486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2505456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Models &amp; AI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505456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Azure OpenAI GPT-4o / mini · gpt-realtime (speech-to-speech) · Azure AI Speech (STT/TTS) · embeddings · Content Safety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08960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108960"/>
            <a:ext cx="2743200" cy="548640"/>
          </a:xfrm>
          <a:prstGeom prst="rect">
            <a:avLst/>
          </a:prstGeom>
          <a:solidFill>
            <a:srgbClr val="3E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3108960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Knowledge &amp; RAG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3108960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Azure AI Search (hybrid + semantic ranker) · AI Document Intelligence · vector store · grounding &amp; citations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712464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3712464"/>
            <a:ext cx="2743200" cy="548640"/>
          </a:xfrm>
          <a:prstGeom prst="rect">
            <a:avLst/>
          </a:prstGeom>
          <a:solidFill>
            <a:srgbClr val="4A6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712464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Data &amp;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0" y="3712464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Cosmos DB (agent state/memory) · Data Lake / Microsoft Fabric · Azure SQL · API Management · Functions · secure connectors to CRM / HRIS / billing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315968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315968"/>
            <a:ext cx="2743200" cy="54864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4315968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Platform, DevOps &amp; LLMOps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4315968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Prompt flow &amp; registry · Azure AI evaluation SDK · GitHub Actions / Azure DevOps CI-CD · Container Apps / AKS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919472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919472"/>
            <a:ext cx="2743200" cy="54864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919472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Security &amp; governance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4919472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Microsoft Entra ID · Key Vault · Defender for Cloud · Microsoft Purview · private endpoints / VNet · Responsible 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5522976"/>
            <a:ext cx="11064240" cy="5486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522976"/>
            <a:ext cx="2743200" cy="548640"/>
          </a:xfrm>
          <a:prstGeom prst="rect">
            <a:avLst/>
          </a:prstGeom>
          <a:solidFill>
            <a:srgbClr val="2E7D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5522976"/>
            <a:ext cx="2560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FFFFFF"/>
                </a:solidFill>
                <a:latin typeface="Segoe UI"/>
              </a:rPr>
              <a:t>Observability &amp; FinOps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474720" y="5522976"/>
            <a:ext cx="795527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1C2433"/>
                </a:solidFill>
                <a:latin typeface="Segoe UI"/>
              </a:rPr>
              <a:t>Azure Monitor · Application Insights · OpenTelemetry (GenAI conventions) · token metering &amp; cost showback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Multi-Agent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One orchestration pattern, reused across every use case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THE PATTERN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Orchestrator routes work to specialist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63440" y="1371600"/>
            <a:ext cx="2834640" cy="86868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371600"/>
            <a:ext cx="283464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</a:rPr>
              <a:t>ORCHESTRATOR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EC4D3"/>
                </a:solidFill>
                <a:latin typeface="Segoe UI"/>
              </a:rPr>
              <a:t>supervisor · routing · policy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8036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265176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302666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Intent / Router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44728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classify &amp; route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288036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7560" y="2880360"/>
            <a:ext cx="2651760" cy="82296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2152" y="302666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Knowledge /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2152" y="344728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grounded answers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288036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26480" y="2880360"/>
            <a:ext cx="2651760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302666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Action / Tooling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1072" y="344728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CRM · HRIS · billing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915400" y="288036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15400" y="2880360"/>
            <a:ext cx="265176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9992" y="302666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Compliance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9992" y="344728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disclosures · PII · TCPA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29768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2651760" cy="82296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44398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Sentiment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486460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emotion &amp; escalation cues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37560" y="429768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337560" y="4297680"/>
            <a:ext cx="2651760" cy="8229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02152" y="444398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Escalation / Handoff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02152" y="486460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warm transfer to human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26480" y="4297680"/>
            <a:ext cx="2651760" cy="1234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126480" y="4297680"/>
            <a:ext cx="2651760" cy="82296"/>
          </a:xfrm>
          <a:prstGeom prst="rect">
            <a:avLst/>
          </a:prstGeom>
          <a:solidFill>
            <a:srgbClr val="2E7D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91072" y="4443984"/>
            <a:ext cx="232257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Summarize / QA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1072" y="4864608"/>
            <a:ext cx="2322576" cy="594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1C2433"/>
                </a:solidFill>
                <a:latin typeface="Segoe UI"/>
              </a:rPr>
              <a:t>▸  disposition · scoring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Patterns used: </a:t>
            </a:r>
            <a:r>
              <a:rPr sz="1200" b="0" i="0">
                <a:solidFill>
                  <a:srgbClr val="5A6474"/>
                </a:solidFill>
                <a:latin typeface="Segoe UI"/>
              </a:rPr>
              <a:t>supervisor-orchestrator · sequential · concurrent · hand-off · group-chat · reflection/critic · human-in-the-loop. Deterministic guardrails wrap probabilistic agents.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REUSE IN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The same agents serve voice and HR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343400"/>
                <a:gridCol w="434340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Specialist agent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Voice AI (contact center)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HR recruitment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Intent / Router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Why is the customer calling?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Where is the candidate in the funnel?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Knowledge / RAG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Policy, plan, billing answers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Role, benefits, process FAQs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Action / Tooling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Update CRM, take payment, verify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Read ATS, parse résumé, book interview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Compliance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TCPA, PCI pause/mask, disclosures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EEOC, NYC LL144, notice &amp; consent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Sentiment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Detect frustration → escalate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Gauge candidate experience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Escalation / Handoff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Warm transfer to live agent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Route to human recruiter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Summarize / QA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Call summary, disposition, QA score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Structured interview notes (assist)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1">
                <a:solidFill>
                  <a:srgbClr val="121F3D"/>
                </a:solidFill>
                <a:latin typeface="Segoe UI"/>
              </a:rPr>
              <a:t>Build once, deploy twice — and the third and fourth use cases inherit the same spine.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Flagship Use Case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Voice AI for contact centers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VOICE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Three modes — from copilot to autonomous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3611880" cy="47548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361188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51790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1 · Agent-assist copilot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8"/>
            <a:ext cx="3282696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00A6A6"/>
                </a:solidFill>
                <a:latin typeface="Segoe UI"/>
              </a:rPr>
              <a:t>▸  Lowest risk, fastest value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Live transcription for human reps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Real-time next-best-action &amp; knowledge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Sentiment &amp; compliance nudges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Auto summary &amp; disposition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371600"/>
            <a:ext cx="3611880" cy="47548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9392" y="1371600"/>
            <a:ext cx="3611880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43984" y="151790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2 · Autonomous voice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4" y="1938528"/>
            <a:ext cx="3282696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1B3A6B"/>
                </a:solidFill>
                <a:latin typeface="Segoe UI"/>
              </a:rPr>
              <a:t>▸  Scoped, containable call types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FAQs, verification, appointments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Payment reminders (collections)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Natural sub-second speech-to-speech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Warm handoff when needed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0144" y="1371600"/>
            <a:ext cx="3611880" cy="47548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0144" y="1371600"/>
            <a:ext cx="361188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74736" y="1517904"/>
            <a:ext cx="32826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3 · Post-call analytics &amp; QA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938528"/>
            <a:ext cx="3282696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 100% coverage, not samples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Every call summarized &amp; scored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Compliance adherence checks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Coaching insights for agents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Trend &amp; driver analytics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VOICE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End-to-end call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600200"/>
            <a:ext cx="1481328" cy="105156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Caller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1600200"/>
            <a:ext cx="1481328" cy="10515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031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Telephony / CCaaS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600200"/>
            <a:ext cx="1481328" cy="105156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033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Speech (realtime STT)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20" y="1600200"/>
            <a:ext cx="1481328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Orchestrator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03720" y="1600200"/>
            <a:ext cx="1481328" cy="105156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037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Specialist agents
+ RAG +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03920" y="1600200"/>
            <a:ext cx="1481328" cy="105156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039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Systems of record
(CRM · billing)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66960" y="1600200"/>
            <a:ext cx="164592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104120" y="1600200"/>
            <a:ext cx="1481328" cy="105156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04120" y="1600200"/>
            <a:ext cx="1481328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</a:rPr>
              <a:t>Response (TTS)
or human handoff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880360"/>
            <a:ext cx="11155680" cy="5029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2880360"/>
            <a:ext cx="11155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Cross-cutting: </a:t>
            </a:r>
            <a:r>
              <a:rPr sz="1200" b="0" i="0">
                <a:solidFill>
                  <a:srgbClr val="5A6474"/>
                </a:solidFill>
                <a:latin typeface="Segoe UI"/>
              </a:rPr>
              <a:t>Content Safety · PII redaction · TCPA/PCI guardrails · full tracing on every turn (sub-second latency budget)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502920" y="3611880"/>
          <a:ext cx="111556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Baseline (today)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Target with Voice AI *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Call containment / deflection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Low / manual IVR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20–40% of eligible call types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Average Handle Time (AHT)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Program baseline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15–25% reduction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QA coverage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2–10% sampled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100% automated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Agent ramp time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Weeks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Materially shorter with copilot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Compliance adherence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Sampled review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Monitored on every call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5A6474"/>
                </a:solidFill>
                <a:latin typeface="Segoe UI"/>
              </a:rPr>
              <a:t>* Illustrative ranges — replaced with Afni actuals during discovery.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Flagship Use Case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AI-driven HR recruitment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HR RECRUITMENT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An agent at every step of high-volume hiring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41732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1732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141732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80160" y="14173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JD generation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141732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consistent, inclusive postings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4884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97280" y="214884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214884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Sourcing &amp; screening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214884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parse + rank vs. criteria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88036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88036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288036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288036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Conversational screen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288036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chat + optional voice pre-screen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61188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1188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97280" y="361188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80160" y="361188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Scheduling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361188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calendar / ATS automation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34340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434340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0" y="434340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0160" y="434340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Interview scoring (assist)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31920" y="434340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structured, human-decided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5074920"/>
            <a:ext cx="502920" cy="6400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074920"/>
            <a:ext cx="5029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97280" y="5074920"/>
            <a:ext cx="5852160" cy="640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80160" y="5074920"/>
            <a:ext cx="27432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1F3D"/>
                </a:solidFill>
                <a:latin typeface="Segoe UI"/>
              </a:rPr>
              <a:t>Offer &amp; onboarding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5074920"/>
            <a:ext cx="29260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A6474"/>
                </a:solidFill>
                <a:latin typeface="Segoe UI"/>
              </a:rPr>
              <a:t>faster, consistent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1417320"/>
            <a:ext cx="4389120" cy="43434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223760" y="1417320"/>
            <a:ext cx="4389120" cy="4572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06640" y="1417320"/>
            <a:ext cx="4114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PRINCIPLE: AI ASSISTS, HUMANS DECIDE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52360" y="2011680"/>
            <a:ext cx="3977639" cy="36576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>
                <a:solidFill>
                  <a:srgbClr val="FFFFFF"/>
                </a:solidFill>
                <a:latin typeface="Segoe UI"/>
              </a:rPr>
              <a:t>▸  No autonomous candidate rejection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>
                <a:solidFill>
                  <a:srgbClr val="D5DEEE"/>
                </a:solidFill>
                <a:latin typeface="Segoe UI"/>
              </a:rPr>
              <a:t>▸  EEOC + NYC Local Law 144 bias audits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>
                <a:solidFill>
                  <a:srgbClr val="D5DEEE"/>
                </a:solidFill>
                <a:latin typeface="Segoe UI"/>
              </a:rPr>
              <a:t>▸  Illinois AI Video Interview Act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>
                <a:solidFill>
                  <a:srgbClr val="D5DEEE"/>
                </a:solidFill>
                <a:latin typeface="Segoe UI"/>
              </a:rPr>
              <a:t>▸  EU AI Act — high-risk employment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>
                <a:solidFill>
                  <a:srgbClr val="D5DEEE"/>
                </a:solidFill>
                <a:latin typeface="Segoe UI"/>
              </a:rPr>
              <a:t>▸  Candidate notice, consent &amp; explainability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0">
                <a:solidFill>
                  <a:srgbClr val="D5DEEE"/>
                </a:solidFill>
                <a:latin typeface="Segoe UI"/>
              </a:rPr>
              <a:t>▸  Continuous adverse-impact monitoring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HR RECRUITMENT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Why it's the ideal internal proving ground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5486400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121F3D"/>
                </a:solidFill>
                <a:latin typeface="Segoe UI"/>
              </a:rPr>
              <a:t>▸  Afni hires at high volume, continuously, across three countries.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Internal use case — Afni controls data, risk, and rollout.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Reuses the voice platform for pre-screen — proves reusability.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Fast, visible ROI: recruiter hours, time-to-fill, candidate experience.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0">
                <a:solidFill>
                  <a:srgbClr val="1C2433"/>
                </a:solidFill>
                <a:latin typeface="Segoe UI"/>
              </a:rPr>
              <a:t>▸  Builds organizational muscle in Responsible AI before customer-facing scale.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09360" y="1371600"/>
          <a:ext cx="530352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83280"/>
                <a:gridCol w="192024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KPI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Target *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Recruiter screening effort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30–50% reduction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Time-to-fill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Materially shorter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Cost-per-hire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Reduced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Candidate experience (NPS)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Improved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Offer-accept rate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Improved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90-day attrition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Reduced via better matching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93776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1">
                <a:solidFill>
                  <a:srgbClr val="5A6474"/>
                </a:solidFill>
                <a:latin typeface="Segoe UI"/>
              </a:rPr>
              <a:t>* Illustrative — validated in discovery.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The LLMOps Backbone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How agents are built, evaluated, shipped &amp; watched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LLMOPS LIFECYCLE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A continuous, governed loop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54480"/>
            <a:ext cx="1783080" cy="123444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Curate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data &amp; knowledge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67712" y="1554480"/>
            <a:ext cx="1554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95728" y="1554480"/>
            <a:ext cx="1783080" cy="12344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95728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Engineer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95728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versioned prompts &amp;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1554480"/>
            <a:ext cx="1554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88536" y="1554480"/>
            <a:ext cx="1783080" cy="12344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88536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Evaluate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88536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offline + online + red-team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53328" y="1554480"/>
            <a:ext cx="1554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1554480"/>
            <a:ext cx="1783080" cy="1234440"/>
          </a:xfrm>
          <a:prstGeom prst="rect">
            <a:avLst/>
          </a:prstGeom>
          <a:solidFill>
            <a:srgbClr val="3E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81344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Ship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1344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CI/CD · canary · rollback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46136" y="1554480"/>
            <a:ext cx="1554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74152" y="1554480"/>
            <a:ext cx="1783080" cy="123444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74152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Serve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74152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gateway · quotas · caching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38944" y="1554480"/>
            <a:ext cx="155448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5A623"/>
                </a:solidFill>
                <a:latin typeface="Segoe UI"/>
              </a:rPr>
              <a:t>▸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66960" y="1554480"/>
            <a:ext cx="1783080" cy="12344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1719072"/>
            <a:ext cx="1783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Observe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2176272"/>
            <a:ext cx="1783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0" i="0">
                <a:solidFill>
                  <a:srgbClr val="FFFFFF"/>
                </a:solidFill>
                <a:latin typeface="Segoe UI"/>
              </a:rPr>
              <a:t>quality · cost · drift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017520"/>
            <a:ext cx="11155680" cy="4572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017520"/>
            <a:ext cx="11155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Wrapped end-to-end by Governance &amp; Responsible AI · feedback (thumbs, QA, incidents) flows back into datasets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49039"/>
            <a:ext cx="54864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3749039"/>
            <a:ext cx="54864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7512" y="3895343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Evaluation — the quality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4315967"/>
            <a:ext cx="5157216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Golden datasets + LLM-as-judge + human review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Groundedness / faithfulness scoring for RAG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Regression gates block promotion on quality drop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Red-teaming &amp; safety evals before every release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Online A/B &amp; shadow testing in production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72200" y="3749039"/>
            <a:ext cx="5486400" cy="23774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72200" y="3749039"/>
            <a:ext cx="5486400" cy="82296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36792" y="3895343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Toolchain on Azure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36792" y="4315967"/>
            <a:ext cx="5157216" cy="173736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Prompt flow &amp; prompt/model registry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Azure AI evaluation SDK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GitHub Actions / Azure DevOps pipelines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App Insights + OpenTelemetry GenAI traces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>
                <a:solidFill>
                  <a:srgbClr val="1C2433"/>
                </a:solidFill>
                <a:latin typeface="Segoe UI"/>
              </a:rPr>
              <a:t>▸  APIM gateway for metering, quotas &amp; caching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Trust &amp; Control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Responsible AI, security, compliance, observability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RESPONSIBLE AI &amp;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Trust engineered in, not bolted 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1773936" cy="77724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Fairness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371600"/>
            <a:ext cx="1773936" cy="77724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14016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Reliability &amp; safety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9392" y="1371600"/>
            <a:ext cx="1773936" cy="777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79392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Privacy &amp; security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44768" y="1371600"/>
            <a:ext cx="1773936" cy="77724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44768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Inclusiveness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0144" y="1371600"/>
            <a:ext cx="1773936" cy="7772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10144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Transparency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75520" y="1371600"/>
            <a:ext cx="1773936" cy="77724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0" y="1371600"/>
            <a:ext cx="177393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Accountability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37744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2377440"/>
            <a:ext cx="5486400" cy="82296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252374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Governance mechanisms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2944368"/>
            <a:ext cx="5157216" cy="3063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AI use-case intake with risk-tiering (low / medium / high)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Human-in-the-loop mandatory for consequential decisions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Model &amp; system cards for every deployed agent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Content Safety: prompt shields, groundedness, PII, protected material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Audit trails, AI incident response &amp; red-teaming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C2433"/>
                </a:solidFill>
                <a:latin typeface="Segoe UI"/>
              </a:rPr>
              <a:t>▸  AI governance board with a regular operating cadence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237744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37744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36792" y="252374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Risk tiering drives controls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944368"/>
            <a:ext cx="5157216" cy="3063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C0392B"/>
                </a:solidFill>
                <a:latin typeface="Segoe UI"/>
              </a:rPr>
              <a:t>▸  High risk (e.g., hiring decisions, collections): full HITL, bias audits, legal sign-off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F5A623"/>
                </a:solidFill>
                <a:latin typeface="Segoe UI"/>
              </a:rPr>
              <a:t>▸  Medium (customer voice answers): guardrails + sampled human QA + monitoring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1">
                <a:solidFill>
                  <a:srgbClr val="2E9E5B"/>
                </a:solidFill>
                <a:latin typeface="Segoe UI"/>
              </a:rPr>
              <a:t>▸  Low (internal drafting, summaries): standard guardrails + spot checks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5A6474"/>
                </a:solidFill>
                <a:latin typeface="Segoe UI"/>
              </a:rPr>
              <a:t>▸  Controls scale with consequence — not one-size-fits-all.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SECURITY &amp; 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Enterprise-grade by construction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371600"/>
            <a:ext cx="5212080" cy="43891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Identity: Microsoft Entra ID, RBAC, managed identities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Secrets in Azure Key Vault; no keys in code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Network isolation: VNet + private endpoints; no public data egress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Encryption at rest &amp; in transit; customer-managed keys optional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Data residency honored across US / Mexico / Philippines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Defender for Cloud posture; Purview lineage &amp; DLP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>
                <a:solidFill>
                  <a:srgbClr val="1C2433"/>
                </a:solidFill>
                <a:latin typeface="Segoe UI"/>
              </a:rPr>
              <a:t>▸  Prompt-injection &amp; data-exfiltration defenses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943600" y="1371600"/>
          <a:ext cx="5669280" cy="3328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566160"/>
              </a:tblGrid>
              <a:tr h="47548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Framework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Where it applies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PCI-DSS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Payment capture — pause/mask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HIPAA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Healthcare client programs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TCPA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Outbound voice &amp; consent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SOC 2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Platform controls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GDPR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PII &amp; data-subject rights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EEOC / NYC LL144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Hiring fairness &amp; bias audit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OBSERVABILITY &amp; FINOPS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You cannot scale what you cannot see or cost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371600"/>
            <a:ext cx="5486400" cy="4709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1371600"/>
            <a:ext cx="5486400" cy="82296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Observe every interaction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1938528"/>
            <a:ext cx="5157216" cy="4069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Quality &amp; groundedness scores in production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Latency (p50/p95) against sub-second voice SLOs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Errors, drift &amp; safety events with alerting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Token usage per request, agent &amp; tool call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Distributed tracing via OpenTelemetry GenAI conventions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Dashboards for ops, engineering &amp; governance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5486400" cy="4709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71600"/>
            <a:ext cx="5486400" cy="82296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517904"/>
            <a:ext cx="5157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1F3D"/>
                </a:solidFill>
                <a:latin typeface="Segoe UI"/>
              </a:rPr>
              <a:t>Control the spend (FinOps)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1938528"/>
            <a:ext cx="5157216" cy="4069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Token metering &amp; quotas at the APIM gateway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Cost showback per use case &amp; business unit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Model right-sizing: GPT-4o vs mini vs open-weight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Semantic caching &amp; prompt compression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Budget guardrails and anomaly alerts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>
                <a:solidFill>
                  <a:srgbClr val="1C2433"/>
                </a:solidFill>
                <a:latin typeface="Segoe UI"/>
              </a:rPr>
              <a:t>▸  Cost-per-resolved-call / cost-per-screen as first-class KPIs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2743200"/>
            <a:ext cx="128016" cy="13716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196596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2A406E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926080"/>
            <a:ext cx="100584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FFFFFF"/>
                </a:solidFill>
                <a:latin typeface="Segoe UI"/>
              </a:rPr>
              <a:t>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7008" y="420624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2EC4D3"/>
                </a:solidFill>
                <a:latin typeface="Segoe UI"/>
              </a:rPr>
              <a:t>Operating model, roadmap, business case &amp; risk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OPERATING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A GenAI Center of Excellence (hub-and-spoke)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60520" y="1371600"/>
            <a:ext cx="3840480" cy="8229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60520" y="1371600"/>
            <a:ext cx="384048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GenAI Center of Excellence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EC4D3"/>
                </a:solidFill>
                <a:latin typeface="Segoe UI"/>
              </a:rPr>
              <a:t>platform · standards · governance · enablement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51760"/>
            <a:ext cx="91440" cy="73152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65176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Exec sponsor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5848" y="265176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55848" y="2651760"/>
            <a:ext cx="91440" cy="731520"/>
          </a:xfrm>
          <a:prstGeom prst="rect">
            <a:avLst/>
          </a:prstGeom>
          <a:solidFill>
            <a:srgbClr val="2EC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65176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AI product owner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3056" y="265176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63056" y="2651760"/>
            <a:ext cx="91440" cy="73152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265176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GenAI architect (lead)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70264" y="265176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0264" y="2651760"/>
            <a:ext cx="91440" cy="73152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98864" y="265176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Prompt / agent engineers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52044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520440"/>
            <a:ext cx="91440" cy="731520"/>
          </a:xfrm>
          <a:prstGeom prst="rect">
            <a:avLst/>
          </a:prstGeom>
          <a:solidFill>
            <a:srgbClr val="3E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2044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LLMOps / MLOps engineers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55848" y="352044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55848" y="3520440"/>
            <a:ext cx="91440" cy="73152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84448" y="352044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Data engineers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63056" y="352044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63056" y="3520440"/>
            <a:ext cx="91440" cy="73152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6" y="352044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RAI / governance officer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70264" y="3520440"/>
            <a:ext cx="2697480" cy="7315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70264" y="3520440"/>
            <a:ext cx="91440" cy="731520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98864" y="3520440"/>
            <a:ext cx="2423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21F3D"/>
                </a:solidFill>
                <a:latin typeface="Segoe UI"/>
              </a:rPr>
              <a:t>Security engineer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526280"/>
            <a:ext cx="11109960" cy="14630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4663440"/>
            <a:ext cx="1069848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Federated model: </a:t>
            </a:r>
            <a:r>
              <a:rPr sz="1400" b="0" i="0">
                <a:solidFill>
                  <a:srgbClr val="D5DEEE"/>
                </a:solidFill>
                <a:latin typeface="Segoe UI"/>
              </a:rPr>
              <a:t>the CoE owns the platform, guardrails and standards; contact-center and HR 'spokes' own their use cases and outcomes. SMEs from Operations, HR, Compliance and Security embed into delivery pods. A RACI governs every lifecycle activity.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Crawl → Walk → Run over ~9–12 months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417320"/>
            <a:ext cx="2724912" cy="868680"/>
          </a:xfrm>
          <a:prstGeom prst="rect">
            <a:avLst/>
          </a:prstGeom>
          <a:solidFill>
            <a:srgbClr val="5A64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63040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Phase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874519"/>
            <a:ext cx="2724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Weeks 0–4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31720"/>
            <a:ext cx="2724912" cy="5029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31720"/>
            <a:ext cx="27249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Foundations &amp; Discovery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971800"/>
            <a:ext cx="2496312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Landing zone &amp; security baseline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Use-case intake &amp; success metrics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Data access &amp; guardrail policy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37560" y="1417320"/>
            <a:ext cx="2724912" cy="86868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37560" y="1463040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Phase 1 · Crawl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1874519"/>
            <a:ext cx="2724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Months 1–3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37560" y="2331720"/>
            <a:ext cx="2724912" cy="5029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2331720"/>
            <a:ext cx="27249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Platform MVP + pilots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2971800"/>
            <a:ext cx="2496312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Agent-assist copilot (1 program)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HR screening pilot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Offline eval + observability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1417320"/>
            <a:ext cx="2724912" cy="8686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200" y="1463040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Phase 2 · Walk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1874519"/>
            <a:ext cx="2724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Months 4–7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331720"/>
            <a:ext cx="2724912" cy="5029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331720"/>
            <a:ext cx="27249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Scale &amp; autonomy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71800"/>
            <a:ext cx="2496312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Autonomous voice for scoped calls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HR voice pre-screen + scheduling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Online eval, FinOps, CoE stood up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417320"/>
            <a:ext cx="2724912" cy="868680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6840" y="1463040"/>
            <a:ext cx="272491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Phase 3 · Run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1874519"/>
            <a:ext cx="27249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FFFFFF"/>
                </a:solidFill>
                <a:latin typeface="Segoe UI"/>
              </a:rPr>
              <a:t>Months 8–12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06840" y="2331720"/>
            <a:ext cx="2724912" cy="5029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2331720"/>
            <a:ext cx="2724912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21F3D"/>
                </a:solidFill>
                <a:latin typeface="Segoe UI"/>
              </a:rPr>
              <a:t>Enterprise scale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971800"/>
            <a:ext cx="2496312" cy="29260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Multiple programs &amp; geographies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Add subrogation &amp; QA analytics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C2433"/>
                </a:solidFill>
                <a:latin typeface="Segoe UI"/>
              </a:rPr>
              <a:t>▸  Full governance, DR, improvement flywheel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1">
                <a:solidFill>
                  <a:srgbClr val="121F3D"/>
                </a:solidFill>
                <a:latin typeface="Segoe UI"/>
              </a:rPr>
              <a:t>Each phase has explicit exit criteria; value is delivered from Phase 1, not deferred to the end.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BUSINESS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Where the value comes from (illustrative)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17320"/>
          <a:ext cx="110642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2011680"/>
                <a:gridCol w="5029200"/>
              </a:tblGrid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Value lever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Use case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Illustrative impact *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Call containment / deflection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Voice AI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20–40% of eligible calls automated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AHT reduction (agent-assist)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Voice AI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15–25% shorter handle time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QA coverage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Voice AI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From ~5% sampled to 100%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Recruiter screening effort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HR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30–50% fewer manual hours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Time-to-fill &amp; cost-per-hire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HR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Both materially reduced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121F3D"/>
                          </a:solidFill>
                          <a:latin typeface="Segoe UI"/>
                        </a:rPr>
                        <a:t>Attrition (better matching)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HR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C2433"/>
                          </a:solidFill>
                          <a:latin typeface="Segoe UI"/>
                        </a:rPr>
                        <a:t>Lower 90-day attrition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48640" y="5074920"/>
            <a:ext cx="11064240" cy="86868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12064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Illustrative payback: 9–15 months. </a:t>
            </a:r>
            <a:r>
              <a:rPr sz="1300" b="0" i="1">
                <a:solidFill>
                  <a:srgbClr val="D5DEEE"/>
                </a:solidFill>
                <a:latin typeface="Segoe UI"/>
              </a:rPr>
              <a:t>All figures are placeholders to be replaced with Afni's actual volumes, rates and cost structure during Phase 0 discovery.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56032"/>
            <a:ext cx="109728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C4D3"/>
                </a:solidFill>
                <a:latin typeface="Segoe UI"/>
              </a:rPr>
              <a:t>RISKS &amp; MITIGATIONS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7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Segoe UI"/>
              </a:rPr>
              <a:t>Named early, managed deliberately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6556248"/>
            <a:ext cx="82296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C7D0E0"/>
                </a:solidFill>
                <a:latin typeface="Segoe UI"/>
              </a:rPr>
              <a:t>Evoke Technologies  ·  Enterprise LLMOps for Afni  ·  Confidential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556248"/>
            <a:ext cx="731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19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6858000"/>
              </a:tblGrid>
              <a:tr h="56692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Risk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egoe UI"/>
                        </a:rPr>
                        <a:t>Mitigation</a:t>
                      </a:r>
                    </a:p>
                  </a:txBody>
                  <a:tcPr marL="73152" marR="54864" marT="18288" marB="18288" anchor="ctr">
                    <a:solidFill>
                      <a:srgbClr val="1B3A6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Hallucination / wrong answers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RAG grounding, groundedness eval gates, HITL, guardrails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Compliance breach (TCPA/PCI/EEOC)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Compliance agent, risk-tiering, bias audits, legal sign-off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Runaway token cost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APIM metering, model right-sizing, caching, budget alerts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Quality regression on change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Golden-set regression gates, canary + rollback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Low adoption / change fatigue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Copilot-first, agent involvement, enablement, clear ROI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21F3D"/>
                          </a:solidFill>
                          <a:latin typeface="Segoe UI"/>
                        </a:rPr>
                        <a:t>Vendor / model lock-in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1C2433"/>
                          </a:solidFill>
                          <a:latin typeface="Segoe UI"/>
                        </a:rPr>
                        <a:t>Gateway abstraction, model catalog, portable orchestration</a:t>
                      </a:r>
                    </a:p>
                  </a:txBody>
                  <a:tcPr marL="73152" marR="54864" marT="18288" marB="18288" anchor="ctr">
                    <a:solidFill>
                      <a:srgbClr val="F4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F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315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C4D3"/>
                </a:solidFill>
                <a:latin typeface="Segoe UI"/>
              </a:rPr>
              <a:t>RECOMMENDATION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2344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Approve a 4-week Phase 0 to lock foundations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77440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Confirm the two flagship use cases and success metrics with Ops &amp; HR leaders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127248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27248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127248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Stand up the Azure landing zone, security baseline and guardrail policy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877056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877056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877056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Run use-case intake &amp; risk-tiering; secure data access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626864"/>
            <a:ext cx="548640" cy="54864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626864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1F3D"/>
                </a:solidFill>
                <a:latin typeface="Sego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626864"/>
            <a:ext cx="98755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Launch the agent-assist copilot and HR-screening pilots in Phase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5623560"/>
            <a:ext cx="10515600" cy="15240"/>
          </a:xfrm>
          <a:prstGeom prst="rect">
            <a:avLst/>
          </a:prstGeom>
          <a:solidFill>
            <a:srgbClr val="1B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</a:rPr>
              <a:t>Evoke Technologies · GenAI Architecture Practice   |   Thank you — questions &amp; discussion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