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554480" cy="1005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D3"/>
                </a:solidFill>
                <a:latin typeface="Segoe UI"/>
              </a:rPr>
              <a:t>ENTERPRISE PROPOSAL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Enterprise GenAI Framework for AFNI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9FB0CC"/>
                </a:solidFill>
                <a:latin typeface="Segoe UI"/>
              </a:rPr>
              <a:t>Build the factory, not just the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14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C7D0E0"/>
                </a:solidFill>
                <a:latin typeface="Segoe UI"/>
              </a:rPr>
              <a:t>One governed, reusable platform to onboard any GenAI use case — proven first by Voice Agent, the Performance Intelligence Index, and Hiring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12080"/>
            <a:ext cx="10515600" cy="15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AFNI · Office of GenAI Architecture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9FB0CC"/>
                </a:solidFill>
                <a:latin typeface="Segoe UI"/>
              </a:rPr>
              <a:t>Draft v3.0 · Internal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From AI features to an AI factory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5852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21F3D"/>
                </a:solidFill>
                <a:latin typeface="Segoe UI"/>
              </a:rPr>
              <a:t>▸  Only ~1% of enterprises describe their GenAI as mature — most are stuck in pilot purgatory.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C2433"/>
                </a:solidFill>
                <a:latin typeface="Segoe UI"/>
              </a:rPr>
              <a:t>▸  AFNI's economics turn on high-volume voice and constant, high-volume hiring — both AI-addressable.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C2433"/>
                </a:solidFill>
                <a:latin typeface="Segoe UI"/>
              </a:rPr>
              <a:t>▸  Frontier models now ship every few months (GPT-5.5 and beyond); point solutions are obsolete on arrival.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21F3D"/>
                </a:solidFill>
                <a:latin typeface="Segoe UI"/>
              </a:rPr>
              <a:t>▸  The winners build a reusable platform once and onboard use case after use case on top of it.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1C2433"/>
                </a:solidFill>
                <a:latin typeface="Segoe UI"/>
              </a:rPr>
              <a:t>▸  GenAI is far more than chatbots — agents, document intelligence, analytics, real-time voice.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325880"/>
            <a:ext cx="4846320" cy="4206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325880"/>
            <a:ext cx="4846320" cy="4572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659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A6A6"/>
                </a:solidFill>
                <a:latin typeface="Segoe UI"/>
              </a:rPr>
              <a:t>Feature →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4027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reusable paved road, not one-offs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A6A6"/>
                </a:solidFill>
                <a:latin typeface="Segoe UI"/>
              </a:rPr>
              <a:t>Chatbot → Agent fleet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6323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durable, tool-using, governed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6118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A6A6"/>
                </a:solidFill>
                <a:latin typeface="Segoe UI"/>
              </a:rPr>
              <a:t>Model pin → Frontier-ready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86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router + evals adopt new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A6A6"/>
                </a:solidFill>
                <a:latin typeface="Segoe UI"/>
              </a:rPr>
              <a:t>Pilot →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0915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GenAIOps, security, evaluation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One reusable platform — onboard any GenAI use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pic>
        <p:nvPicPr>
          <p:cNvPr id="11" name="Picture 10" descr="09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08" y="1207008"/>
            <a:ext cx="8594877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BEYOND CHATBOTS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GenAI pattern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pic>
        <p:nvPicPr>
          <p:cNvPr id="11" name="Picture 10" descr="11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402" y="1207008"/>
            <a:ext cx="964689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PAVED 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Use-case onboarding in weeks, not quarters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pic>
        <p:nvPicPr>
          <p:cNvPr id="11" name="Picture 10" descr="10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8" y="1207008"/>
            <a:ext cx="10587017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Layered reference architecture on Microsoft Foundry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pic>
        <p:nvPicPr>
          <p:cNvPr id="11" name="Picture 10" descr="01-platfor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36" y="1207008"/>
            <a:ext cx="841142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ENTERPRISE AGENT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Durable, governed, interoperable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pic>
        <p:nvPicPr>
          <p:cNvPr id="11" name="Picture 10" descr="12-agent-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91" y="1207008"/>
            <a:ext cx="8860112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MODEL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Ride the frontier without rewrites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pic>
        <p:nvPicPr>
          <p:cNvPr id="11" name="Picture 10" descr="16-model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8" y="1207008"/>
            <a:ext cx="10587017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PROOF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Three initiatives, onboarded via the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pic>
        <p:nvPicPr>
          <p:cNvPr id="11" name="Picture 10" descr="03-three-initi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46" y="1207008"/>
            <a:ext cx="912660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PROOF POINT 1 · VOICE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Real-time voice automation &amp; agent-assist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pic>
        <p:nvPicPr>
          <p:cNvPr id="11" name="Picture 10" descr="04-voic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4" y="1188720"/>
            <a:ext cx="106567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PROOF POINT 2 · PI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100% of interactions → one explainable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pic>
        <p:nvPicPr>
          <p:cNvPr id="11" name="Picture 10" descr="05-pi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32" y="1207008"/>
            <a:ext cx="8754429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PROOF POINT 3 · HIRING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An agent at every stage — humans decide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pic>
        <p:nvPicPr>
          <p:cNvPr id="11" name="Picture 10" descr="06-hiring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188720"/>
            <a:ext cx="9509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SECURITY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Zero Trust + OWASP LLM Top 10 defense-in-depth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pic>
        <p:nvPicPr>
          <p:cNvPr id="11" name="Picture 10" descr="13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91" y="1207008"/>
            <a:ext cx="8860112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DATA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Enterprise data platform feeding grounded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pic>
        <p:nvPicPr>
          <p:cNvPr id="11" name="Picture 10" descr="14-data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32" y="1207008"/>
            <a:ext cx="1033743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PERFORMANCE &amp;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Engineered for sub-second voice and bulk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pic>
        <p:nvPicPr>
          <p:cNvPr id="11" name="Picture 10" descr="17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89" y="1207008"/>
            <a:ext cx="11129315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GENAIOPS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Nothing ships without passing evaluation gates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pic>
        <p:nvPicPr>
          <p:cNvPr id="11" name="Picture 10" descr="15-genaiops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81" y="1207008"/>
            <a:ext cx="10338132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Measured quality — offline, online, adversarial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pic>
        <p:nvPicPr>
          <p:cNvPr id="11" name="Picture 10" descr="18-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8" y="1207008"/>
            <a:ext cx="10587017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DESIGN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The non-negotiables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813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1. Platform as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470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paved roads &amp; self-service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3" y="1371600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3" y="1371600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1" y="14813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2. Reuse over 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18470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composable building blocks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7" y="1371600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3567" y="1371600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4813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3. Model-agnostic, frontier-ready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18470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router + evals, no version lock-in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42032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542032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651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4. Evaluation-driven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017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nothing ships without passing evals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3" y="2542032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1103" y="2542032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1" y="2651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5. Deterministic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1" y="3017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wrap probabilistic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73567" y="2542032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3567" y="2542032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651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6. Zero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3017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treat all model I/O as untrusted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12464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3712464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8221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7. Human-in-the-loop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187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graduated autonomy for risky actions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1103" y="3712464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1103" y="3712464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1" y="38221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8. Observability &amp; cost first-class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1" y="4187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every trace, every token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73567" y="3712464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73567" y="3712464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736" y="38221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9. Privacy &amp; security by default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4187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secure/compliant templates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882896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882896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49926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10. Fail safe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35838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fallbacks &amp; graceful degradation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61103" y="4882896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61103" y="4882896"/>
            <a:ext cx="91440" cy="10241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62271" y="49926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11. Everything-as-code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2271" y="535838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reproducible, versioned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567" y="4882896"/>
            <a:ext cx="3566160" cy="10241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73567" y="4882896"/>
            <a:ext cx="91440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74736" y="49926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1F3D"/>
                </a:solidFill>
                <a:latin typeface="Segoe UI"/>
              </a:rPr>
              <a:t>12. Measure business outcomes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535838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474"/>
                </a:solidFill>
                <a:latin typeface="Segoe UI"/>
              </a:rPr>
              <a:t>not model vanity metrics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RESPONSIBLE AI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Trust engineered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25880"/>
            <a:ext cx="1700784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Fairness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1325880"/>
            <a:ext cx="1700784" cy="777240"/>
          </a:xfrm>
          <a:prstGeom prst="rect">
            <a:avLst/>
          </a:prstGeom>
          <a:solidFill>
            <a:srgbClr val="2E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Reliability &amp;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1325880"/>
            <a:ext cx="1700784" cy="777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Privacy &amp;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1325880"/>
            <a:ext cx="1700784" cy="7772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Inclusiveness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4383" y="1325880"/>
            <a:ext cx="170078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Transparency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325880"/>
            <a:ext cx="1700784" cy="77724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325880"/>
            <a:ext cx="17007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Accountability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331720"/>
            <a:ext cx="5486400" cy="3703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331720"/>
            <a:ext cx="5486400" cy="82296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468880"/>
            <a:ext cx="5157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1F3D"/>
                </a:solidFill>
                <a:latin typeface="Segoe UI"/>
              </a:rPr>
              <a:t>Governance mechanisms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880360"/>
            <a:ext cx="5157216" cy="3063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AI use-case intake with risk-tiering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Human-in-the-loop for consequential decisions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Model &amp; system cards per agent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Content Safety + groundedness + PII redaction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Audit trails, red-teaming, AI incident response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C2433"/>
                </a:solidFill>
                <a:latin typeface="Segoe UI"/>
              </a:rPr>
              <a:t>▸  AI governance board with regular cadence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331720"/>
            <a:ext cx="5486400" cy="3703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331720"/>
            <a:ext cx="548640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468880"/>
            <a:ext cx="5157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1F3D"/>
                </a:solidFill>
                <a:latin typeface="Segoe UI"/>
              </a:rPr>
              <a:t>Risk tiering drives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80360"/>
            <a:ext cx="5157216" cy="3063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▸  High (hiring, collections, PI scoring): full HITL, bias audits, legal sign-off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 Medium (customer voice): guardrails + sampled QA + monitoring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E9E5B"/>
                </a:solidFill>
                <a:latin typeface="Segoe UI"/>
              </a:rPr>
              <a:t>▸  Low (internal drafting): standard guardrails + spot checks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A6474"/>
                </a:solidFill>
                <a:latin typeface="Segoe UI"/>
              </a:rPr>
              <a:t>▸  Aligned to EU AI Act, EEOC/NYC LL144, GDPR, HIPAA, PCI, TCPA, SOC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 GenAI Center of Excellence (all AFNI-internal)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98448"/>
            <a:ext cx="3840480" cy="731520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298448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GenAI Center of Excellence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EC4D3"/>
                </a:solidFill>
                <a:latin typeface="Segoe UI"/>
              </a:rPr>
              <a:t>platform · paved roads · standards · 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91440" cy="6858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Exec sponsor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237744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2377440"/>
            <a:ext cx="91440" cy="685800"/>
          </a:xfrm>
          <a:prstGeom prst="rect">
            <a:avLst/>
          </a:prstGeom>
          <a:solidFill>
            <a:srgbClr val="2E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37744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AI product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5" y="237744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5" y="2377440"/>
            <a:ext cx="91440" cy="6858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237744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GenAI architect (lead)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3" y="237744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0263" y="2377440"/>
            <a:ext cx="91440" cy="6858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3" y="237744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Prompt / agent engineers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00400"/>
            <a:ext cx="91440" cy="685800"/>
          </a:xfrm>
          <a:prstGeom prst="rect">
            <a:avLst/>
          </a:prstGeom>
          <a:solidFill>
            <a:srgbClr val="3E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004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GenAIOps engineers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320040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200400"/>
            <a:ext cx="91440" cy="685800"/>
          </a:xfrm>
          <a:prstGeom prst="rect">
            <a:avLst/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32004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Data engineers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5" y="320040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5" y="3200400"/>
            <a:ext cx="91440" cy="685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5" y="32004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RAI / 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0263" y="3200400"/>
            <a:ext cx="2697480" cy="685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3" y="3200400"/>
            <a:ext cx="91440" cy="6858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3" y="32004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1F3D"/>
                </a:solidFill>
                <a:latin typeface="Segoe UI"/>
              </a:rPr>
              <a:t>Security + FinOps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60520"/>
            <a:ext cx="11109960" cy="17373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315968"/>
            <a:ext cx="106984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Federated hub-and-spoke: </a:t>
            </a:r>
            <a:r>
              <a:rPr sz="1350" b="0" i="0">
                <a:solidFill>
                  <a:srgbClr val="D5DEEE"/>
                </a:solidFill>
                <a:latin typeface="Segoe UI"/>
              </a:rPr>
              <a:t>the CoE (platform team) owns the paved road, guardrails and standards; Operations and HR 'spokes' own their use cases and outcomes. New use cases self-serve onto the platform and inherit security, evaluation and observability by default. A RACI governs every lifecycle activity.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Crawl → Walk → Run → Fly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pic>
        <p:nvPicPr>
          <p:cNvPr id="11" name="Picture 10" descr="08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313412"/>
            <a:ext cx="11430000" cy="50175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7744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D3"/>
                </a:solidFill>
                <a:latin typeface="Segoe UI"/>
              </a:rPr>
              <a:t>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Value compounds across use cases (illustrative)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0E0"/>
                </a:solidFill>
                <a:latin typeface="Segoe UI"/>
              </a:rPr>
              <a:t>AFNI · Office of GenAI Architecture  ·  Enterprise GenAI Framework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5624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017520"/>
                <a:gridCol w="43891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Value lever</a:t>
                      </a:r>
                    </a:p>
                  </a:txBody>
                  <a:tcPr anchor="ctr" marL="73152" marT="18288" marB="18288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Initiative / driver</a:t>
                      </a:r>
                    </a:p>
                  </a:txBody>
                  <a:tcPr anchor="ctr" marL="73152" marT="18288" marB="18288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Illustrative impact *</a:t>
                      </a:r>
                    </a:p>
                  </a:txBody>
                  <a:tcPr anchor="ctr" marL="73152" marT="18288" marB="18288"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Platform amortization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every new use case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each onboarding cheaper &amp; faster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100% QA coverage &amp; coaching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PI Index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from ~5% sampled to 100%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Call containment / AHT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Voice Agent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20–40% contained · 15–25% lower AHT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Recruiter effort &amp; time-to-fill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Hiring Intelligence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30–50% less screening effort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Model cost efficiency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Model Router + caching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cheapest model meeting quality bar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F3D"/>
                          </a:solidFill>
                          <a:latin typeface="Segoe UI"/>
                        </a:rPr>
                        <a:t>Attrition (matching + coaching)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Hiring + PI Index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Segoe UI"/>
                        </a:rPr>
                        <a:t>lower 90-day attrition</a:t>
                      </a:r>
                    </a:p>
                  </a:txBody>
                  <a:tcPr anchor="ctr" marL="73152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Illustrative payback: 9–15 months, improving with every use case. </a:t>
            </a:r>
            <a:r>
              <a:rPr sz="1300" b="0" i="1">
                <a:solidFill>
                  <a:srgbClr val="D5DEEE"/>
                </a:solidFill>
                <a:latin typeface="Segoe UI"/>
              </a:rPr>
              <a:t>All figures are placeholders for AFNI actuals in Phase 0. Under Gainshare, efficiency improves shared margin directly.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D3"/>
                </a:solidFill>
                <a:latin typeface="Segoe UI"/>
              </a:rPr>
              <a:t>RECOMMENDATION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Approve Phase 0 — stand up the platform, prove it on three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21F3D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Establish the Azure/Foundry landing zone, security baseline &amp; guardrail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21F3D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27248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Stand up the paved road: agents-as-code, evaluation gates, observability, FinOps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77056"/>
            <a:ext cx="5486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770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21F3D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77056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Onboard the three proof points: Voice Agent copilot, PI Index MVP, Hiring screening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26864"/>
            <a:ext cx="5486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268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21F3D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26864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Publish the use-case intake so the 4th, 5th and 6th use cases self-serve onto the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623560"/>
            <a:ext cx="10515600" cy="15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AFNI · Office of GenAI Architecture   |   Build the factory — then let it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