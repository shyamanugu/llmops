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1554480" cy="10058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0972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C4D3"/>
                </a:solidFill>
                <a:latin typeface="Segoe UI"/>
              </a:rPr>
              <a:t>ENTERPRISE PROPOSAL  ·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107899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Enterprise LLMOps for AFNI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9FB0CC"/>
                </a:solidFill>
                <a:latin typeface="Segoe UI"/>
              </a:rPr>
              <a:t>Multi-agent GenAI, industrialized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1148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C7D0E0"/>
                </a:solidFill>
                <a:latin typeface="Segoe UI"/>
              </a:rPr>
              <a:t>One governed platform powering three flagship initiatives — Voice Agent, the Performance Intelligence Index, and Hiring Intelligence.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212080"/>
            <a:ext cx="10515600" cy="1524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3949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AFNI · Office of GenAI Architecture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9FB0CC"/>
                </a:solidFill>
                <a:latin typeface="Segoe UI"/>
              </a:rPr>
              <a:t>Draft v2.0 · Internal &amp;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37744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ORIENTATION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What this proposal covers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AFNI · Office of GenAI Architecture  ·  Enterprise LLMOps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325880"/>
            <a:ext cx="5486400" cy="49377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325880"/>
            <a:ext cx="54864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463040"/>
            <a:ext cx="5157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Strategy &amp; 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1874520"/>
            <a:ext cx="5157216" cy="4297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2433"/>
                </a:solidFill>
                <a:latin typeface="Segoe UI"/>
              </a:rPr>
              <a:t>▸  Why now — the BPO inflection point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2433"/>
                </a:solidFill>
                <a:latin typeface="Segoe UI"/>
              </a:rPr>
              <a:t>▸  The three flagship initiatives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2433"/>
                </a:solidFill>
                <a:latin typeface="Segoe UI"/>
              </a:rPr>
              <a:t>▸  Platform reference architecture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2433"/>
                </a:solidFill>
                <a:latin typeface="Segoe UI"/>
              </a:rPr>
              <a:t>▸  Multi-agent systems — one pattern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2433"/>
                </a:solidFill>
                <a:latin typeface="Segoe UI"/>
              </a:rPr>
              <a:t>▸  Voice Agent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2433"/>
                </a:solidFill>
                <a:latin typeface="Segoe UI"/>
              </a:rPr>
              <a:t>▸  Performance Intelligence Index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2433"/>
                </a:solidFill>
                <a:latin typeface="Segoe UI"/>
              </a:rPr>
              <a:t>▸  Hiring Intelligence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5486400" cy="49377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325880"/>
            <a:ext cx="5486400" cy="8229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792" y="1463040"/>
            <a:ext cx="5157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Operate &amp; 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1874520"/>
            <a:ext cx="5157216" cy="4297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2433"/>
                </a:solidFill>
                <a:latin typeface="Segoe UI"/>
              </a:rPr>
              <a:t>▸  LLMOps lifecycle &amp; toolchain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2433"/>
                </a:solidFill>
                <a:latin typeface="Segoe UI"/>
              </a:rPr>
              <a:t>▸  Responsible AI &amp; governance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2433"/>
                </a:solidFill>
                <a:latin typeface="Segoe UI"/>
              </a:rPr>
              <a:t>▸  Security &amp; compliance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2433"/>
                </a:solidFill>
                <a:latin typeface="Segoe UI"/>
              </a:rPr>
              <a:t>▸  Observability &amp; FinOps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2433"/>
                </a:solidFill>
                <a:latin typeface="Segoe UI"/>
              </a:rPr>
              <a:t>▸  Operating model &amp; CoE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2433"/>
                </a:solidFill>
                <a:latin typeface="Segoe UI"/>
              </a:rPr>
              <a:t>▸  Roadmap: Crawl → Walk → Run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2433"/>
                </a:solidFill>
                <a:latin typeface="Segoe UI"/>
              </a:rPr>
              <a:t>▸  Business case, risks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37744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Why GenAI, why now — for AFNI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AFNI · Office of GenAI Architecture  ·  Enterprise LLMOps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25880"/>
            <a:ext cx="5943600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1C2433"/>
                </a:solidFill>
                <a:latin typeface="Segoe UI"/>
              </a:rPr>
              <a:t>▸  AFNI: global BPO &amp; customer engagement, founded 1936; ~3,400+ staff across US, Mexico, the Philippines + AFNI@Home.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1C2433"/>
                </a:solidFill>
                <a:latin typeface="Segoe UI"/>
              </a:rPr>
              <a:t>▸  Service lines: Acquisition &amp; Growth, Care &amp; Retention, Collections, P&amp;C Insurance (subrogation), Gainshare model.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121F3D"/>
                </a:solidFill>
                <a:latin typeface="Segoe UI"/>
              </a:rPr>
              <a:t>▸  Voice is the highest-volume, highest-cost channel; hiring at scale is constant.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1C2433"/>
                </a:solidFill>
                <a:latin typeface="Segoe UI"/>
              </a:rPr>
              <a:t>▸  AI-native competitors are resetting client price and quality expectations.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121F3D"/>
                </a:solidFill>
                <a:latin typeface="Segoe UI"/>
              </a:rPr>
              <a:t>▸  Move first as an AI-enabled partner — or be repriced.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1325880"/>
            <a:ext cx="4846320" cy="42062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66560" y="1325880"/>
            <a:ext cx="4846320" cy="4572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1371600"/>
            <a:ext cx="4572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STRATEGIC PRESSURE ON BPOs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196596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0A6A6"/>
                </a:solidFill>
                <a:latin typeface="Segoe UI"/>
              </a:rPr>
              <a:t>Margin &amp; labor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240279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474"/>
                </a:solidFill>
                <a:latin typeface="Segoe UI"/>
              </a:rPr>
              <a:t>AI-native providers reset economics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834639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0A6A6"/>
                </a:solidFill>
                <a:latin typeface="Segoe UI"/>
              </a:rPr>
              <a:t>Attrition &amp; ramp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108959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474"/>
                </a:solidFill>
                <a:latin typeface="Segoe UI"/>
              </a:rPr>
              <a:t>Hiring &amp; training never stop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70332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0A6A6"/>
                </a:solidFill>
                <a:latin typeface="Segoe UI"/>
              </a:rPr>
              <a:t>CX expectations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977639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474"/>
                </a:solidFill>
                <a:latin typeface="Segoe UI"/>
              </a:rPr>
              <a:t>24/7, instant, consistent, compliant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57200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0A6A6"/>
                </a:solidFill>
                <a:latin typeface="Segoe UI"/>
              </a:rPr>
              <a:t>First-mover advantage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484632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474"/>
                </a:solidFill>
                <a:latin typeface="Segoe UI"/>
              </a:rPr>
              <a:t>Become the AI partner of choice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37744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THE 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One platform, fleets of cooperating agents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AFNI · Office of GenAI Architecture  ·  Enterprise LLMOps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371600"/>
            <a:ext cx="11064240" cy="13716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508760"/>
            <a:ext cx="104241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1">
                <a:solidFill>
                  <a:srgbClr val="FFFFFF"/>
                </a:solidFill>
                <a:latin typeface="Segoe UI"/>
              </a:rPr>
              <a:t>“Give AFNI one secure, governed platform to build, evaluate, deploy, govern and continuously improve fleets of cooperating AI agents — with the same operational rigor AFNI already applies to running contact centers.”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17520"/>
            <a:ext cx="2670048" cy="31089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017520"/>
            <a:ext cx="2670048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154680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Platform-first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566160"/>
            <a:ext cx="2340864" cy="2468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Build foundations once; every initiative reuses them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46704" y="3017520"/>
            <a:ext cx="2670048" cy="31089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46704" y="3017520"/>
            <a:ext cx="2670048" cy="82296"/>
          </a:xfrm>
          <a:prstGeom prst="rect">
            <a:avLst/>
          </a:prstGeom>
          <a:solidFill>
            <a:srgbClr val="2EC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3154680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Multi-agent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1296" y="3566160"/>
            <a:ext cx="2340864" cy="2468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Orchestrator + specialists — one pattern everywhere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3017520"/>
            <a:ext cx="2670048" cy="31089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3017520"/>
            <a:ext cx="2670048" cy="8229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3154680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Governed by design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566160"/>
            <a:ext cx="2340864" cy="2468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Responsible AI, compliance &amp; human-in-the-loop built 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42832" y="3017520"/>
            <a:ext cx="2670048" cy="31089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42832" y="3017520"/>
            <a:ext cx="2670048" cy="82296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07424" y="3154680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Measurable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7424" y="3566160"/>
            <a:ext cx="2340864" cy="2468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Quality, cost &amp; business KPIs instrumented end to 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743200"/>
            <a:ext cx="128016" cy="13716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9659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2A406E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926080"/>
            <a:ext cx="10058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The Three Initiatives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420624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2EC4D3"/>
                </a:solidFill>
                <a:latin typeface="Segoe UI"/>
              </a:rPr>
              <a:t>Voice Agent · Performance Intelligence Index · Hiring Intelligence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37744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Three flagship initiatives, one shared platform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AFNI · Office of GenAI Architecture  ·  Enterprise LLMOps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pic>
        <p:nvPicPr>
          <p:cNvPr id="11" name="Picture 10" descr="03-three-initiati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546" y="1207008"/>
            <a:ext cx="9126601" cy="52303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743200"/>
            <a:ext cx="128016" cy="13716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9659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2A406E"/>
                </a:solidFill>
                <a:latin typeface="Segoe U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926080"/>
            <a:ext cx="10058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The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420624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2EC4D3"/>
                </a:solidFill>
                <a:latin typeface="Segoe UI"/>
              </a:rPr>
              <a:t>Enterprise LLMOps on Azure AI Foundry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37744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REFERENCE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A layered platform every initiative is built 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AFNI · Office of GenAI Architecture  ·  Enterprise LLMOps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pic>
        <p:nvPicPr>
          <p:cNvPr id="11" name="Picture 10" descr="01-platform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136" y="1207008"/>
            <a:ext cx="8411421" cy="52303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37744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MULTI-AGENT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One orchestrator, seven specialist agents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AFNI · Office of GenAI Architecture  ·  Enterprise LLMOps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pic>
        <p:nvPicPr>
          <p:cNvPr id="11" name="Picture 10" descr="02-multi-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6870" y="1207008"/>
            <a:ext cx="8577954" cy="52303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743200"/>
            <a:ext cx="128016" cy="13716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9659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2A406E"/>
                </a:solidFill>
                <a:latin typeface="Segoe U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926080"/>
            <a:ext cx="10058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Voice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420624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2EC4D3"/>
                </a:solidFill>
                <a:latin typeface="Segoe UI"/>
              </a:rPr>
              <a:t>Real-time voice automation &amp; agent-assist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37744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VOICE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End-to-end real-time call 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AFNI · Office of GenAI Architecture  ·  Enterprise LLMOps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pic>
        <p:nvPicPr>
          <p:cNvPr id="11" name="Picture 10" descr="04-voic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4201" y="1188720"/>
            <a:ext cx="8683291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37744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VOICE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Modes &amp; measurable outcomes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AFNI · Office of GenAI Architecture  ·  Enterprise LLMOps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325880"/>
            <a:ext cx="3429000" cy="31089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325880"/>
            <a:ext cx="34290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463040"/>
            <a:ext cx="30998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Agent-assist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1874520"/>
            <a:ext cx="3099816" cy="2468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0A6A6"/>
                </a:solidFill>
                <a:latin typeface="Segoe UI"/>
              </a:rPr>
              <a:t>▸  lowest risk, fastest value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Live transcription &amp; next-best-action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Compliance nudges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Auto summary &amp; disposition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53712" y="1325880"/>
            <a:ext cx="3429000" cy="31089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53712" y="1325880"/>
            <a:ext cx="3429000" cy="82296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18304" y="1463040"/>
            <a:ext cx="30998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Autonomous voice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8304" y="1874520"/>
            <a:ext cx="3099816" cy="2468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1B3A6B"/>
                </a:solidFill>
                <a:latin typeface="Segoe UI"/>
              </a:rPr>
              <a:t>▸  scoped, containable calls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FAQs, verification, appointments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Payment reminders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Warm handoff when needed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58784" y="1325880"/>
            <a:ext cx="3429000" cy="31089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58784" y="1325880"/>
            <a:ext cx="3429000" cy="8229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23376" y="1463040"/>
            <a:ext cx="30998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Post-call analytics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3376" y="1874520"/>
            <a:ext cx="3099816" cy="2468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▸  feeds the PI Index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100% coverage, not sampled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Compliance &amp; QA scoring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Coaching insight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48640" y="470916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685800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KPI</a:t>
                      </a:r>
                    </a:p>
                  </a:txBody>
                  <a:tcPr anchor="ctr" marL="73152" marT="18288" marB="18288"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Target *</a:t>
                      </a:r>
                    </a:p>
                  </a:txBody>
                  <a:tcPr anchor="ctr" marL="73152" marT="18288" marB="18288">
                    <a:solidFill>
                      <a:srgbClr val="1B3A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Containment / deflection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20–40% of eligible call types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Average Handle Time</a:t>
                      </a:r>
                    </a:p>
                  </a:txBody>
                  <a:tcPr anchor="ctr" marL="73152" marT="18288" marB="18288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15–25% reduction</a:t>
                      </a:r>
                    </a:p>
                  </a:txBody>
                  <a:tcPr anchor="ctr" marL="73152" marT="18288" marB="18288">
                    <a:solidFill>
                      <a:srgbClr val="F4F6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QA coverage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~5% sampled → 100%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Compliance adherence</a:t>
                      </a:r>
                    </a:p>
                  </a:txBody>
                  <a:tcPr anchor="ctr" marL="73152" marT="18288" marB="18288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monitored on every call</a:t>
                      </a:r>
                    </a:p>
                  </a:txBody>
                  <a:tcPr anchor="ctr" marL="73152" marT="18288" marB="18288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548640" y="62636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1">
                <a:solidFill>
                  <a:srgbClr val="5A6474"/>
                </a:solidFill>
                <a:latin typeface="Segoe UI"/>
              </a:rPr>
              <a:t>* Illustrative — replaced with AFNI actuals in discovery.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743200"/>
            <a:ext cx="128016" cy="13716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9659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2A406E"/>
                </a:solidFill>
                <a:latin typeface="Segoe U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926080"/>
            <a:ext cx="10058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Performance Intelligence Index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420624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2EC4D3"/>
                </a:solidFill>
                <a:latin typeface="Segoe UI"/>
              </a:rPr>
              <a:t>100% of interactions → one explainable score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37744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PI INDEX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From every interaction to a composite performance score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AFNI · Office of GenAI Architecture  ·  Enterprise LLMOps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pic>
        <p:nvPicPr>
          <p:cNvPr id="11" name="Picture 10" descr="05-pi-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8632" y="1207008"/>
            <a:ext cx="8754429" cy="523036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743200"/>
            <a:ext cx="128016" cy="13716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9659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2A406E"/>
                </a:solidFill>
                <a:latin typeface="Segoe U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926080"/>
            <a:ext cx="10058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Hiring Intelligence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420624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2EC4D3"/>
                </a:solidFill>
                <a:latin typeface="Segoe UI"/>
              </a:rPr>
              <a:t>Fair, high-volume recruitment — humans decide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37744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HIRING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An agent at every stage, fairness throughout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AFNI · Office of GenAI Architecture  ·  Enterprise LLMOps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pic>
        <p:nvPicPr>
          <p:cNvPr id="11" name="Picture 10" descr="06-hiring-intelli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1188720"/>
            <a:ext cx="9144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743200"/>
            <a:ext cx="128016" cy="13716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9659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2A406E"/>
                </a:solidFill>
                <a:latin typeface="Segoe U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926080"/>
            <a:ext cx="10058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Operate &amp; Govern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420624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2EC4D3"/>
                </a:solidFill>
                <a:latin typeface="Segoe UI"/>
              </a:rPr>
              <a:t>LLMOps, trust, security, cost &amp; delivery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37744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LLMOPS LIFECYCLE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How agents are built, evaluated, shipped &amp; watched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AFNI · Office of GenAI Architecture  ·  Enterprise LLMOps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pic>
        <p:nvPicPr>
          <p:cNvPr id="11" name="Picture 10" descr="07-llmops-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9968" y="1207008"/>
            <a:ext cx="6171758" cy="523036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37744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RESPONSIBLE AI &amp;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Trust engineered in, not bolted 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AFNI · Office of GenAI Architecture  ·  Enterprise LLMOps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325880"/>
            <a:ext cx="1700784" cy="777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325880"/>
            <a:ext cx="170078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Fairness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22576" y="1325880"/>
            <a:ext cx="1700784" cy="777240"/>
          </a:xfrm>
          <a:prstGeom prst="rect">
            <a:avLst/>
          </a:prstGeom>
          <a:solidFill>
            <a:srgbClr val="2EC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22576" y="1325880"/>
            <a:ext cx="170078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Reliability &amp; safety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96512" y="1325880"/>
            <a:ext cx="1700784" cy="77724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96512" y="1325880"/>
            <a:ext cx="170078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Privacy &amp; security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70448" y="1325880"/>
            <a:ext cx="1700784" cy="77724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70448" y="1325880"/>
            <a:ext cx="170078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Inclusiveness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44383" y="1325880"/>
            <a:ext cx="1700784" cy="7772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44383" y="1325880"/>
            <a:ext cx="170078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Transparency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18320" y="1325880"/>
            <a:ext cx="1700784" cy="77724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1325880"/>
            <a:ext cx="170078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Accountability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331720"/>
            <a:ext cx="5486400" cy="37033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2331720"/>
            <a:ext cx="5486400" cy="82296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2468880"/>
            <a:ext cx="5157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Governance mechanisms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2880360"/>
            <a:ext cx="5157216" cy="3063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AI use-case intake with risk-tiering (low / med / high)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Human-in-the-loop for consequential decisions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Model &amp; system cards per deployed agent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Content Safety: prompt shields, groundedness, PII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Audit trails, AI incident response, red-teaming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AI governance board with regular cadence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2331720"/>
            <a:ext cx="5486400" cy="37033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331720"/>
            <a:ext cx="5486400" cy="8229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36792" y="2468880"/>
            <a:ext cx="5157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Risk tiering drives controls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2880360"/>
            <a:ext cx="5157216" cy="3063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C0392B"/>
                </a:solidFill>
                <a:latin typeface="Segoe UI"/>
              </a:rPr>
              <a:t>▸  High (hiring, collections): full HITL, bias audits, legal sign-off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▸  Medium (customer voice): guardrails + sampled QA + monitoring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2E9E5B"/>
                </a:solidFill>
                <a:latin typeface="Segoe UI"/>
              </a:rPr>
              <a:t>▸  Low (internal drafting): standard guardrails + spot checks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5A6474"/>
                </a:solidFill>
                <a:latin typeface="Segoe UI"/>
              </a:rPr>
              <a:t>▸  Controls scale with consequence — not one-size-fits-all.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37744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SECURITY &amp; 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Enterprise-grade by construction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AFNI · Office of GenAI Architecture  ·  Enterprise LLMOps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71600"/>
            <a:ext cx="521208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>
                <a:solidFill>
                  <a:srgbClr val="1C2433"/>
                </a:solidFill>
                <a:latin typeface="Segoe UI"/>
              </a:rPr>
              <a:t>▸  Entra ID · least-privilege RBAC · managed identities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>
                <a:solidFill>
                  <a:srgbClr val="1C2433"/>
                </a:solidFill>
                <a:latin typeface="Segoe UI"/>
              </a:rPr>
              <a:t>▸  Key Vault secrets; none in code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>
                <a:solidFill>
                  <a:srgbClr val="1C2433"/>
                </a:solidFill>
                <a:latin typeface="Segoe UI"/>
              </a:rPr>
              <a:t>▸  VNet + private endpoints; no public data egress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>
                <a:solidFill>
                  <a:srgbClr val="1C2433"/>
                </a:solidFill>
                <a:latin typeface="Segoe UI"/>
              </a:rPr>
              <a:t>▸  Encryption at rest &amp; in transit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>
                <a:solidFill>
                  <a:srgbClr val="1C2433"/>
                </a:solidFill>
                <a:latin typeface="Segoe UI"/>
              </a:rPr>
              <a:t>▸  Data residency across US / Mexico / Philippines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>
                <a:solidFill>
                  <a:srgbClr val="1C2433"/>
                </a:solidFill>
                <a:latin typeface="Segoe UI"/>
              </a:rPr>
              <a:t>▸  Defender for Cloud · Purview lineage &amp; DLP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>
                <a:solidFill>
                  <a:srgbClr val="1C2433"/>
                </a:solidFill>
                <a:latin typeface="Segoe UI"/>
              </a:rPr>
              <a:t>▸  Prompt-injection &amp; data-exfiltration defenses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943600" y="1371600"/>
          <a:ext cx="566928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566160"/>
              </a:tblGrid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Framework</a:t>
                      </a:r>
                    </a:p>
                  </a:txBody>
                  <a:tcPr anchor="ctr" marL="73152" marT="18288" marB="18288"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Where it applies</a:t>
                      </a:r>
                    </a:p>
                  </a:txBody>
                  <a:tcPr anchor="ctr" marL="73152" marT="18288" marB="18288">
                    <a:solidFill>
                      <a:srgbClr val="1B3A6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PCI-DSS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Payment capture — pause/mask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HIPAA</a:t>
                      </a:r>
                    </a:p>
                  </a:txBody>
                  <a:tcPr anchor="ctr" marL="73152" marT="18288" marB="18288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Healthcare client programs</a:t>
                      </a:r>
                    </a:p>
                  </a:txBody>
                  <a:tcPr anchor="ctr" marL="73152" marT="18288" marB="18288"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TCPA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Outbound voice &amp; consent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SOC 2</a:t>
                      </a:r>
                    </a:p>
                  </a:txBody>
                  <a:tcPr anchor="ctr" marL="73152" marT="18288" marB="18288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Platform controls</a:t>
                      </a:r>
                    </a:p>
                  </a:txBody>
                  <a:tcPr anchor="ctr" marL="73152" marT="18288" marB="18288"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GDPR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PII &amp; data-subject rights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EEOC / NYC LL144</a:t>
                      </a:r>
                    </a:p>
                  </a:txBody>
                  <a:tcPr anchor="ctr" marL="73152" marT="18288" marB="18288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Hiring fairness &amp; bias audit</a:t>
                      </a:r>
                    </a:p>
                  </a:txBody>
                  <a:tcPr anchor="ctr" marL="73152" marT="18288" marB="18288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37744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OBSERVABILITY &amp; FINOPS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You can't scale what you can't see or 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AFNI · Office of GenAI Architecture  ·  Enterprise LLMOps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371600"/>
            <a:ext cx="5486400" cy="4709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371600"/>
            <a:ext cx="54864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508760"/>
            <a:ext cx="5157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Observe every interaction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1920240"/>
            <a:ext cx="5157216" cy="4069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Quality &amp; groundedness in production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Latency p50/p95 vs sub-second voice SLOs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Errors, drift &amp; safety events with alerting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Token usage per request, agent &amp; tool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OpenTelemetry GenAI tracing → App Insights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Dashboards for ops, eng &amp; governance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5486400" cy="4709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371600"/>
            <a:ext cx="5486400" cy="8229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792" y="1508760"/>
            <a:ext cx="5157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Control the spend (FinOps)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1920240"/>
            <a:ext cx="5157216" cy="4069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Token metering &amp; quotas at the APIM gateway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Cost showback per initiative &amp; business unit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Model right-sizing: GPT-4o vs mini vs open-weight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Semantic caching &amp; prompt compression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Budget guardrails &amp; anomaly alerts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Cost-per-resolved-call / per-screen as KPIs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37744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An AFNI GenAI Center of Excellence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AFNI · Office of GenAI Architecture  ·  Enterprise LLMOps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1325880"/>
            <a:ext cx="3840480" cy="77724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1325880"/>
            <a:ext cx="3840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GenAI Center of Excellence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EC4D3"/>
                </a:solidFill>
                <a:latin typeface="Segoe UI"/>
              </a:rPr>
              <a:t>platform · standards · governance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14600"/>
            <a:ext cx="2697480" cy="7315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514600"/>
            <a:ext cx="91440" cy="73152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14600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21F3D"/>
                </a:solidFill>
                <a:latin typeface="Segoe UI"/>
              </a:rPr>
              <a:t>Exec sponsor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55848" y="2514600"/>
            <a:ext cx="2697480" cy="7315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5848" y="2514600"/>
            <a:ext cx="91440" cy="731520"/>
          </a:xfrm>
          <a:prstGeom prst="rect">
            <a:avLst/>
          </a:prstGeom>
          <a:solidFill>
            <a:srgbClr val="2EC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84448" y="2514600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21F3D"/>
                </a:solidFill>
                <a:latin typeface="Segoe UI"/>
              </a:rPr>
              <a:t>AI product owner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3055" y="2514600"/>
            <a:ext cx="2697480" cy="7315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63055" y="2514600"/>
            <a:ext cx="91440" cy="73152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91655" y="2514600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21F3D"/>
                </a:solidFill>
                <a:latin typeface="Segoe UI"/>
              </a:rPr>
              <a:t>GenAI architect (lead)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70263" y="2514600"/>
            <a:ext cx="2697480" cy="7315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70263" y="2514600"/>
            <a:ext cx="91440" cy="73152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98863" y="2514600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21F3D"/>
                </a:solidFill>
                <a:latin typeface="Segoe UI"/>
              </a:rPr>
              <a:t>Prompt / agent engineers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383280"/>
            <a:ext cx="2697480" cy="7315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383280"/>
            <a:ext cx="91440" cy="731520"/>
          </a:xfrm>
          <a:prstGeom prst="rect">
            <a:avLst/>
          </a:prstGeom>
          <a:solidFill>
            <a:srgbClr val="3E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383280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21F3D"/>
                </a:solidFill>
                <a:latin typeface="Segoe UI"/>
              </a:rPr>
              <a:t>LLMOps engineers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55848" y="3383280"/>
            <a:ext cx="2697480" cy="7315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55848" y="3383280"/>
            <a:ext cx="91440" cy="731520"/>
          </a:xfrm>
          <a:prstGeom prst="rect">
            <a:avLst/>
          </a:prstGeom>
          <a:solidFill>
            <a:srgbClr val="5A64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84448" y="3383280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21F3D"/>
                </a:solidFill>
                <a:latin typeface="Segoe UI"/>
              </a:rPr>
              <a:t>Data engineers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63055" y="3383280"/>
            <a:ext cx="2697480" cy="7315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63055" y="3383280"/>
            <a:ext cx="91440" cy="7315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91655" y="3383280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21F3D"/>
                </a:solidFill>
                <a:latin typeface="Segoe UI"/>
              </a:rPr>
              <a:t>RAI / governance officer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70263" y="3383280"/>
            <a:ext cx="2697480" cy="7315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70263" y="3383280"/>
            <a:ext cx="91440" cy="73152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98863" y="3383280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21F3D"/>
                </a:solidFill>
                <a:latin typeface="Segoe UI"/>
              </a:rPr>
              <a:t>Security engineer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480560"/>
            <a:ext cx="11109960" cy="141732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4617720"/>
            <a:ext cx="1069848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Federated hub-and-spoke: </a:t>
            </a:r>
            <a:r>
              <a:rPr sz="1400" b="0" i="0">
                <a:solidFill>
                  <a:srgbClr val="D5DEEE"/>
                </a:solidFill>
                <a:latin typeface="Segoe UI"/>
              </a:rPr>
              <a:t>the CoE owns the platform, guardrails and standards; Operations and HR 'spokes' own their initiatives and outcomes. SMEs from Ops, HR, Compliance and Security embed into delivery pods; a RACI governs every lifecycle activity. All roles are AFNI-internal.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37744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Crawl → Walk → Run over ~9–12 months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AFNI · Office of GenAI Architecture  ·  Enterprise LLMOps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16</a:t>
            </a:r>
          </a:p>
        </p:txBody>
      </p:sp>
      <p:pic>
        <p:nvPicPr>
          <p:cNvPr id="11" name="Picture 10" descr="08-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313412"/>
            <a:ext cx="11430000" cy="5017559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37744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BUSINESS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Where the value comes from (illustrative)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AFNI · Office of GenAI Architecture  ·  Enterprise LLMOps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17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651760"/>
                <a:gridCol w="420624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Value lever</a:t>
                      </a:r>
                    </a:p>
                  </a:txBody>
                  <a:tcPr anchor="ctr" marL="73152" marT="18288" marB="18288"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Initiative</a:t>
                      </a:r>
                    </a:p>
                  </a:txBody>
                  <a:tcPr anchor="ctr" marL="73152" marT="18288" marB="18288"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Illustrative impact *</a:t>
                      </a:r>
                    </a:p>
                  </a:txBody>
                  <a:tcPr anchor="ctr" marL="73152" marT="18288" marB="18288">
                    <a:solidFill>
                      <a:srgbClr val="1B3A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100% QA coverage &amp; faster coaching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PI Index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from ~5% sampled to 100%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Call containment / deflection</a:t>
                      </a:r>
                    </a:p>
                  </a:txBody>
                  <a:tcPr anchor="ctr" marL="73152" marT="18288" marB="18288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Voice Agent</a:t>
                      </a:r>
                    </a:p>
                  </a:txBody>
                  <a:tcPr anchor="ctr" marL="73152" marT="18288" marB="18288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20–40% of eligible calls</a:t>
                      </a:r>
                    </a:p>
                  </a:txBody>
                  <a:tcPr anchor="ctr" marL="73152" marT="18288" marB="18288"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AHT reduction (agent-assist)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Voice Agent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15–25% shorter handle time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Recruiter screening effort</a:t>
                      </a:r>
                    </a:p>
                  </a:txBody>
                  <a:tcPr anchor="ctr" marL="73152" marT="18288" marB="18288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Hiring Intelligence</a:t>
                      </a:r>
                    </a:p>
                  </a:txBody>
                  <a:tcPr anchor="ctr" marL="73152" marT="18288" marB="18288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30–50% fewer manual hours</a:t>
                      </a:r>
                    </a:p>
                  </a:txBody>
                  <a:tcPr anchor="ctr" marL="73152" marT="18288" marB="18288"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Time-to-fill &amp; cost-per-hire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Hiring Intelligence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both materially reduced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Attrition (better matching / coaching)</a:t>
                      </a:r>
                    </a:p>
                  </a:txBody>
                  <a:tcPr anchor="ctr" marL="73152" marT="18288" marB="18288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Hiring + PI Index</a:t>
                      </a:r>
                    </a:p>
                  </a:txBody>
                  <a:tcPr anchor="ctr" marL="73152" marT="18288" marB="18288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lower 90-day attrition</a:t>
                      </a:r>
                    </a:p>
                  </a:txBody>
                  <a:tcPr anchor="ctr" marL="73152" marT="18288" marB="18288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48640" y="5074920"/>
            <a:ext cx="11064240" cy="86868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120640"/>
            <a:ext cx="106070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Illustrative payback: 9–15 months. </a:t>
            </a:r>
            <a:r>
              <a:rPr sz="1300" b="0" i="1">
                <a:solidFill>
                  <a:srgbClr val="D5DEEE"/>
                </a:solidFill>
                <a:latin typeface="Segoe UI"/>
              </a:rPr>
              <a:t>All figures are placeholders to be replaced with AFNI's actual volumes, rates and cost structure during Phase 0 discovery. Under Gainshare, efficiency improves shared margin directly.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37744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RISKS &amp; MITIGATIONS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Named early, managed deliberately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AFNI · Office of GenAI Architecture  ·  Enterprise LLMOps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18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371600"/>
          <a:ext cx="1106424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6858000"/>
              </a:tblGrid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Risk</a:t>
                      </a:r>
                    </a:p>
                  </a:txBody>
                  <a:tcPr anchor="ctr" marL="73152" marT="18288" marB="18288"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Mitigation</a:t>
                      </a:r>
                    </a:p>
                  </a:txBody>
                  <a:tcPr anchor="ctr" marL="73152" marT="18288" marB="18288">
                    <a:solidFill>
                      <a:srgbClr val="1B3A6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21F3D"/>
                          </a:solidFill>
                          <a:latin typeface="Segoe UI"/>
                        </a:rPr>
                        <a:t>Hallucination / wrong answers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C2433"/>
                          </a:solidFill>
                          <a:latin typeface="Segoe UI"/>
                        </a:rPr>
                        <a:t>RAG grounding, groundedness eval gates, HITL, guardrails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21F3D"/>
                          </a:solidFill>
                          <a:latin typeface="Segoe UI"/>
                        </a:rPr>
                        <a:t>Compliance breach (TCPA/PCI/EEOC)</a:t>
                      </a:r>
                    </a:p>
                  </a:txBody>
                  <a:tcPr anchor="ctr" marL="73152" marT="18288" marB="18288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C2433"/>
                          </a:solidFill>
                          <a:latin typeface="Segoe UI"/>
                        </a:rPr>
                        <a:t>Compliance agent, risk-tiering, bias audits, legal sign-off</a:t>
                      </a:r>
                    </a:p>
                  </a:txBody>
                  <a:tcPr anchor="ctr" marL="73152" marT="18288" marB="18288">
                    <a:solidFill>
                      <a:srgbClr val="F4F6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21F3D"/>
                          </a:solidFill>
                          <a:latin typeface="Segoe UI"/>
                        </a:rPr>
                        <a:t>Unfair scoring (PI Index / hiring)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C2433"/>
                          </a:solidFill>
                          <a:latin typeface="Segoe UI"/>
                        </a:rPr>
                        <a:t>Fairness monitors, explainability, human calibration &amp; appeals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21F3D"/>
                          </a:solidFill>
                          <a:latin typeface="Segoe UI"/>
                        </a:rPr>
                        <a:t>Runaway token cost</a:t>
                      </a:r>
                    </a:p>
                  </a:txBody>
                  <a:tcPr anchor="ctr" marL="73152" marT="18288" marB="18288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C2433"/>
                          </a:solidFill>
                          <a:latin typeface="Segoe UI"/>
                        </a:rPr>
                        <a:t>APIM metering, model right-sizing, caching, budget alerts</a:t>
                      </a:r>
                    </a:p>
                  </a:txBody>
                  <a:tcPr anchor="ctr" marL="73152" marT="18288" marB="18288">
                    <a:solidFill>
                      <a:srgbClr val="F4F6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21F3D"/>
                          </a:solidFill>
                          <a:latin typeface="Segoe UI"/>
                        </a:rPr>
                        <a:t>Quality regression on change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C2433"/>
                          </a:solidFill>
                          <a:latin typeface="Segoe UI"/>
                        </a:rPr>
                        <a:t>Golden-set regression gates, canary + rollback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21F3D"/>
                          </a:solidFill>
                          <a:latin typeface="Segoe UI"/>
                        </a:rPr>
                        <a:t>Low adoption / change fatigue</a:t>
                      </a:r>
                    </a:p>
                  </a:txBody>
                  <a:tcPr anchor="ctr" marL="73152" marT="18288" marB="18288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C2433"/>
                          </a:solidFill>
                          <a:latin typeface="Segoe UI"/>
                        </a:rPr>
                        <a:t>Copilot-first, agent involvement, enablement, clear ROI</a:t>
                      </a:r>
                    </a:p>
                  </a:txBody>
                  <a:tcPr anchor="ctr" marL="73152" marT="18288" marB="18288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C4D3"/>
                </a:solidFill>
                <a:latin typeface="Segoe UI"/>
              </a:rPr>
              <a:t>RECOMMENDATION &amp; 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Approve a 4-week Phase 0 to lock foundations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48640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21F3D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Confirm the three initiatives &amp; success metrics with Ops and HR leaders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127248"/>
            <a:ext cx="548640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2724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21F3D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127248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Stand up the Azure landing zone, security baseline &amp; guardrail policy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877056"/>
            <a:ext cx="548640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87705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21F3D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877056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Run use-case intake &amp; risk-tiering; secure data access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626864"/>
            <a:ext cx="548640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62686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21F3D"/>
                </a:solidFill>
                <a:latin typeface="Sego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626864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Launch Voice Agent copilot, PI Index MVP &amp; Hiring screening pilots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623560"/>
            <a:ext cx="10515600" cy="1524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AFNI · Office of GenAI Architecture   |   Thank you — questions &amp; discussion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