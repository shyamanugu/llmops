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intro. Today I'll cover four things: what LLMOps means, why we should build a reusable framework before any single project, how we'd build the base in about a month, and what it costs to keep running. I'll keep the jargon light and define terms as we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plain. One line: LLMOps is DevOps for apps built on language models. The twist is that outputs vary, so testing and monitoring look different from normal software. Don't go deep here; we'll expand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argument of the whole deck. Analogy: build the road once, then any car can drive on it. We are not proposing a product yet — we are proposing the foundation that every future project uses.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across the eight boxes quickly. The point is these are shared services every project reuses. Don't read every word — highlight model gateway, RAG, guardrails, evaluation, and CI/CD. Mention the terms line at the bottom so people are not lost on acronyms.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simple steps, left to right, then it loops back. Emphasize two things: nothing ships without being tested, and real-world feedback comes back to improve the system. That loop is what makes it 'operations' and not just 'build'.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scope. One month gets a working foundation, not everything. Each week builds on the last. By the end we have a sample app running through the whole thing, which proves the base is real. Adjust weeks if the team is smaller.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'later part' the framework is built for. Notice most steps are configuration, not building. The framework did the hard, shared work once. Keep this generic — no specific project named.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people will care about this slide. The one line to land: we treat all model input and output as untrusted and check both. And for anything sensitive, a human makes the final 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idea: we do not just hope the model is right — we measure it, and we block a release if quality drops. 'Answering from our data, not making things up' is the phrase to use for grounding.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asked specifically about running costs, so slow down here. Two messages: costs are ongoing (not one-time), and the two biggest are model usage (variable, grows with traffic) and people (fixed). I will not give a dollar figure until we know expected volume, but I can once we do. Mention the two cost levers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short. The message: it does not take a large team. A small group builds the base, then supports many projects. Roles can be shared in a smaller org.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we have thought about what can go wrong and how we handle each one. The vendor lock-in point matters to leadership: the gateway means we are not stuck with one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business angle for leadership. We build the foundation once, then help client after client with it. That is faster, safer, and cheaper than building one-off solutions each time, and it becomes a service we can offer.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four points, then ask for the one decision I need: agreement on scope for the one-month base build, and access to set up the cloud environment. Keep it to a single clear ask.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Leave this up during questions if people want the acronyms. Skip it in the main flow if time is short.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10515600" cy="1463040"/>
          </a:xfrm>
          <a:prstGeom prst="rect">
            <a:avLst/>
          </a:prstGeom>
          <a:noFill/>
        </p:spPr>
        <p:txBody>
          <a:bodyPr wrap="square" anchor="t" lIns="0" rIns="0" tIns="0" bIns="0">
            <a:spAutoFit/>
          </a:bodyPr>
          <a:lstStyle/>
          <a:p>
            <a:pPr algn="l">
              <a:lnSpc>
                <a:spcPct val="105000"/>
              </a:lnSpc>
              <a:spcBef>
                <a:spcPts val="0"/>
              </a:spcBef>
              <a:spcAft>
                <a:spcPts val="600"/>
              </a:spcAft>
            </a:pPr>
            <a:r>
              <a:rPr sz="3400" b="1" i="0">
                <a:solidFill>
                  <a:srgbClr val="1F3A5F"/>
                </a:solidFill>
                <a:latin typeface="Calibri"/>
              </a:rPr>
              <a:t>Building an Enterprise LLMOps Framework</a:t>
            </a:r>
          </a:p>
        </p:txBody>
      </p:sp>
      <p:sp>
        <p:nvSpPr>
          <p:cNvPr id="5" name="Rectangle 4"/>
          <p:cNvSpPr/>
          <p:nvPr/>
        </p:nvSpPr>
        <p:spPr>
          <a:xfrm>
            <a:off x="859536" y="2788920"/>
            <a:ext cx="18288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3063240"/>
            <a:ext cx="10241280" cy="1097280"/>
          </a:xfrm>
          <a:prstGeom prst="rect">
            <a:avLst/>
          </a:prstGeom>
          <a:noFill/>
        </p:spPr>
        <p:txBody>
          <a:bodyPr wrap="square" anchor="t" lIns="0" rIns="0" tIns="0" bIns="0">
            <a:spAutoFit/>
          </a:bodyPr>
          <a:lstStyle/>
          <a:p>
            <a:pPr algn="l">
              <a:lnSpc>
                <a:spcPct val="105000"/>
              </a:lnSpc>
              <a:spcBef>
                <a:spcPts val="0"/>
              </a:spcBef>
              <a:spcAft>
                <a:spcPts val="1000"/>
              </a:spcAft>
            </a:pPr>
            <a:r>
              <a:rPr sz="1700" b="0" i="0">
                <a:solidFill>
                  <a:srgbClr val="3C4654"/>
                </a:solidFill>
                <a:latin typeface="Calibri"/>
              </a:rPr>
              <a:t>A reusable foundation for running large language model (LLM) applications in production.</a:t>
            </a:r>
          </a:p>
          <a:p>
            <a:pPr algn="l">
              <a:lnSpc>
                <a:spcPct val="105000"/>
              </a:lnSpc>
              <a:spcBef>
                <a:spcPts val="0"/>
              </a:spcBef>
              <a:spcAft>
                <a:spcPts val="1000"/>
              </a:spcAft>
            </a:pPr>
            <a:r>
              <a:rPr sz="1300" b="0" i="1">
                <a:solidFill>
                  <a:srgbClr val="6B7480"/>
                </a:solidFill>
                <a:latin typeface="Calibri"/>
              </a:rPr>
              <a:t>LLMOps = Large Language Model Operations: the practices and tools to build, test, ship, and run LLM apps reliably.</a:t>
            </a:r>
          </a:p>
        </p:txBody>
      </p:sp>
      <p:sp>
        <p:nvSpPr>
          <p:cNvPr id="7" name="TextBox 6"/>
          <p:cNvSpPr txBox="1"/>
          <p:nvPr/>
        </p:nvSpPr>
        <p:spPr>
          <a:xfrm>
            <a:off x="841248" y="5852160"/>
            <a:ext cx="10058400" cy="548640"/>
          </a:xfrm>
          <a:prstGeom prst="rect">
            <a:avLst/>
          </a:prstGeom>
          <a:noFill/>
        </p:spPr>
        <p:txBody>
          <a:bodyPr wrap="square" anchor="t" lIns="0" rIns="0" tIns="0" bIns="0">
            <a:spAutoFit/>
          </a:bodyPr>
          <a:lstStyle/>
          <a:p>
            <a:pPr algn="l">
              <a:lnSpc>
                <a:spcPct val="105000"/>
              </a:lnSpc>
              <a:spcBef>
                <a:spcPts val="0"/>
              </a:spcBef>
              <a:spcAft>
                <a:spcPts val="600"/>
              </a:spcAft>
            </a:pPr>
            <a:r>
              <a:rPr sz="1200" b="1" i="0">
                <a:solidFill>
                  <a:srgbClr val="1F3A5F"/>
                </a:solidFill>
                <a:latin typeface="Calibri"/>
              </a:rPr>
              <a:t>Technical overview  ·  presenter working copy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What LLMOps means</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2</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300"/>
              </a:spcAft>
            </a:pPr>
            <a:r>
              <a:rPr sz="1700" b="0">
                <a:solidFill>
                  <a:srgbClr val="3C4654"/>
                </a:solidFill>
                <a:latin typeface="Calibri"/>
              </a:rPr>
              <a:t>•  LLM (Large Language Model): the AI model that reads and writes text — the kind of model behind chat assistants.</a:t>
            </a:r>
          </a:p>
          <a:p>
            <a:pPr>
              <a:lnSpc>
                <a:spcPct val="108000"/>
              </a:lnSpc>
              <a:spcBef>
                <a:spcPts val="0"/>
              </a:spcBef>
              <a:spcAft>
                <a:spcPts val="1300"/>
              </a:spcAft>
            </a:pPr>
            <a:r>
              <a:rPr sz="1700" b="0">
                <a:solidFill>
                  <a:srgbClr val="3C4654"/>
                </a:solidFill>
                <a:latin typeface="Calibri"/>
              </a:rPr>
              <a:t>•  LLMOps (Large Language Model Operations): the way we build, test, release, and run apps that use these models — safely and the same way every time.</a:t>
            </a:r>
          </a:p>
          <a:p>
            <a:pPr>
              <a:lnSpc>
                <a:spcPct val="108000"/>
              </a:lnSpc>
              <a:spcBef>
                <a:spcPts val="0"/>
              </a:spcBef>
              <a:spcAft>
                <a:spcPts val="1300"/>
              </a:spcAft>
            </a:pPr>
            <a:r>
              <a:rPr sz="1700" b="0">
                <a:solidFill>
                  <a:srgbClr val="3C4654"/>
                </a:solidFill>
                <a:latin typeface="Calibri"/>
              </a:rPr>
              <a:t>•  Think of it as DevOps for LLM apps. DevOps (Development + Operations) is the normal way software teams ship code. MLOps (Machine Learning Operations) does the same for data models. LLMOps adapts this for language models.</a:t>
            </a:r>
          </a:p>
          <a:p>
            <a:pPr>
              <a:lnSpc>
                <a:spcPct val="108000"/>
              </a:lnSpc>
              <a:spcBef>
                <a:spcPts val="0"/>
              </a:spcBef>
              <a:spcAft>
                <a:spcPts val="1300"/>
              </a:spcAft>
            </a:pPr>
            <a:r>
              <a:rPr sz="1700" b="0">
                <a:solidFill>
                  <a:srgbClr val="3C4654"/>
                </a:solidFill>
                <a:latin typeface="Calibri"/>
              </a:rPr>
              <a:t>•  Why it needs its own approach: an LLM's answers are not fixed. Ask the same question twice and the wording can differ. So we have to test answer quality, watch for wrong answers, and keep an eye on cost for every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Why build a reusable framework first</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3</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400"/>
              </a:spcAft>
            </a:pPr>
            <a:r>
              <a:rPr sz="1700" b="0">
                <a:solidFill>
                  <a:srgbClr val="3C4654"/>
                </a:solidFill>
                <a:latin typeface="Calibri"/>
              </a:rPr>
              <a:t>•  Most teams jump straight to one project. Each time, they rebuild the same plumbing: connecting to the model, adding search over documents, logging, and safety checks.</a:t>
            </a:r>
          </a:p>
          <a:p>
            <a:pPr>
              <a:lnSpc>
                <a:spcPct val="108000"/>
              </a:lnSpc>
              <a:spcBef>
                <a:spcPts val="0"/>
              </a:spcBef>
              <a:spcAft>
                <a:spcPts val="1400"/>
              </a:spcAft>
            </a:pPr>
            <a:r>
              <a:rPr sz="1700" b="0">
                <a:solidFill>
                  <a:srgbClr val="3C4654"/>
                </a:solidFill>
                <a:latin typeface="Calibri"/>
              </a:rPr>
              <a:t>•  That is slow, expensive, and hard to control. Many pilots never reach real production because the basics were built in a hurry.</a:t>
            </a:r>
          </a:p>
          <a:p>
            <a:pPr>
              <a:lnSpc>
                <a:spcPct val="108000"/>
              </a:lnSpc>
              <a:spcBef>
                <a:spcPts val="0"/>
              </a:spcBef>
              <a:spcAft>
                <a:spcPts val="1400"/>
              </a:spcAft>
            </a:pPr>
            <a:r>
              <a:rPr sz="1700" b="1">
                <a:solidFill>
                  <a:srgbClr val="1F3A5F"/>
                </a:solidFill>
                <a:latin typeface="Calibri"/>
              </a:rPr>
              <a:t>•  Better approach: build the shared foundation once. Then each new project plugs into it instead of starting from zero.</a:t>
            </a:r>
          </a:p>
          <a:p>
            <a:pPr>
              <a:lnSpc>
                <a:spcPct val="108000"/>
              </a:lnSpc>
              <a:spcBef>
                <a:spcPts val="0"/>
              </a:spcBef>
              <a:spcAft>
                <a:spcPts val="1400"/>
              </a:spcAft>
            </a:pPr>
            <a:r>
              <a:rPr sz="1700" b="0">
                <a:solidFill>
                  <a:srgbClr val="3C4654"/>
                </a:solidFill>
                <a:latin typeface="Calibri"/>
              </a:rPr>
              <a:t>•  Payoff: new work starts in days instead of months, and security, testing, and monitoring are already there.</a:t>
            </a:r>
          </a:p>
        </p:txBody>
      </p:sp>
      <p:sp>
        <p:nvSpPr>
          <p:cNvPr id="8" name="Rounded Rectangle 7"/>
          <p:cNvSpPr/>
          <p:nvPr/>
        </p:nvSpPr>
        <p:spPr>
          <a:xfrm>
            <a:off x="822960" y="4480560"/>
            <a:ext cx="4937760" cy="1554480"/>
          </a:xfrm>
          <a:prstGeom prst="roundRect">
            <a:avLst/>
          </a:prstGeom>
          <a:solidFill>
            <a:srgbClr val="F7ECEC"/>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A33A2F"/>
                </a:solidFill>
                <a:latin typeface="Calibri"/>
              </a:rPr>
              <a:t>Without a framework</a:t>
            </a:r>
          </a:p>
          <a:p>
            <a:pPr algn="ctr">
              <a:lnSpc>
                <a:spcPct val="100000"/>
              </a:lnSpc>
            </a:pPr>
            <a:r>
              <a:rPr sz="1050">
                <a:solidFill>
                  <a:srgbClr val="3C4654"/>
                </a:solidFill>
                <a:latin typeface="Calibri"/>
              </a:rPr>
              <a:t>Every project rebuilds plumbing. Slow, costly, inconsistent, hard to govern.</a:t>
            </a:r>
          </a:p>
        </p:txBody>
      </p:sp>
      <p:sp>
        <p:nvSpPr>
          <p:cNvPr id="9" name="Rounded Rectangle 8"/>
          <p:cNvSpPr/>
          <p:nvPr/>
        </p:nvSpPr>
        <p:spPr>
          <a:xfrm>
            <a:off x="6309360" y="4480560"/>
            <a:ext cx="4937760" cy="1554480"/>
          </a:xfrm>
          <a:prstGeom prst="roundRect">
            <a:avLst/>
          </a:prstGeom>
          <a:solidFill>
            <a:srgbClr val="E9F3F0"/>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2A9D8F"/>
                </a:solidFill>
                <a:latin typeface="Calibri"/>
              </a:rPr>
              <a:t>With a framework</a:t>
            </a:r>
          </a:p>
          <a:p>
            <a:pPr algn="ctr">
              <a:lnSpc>
                <a:spcPct val="100000"/>
              </a:lnSpc>
            </a:pPr>
            <a:r>
              <a:rPr sz="1050">
                <a:solidFill>
                  <a:srgbClr val="3C4654"/>
                </a:solidFill>
                <a:latin typeface="Calibri"/>
              </a:rPr>
              <a:t>Build once. Projects reuse it. Fast, consistent, safe, easier to control cost.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What the framework provides</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4</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Rounded Rectangle 6"/>
          <p:cNvSpPr/>
          <p:nvPr/>
        </p:nvSpPr>
        <p:spPr>
          <a:xfrm>
            <a:off x="685800" y="150876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Model access</a:t>
            </a:r>
          </a:p>
          <a:p>
            <a:pPr algn="ctr">
              <a:lnSpc>
                <a:spcPct val="100000"/>
              </a:lnSpc>
            </a:pPr>
            <a:r>
              <a:rPr sz="1050">
                <a:solidFill>
                  <a:srgbClr val="3C4654"/>
                </a:solidFill>
                <a:latin typeface="Calibri"/>
              </a:rPr>
              <a:t>One secure gateway to the LLMs, with usage limits.</a:t>
            </a:r>
          </a:p>
        </p:txBody>
      </p:sp>
      <p:sp>
        <p:nvSpPr>
          <p:cNvPr id="8" name="Rounded Rectangle 7"/>
          <p:cNvSpPr/>
          <p:nvPr/>
        </p:nvSpPr>
        <p:spPr>
          <a:xfrm>
            <a:off x="3483864" y="150876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Orchestration</a:t>
            </a:r>
          </a:p>
          <a:p>
            <a:pPr algn="ctr">
              <a:lnSpc>
                <a:spcPct val="100000"/>
              </a:lnSpc>
            </a:pPr>
            <a:r>
              <a:rPr sz="1050">
                <a:solidFill>
                  <a:srgbClr val="3C4654"/>
                </a:solidFill>
                <a:latin typeface="Calibri"/>
              </a:rPr>
              <a:t>The logic that coordinates steps and tools (agents).</a:t>
            </a:r>
          </a:p>
        </p:txBody>
      </p:sp>
      <p:sp>
        <p:nvSpPr>
          <p:cNvPr id="9" name="Rounded Rectangle 8"/>
          <p:cNvSpPr/>
          <p:nvPr/>
        </p:nvSpPr>
        <p:spPr>
          <a:xfrm>
            <a:off x="6281928" y="150876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Knowledge / RAG</a:t>
            </a:r>
          </a:p>
          <a:p>
            <a:pPr algn="ctr">
              <a:lnSpc>
                <a:spcPct val="100000"/>
              </a:lnSpc>
            </a:pPr>
            <a:r>
              <a:rPr sz="1050">
                <a:solidFill>
                  <a:srgbClr val="3C4654"/>
                </a:solidFill>
                <a:latin typeface="Calibri"/>
              </a:rPr>
              <a:t>RAG = Retrieval-Augmented Generation: answer from our own documents.</a:t>
            </a:r>
          </a:p>
        </p:txBody>
      </p:sp>
      <p:sp>
        <p:nvSpPr>
          <p:cNvPr id="10" name="Rounded Rectangle 9"/>
          <p:cNvSpPr/>
          <p:nvPr/>
        </p:nvSpPr>
        <p:spPr>
          <a:xfrm>
            <a:off x="9079992" y="150876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Guardrails</a:t>
            </a:r>
          </a:p>
          <a:p>
            <a:pPr algn="ctr">
              <a:lnSpc>
                <a:spcPct val="100000"/>
              </a:lnSpc>
            </a:pPr>
            <a:r>
              <a:rPr sz="1050">
                <a:solidFill>
                  <a:srgbClr val="3C4654"/>
                </a:solidFill>
                <a:latin typeface="Calibri"/>
              </a:rPr>
              <a:t>Automatic checks on inputs and outputs; hide personal data.</a:t>
            </a:r>
          </a:p>
        </p:txBody>
      </p:sp>
      <p:sp>
        <p:nvSpPr>
          <p:cNvPr id="11" name="Rounded Rectangle 10"/>
          <p:cNvSpPr/>
          <p:nvPr/>
        </p:nvSpPr>
        <p:spPr>
          <a:xfrm>
            <a:off x="685800" y="324612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Evaluation</a:t>
            </a:r>
          </a:p>
          <a:p>
            <a:pPr algn="ctr">
              <a:lnSpc>
                <a:spcPct val="100000"/>
              </a:lnSpc>
            </a:pPr>
            <a:r>
              <a:rPr sz="1050">
                <a:solidFill>
                  <a:srgbClr val="3C4654"/>
                </a:solidFill>
                <a:latin typeface="Calibri"/>
              </a:rPr>
              <a:t>Automated tests that score answer quality before release.</a:t>
            </a:r>
          </a:p>
        </p:txBody>
      </p:sp>
      <p:sp>
        <p:nvSpPr>
          <p:cNvPr id="12" name="Rounded Rectangle 11"/>
          <p:cNvSpPr/>
          <p:nvPr/>
        </p:nvSpPr>
        <p:spPr>
          <a:xfrm>
            <a:off x="3483864" y="324612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Observability</a:t>
            </a:r>
          </a:p>
          <a:p>
            <a:pPr algn="ctr">
              <a:lnSpc>
                <a:spcPct val="100000"/>
              </a:lnSpc>
            </a:pPr>
            <a:r>
              <a:rPr sz="1050">
                <a:solidFill>
                  <a:srgbClr val="3C4654"/>
                </a:solidFill>
                <a:latin typeface="Calibri"/>
              </a:rPr>
              <a:t>Logs, traces, and dashboards to see what happened.</a:t>
            </a:r>
          </a:p>
        </p:txBody>
      </p:sp>
      <p:sp>
        <p:nvSpPr>
          <p:cNvPr id="13" name="Rounded Rectangle 12"/>
          <p:cNvSpPr/>
          <p:nvPr/>
        </p:nvSpPr>
        <p:spPr>
          <a:xfrm>
            <a:off x="6281928" y="324612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Security &amp; access</a:t>
            </a:r>
          </a:p>
          <a:p>
            <a:pPr algn="ctr">
              <a:lnSpc>
                <a:spcPct val="100000"/>
              </a:lnSpc>
            </a:pPr>
            <a:r>
              <a:rPr sz="1050">
                <a:solidFill>
                  <a:srgbClr val="3C4654"/>
                </a:solidFill>
                <a:latin typeface="Calibri"/>
              </a:rPr>
              <a:t>Identity, permissions (RBAC), and secret management.</a:t>
            </a:r>
          </a:p>
        </p:txBody>
      </p:sp>
      <p:sp>
        <p:nvSpPr>
          <p:cNvPr id="14" name="Rounded Rectangle 13"/>
          <p:cNvSpPr/>
          <p:nvPr/>
        </p:nvSpPr>
        <p:spPr>
          <a:xfrm>
            <a:off x="9079992" y="3246120"/>
            <a:ext cx="2670048" cy="155448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CI/CD &amp; environments</a:t>
            </a:r>
          </a:p>
          <a:p>
            <a:pPr algn="ctr">
              <a:lnSpc>
                <a:spcPct val="100000"/>
              </a:lnSpc>
            </a:pPr>
            <a:r>
              <a:rPr sz="1050">
                <a:solidFill>
                  <a:srgbClr val="3C4654"/>
                </a:solidFill>
                <a:latin typeface="Calibri"/>
              </a:rPr>
              <a:t>A pipeline that tests and ships changes safely.</a:t>
            </a:r>
          </a:p>
        </p:txBody>
      </p:sp>
      <p:sp>
        <p:nvSpPr>
          <p:cNvPr id="15" name="TextBox 14"/>
          <p:cNvSpPr txBox="1"/>
          <p:nvPr/>
        </p:nvSpPr>
        <p:spPr>
          <a:xfrm>
            <a:off x="685800" y="5212080"/>
            <a:ext cx="10789920" cy="914400"/>
          </a:xfrm>
          <a:prstGeom prst="rect">
            <a:avLst/>
          </a:prstGeom>
          <a:noFill/>
        </p:spPr>
        <p:txBody>
          <a:bodyPr wrap="square" anchor="t" lIns="0" rIns="0" tIns="0" bIns="0">
            <a:spAutoFit/>
          </a:bodyPr>
          <a:lstStyle/>
          <a:p>
            <a:pPr algn="l">
              <a:lnSpc>
                <a:spcPct val="105000"/>
              </a:lnSpc>
              <a:spcBef>
                <a:spcPts val="0"/>
              </a:spcBef>
              <a:spcAft>
                <a:spcPts val="600"/>
              </a:spcAft>
            </a:pPr>
            <a:r>
              <a:rPr sz="1200" b="0" i="1">
                <a:solidFill>
                  <a:srgbClr val="6B7480"/>
                </a:solidFill>
                <a:latin typeface="Calibri"/>
              </a:rPr>
              <a:t>Terms: RBAC = Role-Based Access Control (people get only the access their role needs). CI/CD = Continuous Integration / Continuous Delivery (an automated way to test and release changes). Personal data is often called PII = Personally Identifiable Information.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How an LLM app moves through the framework</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5</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Rounded Rectangle 6"/>
          <p:cNvSpPr/>
          <p:nvPr/>
        </p:nvSpPr>
        <p:spPr>
          <a:xfrm>
            <a:off x="685800" y="2194560"/>
            <a:ext cx="1965960" cy="137160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Prepare</a:t>
            </a:r>
          </a:p>
          <a:p>
            <a:pPr algn="ctr">
              <a:lnSpc>
                <a:spcPct val="100000"/>
              </a:lnSpc>
            </a:pPr>
            <a:r>
              <a:rPr sz="1050">
                <a:solidFill>
                  <a:srgbClr val="3C4654"/>
                </a:solidFill>
                <a:latin typeface="Calibri"/>
              </a:rPr>
              <a:t>data &amp; prompts</a:t>
            </a:r>
          </a:p>
        </p:txBody>
      </p:sp>
      <p:sp>
        <p:nvSpPr>
          <p:cNvPr id="8" name="Right Arrow 7"/>
          <p:cNvSpPr/>
          <p:nvPr/>
        </p:nvSpPr>
        <p:spPr>
          <a:xfrm>
            <a:off x="2633472" y="2734056"/>
            <a:ext cx="292608" cy="292608"/>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907792" y="2194560"/>
            <a:ext cx="1965960" cy="137160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Build</a:t>
            </a:r>
          </a:p>
          <a:p>
            <a:pPr algn="ctr">
              <a:lnSpc>
                <a:spcPct val="100000"/>
              </a:lnSpc>
            </a:pPr>
            <a:r>
              <a:rPr sz="1050">
                <a:solidFill>
                  <a:srgbClr val="3C4654"/>
                </a:solidFill>
                <a:latin typeface="Calibri"/>
              </a:rPr>
              <a:t>prompts &amp; agents</a:t>
            </a:r>
          </a:p>
        </p:txBody>
      </p:sp>
      <p:sp>
        <p:nvSpPr>
          <p:cNvPr id="10" name="Right Arrow 9"/>
          <p:cNvSpPr/>
          <p:nvPr/>
        </p:nvSpPr>
        <p:spPr>
          <a:xfrm>
            <a:off x="4855464" y="2734056"/>
            <a:ext cx="292608" cy="292608"/>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29784" y="2194560"/>
            <a:ext cx="1965960" cy="137160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Test</a:t>
            </a:r>
          </a:p>
          <a:p>
            <a:pPr algn="ctr">
              <a:lnSpc>
                <a:spcPct val="100000"/>
              </a:lnSpc>
            </a:pPr>
            <a:r>
              <a:rPr sz="1050">
                <a:solidFill>
                  <a:srgbClr val="3C4654"/>
                </a:solidFill>
                <a:latin typeface="Calibri"/>
              </a:rPr>
              <a:t>(evaluate)</a:t>
            </a:r>
          </a:p>
        </p:txBody>
      </p:sp>
      <p:sp>
        <p:nvSpPr>
          <p:cNvPr id="12" name="Right Arrow 11"/>
          <p:cNvSpPr/>
          <p:nvPr/>
        </p:nvSpPr>
        <p:spPr>
          <a:xfrm>
            <a:off x="7077456" y="2734056"/>
            <a:ext cx="292608" cy="292608"/>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51776" y="2194560"/>
            <a:ext cx="1965960" cy="137160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Release</a:t>
            </a:r>
          </a:p>
          <a:p>
            <a:pPr algn="ctr">
              <a:lnSpc>
                <a:spcPct val="100000"/>
              </a:lnSpc>
            </a:pPr>
            <a:r>
              <a:rPr sz="1050">
                <a:solidFill>
                  <a:srgbClr val="3C4654"/>
                </a:solidFill>
                <a:latin typeface="Calibri"/>
              </a:rPr>
              <a:t>(CI/CD)</a:t>
            </a:r>
          </a:p>
        </p:txBody>
      </p:sp>
      <p:sp>
        <p:nvSpPr>
          <p:cNvPr id="14" name="Right Arrow 13"/>
          <p:cNvSpPr/>
          <p:nvPr/>
        </p:nvSpPr>
        <p:spPr>
          <a:xfrm>
            <a:off x="9299448" y="2734056"/>
            <a:ext cx="292608" cy="292608"/>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573768" y="2194560"/>
            <a:ext cx="1965960" cy="1371600"/>
          </a:xfrm>
          <a:prstGeom prst="roundRect">
            <a:avLst/>
          </a:prstGeom>
          <a:solidFill>
            <a:srgbClr val="EEF1F5"/>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300" b="1">
                <a:solidFill>
                  <a:srgbClr val="1F3A5F"/>
                </a:solidFill>
                <a:latin typeface="Calibri"/>
              </a:rPr>
              <a:t>Run &amp; monitor</a:t>
            </a:r>
          </a:p>
        </p:txBody>
      </p:sp>
      <p:sp>
        <p:nvSpPr>
          <p:cNvPr id="16" name="TextBox 15"/>
          <p:cNvSpPr txBox="1"/>
          <p:nvPr/>
        </p:nvSpPr>
        <p:spPr>
          <a:xfrm>
            <a:off x="685800" y="4023360"/>
            <a:ext cx="10789920" cy="1463040"/>
          </a:xfrm>
          <a:prstGeom prst="rect">
            <a:avLst/>
          </a:prstGeom>
          <a:noFill/>
        </p:spPr>
        <p:txBody>
          <a:bodyPr wrap="square" anchor="t" lIns="0" rIns="0" tIns="0" bIns="0">
            <a:spAutoFit/>
          </a:bodyPr>
          <a:lstStyle/>
          <a:p>
            <a:pPr algn="l">
              <a:lnSpc>
                <a:spcPct val="105000"/>
              </a:lnSpc>
              <a:spcBef>
                <a:spcPts val="0"/>
              </a:spcBef>
              <a:spcAft>
                <a:spcPts val="1200"/>
              </a:spcAft>
            </a:pPr>
            <a:r>
              <a:rPr sz="1500" b="0" i="0">
                <a:solidFill>
                  <a:srgbClr val="3C4654"/>
                </a:solidFill>
                <a:latin typeface="Calibri"/>
              </a:rPr>
              <a:t>A change never ships straight to production. It is tested first, released through the pipeline, then watched in real use.</a:t>
            </a:r>
          </a:p>
          <a:p>
            <a:pPr algn="l">
              <a:lnSpc>
                <a:spcPct val="105000"/>
              </a:lnSpc>
              <a:spcBef>
                <a:spcPts val="0"/>
              </a:spcBef>
              <a:spcAft>
                <a:spcPts val="1200"/>
              </a:spcAft>
            </a:pPr>
            <a:r>
              <a:rPr sz="1500" b="0" i="0">
                <a:solidFill>
                  <a:srgbClr val="3C4654"/>
                </a:solidFill>
                <a:latin typeface="Calibri"/>
              </a:rPr>
              <a:t>Feedback from real use flows back to the start — we improve prompts, data, and tests over time. This loop is the heart of LLMOps.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Building the base framework — about one month</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6</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graphicFrame>
        <p:nvGraphicFramePr>
          <p:cNvPr id="7" name="Table 6"/>
          <p:cNvGraphicFramePr>
            <a:graphicFrameLocks noGrp="1"/>
          </p:cNvGraphicFramePr>
          <p:nvPr/>
        </p:nvGraphicFramePr>
        <p:xfrm>
          <a:off x="685800" y="1508760"/>
          <a:ext cx="10835640" cy="4343400"/>
        </p:xfrm>
        <a:graphic>
          <a:graphicData uri="http://schemas.openxmlformats.org/drawingml/2006/table">
            <a:tbl>
              <a:tblPr firstRow="1" bandRow="1">
                <a:tableStyleId>{5C22544A-7EE6-4342-B048-85BDC9FD1C3A}</a:tableStyleId>
              </a:tblPr>
              <a:tblGrid>
                <a:gridCol w="1188720"/>
                <a:gridCol w="2377440"/>
                <a:gridCol w="7269480"/>
              </a:tblGrid>
              <a:tr h="868680">
                <a:tc>
                  <a:txBody>
                    <a:bodyPr/>
                    <a:lstStyle/>
                    <a:p>
                      <a:r>
                        <a:rPr sz="1200" b="1">
                          <a:solidFill>
                            <a:srgbClr val="FFFFFF"/>
                          </a:solidFill>
                          <a:latin typeface="Calibri"/>
                        </a:rPr>
                        <a:t>Week</a:t>
                      </a:r>
                    </a:p>
                  </a:txBody>
                  <a:tcPr anchor="ctr" marL="91440" marT="27432" marB="27432">
                    <a:solidFill>
                      <a:srgbClr val="1F3A5F"/>
                    </a:solidFill>
                  </a:tcPr>
                </a:tc>
                <a:tc>
                  <a:txBody>
                    <a:bodyPr/>
                    <a:lstStyle/>
                    <a:p>
                      <a:r>
                        <a:rPr sz="1200" b="1">
                          <a:solidFill>
                            <a:srgbClr val="FFFFFF"/>
                          </a:solidFill>
                          <a:latin typeface="Calibri"/>
                        </a:rPr>
                        <a:t>Focus</a:t>
                      </a:r>
                    </a:p>
                  </a:txBody>
                  <a:tcPr anchor="ctr" marL="91440" marT="27432" marB="27432">
                    <a:solidFill>
                      <a:srgbClr val="1F3A5F"/>
                    </a:solidFill>
                  </a:tcPr>
                </a:tc>
                <a:tc>
                  <a:txBody>
                    <a:bodyPr/>
                    <a:lstStyle/>
                    <a:p>
                      <a:r>
                        <a:rPr sz="1200" b="1">
                          <a:solidFill>
                            <a:srgbClr val="FFFFFF"/>
                          </a:solidFill>
                          <a:latin typeface="Calibri"/>
                        </a:rPr>
                        <a:t>What we deliver</a:t>
                      </a:r>
                    </a:p>
                  </a:txBody>
                  <a:tcPr anchor="ctr" marL="91440" marT="27432" marB="27432">
                    <a:solidFill>
                      <a:srgbClr val="1F3A5F"/>
                    </a:solidFill>
                  </a:tcPr>
                </a:tc>
              </a:tr>
              <a:tr h="868680">
                <a:tc>
                  <a:txBody>
                    <a:bodyPr/>
                    <a:lstStyle/>
                    <a:p>
                      <a:r>
                        <a:rPr sz="1300" b="1">
                          <a:solidFill>
                            <a:srgbClr val="1F3A5F"/>
                          </a:solidFill>
                          <a:latin typeface="Calibri"/>
                        </a:rPr>
                        <a:t>Week 1</a:t>
                      </a:r>
                    </a:p>
                  </a:txBody>
                  <a:tcPr anchor="ctr" marL="91440" marT="27432" marB="27432">
                    <a:solidFill>
                      <a:srgbClr val="FFFFFF"/>
                    </a:solidFill>
                  </a:tcPr>
                </a:tc>
                <a:tc>
                  <a:txBody>
                    <a:bodyPr/>
                    <a:lstStyle/>
                    <a:p>
                      <a:r>
                        <a:rPr sz="1300">
                          <a:solidFill>
                            <a:srgbClr val="3C4654"/>
                          </a:solidFill>
                          <a:latin typeface="Calibri"/>
                        </a:rPr>
                        <a:t>Set up &amp; secure</a:t>
                      </a:r>
                    </a:p>
                  </a:txBody>
                  <a:tcPr anchor="ctr" marL="91440" marT="27432" marB="27432">
                    <a:solidFill>
                      <a:srgbClr val="FFFFFF"/>
                    </a:solidFill>
                  </a:tcPr>
                </a:tc>
                <a:tc>
                  <a:txBody>
                    <a:bodyPr/>
                    <a:lstStyle/>
                    <a:p>
                      <a:r>
                        <a:rPr sz="1300">
                          <a:solidFill>
                            <a:srgbClr val="3C4654"/>
                          </a:solidFill>
                          <a:latin typeface="Calibri"/>
                        </a:rPr>
                        <a:t>Cloud project, access controls, the model gateway, secret storage, and basic logging.</a:t>
                      </a:r>
                    </a:p>
                  </a:txBody>
                  <a:tcPr anchor="ctr" marL="91440" marT="27432" marB="27432">
                    <a:solidFill>
                      <a:srgbClr val="FFFFFF"/>
                    </a:solidFill>
                  </a:tcPr>
                </a:tc>
              </a:tr>
              <a:tr h="868680">
                <a:tc>
                  <a:txBody>
                    <a:bodyPr/>
                    <a:lstStyle/>
                    <a:p>
                      <a:r>
                        <a:rPr sz="1300" b="1">
                          <a:solidFill>
                            <a:srgbClr val="1F3A5F"/>
                          </a:solidFill>
                          <a:latin typeface="Calibri"/>
                        </a:rPr>
                        <a:t>Week 2</a:t>
                      </a:r>
                    </a:p>
                  </a:txBody>
                  <a:tcPr anchor="ctr" marL="91440" marT="27432" marB="27432">
                    <a:solidFill>
                      <a:srgbClr val="EEF1F5"/>
                    </a:solidFill>
                  </a:tcPr>
                </a:tc>
                <a:tc>
                  <a:txBody>
                    <a:bodyPr/>
                    <a:lstStyle/>
                    <a:p>
                      <a:r>
                        <a:rPr sz="1300">
                          <a:solidFill>
                            <a:srgbClr val="3C4654"/>
                          </a:solidFill>
                          <a:latin typeface="Calibri"/>
                        </a:rPr>
                        <a:t>Core services</a:t>
                      </a:r>
                    </a:p>
                  </a:txBody>
                  <a:tcPr anchor="ctr" marL="91440" marT="27432" marB="27432">
                    <a:solidFill>
                      <a:srgbClr val="EEF1F5"/>
                    </a:solidFill>
                  </a:tcPr>
                </a:tc>
                <a:tc>
                  <a:txBody>
                    <a:bodyPr/>
                    <a:lstStyle/>
                    <a:p>
                      <a:r>
                        <a:rPr sz="1300">
                          <a:solidFill>
                            <a:srgbClr val="3C4654"/>
                          </a:solidFill>
                          <a:latin typeface="Calibri"/>
                        </a:rPr>
                        <a:t>Document search (RAG), orchestration, and guardrails (safety and personal-data checks).</a:t>
                      </a:r>
                    </a:p>
                  </a:txBody>
                  <a:tcPr anchor="ctr" marL="91440" marT="27432" marB="27432">
                    <a:solidFill>
                      <a:srgbClr val="EEF1F5"/>
                    </a:solidFill>
                  </a:tcPr>
                </a:tc>
              </a:tr>
              <a:tr h="868680">
                <a:tc>
                  <a:txBody>
                    <a:bodyPr/>
                    <a:lstStyle/>
                    <a:p>
                      <a:r>
                        <a:rPr sz="1300" b="1">
                          <a:solidFill>
                            <a:srgbClr val="1F3A5F"/>
                          </a:solidFill>
                          <a:latin typeface="Calibri"/>
                        </a:rPr>
                        <a:t>Week 3</a:t>
                      </a:r>
                    </a:p>
                  </a:txBody>
                  <a:tcPr anchor="ctr" marL="91440" marT="27432" marB="27432">
                    <a:solidFill>
                      <a:srgbClr val="FFFFFF"/>
                    </a:solidFill>
                  </a:tcPr>
                </a:tc>
                <a:tc>
                  <a:txBody>
                    <a:bodyPr/>
                    <a:lstStyle/>
                    <a:p>
                      <a:r>
                        <a:rPr sz="1300">
                          <a:solidFill>
                            <a:srgbClr val="3C4654"/>
                          </a:solidFill>
                          <a:latin typeface="Calibri"/>
                        </a:rPr>
                        <a:t>Quality &amp; pipeline</a:t>
                      </a:r>
                    </a:p>
                  </a:txBody>
                  <a:tcPr anchor="ctr" marL="91440" marT="27432" marB="27432">
                    <a:solidFill>
                      <a:srgbClr val="FFFFFF"/>
                    </a:solidFill>
                  </a:tcPr>
                </a:tc>
                <a:tc>
                  <a:txBody>
                    <a:bodyPr/>
                    <a:lstStyle/>
                    <a:p>
                      <a:r>
                        <a:rPr sz="1300">
                          <a:solidFill>
                            <a:srgbClr val="3C4654"/>
                          </a:solidFill>
                          <a:latin typeface="Calibri"/>
                        </a:rPr>
                        <a:t>Evaluation tests, the CI/CD pipeline, and separate dev, test, and production environments.</a:t>
                      </a:r>
                    </a:p>
                  </a:txBody>
                  <a:tcPr anchor="ctr" marL="91440" marT="27432" marB="27432">
                    <a:solidFill>
                      <a:srgbClr val="FFFFFF"/>
                    </a:solidFill>
                  </a:tcPr>
                </a:tc>
              </a:tr>
              <a:tr h="868680">
                <a:tc>
                  <a:txBody>
                    <a:bodyPr/>
                    <a:lstStyle/>
                    <a:p>
                      <a:r>
                        <a:rPr sz="1300" b="1">
                          <a:solidFill>
                            <a:srgbClr val="1F3A5F"/>
                          </a:solidFill>
                          <a:latin typeface="Calibri"/>
                        </a:rPr>
                        <a:t>Week 4</a:t>
                      </a:r>
                    </a:p>
                  </a:txBody>
                  <a:tcPr anchor="ctr" marL="91440" marT="27432" marB="27432">
                    <a:solidFill>
                      <a:srgbClr val="EEF1F5"/>
                    </a:solidFill>
                  </a:tcPr>
                </a:tc>
                <a:tc>
                  <a:txBody>
                    <a:bodyPr/>
                    <a:lstStyle/>
                    <a:p>
                      <a:r>
                        <a:rPr sz="1300">
                          <a:solidFill>
                            <a:srgbClr val="3C4654"/>
                          </a:solidFill>
                          <a:latin typeface="Calibri"/>
                        </a:rPr>
                        <a:t>Monitor &amp; harden</a:t>
                      </a:r>
                    </a:p>
                  </a:txBody>
                  <a:tcPr anchor="ctr" marL="91440" marT="27432" marB="27432">
                    <a:solidFill>
                      <a:srgbClr val="EEF1F5"/>
                    </a:solidFill>
                  </a:tcPr>
                </a:tc>
                <a:tc>
                  <a:txBody>
                    <a:bodyPr/>
                    <a:lstStyle/>
                    <a:p>
                      <a:r>
                        <a:rPr sz="1300">
                          <a:solidFill>
                            <a:srgbClr val="3C4654"/>
                          </a:solidFill>
                          <a:latin typeface="Calibri"/>
                        </a:rPr>
                        <a:t>Dashboards, cost tracking, a security review, documentation, and a small sample app to prove it works.</a:t>
                      </a:r>
                    </a:p>
                  </a:txBody>
                  <a:tcPr anchor="ctr" marL="91440" marT="27432" marB="27432">
                    <a:solidFill>
                      <a:srgbClr val="EEF1F5"/>
                    </a:solidFill>
                  </a:tcPr>
                </a:tc>
              </a:tr>
            </a:tbl>
          </a:graphicData>
        </a:graphic>
      </p:graphicFrame>
      <p:sp>
        <p:nvSpPr>
          <p:cNvPr id="8" name="TextBox 7"/>
          <p:cNvSpPr txBox="1"/>
          <p:nvPr/>
        </p:nvSpPr>
        <p:spPr>
          <a:xfrm>
            <a:off x="685800" y="5394960"/>
            <a:ext cx="10835640" cy="914400"/>
          </a:xfrm>
          <a:prstGeom prst="rect">
            <a:avLst/>
          </a:prstGeom>
          <a:noFill/>
        </p:spPr>
        <p:txBody>
          <a:bodyPr wrap="square" anchor="t" lIns="0" rIns="0" tIns="0" bIns="0">
            <a:spAutoFit/>
          </a:bodyPr>
          <a:lstStyle/>
          <a:p>
            <a:pPr algn="l">
              <a:lnSpc>
                <a:spcPct val="105000"/>
              </a:lnSpc>
              <a:spcBef>
                <a:spcPts val="0"/>
              </a:spcBef>
              <a:spcAft>
                <a:spcPts val="600"/>
              </a:spcAft>
            </a:pPr>
            <a:r>
              <a:rPr sz="1300" b="1" i="0">
                <a:solidFill>
                  <a:srgbClr val="1F3A5F"/>
                </a:solidFill>
                <a:latin typeface="Calibri"/>
              </a:rPr>
              <a:t>Honest scope: </a:t>
            </a:r>
            <a:r>
              <a:rPr sz="1300" b="0" i="0">
                <a:solidFill>
                  <a:srgbClr val="3C4654"/>
                </a:solidFill>
                <a:latin typeface="Calibri"/>
              </a:rPr>
              <a:t>one month gives a solid, working base — not a finished product. It is enough to onboard the first real project safely, and we harden it further as we go.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Using the framework for a new project</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7</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200"/>
              </a:spcAft>
            </a:pPr>
            <a:r>
              <a:rPr sz="1700" b="0">
                <a:solidFill>
                  <a:srgbClr val="3C4654"/>
                </a:solidFill>
                <a:latin typeface="Calibri"/>
              </a:rPr>
              <a:t>•  Describe the need and agree what a good result looks like — the measures we will judge it by.</a:t>
            </a:r>
          </a:p>
          <a:p>
            <a:pPr>
              <a:lnSpc>
                <a:spcPct val="108000"/>
              </a:lnSpc>
              <a:spcBef>
                <a:spcPts val="0"/>
              </a:spcBef>
              <a:spcAft>
                <a:spcPts val="1200"/>
              </a:spcAft>
            </a:pPr>
            <a:r>
              <a:rPr sz="1700" b="0">
                <a:solidFill>
                  <a:srgbClr val="3C4654"/>
                </a:solidFill>
                <a:latin typeface="Calibri"/>
              </a:rPr>
              <a:t>•  Pick the closest pattern and reuse the existing building blocks. Do not rebuild what we already have.</a:t>
            </a:r>
          </a:p>
          <a:p>
            <a:pPr>
              <a:lnSpc>
                <a:spcPct val="108000"/>
              </a:lnSpc>
              <a:spcBef>
                <a:spcPts val="0"/>
              </a:spcBef>
              <a:spcAft>
                <a:spcPts val="1200"/>
              </a:spcAft>
            </a:pPr>
            <a:r>
              <a:rPr sz="1700" b="0">
                <a:solidFill>
                  <a:srgbClr val="3C4654"/>
                </a:solidFill>
                <a:latin typeface="Calibri"/>
              </a:rPr>
              <a:t>•  Connect the specific data and systems for this project.</a:t>
            </a:r>
          </a:p>
          <a:p>
            <a:pPr>
              <a:lnSpc>
                <a:spcPct val="108000"/>
              </a:lnSpc>
              <a:spcBef>
                <a:spcPts val="0"/>
              </a:spcBef>
              <a:spcAft>
                <a:spcPts val="1200"/>
              </a:spcAft>
            </a:pPr>
            <a:r>
              <a:rPr sz="1700" b="0">
                <a:solidFill>
                  <a:srgbClr val="3C4654"/>
                </a:solidFill>
                <a:latin typeface="Calibri"/>
              </a:rPr>
              <a:t>•  Test the answers against real examples and adjust the prompts until quality passes.</a:t>
            </a:r>
          </a:p>
          <a:p>
            <a:pPr>
              <a:lnSpc>
                <a:spcPct val="108000"/>
              </a:lnSpc>
              <a:spcBef>
                <a:spcPts val="0"/>
              </a:spcBef>
              <a:spcAft>
                <a:spcPts val="1200"/>
              </a:spcAft>
            </a:pPr>
            <a:r>
              <a:rPr sz="1700" b="0">
                <a:solidFill>
                  <a:srgbClr val="3C4654"/>
                </a:solidFill>
                <a:latin typeface="Calibri"/>
              </a:rPr>
              <a:t>•  Release through the same pipeline, start small, and watch it closely.</a:t>
            </a:r>
          </a:p>
          <a:p>
            <a:pPr>
              <a:lnSpc>
                <a:spcPct val="108000"/>
              </a:lnSpc>
              <a:spcBef>
                <a:spcPts val="0"/>
              </a:spcBef>
              <a:spcAft>
                <a:spcPts val="1200"/>
              </a:spcAft>
            </a:pPr>
            <a:r>
              <a:rPr sz="1700" b="0">
                <a:solidFill>
                  <a:srgbClr val="3C4654"/>
                </a:solidFill>
                <a:latin typeface="Calibri"/>
              </a:rPr>
              <a:t>•  Improve using real feedback.</a:t>
            </a:r>
          </a:p>
        </p:txBody>
      </p:sp>
      <p:sp>
        <p:nvSpPr>
          <p:cNvPr id="8" name="TextBox 7"/>
          <p:cNvSpPr txBox="1"/>
          <p:nvPr/>
        </p:nvSpPr>
        <p:spPr>
          <a:xfrm>
            <a:off x="685800" y="5394960"/>
            <a:ext cx="10835640" cy="822960"/>
          </a:xfrm>
          <a:prstGeom prst="rect">
            <a:avLst/>
          </a:prstGeom>
          <a:noFill/>
        </p:spPr>
        <p:txBody>
          <a:bodyPr wrap="square" anchor="t" lIns="0" rIns="0" tIns="0" bIns="0">
            <a:spAutoFit/>
          </a:bodyPr>
          <a:lstStyle/>
          <a:p>
            <a:pPr algn="l">
              <a:lnSpc>
                <a:spcPct val="105000"/>
              </a:lnSpc>
              <a:spcBef>
                <a:spcPts val="0"/>
              </a:spcBef>
              <a:spcAft>
                <a:spcPts val="600"/>
              </a:spcAft>
            </a:pPr>
            <a:r>
              <a:rPr sz="1400" b="0" i="1">
                <a:solidFill>
                  <a:srgbClr val="3C4654"/>
                </a:solidFill>
                <a:latin typeface="Calibri"/>
              </a:rPr>
              <a:t>Because the foundation already exists, most of this is configuration and testing — not new engineering. That is why later projects are much faster than the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Keeping it safe and compliant</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8</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200"/>
              </a:spcAft>
            </a:pPr>
            <a:r>
              <a:rPr sz="1700" b="0">
                <a:solidFill>
                  <a:srgbClr val="3C4654"/>
                </a:solidFill>
                <a:latin typeface="Calibri"/>
              </a:rPr>
              <a:t>•  Treat everything going into and coming out of the model as untrusted, and check both.</a:t>
            </a:r>
          </a:p>
          <a:p>
            <a:pPr>
              <a:lnSpc>
                <a:spcPct val="108000"/>
              </a:lnSpc>
              <a:spcBef>
                <a:spcPts val="0"/>
              </a:spcBef>
              <a:spcAft>
                <a:spcPts val="1200"/>
              </a:spcAft>
            </a:pPr>
            <a:r>
              <a:rPr sz="1700" b="0">
                <a:solidFill>
                  <a:srgbClr val="3C4654"/>
                </a:solidFill>
                <a:latin typeface="Calibri"/>
              </a:rPr>
              <a:t>•  Guardrails block unsafe content, hide personal data (PII), and keep the model on task.</a:t>
            </a:r>
          </a:p>
          <a:p>
            <a:pPr>
              <a:lnSpc>
                <a:spcPct val="108000"/>
              </a:lnSpc>
              <a:spcBef>
                <a:spcPts val="0"/>
              </a:spcBef>
              <a:spcAft>
                <a:spcPts val="1200"/>
              </a:spcAft>
            </a:pPr>
            <a:r>
              <a:rPr sz="1700" b="0">
                <a:solidFill>
                  <a:srgbClr val="3C4654"/>
                </a:solidFill>
                <a:latin typeface="Calibri"/>
              </a:rPr>
              <a:t>•  Access control (RBAC) so people and systems only see what they should.</a:t>
            </a:r>
          </a:p>
          <a:p>
            <a:pPr>
              <a:lnSpc>
                <a:spcPct val="108000"/>
              </a:lnSpc>
              <a:spcBef>
                <a:spcPts val="0"/>
              </a:spcBef>
              <a:spcAft>
                <a:spcPts val="1200"/>
              </a:spcAft>
            </a:pPr>
            <a:r>
              <a:rPr sz="1700" b="0">
                <a:solidFill>
                  <a:srgbClr val="3C4654"/>
                </a:solidFill>
                <a:latin typeface="Calibri"/>
              </a:rPr>
              <a:t>•  Keep data private: isolated networks, encryption, and clear rules on how long data is kept.</a:t>
            </a:r>
          </a:p>
          <a:p>
            <a:pPr>
              <a:lnSpc>
                <a:spcPct val="108000"/>
              </a:lnSpc>
              <a:spcBef>
                <a:spcPts val="0"/>
              </a:spcBef>
              <a:spcAft>
                <a:spcPts val="1200"/>
              </a:spcAft>
            </a:pPr>
            <a:r>
              <a:rPr sz="1700" b="1">
                <a:solidFill>
                  <a:srgbClr val="1F3A5F"/>
                </a:solidFill>
                <a:latin typeface="Calibri"/>
              </a:rPr>
              <a:t>•  Human review for sensitive decisions — the AI assists, people decide.</a:t>
            </a:r>
          </a:p>
          <a:p>
            <a:pPr>
              <a:lnSpc>
                <a:spcPct val="108000"/>
              </a:lnSpc>
              <a:spcBef>
                <a:spcPts val="0"/>
              </a:spcBef>
              <a:spcAft>
                <a:spcPts val="1200"/>
              </a:spcAft>
            </a:pPr>
            <a:r>
              <a:rPr sz="1700" b="0">
                <a:solidFill>
                  <a:srgbClr val="3C4654"/>
                </a:solidFill>
                <a:latin typeface="Calibri"/>
              </a:rPr>
              <a:t>•  Keep an audit trail: a record of what the system did and why.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Making sure the answers stay good</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9</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300"/>
              </a:spcAft>
            </a:pPr>
            <a:r>
              <a:rPr sz="1700" b="0">
                <a:solidFill>
                  <a:srgbClr val="3C4654"/>
                </a:solidFill>
                <a:latin typeface="Calibri"/>
              </a:rPr>
              <a:t>•  LLM answers vary, so we test them like any other software — with example questions and expected results.</a:t>
            </a:r>
          </a:p>
          <a:p>
            <a:pPr>
              <a:lnSpc>
                <a:spcPct val="108000"/>
              </a:lnSpc>
              <a:spcBef>
                <a:spcPts val="0"/>
              </a:spcBef>
              <a:spcAft>
                <a:spcPts val="1300"/>
              </a:spcAft>
            </a:pPr>
            <a:r>
              <a:rPr sz="1700" b="0">
                <a:solidFill>
                  <a:srgbClr val="3C4654"/>
                </a:solidFill>
                <a:latin typeface="Calibri"/>
              </a:rPr>
              <a:t>•  We score for three things: is it correct, does it stay on topic, and does it answer from our data rather than making things up.</a:t>
            </a:r>
          </a:p>
          <a:p>
            <a:pPr>
              <a:lnSpc>
                <a:spcPct val="108000"/>
              </a:lnSpc>
              <a:spcBef>
                <a:spcPts val="0"/>
              </a:spcBef>
              <a:spcAft>
                <a:spcPts val="1300"/>
              </a:spcAft>
            </a:pPr>
            <a:r>
              <a:rPr sz="1700" b="0">
                <a:solidFill>
                  <a:srgbClr val="3C4654"/>
                </a:solidFill>
                <a:latin typeface="Calibri"/>
              </a:rPr>
              <a:t>•  Every release is checked against a saved set of test questions, so quality does not slip over time.</a:t>
            </a:r>
          </a:p>
          <a:p>
            <a:pPr>
              <a:lnSpc>
                <a:spcPct val="108000"/>
              </a:lnSpc>
              <a:spcBef>
                <a:spcPts val="0"/>
              </a:spcBef>
              <a:spcAft>
                <a:spcPts val="1300"/>
              </a:spcAft>
            </a:pPr>
            <a:r>
              <a:rPr sz="1700" b="0">
                <a:solidFill>
                  <a:srgbClr val="3C4654"/>
                </a:solidFill>
                <a:latin typeface="Calibri"/>
              </a:rPr>
              <a:t>•  In production we watch quality, speed, errors, and cost, and get alerts when something drifts.</a:t>
            </a:r>
          </a:p>
          <a:p>
            <a:pPr>
              <a:lnSpc>
                <a:spcPct val="108000"/>
              </a:lnSpc>
              <a:spcBef>
                <a:spcPts val="0"/>
              </a:spcBef>
              <a:spcAft>
                <a:spcPts val="1300"/>
              </a:spcAft>
            </a:pPr>
            <a:r>
              <a:rPr sz="1700" b="0">
                <a:solidFill>
                  <a:srgbClr val="3C4654"/>
                </a:solidFill>
                <a:latin typeface="Calibri"/>
              </a:rPr>
              <a:t>•  Real problems get added back into the tests, so the system keeps getting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What it costs to keep running</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10</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371600"/>
            <a:ext cx="10835640" cy="365760"/>
          </a:xfrm>
          <a:prstGeom prst="rect">
            <a:avLst/>
          </a:prstGeom>
          <a:noFill/>
        </p:spPr>
        <p:txBody>
          <a:bodyPr wrap="square" anchor="t" lIns="0" rIns="0" tIns="0" bIns="0">
            <a:spAutoFit/>
          </a:bodyPr>
          <a:lstStyle/>
          <a:p>
            <a:pPr algn="l">
              <a:lnSpc>
                <a:spcPct val="105000"/>
              </a:lnSpc>
              <a:spcBef>
                <a:spcPts val="0"/>
              </a:spcBef>
              <a:spcAft>
                <a:spcPts val="600"/>
              </a:spcAft>
            </a:pPr>
            <a:r>
              <a:rPr sz="1300" b="0" i="1">
                <a:solidFill>
                  <a:srgbClr val="3C4654"/>
                </a:solidFill>
                <a:latin typeface="Calibri"/>
              </a:rPr>
              <a:t>These are ongoing costs, not a one-time build. Most of them go up as the system is used more.</a:t>
            </a:r>
          </a:p>
        </p:txBody>
      </p:sp>
      <p:graphicFrame>
        <p:nvGraphicFramePr>
          <p:cNvPr id="8" name="Table 7"/>
          <p:cNvGraphicFramePr>
            <a:graphicFrameLocks noGrp="1"/>
          </p:cNvGraphicFramePr>
          <p:nvPr/>
        </p:nvGraphicFramePr>
        <p:xfrm>
          <a:off x="685800" y="1828800"/>
          <a:ext cx="10835640" cy="3840480"/>
        </p:xfrm>
        <a:graphic>
          <a:graphicData uri="http://schemas.openxmlformats.org/drawingml/2006/table">
            <a:tbl>
              <a:tblPr firstRow="1" bandRow="1">
                <a:tableStyleId>{5C22544A-7EE6-4342-B048-85BDC9FD1C3A}</a:tableStyleId>
              </a:tblPr>
              <a:tblGrid>
                <a:gridCol w="2286000"/>
                <a:gridCol w="6263640"/>
                <a:gridCol w="2286000"/>
              </a:tblGrid>
              <a:tr h="548640">
                <a:tc>
                  <a:txBody>
                    <a:bodyPr/>
                    <a:lstStyle/>
                    <a:p>
                      <a:r>
                        <a:rPr sz="1200" b="1">
                          <a:solidFill>
                            <a:srgbClr val="FFFFFF"/>
                          </a:solidFill>
                          <a:latin typeface="Calibri"/>
                        </a:rPr>
                        <a:t>Cost area</a:t>
                      </a:r>
                    </a:p>
                  </a:txBody>
                  <a:tcPr anchor="ctr" marL="91440" marT="27432" marB="27432">
                    <a:solidFill>
                      <a:srgbClr val="1F3A5F"/>
                    </a:solidFill>
                  </a:tcPr>
                </a:tc>
                <a:tc>
                  <a:txBody>
                    <a:bodyPr/>
                    <a:lstStyle/>
                    <a:p>
                      <a:r>
                        <a:rPr sz="1200" b="1">
                          <a:solidFill>
                            <a:srgbClr val="FFFFFF"/>
                          </a:solidFill>
                          <a:latin typeface="Calibri"/>
                        </a:rPr>
                        <a:t>What drives it</a:t>
                      </a:r>
                    </a:p>
                  </a:txBody>
                  <a:tcPr anchor="ctr" marL="91440" marT="27432" marB="27432">
                    <a:solidFill>
                      <a:srgbClr val="1F3A5F"/>
                    </a:solidFill>
                  </a:tcPr>
                </a:tc>
                <a:tc>
                  <a:txBody>
                    <a:bodyPr/>
                    <a:lstStyle/>
                    <a:p>
                      <a:r>
                        <a:rPr sz="1200" b="1">
                          <a:solidFill>
                            <a:srgbClr val="FFFFFF"/>
                          </a:solidFill>
                          <a:latin typeface="Calibri"/>
                        </a:rPr>
                        <a:t>Rough size</a:t>
                      </a:r>
                    </a:p>
                  </a:txBody>
                  <a:tcPr anchor="ctr" marL="91440" marT="27432" marB="27432">
                    <a:solidFill>
                      <a:srgbClr val="1F3A5F"/>
                    </a:solidFill>
                  </a:tcPr>
                </a:tc>
              </a:tr>
              <a:tr h="548640">
                <a:tc>
                  <a:txBody>
                    <a:bodyPr/>
                    <a:lstStyle/>
                    <a:p>
                      <a:r>
                        <a:rPr sz="1150" b="1">
                          <a:solidFill>
                            <a:srgbClr val="1F3A5F"/>
                          </a:solidFill>
                          <a:latin typeface="Calibri"/>
                        </a:rPr>
                        <a:t>Model usage</a:t>
                      </a:r>
                    </a:p>
                  </a:txBody>
                  <a:tcPr anchor="ctr" marL="91440" marT="27432" marB="27432">
                    <a:solidFill>
                      <a:srgbClr val="FFFFFF"/>
                    </a:solidFill>
                  </a:tcPr>
                </a:tc>
                <a:tc>
                  <a:txBody>
                    <a:bodyPr/>
                    <a:lstStyle/>
                    <a:p>
                      <a:r>
                        <a:rPr sz="1150">
                          <a:solidFill>
                            <a:srgbClr val="3C4654"/>
                          </a:solidFill>
                          <a:latin typeface="Calibri"/>
                        </a:rPr>
                        <a:t>Paid per token (a token is a few characters of text). More traffic means more cost.</a:t>
                      </a:r>
                    </a:p>
                  </a:txBody>
                  <a:tcPr anchor="ctr" marL="91440" marT="27432" marB="27432">
                    <a:solidFill>
                      <a:srgbClr val="FFFFFF"/>
                    </a:solidFill>
                  </a:tcPr>
                </a:tc>
                <a:tc>
                  <a:txBody>
                    <a:bodyPr/>
                    <a:lstStyle/>
                    <a:p>
                      <a:r>
                        <a:rPr sz="1150">
                          <a:solidFill>
                            <a:srgbClr val="3C4654"/>
                          </a:solidFill>
                          <a:latin typeface="Calibri"/>
                        </a:rPr>
                        <a:t>Largest and variable</a:t>
                      </a:r>
                    </a:p>
                  </a:txBody>
                  <a:tcPr anchor="ctr" marL="91440" marT="27432" marB="27432">
                    <a:solidFill>
                      <a:srgbClr val="FFFFFF"/>
                    </a:solidFill>
                  </a:tcPr>
                </a:tc>
              </a:tr>
              <a:tr h="548640">
                <a:tc>
                  <a:txBody>
                    <a:bodyPr/>
                    <a:lstStyle/>
                    <a:p>
                      <a:r>
                        <a:rPr sz="1150" b="1">
                          <a:solidFill>
                            <a:srgbClr val="1F3A5F"/>
                          </a:solidFill>
                          <a:latin typeface="Calibri"/>
                        </a:rPr>
                        <a:t>Hosting / compute</a:t>
                      </a:r>
                    </a:p>
                  </a:txBody>
                  <a:tcPr anchor="ctr" marL="91440" marT="27432" marB="27432">
                    <a:solidFill>
                      <a:srgbClr val="EEF1F5"/>
                    </a:solidFill>
                  </a:tcPr>
                </a:tc>
                <a:tc>
                  <a:txBody>
                    <a:bodyPr/>
                    <a:lstStyle/>
                    <a:p>
                      <a:r>
                        <a:rPr sz="1150">
                          <a:solidFill>
                            <a:srgbClr val="3C4654"/>
                          </a:solidFill>
                          <a:latin typeface="Calibri"/>
                        </a:rPr>
                        <a:t>Always-on servers running the services.</a:t>
                      </a:r>
                    </a:p>
                  </a:txBody>
                  <a:tcPr anchor="ctr" marL="91440" marT="27432" marB="27432">
                    <a:solidFill>
                      <a:srgbClr val="EEF1F5"/>
                    </a:solidFill>
                  </a:tcPr>
                </a:tc>
                <a:tc>
                  <a:txBody>
                    <a:bodyPr/>
                    <a:lstStyle/>
                    <a:p>
                      <a:r>
                        <a:rPr sz="1150">
                          <a:solidFill>
                            <a:srgbClr val="3C4654"/>
                          </a:solidFill>
                          <a:latin typeface="Calibri"/>
                        </a:rPr>
                        <a:t>Medium, steady</a:t>
                      </a:r>
                    </a:p>
                  </a:txBody>
                  <a:tcPr anchor="ctr" marL="91440" marT="27432" marB="27432">
                    <a:solidFill>
                      <a:srgbClr val="EEF1F5"/>
                    </a:solidFill>
                  </a:tcPr>
                </a:tc>
              </a:tr>
              <a:tr h="548640">
                <a:tc>
                  <a:txBody>
                    <a:bodyPr/>
                    <a:lstStyle/>
                    <a:p>
                      <a:r>
                        <a:rPr sz="1150" b="1">
                          <a:solidFill>
                            <a:srgbClr val="1F3A5F"/>
                          </a:solidFill>
                          <a:latin typeface="Calibri"/>
                        </a:rPr>
                        <a:t>Search / vector database</a:t>
                      </a:r>
                    </a:p>
                  </a:txBody>
                  <a:tcPr anchor="ctr" marL="91440" marT="27432" marB="27432">
                    <a:solidFill>
                      <a:srgbClr val="FFFFFF"/>
                    </a:solidFill>
                  </a:tcPr>
                </a:tc>
                <a:tc>
                  <a:txBody>
                    <a:bodyPr/>
                    <a:lstStyle/>
                    <a:p>
                      <a:r>
                        <a:rPr sz="1150">
                          <a:solidFill>
                            <a:srgbClr val="3C4654"/>
                          </a:solidFill>
                          <a:latin typeface="Calibri"/>
                        </a:rPr>
                        <a:t>Storage plus number of lookups (stores text as numbers to search by meaning).</a:t>
                      </a:r>
                    </a:p>
                  </a:txBody>
                  <a:tcPr anchor="ctr" marL="91440" marT="27432" marB="27432">
                    <a:solidFill>
                      <a:srgbClr val="FFFFFF"/>
                    </a:solidFill>
                  </a:tcPr>
                </a:tc>
                <a:tc>
                  <a:txBody>
                    <a:bodyPr/>
                    <a:lstStyle/>
                    <a:p>
                      <a:r>
                        <a:rPr sz="1150">
                          <a:solidFill>
                            <a:srgbClr val="3C4654"/>
                          </a:solidFill>
                          <a:latin typeface="Calibri"/>
                        </a:rPr>
                        <a:t>Medium</a:t>
                      </a:r>
                    </a:p>
                  </a:txBody>
                  <a:tcPr anchor="ctr" marL="91440" marT="27432" marB="27432">
                    <a:solidFill>
                      <a:srgbClr val="FFFFFF"/>
                    </a:solidFill>
                  </a:tcPr>
                </a:tc>
              </a:tr>
              <a:tr h="548640">
                <a:tc>
                  <a:txBody>
                    <a:bodyPr/>
                    <a:lstStyle/>
                    <a:p>
                      <a:r>
                        <a:rPr sz="1150" b="1">
                          <a:solidFill>
                            <a:srgbClr val="1F3A5F"/>
                          </a:solidFill>
                          <a:latin typeface="Calibri"/>
                        </a:rPr>
                        <a:t>Monitoring &amp; logs</a:t>
                      </a:r>
                    </a:p>
                  </a:txBody>
                  <a:tcPr anchor="ctr" marL="91440" marT="27432" marB="27432">
                    <a:solidFill>
                      <a:srgbClr val="EEF1F5"/>
                    </a:solidFill>
                  </a:tcPr>
                </a:tc>
                <a:tc>
                  <a:txBody>
                    <a:bodyPr/>
                    <a:lstStyle/>
                    <a:p>
                      <a:r>
                        <a:rPr sz="1150">
                          <a:solidFill>
                            <a:srgbClr val="3C4654"/>
                          </a:solidFill>
                          <a:latin typeface="Calibri"/>
                        </a:rPr>
                        <a:t>How much log and trace data we keep.</a:t>
                      </a:r>
                    </a:p>
                  </a:txBody>
                  <a:tcPr anchor="ctr" marL="91440" marT="27432" marB="27432">
                    <a:solidFill>
                      <a:srgbClr val="EEF1F5"/>
                    </a:solidFill>
                  </a:tcPr>
                </a:tc>
                <a:tc>
                  <a:txBody>
                    <a:bodyPr/>
                    <a:lstStyle/>
                    <a:p>
                      <a:r>
                        <a:rPr sz="1150">
                          <a:solidFill>
                            <a:srgbClr val="3C4654"/>
                          </a:solidFill>
                          <a:latin typeface="Calibri"/>
                        </a:rPr>
                        <a:t>Low to medium</a:t>
                      </a:r>
                    </a:p>
                  </a:txBody>
                  <a:tcPr anchor="ctr" marL="91440" marT="27432" marB="27432">
                    <a:solidFill>
                      <a:srgbClr val="EEF1F5"/>
                    </a:solidFill>
                  </a:tcPr>
                </a:tc>
              </a:tr>
              <a:tr h="548640">
                <a:tc>
                  <a:txBody>
                    <a:bodyPr/>
                    <a:lstStyle/>
                    <a:p>
                      <a:r>
                        <a:rPr sz="1150" b="1">
                          <a:solidFill>
                            <a:srgbClr val="1F3A5F"/>
                          </a:solidFill>
                          <a:latin typeface="Calibri"/>
                        </a:rPr>
                        <a:t>Evaluation</a:t>
                      </a:r>
                    </a:p>
                  </a:txBody>
                  <a:tcPr anchor="ctr" marL="91440" marT="27432" marB="27432">
                    <a:solidFill>
                      <a:srgbClr val="FFFFFF"/>
                    </a:solidFill>
                  </a:tcPr>
                </a:tc>
                <a:tc>
                  <a:txBody>
                    <a:bodyPr/>
                    <a:lstStyle/>
                    <a:p>
                      <a:r>
                        <a:rPr sz="1150">
                          <a:solidFill>
                            <a:srgbClr val="3C4654"/>
                          </a:solidFill>
                          <a:latin typeface="Calibri"/>
                        </a:rPr>
                        <a:t>Running the test suites; grading sometimes uses the model itself.</a:t>
                      </a:r>
                    </a:p>
                  </a:txBody>
                  <a:tcPr anchor="ctr" marL="91440" marT="27432" marB="27432">
                    <a:solidFill>
                      <a:srgbClr val="FFFFFF"/>
                    </a:solidFill>
                  </a:tcPr>
                </a:tc>
                <a:tc>
                  <a:txBody>
                    <a:bodyPr/>
                    <a:lstStyle/>
                    <a:p>
                      <a:r>
                        <a:rPr sz="1150">
                          <a:solidFill>
                            <a:srgbClr val="3C4654"/>
                          </a:solidFill>
                          <a:latin typeface="Calibri"/>
                        </a:rPr>
                        <a:t>Low to medium</a:t>
                      </a:r>
                    </a:p>
                  </a:txBody>
                  <a:tcPr anchor="ctr" marL="91440" marT="27432" marB="27432">
                    <a:solidFill>
                      <a:srgbClr val="FFFFFF"/>
                    </a:solidFill>
                  </a:tcPr>
                </a:tc>
              </a:tr>
              <a:tr h="548640">
                <a:tc>
                  <a:txBody>
                    <a:bodyPr/>
                    <a:lstStyle/>
                    <a:p>
                      <a:r>
                        <a:rPr sz="1150" b="1">
                          <a:solidFill>
                            <a:srgbClr val="1F3A5F"/>
                          </a:solidFill>
                          <a:latin typeface="Calibri"/>
                        </a:rPr>
                        <a:t>People</a:t>
                      </a:r>
                    </a:p>
                  </a:txBody>
                  <a:tcPr anchor="ctr" marL="91440" marT="27432" marB="27432">
                    <a:solidFill>
                      <a:srgbClr val="EEF1F5"/>
                    </a:solidFill>
                  </a:tcPr>
                </a:tc>
                <a:tc>
                  <a:txBody>
                    <a:bodyPr/>
                    <a:lstStyle/>
                    <a:p>
                      <a:r>
                        <a:rPr sz="1150">
                          <a:solidFill>
                            <a:srgbClr val="3C4654"/>
                          </a:solidFill>
                          <a:latin typeface="Calibri"/>
                        </a:rPr>
                        <a:t>A small team to maintain and support it.</a:t>
                      </a:r>
                    </a:p>
                  </a:txBody>
                  <a:tcPr anchor="ctr" marL="91440" marT="27432" marB="27432">
                    <a:solidFill>
                      <a:srgbClr val="EEF1F5"/>
                    </a:solidFill>
                  </a:tcPr>
                </a:tc>
                <a:tc>
                  <a:txBody>
                    <a:bodyPr/>
                    <a:lstStyle/>
                    <a:p>
                      <a:r>
                        <a:rPr sz="1150">
                          <a:solidFill>
                            <a:srgbClr val="3C4654"/>
                          </a:solidFill>
                          <a:latin typeface="Calibri"/>
                        </a:rPr>
                        <a:t>Usually the biggest overall</a:t>
                      </a:r>
                    </a:p>
                  </a:txBody>
                  <a:tcPr anchor="ctr" marL="91440" marT="27432" marB="27432">
                    <a:solidFill>
                      <a:srgbClr val="EEF1F5"/>
                    </a:solidFill>
                  </a:tcPr>
                </a:tc>
              </a:tr>
            </a:tbl>
          </a:graphicData>
        </a:graphic>
      </p:graphicFrame>
      <p:sp>
        <p:nvSpPr>
          <p:cNvPr id="9" name="TextBox 8"/>
          <p:cNvSpPr txBox="1"/>
          <p:nvPr/>
        </p:nvSpPr>
        <p:spPr>
          <a:xfrm>
            <a:off x="685800" y="5806440"/>
            <a:ext cx="10835640" cy="640080"/>
          </a:xfrm>
          <a:prstGeom prst="rect">
            <a:avLst/>
          </a:prstGeom>
          <a:noFill/>
        </p:spPr>
        <p:txBody>
          <a:bodyPr wrap="square" anchor="t" lIns="0" rIns="0" tIns="0" bIns="0">
            <a:spAutoFit/>
          </a:bodyPr>
          <a:lstStyle/>
          <a:p>
            <a:pPr algn="l">
              <a:lnSpc>
                <a:spcPct val="105000"/>
              </a:lnSpc>
              <a:spcBef>
                <a:spcPts val="0"/>
              </a:spcBef>
              <a:spcAft>
                <a:spcPts val="600"/>
              </a:spcAft>
            </a:pPr>
            <a:r>
              <a:rPr sz="1300" b="1" i="0">
                <a:solidFill>
                  <a:srgbClr val="1F3A5F"/>
                </a:solidFill>
                <a:latin typeface="Calibri"/>
              </a:rPr>
              <a:t>Two big levers to control cost: </a:t>
            </a:r>
            <a:r>
              <a:rPr sz="1300" b="0" i="0">
                <a:solidFill>
                  <a:srgbClr val="3C4654"/>
                </a:solidFill>
                <a:latin typeface="Calibri"/>
              </a:rPr>
              <a:t>use a smaller, cheaper model where a task allows it, and cache repeated answers so we do not pay twice. Both cut model-usage cost sharply.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Who builds and runs it</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11</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300"/>
              </a:spcAft>
            </a:pPr>
            <a:r>
              <a:rPr sz="1700" b="0">
                <a:solidFill>
                  <a:srgbClr val="3C4654"/>
                </a:solidFill>
                <a:latin typeface="Calibri"/>
              </a:rPr>
              <a:t>•  Platform lead / architect — owns the design and the standards everyone follows.</a:t>
            </a:r>
          </a:p>
          <a:p>
            <a:pPr>
              <a:lnSpc>
                <a:spcPct val="108000"/>
              </a:lnSpc>
              <a:spcBef>
                <a:spcPts val="0"/>
              </a:spcBef>
              <a:spcAft>
                <a:spcPts val="1300"/>
              </a:spcAft>
            </a:pPr>
            <a:r>
              <a:rPr sz="1700" b="0">
                <a:solidFill>
                  <a:srgbClr val="3C4654"/>
                </a:solidFill>
                <a:latin typeface="Calibri"/>
              </a:rPr>
              <a:t>•  Engineers — build the framework and the pipeline.</a:t>
            </a:r>
          </a:p>
          <a:p>
            <a:pPr>
              <a:lnSpc>
                <a:spcPct val="108000"/>
              </a:lnSpc>
              <a:spcBef>
                <a:spcPts val="0"/>
              </a:spcBef>
              <a:spcAft>
                <a:spcPts val="1300"/>
              </a:spcAft>
            </a:pPr>
            <a:r>
              <a:rPr sz="1700" b="0">
                <a:solidFill>
                  <a:srgbClr val="3C4654"/>
                </a:solidFill>
                <a:latin typeface="Calibri"/>
              </a:rPr>
              <a:t>•  Data engineer — prepares and connects the data.</a:t>
            </a:r>
          </a:p>
          <a:p>
            <a:pPr>
              <a:lnSpc>
                <a:spcPct val="108000"/>
              </a:lnSpc>
              <a:spcBef>
                <a:spcPts val="0"/>
              </a:spcBef>
              <a:spcAft>
                <a:spcPts val="1300"/>
              </a:spcAft>
            </a:pPr>
            <a:r>
              <a:rPr sz="1700" b="0">
                <a:solidFill>
                  <a:srgbClr val="3C4654"/>
                </a:solidFill>
                <a:latin typeface="Calibri"/>
              </a:rPr>
              <a:t>•  Security &amp; governance — handles access, privacy, and compliance.</a:t>
            </a:r>
          </a:p>
          <a:p>
            <a:pPr>
              <a:lnSpc>
                <a:spcPct val="108000"/>
              </a:lnSpc>
              <a:spcBef>
                <a:spcPts val="0"/>
              </a:spcBef>
              <a:spcAft>
                <a:spcPts val="1300"/>
              </a:spcAft>
            </a:pPr>
            <a:r>
              <a:rPr sz="1700" b="0">
                <a:solidFill>
                  <a:srgbClr val="3C4654"/>
                </a:solidFill>
                <a:latin typeface="Calibri"/>
              </a:rPr>
              <a:t>•  Support / operations — keeps it running and handles issues.</a:t>
            </a:r>
          </a:p>
        </p:txBody>
      </p:sp>
      <p:sp>
        <p:nvSpPr>
          <p:cNvPr id="8" name="TextBox 7"/>
          <p:cNvSpPr txBox="1"/>
          <p:nvPr/>
        </p:nvSpPr>
        <p:spPr>
          <a:xfrm>
            <a:off x="685800" y="4846320"/>
            <a:ext cx="10835640" cy="731520"/>
          </a:xfrm>
          <a:prstGeom prst="rect">
            <a:avLst/>
          </a:prstGeom>
          <a:noFill/>
        </p:spPr>
        <p:txBody>
          <a:bodyPr wrap="square" anchor="t" lIns="0" rIns="0" tIns="0" bIns="0">
            <a:spAutoFit/>
          </a:bodyPr>
          <a:lstStyle/>
          <a:p>
            <a:pPr algn="l">
              <a:lnSpc>
                <a:spcPct val="105000"/>
              </a:lnSpc>
              <a:spcBef>
                <a:spcPts val="0"/>
              </a:spcBef>
              <a:spcAft>
                <a:spcPts val="600"/>
              </a:spcAft>
            </a:pPr>
            <a:r>
              <a:rPr sz="1400" b="0" i="1">
                <a:solidFill>
                  <a:srgbClr val="3C4654"/>
                </a:solidFill>
                <a:latin typeface="Calibri"/>
              </a:rPr>
              <a:t>A small, focused team can build the base in about a month, then support many projects on top of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Risks to watch</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12</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300"/>
              </a:spcAft>
            </a:pPr>
            <a:r>
              <a:rPr sz="1700" b="0">
                <a:solidFill>
                  <a:srgbClr val="3C4654"/>
                </a:solidFill>
                <a:latin typeface="Calibri"/>
              </a:rPr>
              <a:t>•  Wrong or made-up answers. Fix by grounding answers in our data and testing every release.</a:t>
            </a:r>
          </a:p>
          <a:p>
            <a:pPr>
              <a:lnSpc>
                <a:spcPct val="108000"/>
              </a:lnSpc>
              <a:spcBef>
                <a:spcPts val="0"/>
              </a:spcBef>
              <a:spcAft>
                <a:spcPts val="1300"/>
              </a:spcAft>
            </a:pPr>
            <a:r>
              <a:rPr sz="1700" b="0">
                <a:solidFill>
                  <a:srgbClr val="3C4654"/>
                </a:solidFill>
                <a:latin typeface="Calibri"/>
              </a:rPr>
              <a:t>•  Cost surprises. Fix by setting usage limits, budgets, and alerts from day one.</a:t>
            </a:r>
          </a:p>
          <a:p>
            <a:pPr>
              <a:lnSpc>
                <a:spcPct val="108000"/>
              </a:lnSpc>
              <a:spcBef>
                <a:spcPts val="0"/>
              </a:spcBef>
              <a:spcAft>
                <a:spcPts val="1300"/>
              </a:spcAft>
            </a:pPr>
            <a:r>
              <a:rPr sz="1700" b="0">
                <a:solidFill>
                  <a:srgbClr val="3C4654"/>
                </a:solidFill>
                <a:latin typeface="Calibri"/>
              </a:rPr>
              <a:t>•  Too much automation. Keep people in the loop for sensitive actions.</a:t>
            </a:r>
          </a:p>
          <a:p>
            <a:pPr>
              <a:lnSpc>
                <a:spcPct val="108000"/>
              </a:lnSpc>
              <a:spcBef>
                <a:spcPts val="0"/>
              </a:spcBef>
              <a:spcAft>
                <a:spcPts val="1300"/>
              </a:spcAft>
            </a:pPr>
            <a:r>
              <a:rPr sz="1700" b="0">
                <a:solidFill>
                  <a:srgbClr val="3C4654"/>
                </a:solidFill>
                <a:latin typeface="Calibri"/>
              </a:rPr>
              <a:t>•  Getting locked to one vendor or model. Use the gateway so we can switch models later.</a:t>
            </a:r>
          </a:p>
          <a:p>
            <a:pPr>
              <a:lnSpc>
                <a:spcPct val="108000"/>
              </a:lnSpc>
              <a:spcBef>
                <a:spcPts val="0"/>
              </a:spcBef>
              <a:spcAft>
                <a:spcPts val="1300"/>
              </a:spcAft>
            </a:pPr>
            <a:r>
              <a:rPr sz="1700" b="0">
                <a:solidFill>
                  <a:srgbClr val="3C4654"/>
                </a:solidFill>
                <a:latin typeface="Calibri"/>
              </a:rPr>
              <a:t>•  Security gaps. Treat all input and output as untrusted and give least access by default.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How this helps our clients</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13</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400"/>
              </a:spcAft>
            </a:pPr>
            <a:r>
              <a:rPr sz="1700" b="0">
                <a:solidFill>
                  <a:srgbClr val="3C4654"/>
                </a:solidFill>
                <a:latin typeface="Calibri"/>
              </a:rPr>
              <a:t>•  Once the framework exists, we can stand up new AI capabilities for clients quickly and safely.</a:t>
            </a:r>
          </a:p>
          <a:p>
            <a:pPr>
              <a:lnSpc>
                <a:spcPct val="108000"/>
              </a:lnSpc>
              <a:spcBef>
                <a:spcPts val="0"/>
              </a:spcBef>
              <a:spcAft>
                <a:spcPts val="1400"/>
              </a:spcAft>
            </a:pPr>
            <a:r>
              <a:rPr sz="1700" b="0">
                <a:solidFill>
                  <a:srgbClr val="3C4654"/>
                </a:solidFill>
                <a:latin typeface="Calibri"/>
              </a:rPr>
              <a:t>•  Clients get faster delivery, consistent quality, and clear control over cost — without every project starting from scratch.</a:t>
            </a:r>
          </a:p>
          <a:p>
            <a:pPr>
              <a:lnSpc>
                <a:spcPct val="108000"/>
              </a:lnSpc>
              <a:spcBef>
                <a:spcPts val="0"/>
              </a:spcBef>
              <a:spcAft>
                <a:spcPts val="1400"/>
              </a:spcAft>
            </a:pPr>
            <a:r>
              <a:rPr sz="1700" b="0">
                <a:solidFill>
                  <a:srgbClr val="3C4654"/>
                </a:solidFill>
                <a:latin typeface="Calibri"/>
              </a:rPr>
              <a:t>•  We can offer it as a managed capability: build it, run it, and improve it on their behalf.</a:t>
            </a:r>
          </a:p>
          <a:p>
            <a:pPr>
              <a:lnSpc>
                <a:spcPct val="108000"/>
              </a:lnSpc>
              <a:spcBef>
                <a:spcPts val="0"/>
              </a:spcBef>
              <a:spcAft>
                <a:spcPts val="1400"/>
              </a:spcAft>
            </a:pPr>
            <a:r>
              <a:rPr sz="1700" b="1">
                <a:solidFill>
                  <a:srgbClr val="1F3A5F"/>
                </a:solidFill>
                <a:latin typeface="Calibri"/>
              </a:rPr>
              <a:t>•  The same foundation supports many clients and many needs, so our investment pays back across engagements.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Summary and next steps</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14</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463040"/>
            <a:ext cx="10789920" cy="4846320"/>
          </a:xfrm>
          <a:prstGeom prst="rect">
            <a:avLst/>
          </a:prstGeom>
          <a:noFill/>
        </p:spPr>
        <p:txBody>
          <a:bodyPr wrap="square" lIns="0" tIns="0">
            <a:spAutoFit/>
          </a:bodyPr>
          <a:lstStyle/>
          <a:p>
            <a:pPr>
              <a:lnSpc>
                <a:spcPct val="108000"/>
              </a:lnSpc>
              <a:spcBef>
                <a:spcPts val="0"/>
              </a:spcBef>
              <a:spcAft>
                <a:spcPts val="1400"/>
              </a:spcAft>
            </a:pPr>
            <a:r>
              <a:rPr sz="1700" b="0">
                <a:solidFill>
                  <a:srgbClr val="3C4654"/>
                </a:solidFill>
                <a:latin typeface="Calibri"/>
              </a:rPr>
              <a:t>•  LLMOps is how we run language-model apps reliably, not just build a demo.</a:t>
            </a:r>
          </a:p>
          <a:p>
            <a:pPr>
              <a:lnSpc>
                <a:spcPct val="108000"/>
              </a:lnSpc>
              <a:spcBef>
                <a:spcPts val="0"/>
              </a:spcBef>
              <a:spcAft>
                <a:spcPts val="1400"/>
              </a:spcAft>
            </a:pPr>
            <a:r>
              <a:rPr sz="1700" b="1">
                <a:solidFill>
                  <a:srgbClr val="1F3A5F"/>
                </a:solidFill>
                <a:latin typeface="Calibri"/>
              </a:rPr>
              <a:t>•  Build the reusable framework first — about one month for a solid base.</a:t>
            </a:r>
          </a:p>
          <a:p>
            <a:pPr>
              <a:lnSpc>
                <a:spcPct val="108000"/>
              </a:lnSpc>
              <a:spcBef>
                <a:spcPts val="0"/>
              </a:spcBef>
              <a:spcAft>
                <a:spcPts val="1400"/>
              </a:spcAft>
            </a:pPr>
            <a:r>
              <a:rPr sz="1700" b="0">
                <a:solidFill>
                  <a:srgbClr val="3C4654"/>
                </a:solidFill>
                <a:latin typeface="Calibri"/>
              </a:rPr>
              <a:t>•  Then onboard projects quickly on top of it.</a:t>
            </a:r>
          </a:p>
          <a:p>
            <a:pPr>
              <a:lnSpc>
                <a:spcPct val="108000"/>
              </a:lnSpc>
              <a:spcBef>
                <a:spcPts val="0"/>
              </a:spcBef>
              <a:spcAft>
                <a:spcPts val="1400"/>
              </a:spcAft>
            </a:pPr>
            <a:r>
              <a:rPr sz="1700" b="0">
                <a:solidFill>
                  <a:srgbClr val="3C4654"/>
                </a:solidFill>
                <a:latin typeface="Calibri"/>
              </a:rPr>
              <a:t>•  Plan for ongoing running costs — mainly model usage and people.</a:t>
            </a:r>
          </a:p>
          <a:p>
            <a:pPr>
              <a:lnSpc>
                <a:spcPct val="108000"/>
              </a:lnSpc>
              <a:spcBef>
                <a:spcPts val="0"/>
              </a:spcBef>
              <a:spcAft>
                <a:spcPts val="1400"/>
              </a:spcAft>
            </a:pPr>
            <a:r>
              <a:rPr sz="1700" b="1">
                <a:solidFill>
                  <a:srgbClr val="1F3A5F"/>
                </a:solidFill>
                <a:latin typeface="Calibri"/>
              </a:rPr>
              <a:t>•  Next step: agree the scope for the one-month base build and set up the cloud environment.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731520"/>
          </a:xfrm>
          <a:prstGeom prst="rect">
            <a:avLst/>
          </a:prstGeom>
          <a:noFill/>
        </p:spPr>
        <p:txBody>
          <a:bodyPr wrap="square" anchor="t" lIns="0" rIns="0" tIns="0" bIns="0">
            <a:spAutoFit/>
          </a:bodyPr>
          <a:lstStyle/>
          <a:p>
            <a:pPr algn="l">
              <a:lnSpc>
                <a:spcPct val="105000"/>
              </a:lnSpc>
              <a:spcBef>
                <a:spcPts val="0"/>
              </a:spcBef>
              <a:spcAft>
                <a:spcPts val="600"/>
              </a:spcAft>
            </a:pPr>
            <a:r>
              <a:rPr sz="2800" b="1" i="0">
                <a:solidFill>
                  <a:srgbClr val="1F3A5F"/>
                </a:solidFill>
                <a:latin typeface="Calibri"/>
              </a:rPr>
              <a:t>Terms in plain English (quick reference)</a:t>
            </a:r>
          </a:p>
        </p:txBody>
      </p:sp>
      <p:sp>
        <p:nvSpPr>
          <p:cNvPr id="4" name="Rectangle 3"/>
          <p:cNvSpPr/>
          <p:nvPr/>
        </p:nvSpPr>
        <p:spPr>
          <a:xfrm>
            <a:off x="658368" y="1170432"/>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85855" y="6400800"/>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15</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 technical overview</a:t>
            </a:r>
          </a:p>
        </p:txBody>
      </p:sp>
      <p:sp>
        <p:nvSpPr>
          <p:cNvPr id="7" name="TextBox 6"/>
          <p:cNvSpPr txBox="1"/>
          <p:nvPr/>
        </p:nvSpPr>
        <p:spPr>
          <a:xfrm>
            <a:off x="685800" y="1508760"/>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LLM  </a:t>
            </a:r>
            <a:r>
              <a:rPr sz="1200" b="0" i="0">
                <a:solidFill>
                  <a:srgbClr val="3C4654"/>
                </a:solidFill>
                <a:latin typeface="Calibri"/>
              </a:rPr>
              <a:t>Large Language Model — AI that reads and writes text.</a:t>
            </a:r>
          </a:p>
        </p:txBody>
      </p:sp>
      <p:sp>
        <p:nvSpPr>
          <p:cNvPr id="8" name="TextBox 7"/>
          <p:cNvSpPr txBox="1"/>
          <p:nvPr/>
        </p:nvSpPr>
        <p:spPr>
          <a:xfrm>
            <a:off x="6263640" y="1508760"/>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LLMOps  </a:t>
            </a:r>
            <a:r>
              <a:rPr sz="1200" b="0" i="0">
                <a:solidFill>
                  <a:srgbClr val="3C4654"/>
                </a:solidFill>
                <a:latin typeface="Calibri"/>
              </a:rPr>
              <a:t>Large Language Model Operations — building, testing, shipping, and running LLM apps.</a:t>
            </a:r>
          </a:p>
        </p:txBody>
      </p:sp>
      <p:sp>
        <p:nvSpPr>
          <p:cNvPr id="9" name="TextBox 8"/>
          <p:cNvSpPr txBox="1"/>
          <p:nvPr/>
        </p:nvSpPr>
        <p:spPr>
          <a:xfrm>
            <a:off x="685800" y="2258568"/>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RAG  </a:t>
            </a:r>
            <a:r>
              <a:rPr sz="1200" b="0" i="0">
                <a:solidFill>
                  <a:srgbClr val="3C4654"/>
                </a:solidFill>
                <a:latin typeface="Calibri"/>
              </a:rPr>
              <a:t>Retrieval-Augmented Generation — the model answers using our own documents.</a:t>
            </a:r>
          </a:p>
        </p:txBody>
      </p:sp>
      <p:sp>
        <p:nvSpPr>
          <p:cNvPr id="10" name="TextBox 9"/>
          <p:cNvSpPr txBox="1"/>
          <p:nvPr/>
        </p:nvSpPr>
        <p:spPr>
          <a:xfrm>
            <a:off x="6263640" y="2258568"/>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CI/CD  </a:t>
            </a:r>
            <a:r>
              <a:rPr sz="1200" b="0" i="0">
                <a:solidFill>
                  <a:srgbClr val="3C4654"/>
                </a:solidFill>
                <a:latin typeface="Calibri"/>
              </a:rPr>
              <a:t>Continuous Integration / Continuous Delivery — automated testing and release.</a:t>
            </a:r>
          </a:p>
        </p:txBody>
      </p:sp>
      <p:sp>
        <p:nvSpPr>
          <p:cNvPr id="11" name="TextBox 10"/>
          <p:cNvSpPr txBox="1"/>
          <p:nvPr/>
        </p:nvSpPr>
        <p:spPr>
          <a:xfrm>
            <a:off x="685800" y="3008376"/>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RBAC  </a:t>
            </a:r>
            <a:r>
              <a:rPr sz="1200" b="0" i="0">
                <a:solidFill>
                  <a:srgbClr val="3C4654"/>
                </a:solidFill>
                <a:latin typeface="Calibri"/>
              </a:rPr>
              <a:t>Role-Based Access Control — people get only the access their role needs.</a:t>
            </a:r>
          </a:p>
        </p:txBody>
      </p:sp>
      <p:sp>
        <p:nvSpPr>
          <p:cNvPr id="12" name="TextBox 11"/>
          <p:cNvSpPr txBox="1"/>
          <p:nvPr/>
        </p:nvSpPr>
        <p:spPr>
          <a:xfrm>
            <a:off x="6263640" y="3008376"/>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PII  </a:t>
            </a:r>
            <a:r>
              <a:rPr sz="1200" b="0" i="0">
                <a:solidFill>
                  <a:srgbClr val="3C4654"/>
                </a:solidFill>
                <a:latin typeface="Calibri"/>
              </a:rPr>
              <a:t>Personally Identifiable Information — personal data like names and phone numbers.</a:t>
            </a:r>
          </a:p>
        </p:txBody>
      </p:sp>
      <p:sp>
        <p:nvSpPr>
          <p:cNvPr id="13" name="TextBox 12"/>
          <p:cNvSpPr txBox="1"/>
          <p:nvPr/>
        </p:nvSpPr>
        <p:spPr>
          <a:xfrm>
            <a:off x="685800" y="3758184"/>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Token  </a:t>
            </a:r>
            <a:r>
              <a:rPr sz="1200" b="0" i="0">
                <a:solidFill>
                  <a:srgbClr val="3C4654"/>
                </a:solidFill>
                <a:latin typeface="Calibri"/>
              </a:rPr>
              <a:t>The small unit of text a model reads and writes; billing is per token.</a:t>
            </a:r>
          </a:p>
        </p:txBody>
      </p:sp>
      <p:sp>
        <p:nvSpPr>
          <p:cNvPr id="14" name="TextBox 13"/>
          <p:cNvSpPr txBox="1"/>
          <p:nvPr/>
        </p:nvSpPr>
        <p:spPr>
          <a:xfrm>
            <a:off x="6263640" y="3758184"/>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Prompt  </a:t>
            </a:r>
            <a:r>
              <a:rPr sz="1200" b="0" i="0">
                <a:solidFill>
                  <a:srgbClr val="3C4654"/>
                </a:solidFill>
                <a:latin typeface="Calibri"/>
              </a:rPr>
              <a:t>The instruction we give the model.</a:t>
            </a:r>
          </a:p>
        </p:txBody>
      </p:sp>
      <p:sp>
        <p:nvSpPr>
          <p:cNvPr id="15" name="TextBox 14"/>
          <p:cNvSpPr txBox="1"/>
          <p:nvPr/>
        </p:nvSpPr>
        <p:spPr>
          <a:xfrm>
            <a:off x="685800" y="4507992"/>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Guardrails  </a:t>
            </a:r>
            <a:r>
              <a:rPr sz="1200" b="0" i="0">
                <a:solidFill>
                  <a:srgbClr val="3C4654"/>
                </a:solidFill>
                <a:latin typeface="Calibri"/>
              </a:rPr>
              <a:t>Automatic safety checks on what goes in and comes out.</a:t>
            </a:r>
          </a:p>
        </p:txBody>
      </p:sp>
      <p:sp>
        <p:nvSpPr>
          <p:cNvPr id="16" name="TextBox 15"/>
          <p:cNvSpPr txBox="1"/>
          <p:nvPr/>
        </p:nvSpPr>
        <p:spPr>
          <a:xfrm>
            <a:off x="6263640" y="4507992"/>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Vector database  </a:t>
            </a:r>
            <a:r>
              <a:rPr sz="1200" b="0" i="0">
                <a:solidFill>
                  <a:srgbClr val="3C4654"/>
                </a:solidFill>
                <a:latin typeface="Calibri"/>
              </a:rPr>
              <a:t>Stores text as numbers so we can search by meaning.</a:t>
            </a:r>
          </a:p>
        </p:txBody>
      </p:sp>
      <p:sp>
        <p:nvSpPr>
          <p:cNvPr id="17" name="TextBox 16"/>
          <p:cNvSpPr txBox="1"/>
          <p:nvPr/>
        </p:nvSpPr>
        <p:spPr>
          <a:xfrm>
            <a:off x="685800" y="5257800"/>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Agent  </a:t>
            </a:r>
            <a:r>
              <a:rPr sz="1200" b="0" i="0">
                <a:solidFill>
                  <a:srgbClr val="3C4654"/>
                </a:solidFill>
                <a:latin typeface="Calibri"/>
              </a:rPr>
              <a:t>An LLM that can use tools and take steps, not just chat.</a:t>
            </a:r>
          </a:p>
        </p:txBody>
      </p:sp>
      <p:sp>
        <p:nvSpPr>
          <p:cNvPr id="18" name="TextBox 17"/>
          <p:cNvSpPr txBox="1"/>
          <p:nvPr/>
        </p:nvSpPr>
        <p:spPr>
          <a:xfrm>
            <a:off x="6263640" y="5257800"/>
            <a:ext cx="5394960" cy="749808"/>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DevOps / MLOps  </a:t>
            </a:r>
            <a:r>
              <a:rPr sz="1200" b="0" i="0">
                <a:solidFill>
                  <a:srgbClr val="3C4654"/>
                </a:solidFill>
                <a:latin typeface="Calibri"/>
              </a:rPr>
              <a:t>The standard ways to ship software / machine-learning models.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