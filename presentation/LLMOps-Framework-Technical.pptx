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This is the technical view: the reusable building blocks of an enterprise LLMOps platform, how multi-agent orchestration works on Azure, how we build the base in about a month, and what it costs to run. I'll define every term as we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LLMOps is DevOps for LLM apps. Then the key point of this deck: we do this with multiple focused agents coordinated by an orchestrator, which is more accurate and easier to govern than one giant prompt.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 for the whole talk. Top to bottom: a request comes in, passes the gateway, the orchestration layer coordinates the agents, which use the models and the knowledge search sitting on our data. Security, monitoring and CI/CD apply across all of it. Every box names the Azure service.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completeness slide. Every one of these is a shared component we build once and every project reuses. Read down each column. Call out the agent components on the left — registry, tool registry via MCP, agent-to-agent via A2A, memory, durable workflows — that is what makes it a real multi-agent platform, not a single chatbot.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deck. The orchestrator is the coordinator. It pulls from shared memory, calls tools through MCP, and can hand off to other agents through A2A. The specialist agents each do one job. The dark band is the enterprise part: every step is durable, guarded, approvable, and traced. MCP = Model Context Protocol (standard way to connect tools). A2A = Agent-to-Agent (standard way for agents to talk).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ways agents cooperate. Keep it simple: sequential is a line, concurrent is parallel, group chat is a discussion, handoff is a transfer to a specialist, planner is a lead that assigns work. We choose per task. All are built into the Agent Framework, so we do not write this coordination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'why is this enterprise-grade and not a demo'. Eight properties. The ones people miss: durable execution (jobs recover from failure), the agent registry (agents managed like code), and tracing (every step replayable for audit). These come from Azure AI Foundry Agent Service and the Agent Framework, not custom code.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five boxes. The message: RAG grounds answers in our own data and shows sources. Embeddings just means text stored as numbers so we can search by meaning.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down the layers from outside in. The one line to land: treat all model input and output as untrusted and check both. PII = Personally Identifiable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halves: test before release, watch in production. We do not hope the model is right, we measure it, and we block a release if quality drops. In multi-agent systems the traces are essential — they show which agent did what.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heart of LLMOps. Nothing ships without passing the gates. Point at the amber Test gates box, then the four gates. On Azure this runs in Azure DevOps or GitHub Actions with gradual release and automatic rollback.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 right, then it loops back. Emphasize the loop: feedback from real use improves the system. That loop is why it's 'Ops' and not just 'build once'.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 Azure build plan. Week 2 is where the multi-agent core goes in: the Agent Service, first agents, tool registry via MCP, and memory. Be honest: one month is a solid base, not everything. By week 4 a small multi-agent sample runs end to end.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the framework is for. Most steps are configuration, not building. We reuse existing agents and connectors and add only the new bits. Keep it generic.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 they asked about running costs. Two messages: costs are ongoing, and the two biggest are model usage (variable) and people (fixed). Important nuance: multi-agent means several model calls per request, so cost control (routing + caching) matters more. I can give a real monthly figure once we know expected volume.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short columns. A small focused team can build the base in a month and support many projects. On risks, the cost point is bigger for multi-agent because each request makes several calls — so limits and caching matter.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and make one clear ask: agreement on scope for the one-month Azure base build, and access to set up the environment. Stress the two headlines — reusable components and multi-agent orchestration.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Leave it up during questions for the acronyms — especially MCP, A2A, and agent registry, which are new to most people.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45920"/>
            <a:ext cx="10515600" cy="1280160"/>
          </a:xfrm>
          <a:prstGeom prst="rect">
            <a:avLst/>
          </a:prstGeom>
          <a:noFill/>
        </p:spPr>
        <p:txBody>
          <a:bodyPr wrap="square" anchor="t" lIns="0" rIns="0" tIns="0" bIns="0">
            <a:spAutoFit/>
          </a:bodyPr>
          <a:lstStyle/>
          <a:p>
            <a:pPr algn="l">
              <a:lnSpc>
                <a:spcPct val="105000"/>
              </a:lnSpc>
              <a:spcBef>
                <a:spcPts val="0"/>
              </a:spcBef>
              <a:spcAft>
                <a:spcPts val="600"/>
              </a:spcAft>
            </a:pPr>
            <a:r>
              <a:rPr sz="3100" b="1" i="0">
                <a:solidFill>
                  <a:srgbClr val="1F3A5F"/>
                </a:solidFill>
                <a:latin typeface="Calibri"/>
              </a:rPr>
              <a:t>Enterprise LLMOps Framework on Azure</a:t>
            </a:r>
          </a:p>
        </p:txBody>
      </p:sp>
      <p:sp>
        <p:nvSpPr>
          <p:cNvPr id="5" name="Rectangle 4"/>
          <p:cNvSpPr/>
          <p:nvPr/>
        </p:nvSpPr>
        <p:spPr>
          <a:xfrm>
            <a:off x="859536" y="2468880"/>
            <a:ext cx="18288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743200"/>
            <a:ext cx="10424160" cy="1463040"/>
          </a:xfrm>
          <a:prstGeom prst="rect">
            <a:avLst/>
          </a:prstGeom>
          <a:noFill/>
        </p:spPr>
        <p:txBody>
          <a:bodyPr wrap="square" anchor="t" lIns="0" rIns="0" tIns="0" bIns="0">
            <a:spAutoFit/>
          </a:bodyPr>
          <a:lstStyle/>
          <a:p>
            <a:pPr algn="l">
              <a:lnSpc>
                <a:spcPct val="105000"/>
              </a:lnSpc>
              <a:spcBef>
                <a:spcPts val="0"/>
              </a:spcBef>
              <a:spcAft>
                <a:spcPts val="1000"/>
              </a:spcAft>
            </a:pPr>
            <a:r>
              <a:rPr sz="1700" b="0" i="0">
                <a:solidFill>
                  <a:srgbClr val="3C4654"/>
                </a:solidFill>
                <a:latin typeface="Calibri"/>
              </a:rPr>
              <a:t>A reusable foundation for building, testing, shipping, and running multi-agent large language model (LLM) applications — on Microsoft Azure.</a:t>
            </a:r>
          </a:p>
          <a:p>
            <a:pPr algn="l">
              <a:lnSpc>
                <a:spcPct val="105000"/>
              </a:lnSpc>
              <a:spcBef>
                <a:spcPts val="0"/>
              </a:spcBef>
              <a:spcAft>
                <a:spcPts val="1000"/>
              </a:spcAft>
            </a:pPr>
            <a:r>
              <a:rPr sz="1300" b="0" i="1">
                <a:solidFill>
                  <a:srgbClr val="6B7480"/>
                </a:solidFill>
                <a:latin typeface="Calibri"/>
              </a:rPr>
              <a:t>LLMOps = Large Language Model Operations. Multi-agent = several specialised AI agents working together, coordinated by an orchestrator.</a:t>
            </a:r>
          </a:p>
        </p:txBody>
      </p:sp>
      <p:sp>
        <p:nvSpPr>
          <p:cNvPr id="7" name="TextBox 6"/>
          <p:cNvSpPr txBox="1"/>
          <p:nvPr/>
        </p:nvSpPr>
        <p:spPr>
          <a:xfrm>
            <a:off x="841248" y="5806440"/>
            <a:ext cx="10058400" cy="457200"/>
          </a:xfrm>
          <a:prstGeom prst="rect">
            <a:avLst/>
          </a:prstGeom>
          <a:noFill/>
        </p:spPr>
        <p:txBody>
          <a:bodyPr wrap="square" anchor="t" lIns="0" rIns="0" tIns="0" bIns="0">
            <a:spAutoFit/>
          </a:bodyPr>
          <a:lstStyle/>
          <a:p>
            <a:pPr algn="l">
              <a:lnSpc>
                <a:spcPct val="105000"/>
              </a:lnSpc>
              <a:spcBef>
                <a:spcPts val="0"/>
              </a:spcBef>
              <a:spcAft>
                <a:spcPts val="600"/>
              </a:spcAft>
            </a:pPr>
            <a:r>
              <a:rPr sz="1200" b="1" i="0">
                <a:solidFill>
                  <a:srgbClr val="1F3A5F"/>
                </a:solidFill>
                <a:latin typeface="Calibri"/>
              </a:rPr>
              <a:t>Technical overview  ·  presenter working copy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10896"/>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BASICS</a:t>
            </a:r>
          </a:p>
        </p:txBody>
      </p:sp>
      <p:sp>
        <p:nvSpPr>
          <p:cNvPr id="4" name="TextBox 3"/>
          <p:cNvSpPr txBox="1"/>
          <p:nvPr/>
        </p:nvSpPr>
        <p:spPr>
          <a:xfrm>
            <a:off x="640080" y="530352"/>
            <a:ext cx="10881360" cy="640080"/>
          </a:xfrm>
          <a:prstGeom prst="rect">
            <a:avLst/>
          </a:prstGeom>
          <a:noFill/>
        </p:spPr>
        <p:txBody>
          <a:bodyPr wrap="square" anchor="t" lIns="0" rIns="0" tIns="0" bIns="0">
            <a:spAutoFit/>
          </a:bodyPr>
          <a:lstStyle/>
          <a:p>
            <a:pPr algn="l">
              <a:lnSpc>
                <a:spcPct val="105000"/>
              </a:lnSpc>
              <a:spcBef>
                <a:spcPts val="0"/>
              </a:spcBef>
              <a:spcAft>
                <a:spcPts val="600"/>
              </a:spcAft>
            </a:pPr>
            <a:r>
              <a:rPr sz="2500" b="1" i="0">
                <a:solidFill>
                  <a:srgbClr val="1F3A5F"/>
                </a:solidFill>
                <a:latin typeface="Calibri"/>
              </a:rPr>
              <a:t>What LLMOps means, and why multi-agent</a:t>
            </a:r>
          </a:p>
        </p:txBody>
      </p:sp>
      <p:sp>
        <p:nvSpPr>
          <p:cNvPr id="5" name="Rectangle 4"/>
          <p:cNvSpPr/>
          <p:nvPr/>
        </p:nvSpPr>
        <p:spPr>
          <a:xfrm>
            <a:off x="658368" y="1115568"/>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55664"/>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2</a:t>
            </a:r>
          </a:p>
        </p:txBody>
      </p:sp>
      <p:sp>
        <p:nvSpPr>
          <p:cNvPr id="7" name="TextBox 6"/>
          <p:cNvSpPr txBox="1"/>
          <p:nvPr/>
        </p:nvSpPr>
        <p:spPr>
          <a:xfrm>
            <a:off x="640080" y="6455664"/>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Enterprise LLMOps on Azure — technical overview</a:t>
            </a:r>
          </a:p>
        </p:txBody>
      </p:sp>
      <p:sp>
        <p:nvSpPr>
          <p:cNvPr id="8" name="TextBox 7"/>
          <p:cNvSpPr txBox="1"/>
          <p:nvPr/>
        </p:nvSpPr>
        <p:spPr>
          <a:xfrm>
            <a:off x="685800" y="1417320"/>
            <a:ext cx="10789920" cy="4754880"/>
          </a:xfrm>
          <a:prstGeom prst="rect">
            <a:avLst/>
          </a:prstGeom>
          <a:noFill/>
        </p:spPr>
        <p:txBody>
          <a:bodyPr wrap="square" lIns="0" tIns="0">
            <a:spAutoFit/>
          </a:bodyPr>
          <a:lstStyle/>
          <a:p>
            <a:pPr>
              <a:lnSpc>
                <a:spcPct val="106000"/>
              </a:lnSpc>
              <a:spcBef>
                <a:spcPts val="0"/>
              </a:spcBef>
              <a:spcAft>
                <a:spcPts val="1300"/>
              </a:spcAft>
            </a:pPr>
            <a:r>
              <a:rPr sz="1600" b="0">
                <a:solidFill>
                  <a:srgbClr val="3C4654"/>
                </a:solidFill>
                <a:latin typeface="Calibri"/>
              </a:rPr>
              <a:t>•  LLM (Large Language Model): the AI model that reads and writes text, like the model behind a chat assistant.</a:t>
            </a:r>
          </a:p>
          <a:p>
            <a:pPr>
              <a:lnSpc>
                <a:spcPct val="106000"/>
              </a:lnSpc>
              <a:spcBef>
                <a:spcPts val="0"/>
              </a:spcBef>
              <a:spcAft>
                <a:spcPts val="1300"/>
              </a:spcAft>
            </a:pPr>
            <a:r>
              <a:rPr sz="1600" b="0">
                <a:solidFill>
                  <a:srgbClr val="3C4654"/>
                </a:solidFill>
                <a:latin typeface="Calibri"/>
              </a:rPr>
              <a:t>•  LLMOps (Large Language Model Operations): the way we build, test, release, and run LLM apps safely and the same way every time. It is DevOps adapted for language models.</a:t>
            </a:r>
          </a:p>
          <a:p>
            <a:pPr>
              <a:lnSpc>
                <a:spcPct val="106000"/>
              </a:lnSpc>
              <a:spcBef>
                <a:spcPts val="0"/>
              </a:spcBef>
              <a:spcAft>
                <a:spcPts val="1300"/>
              </a:spcAft>
            </a:pPr>
            <a:r>
              <a:rPr sz="1600" b="1">
                <a:solidFill>
                  <a:srgbClr val="1F3A5F"/>
                </a:solidFill>
                <a:latin typeface="Calibri"/>
              </a:rPr>
              <a:t>•  Multi-agent: instead of one model doing everything, we use several focused agents — one to understand the request, one to search knowledge, one to call systems, one to check compliance — coordinated by an orchestrator.</a:t>
            </a:r>
          </a:p>
          <a:p>
            <a:pPr>
              <a:lnSpc>
                <a:spcPct val="106000"/>
              </a:lnSpc>
              <a:spcBef>
                <a:spcPts val="0"/>
              </a:spcBef>
              <a:spcAft>
                <a:spcPts val="1300"/>
              </a:spcAft>
            </a:pPr>
            <a:r>
              <a:rPr sz="1600" b="0">
                <a:solidFill>
                  <a:srgbClr val="3C4654"/>
                </a:solidFill>
                <a:latin typeface="Calibri"/>
              </a:rPr>
              <a:t>•  Why it matters: real tasks have many steps. Splitting the work makes it more accurate, easier to test, and easier to control. An 'agent' is an LLM that can take steps and use tools, not just chat.</a:t>
            </a:r>
          </a:p>
        </p:txBody>
      </p:sp>
      <p:sp>
        <p:nvSpPr>
          <p:cNvPr id="9" name="Rounded Rectangle 8"/>
          <p:cNvSpPr/>
          <p:nvPr/>
        </p:nvSpPr>
        <p:spPr>
          <a:xfrm>
            <a:off x="822960" y="4617720"/>
            <a:ext cx="2514600" cy="11430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One big model</a:t>
            </a:r>
          </a:p>
          <a:p>
            <a:pPr algn="ctr">
              <a:lnSpc>
                <a:spcPct val="100000"/>
              </a:lnSpc>
              <a:spcAft>
                <a:spcPts val="100"/>
              </a:spcAft>
            </a:pPr>
            <a:r>
              <a:rPr sz="1000" b="0">
                <a:solidFill>
                  <a:srgbClr val="3C4654"/>
                </a:solidFill>
                <a:latin typeface="Calibri"/>
              </a:rPr>
              <a:t>does everything, hard to test</a:t>
            </a:r>
          </a:p>
        </p:txBody>
      </p:sp>
      <p:sp>
        <p:nvSpPr>
          <p:cNvPr id="10" name="Right Arrow 9"/>
          <p:cNvSpPr/>
          <p:nvPr/>
        </p:nvSpPr>
        <p:spPr>
          <a:xfrm>
            <a:off x="3429000" y="5052060"/>
            <a:ext cx="31089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840480" y="4617720"/>
            <a:ext cx="7315200" cy="1143000"/>
          </a:xfrm>
          <a:prstGeom prst="roundRect">
            <a:avLst>
              <a:gd name="adj" fmla="val 8000"/>
            </a:avLst>
          </a:prstGeom>
          <a:solidFill>
            <a:srgbClr val="E9F3F0"/>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2A9D8F"/>
                </a:solidFill>
                <a:latin typeface="Calibri"/>
              </a:rPr>
              <a:t>Orchestrator + focused agents</a:t>
            </a:r>
          </a:p>
          <a:p>
            <a:pPr algn="ctr">
              <a:lnSpc>
                <a:spcPct val="100000"/>
              </a:lnSpc>
              <a:spcAft>
                <a:spcPts val="100"/>
              </a:spcAft>
            </a:pPr>
            <a:r>
              <a:rPr sz="1000" b="0">
                <a:solidFill>
                  <a:srgbClr val="3C4654"/>
                </a:solidFill>
                <a:latin typeface="Calibri"/>
              </a:rPr>
              <a:t>understand · search · act · check — each testable, each governed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10896"/>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ARCHITECTURE</a:t>
            </a:r>
          </a:p>
        </p:txBody>
      </p:sp>
      <p:sp>
        <p:nvSpPr>
          <p:cNvPr id="4" name="TextBox 3"/>
          <p:cNvSpPr txBox="1"/>
          <p:nvPr/>
        </p:nvSpPr>
        <p:spPr>
          <a:xfrm>
            <a:off x="640080" y="530352"/>
            <a:ext cx="10881360" cy="640080"/>
          </a:xfrm>
          <a:prstGeom prst="rect">
            <a:avLst/>
          </a:prstGeom>
          <a:noFill/>
        </p:spPr>
        <p:txBody>
          <a:bodyPr wrap="square" anchor="t" lIns="0" rIns="0" tIns="0" bIns="0">
            <a:spAutoFit/>
          </a:bodyPr>
          <a:lstStyle/>
          <a:p>
            <a:pPr algn="l">
              <a:lnSpc>
                <a:spcPct val="105000"/>
              </a:lnSpc>
              <a:spcBef>
                <a:spcPts val="0"/>
              </a:spcBef>
              <a:spcAft>
                <a:spcPts val="600"/>
              </a:spcAft>
            </a:pPr>
            <a:r>
              <a:rPr sz="2500" b="1" i="0">
                <a:solidFill>
                  <a:srgbClr val="1F3A5F"/>
                </a:solidFill>
                <a:latin typeface="Calibri"/>
              </a:rPr>
              <a:t>The framework, as layers</a:t>
            </a:r>
          </a:p>
        </p:txBody>
      </p:sp>
      <p:sp>
        <p:nvSpPr>
          <p:cNvPr id="5" name="Rectangle 4"/>
          <p:cNvSpPr/>
          <p:nvPr/>
        </p:nvSpPr>
        <p:spPr>
          <a:xfrm>
            <a:off x="658368" y="1115568"/>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55664"/>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3</a:t>
            </a:r>
          </a:p>
        </p:txBody>
      </p:sp>
      <p:sp>
        <p:nvSpPr>
          <p:cNvPr id="7" name="TextBox 6"/>
          <p:cNvSpPr txBox="1"/>
          <p:nvPr/>
        </p:nvSpPr>
        <p:spPr>
          <a:xfrm>
            <a:off x="640080" y="6455664"/>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Enterprise LLMOps on Azure — technical overview</a:t>
            </a:r>
          </a:p>
        </p:txBody>
      </p:sp>
      <p:sp>
        <p:nvSpPr>
          <p:cNvPr id="8" name="Rounded Rectangle 7"/>
          <p:cNvSpPr/>
          <p:nvPr/>
        </p:nvSpPr>
        <p:spPr>
          <a:xfrm>
            <a:off x="548640" y="1371600"/>
            <a:ext cx="11091672" cy="5486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371600"/>
            <a:ext cx="2743200" cy="548640"/>
          </a:xfrm>
          <a:prstGeom prst="roundRect">
            <a:avLst>
              <a:gd name="adj" fmla="val 8000"/>
            </a:avLst>
          </a:prstGeom>
          <a:solidFill>
            <a:srgbClr val="516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FFFFFF"/>
                </a:solidFill>
                <a:latin typeface="Calibri"/>
              </a:rPr>
              <a:t>Apps &amp; channels</a:t>
            </a:r>
          </a:p>
        </p:txBody>
      </p:sp>
      <p:sp>
        <p:nvSpPr>
          <p:cNvPr id="10" name="TextBox 9"/>
          <p:cNvSpPr txBox="1"/>
          <p:nvPr/>
        </p:nvSpPr>
        <p:spPr>
          <a:xfrm>
            <a:off x="3474720" y="1371600"/>
            <a:ext cx="7982712" cy="548640"/>
          </a:xfrm>
          <a:prstGeom prst="rect">
            <a:avLst/>
          </a:prstGeom>
          <a:noFill/>
        </p:spPr>
        <p:txBody>
          <a:bodyPr wrap="square" anchor="ctr" lIns="0" rIns="0" tIns="0" bIns="0">
            <a:spAutoFit/>
          </a:bodyPr>
          <a:lstStyle/>
          <a:p>
            <a:pPr algn="l">
              <a:lnSpc>
                <a:spcPct val="105000"/>
              </a:lnSpc>
              <a:spcBef>
                <a:spcPts val="0"/>
              </a:spcBef>
              <a:spcAft>
                <a:spcPts val="600"/>
              </a:spcAft>
            </a:pPr>
            <a:r>
              <a:rPr sz="1100" b="0" i="0">
                <a:solidFill>
                  <a:srgbClr val="3C4654"/>
                </a:solidFill>
                <a:latin typeface="Calibri"/>
              </a:rPr>
              <a:t>Web app, chat, voice, and internal tools where people ask questions</a:t>
            </a:r>
          </a:p>
        </p:txBody>
      </p:sp>
      <p:sp>
        <p:nvSpPr>
          <p:cNvPr id="11" name="Rounded Rectangle 10"/>
          <p:cNvSpPr/>
          <p:nvPr/>
        </p:nvSpPr>
        <p:spPr>
          <a:xfrm>
            <a:off x="548640" y="1975104"/>
            <a:ext cx="11091672" cy="5486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1975104"/>
            <a:ext cx="2743200" cy="548640"/>
          </a:xfrm>
          <a:prstGeom prst="roundRect">
            <a:avLst>
              <a:gd name="adj" fmla="val 8000"/>
            </a:avLst>
          </a:prstGeom>
          <a:solidFill>
            <a:srgbClr val="3E6F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FFFFFF"/>
                </a:solidFill>
                <a:latin typeface="Calibri"/>
              </a:rPr>
              <a:t>API gateway</a:t>
            </a:r>
          </a:p>
        </p:txBody>
      </p:sp>
      <p:sp>
        <p:nvSpPr>
          <p:cNvPr id="13" name="TextBox 12"/>
          <p:cNvSpPr txBox="1"/>
          <p:nvPr/>
        </p:nvSpPr>
        <p:spPr>
          <a:xfrm>
            <a:off x="3474720" y="1975104"/>
            <a:ext cx="7982712" cy="548640"/>
          </a:xfrm>
          <a:prstGeom prst="rect">
            <a:avLst/>
          </a:prstGeom>
          <a:noFill/>
        </p:spPr>
        <p:txBody>
          <a:bodyPr wrap="square" anchor="ctr" lIns="0" rIns="0" tIns="0" bIns="0">
            <a:spAutoFit/>
          </a:bodyPr>
          <a:lstStyle/>
          <a:p>
            <a:pPr algn="l">
              <a:lnSpc>
                <a:spcPct val="105000"/>
              </a:lnSpc>
              <a:spcBef>
                <a:spcPts val="0"/>
              </a:spcBef>
              <a:spcAft>
                <a:spcPts val="600"/>
              </a:spcAft>
            </a:pPr>
            <a:r>
              <a:rPr sz="1100" b="0" i="0">
                <a:solidFill>
                  <a:srgbClr val="3C4654"/>
                </a:solidFill>
                <a:latin typeface="Calibri"/>
              </a:rPr>
              <a:t>Azure API Management — one secure entry point, usage limits, keys, logging</a:t>
            </a:r>
          </a:p>
        </p:txBody>
      </p:sp>
      <p:sp>
        <p:nvSpPr>
          <p:cNvPr id="14" name="Rounded Rectangle 13"/>
          <p:cNvSpPr/>
          <p:nvPr/>
        </p:nvSpPr>
        <p:spPr>
          <a:xfrm>
            <a:off x="548640" y="2578608"/>
            <a:ext cx="11091672" cy="5486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2578608"/>
            <a:ext cx="2743200" cy="548640"/>
          </a:xfrm>
          <a:prstGeom prst="roundRect">
            <a:avLst>
              <a:gd name="adj" fmla="val 8000"/>
            </a:avLst>
          </a:prstGeom>
          <a:solidFill>
            <a:srgbClr val="2F5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FFFFFF"/>
                </a:solidFill>
                <a:latin typeface="Calibri"/>
              </a:rPr>
              <a:t>Orchestration &amp; agents</a:t>
            </a:r>
          </a:p>
        </p:txBody>
      </p:sp>
      <p:sp>
        <p:nvSpPr>
          <p:cNvPr id="16" name="TextBox 15"/>
          <p:cNvSpPr txBox="1"/>
          <p:nvPr/>
        </p:nvSpPr>
        <p:spPr>
          <a:xfrm>
            <a:off x="3474720" y="2578608"/>
            <a:ext cx="7982712" cy="548640"/>
          </a:xfrm>
          <a:prstGeom prst="rect">
            <a:avLst/>
          </a:prstGeom>
          <a:noFill/>
        </p:spPr>
        <p:txBody>
          <a:bodyPr wrap="square" anchor="ctr" lIns="0" rIns="0" tIns="0" bIns="0">
            <a:spAutoFit/>
          </a:bodyPr>
          <a:lstStyle/>
          <a:p>
            <a:pPr algn="l">
              <a:lnSpc>
                <a:spcPct val="105000"/>
              </a:lnSpc>
              <a:spcBef>
                <a:spcPts val="0"/>
              </a:spcBef>
              <a:spcAft>
                <a:spcPts val="600"/>
              </a:spcAft>
            </a:pPr>
            <a:r>
              <a:rPr sz="1100" b="0" i="0">
                <a:solidFill>
                  <a:srgbClr val="3C4654"/>
                </a:solidFill>
                <a:latin typeface="Calibri"/>
              </a:rPr>
              <a:t>Azure AI Foundry Agent Service · Microsoft Agent Framework — coordinate agents, tools, memory</a:t>
            </a:r>
          </a:p>
        </p:txBody>
      </p:sp>
      <p:sp>
        <p:nvSpPr>
          <p:cNvPr id="17" name="Rounded Rectangle 16"/>
          <p:cNvSpPr/>
          <p:nvPr/>
        </p:nvSpPr>
        <p:spPr>
          <a:xfrm>
            <a:off x="548640" y="3182112"/>
            <a:ext cx="11091672" cy="5486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8640" y="3182112"/>
            <a:ext cx="2743200" cy="548640"/>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FFFFFF"/>
                </a:solidFill>
                <a:latin typeface="Calibri"/>
              </a:rPr>
              <a:t>Models</a:t>
            </a:r>
          </a:p>
        </p:txBody>
      </p:sp>
      <p:sp>
        <p:nvSpPr>
          <p:cNvPr id="19" name="TextBox 18"/>
          <p:cNvSpPr txBox="1"/>
          <p:nvPr/>
        </p:nvSpPr>
        <p:spPr>
          <a:xfrm>
            <a:off x="3474720" y="3182112"/>
            <a:ext cx="7982712" cy="548640"/>
          </a:xfrm>
          <a:prstGeom prst="rect">
            <a:avLst/>
          </a:prstGeom>
          <a:noFill/>
        </p:spPr>
        <p:txBody>
          <a:bodyPr wrap="square" anchor="ctr" lIns="0" rIns="0" tIns="0" bIns="0">
            <a:spAutoFit/>
          </a:bodyPr>
          <a:lstStyle/>
          <a:p>
            <a:pPr algn="l">
              <a:lnSpc>
                <a:spcPct val="105000"/>
              </a:lnSpc>
              <a:spcBef>
                <a:spcPts val="0"/>
              </a:spcBef>
              <a:spcAft>
                <a:spcPts val="600"/>
              </a:spcAft>
            </a:pPr>
            <a:r>
              <a:rPr sz="1100" b="0" i="0">
                <a:solidFill>
                  <a:srgbClr val="3C4654"/>
                </a:solidFill>
                <a:latin typeface="Calibri"/>
              </a:rPr>
              <a:t>Azure OpenAI (GPT models) · Model Router · text embeddings</a:t>
            </a:r>
          </a:p>
        </p:txBody>
      </p:sp>
      <p:sp>
        <p:nvSpPr>
          <p:cNvPr id="20" name="Rounded Rectangle 19"/>
          <p:cNvSpPr/>
          <p:nvPr/>
        </p:nvSpPr>
        <p:spPr>
          <a:xfrm>
            <a:off x="548640" y="3785616"/>
            <a:ext cx="11091672" cy="5486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8640" y="3785616"/>
            <a:ext cx="2743200" cy="54864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FFFFFF"/>
                </a:solidFill>
                <a:latin typeface="Calibri"/>
              </a:rPr>
              <a:t>Knowledge / RAG</a:t>
            </a:r>
          </a:p>
        </p:txBody>
      </p:sp>
      <p:sp>
        <p:nvSpPr>
          <p:cNvPr id="22" name="TextBox 21"/>
          <p:cNvSpPr txBox="1"/>
          <p:nvPr/>
        </p:nvSpPr>
        <p:spPr>
          <a:xfrm>
            <a:off x="3474720" y="3785616"/>
            <a:ext cx="7982712" cy="548640"/>
          </a:xfrm>
          <a:prstGeom prst="rect">
            <a:avLst/>
          </a:prstGeom>
          <a:noFill/>
        </p:spPr>
        <p:txBody>
          <a:bodyPr wrap="square" anchor="ctr" lIns="0" rIns="0" tIns="0" bIns="0">
            <a:spAutoFit/>
          </a:bodyPr>
          <a:lstStyle/>
          <a:p>
            <a:pPr algn="l">
              <a:lnSpc>
                <a:spcPct val="105000"/>
              </a:lnSpc>
              <a:spcBef>
                <a:spcPts val="0"/>
              </a:spcBef>
              <a:spcAft>
                <a:spcPts val="600"/>
              </a:spcAft>
            </a:pPr>
            <a:r>
              <a:rPr sz="1100" b="0" i="0">
                <a:solidFill>
                  <a:srgbClr val="3C4654"/>
                </a:solidFill>
                <a:latin typeface="Calibri"/>
              </a:rPr>
              <a:t>Azure AI Search · Azure AI Document Intelligence — answer from our own documents</a:t>
            </a:r>
          </a:p>
        </p:txBody>
      </p:sp>
      <p:sp>
        <p:nvSpPr>
          <p:cNvPr id="23" name="Rounded Rectangle 22"/>
          <p:cNvSpPr/>
          <p:nvPr/>
        </p:nvSpPr>
        <p:spPr>
          <a:xfrm>
            <a:off x="548640" y="4389120"/>
            <a:ext cx="11091672" cy="5486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4389120"/>
            <a:ext cx="2743200" cy="548640"/>
          </a:xfrm>
          <a:prstGeom prst="roundRect">
            <a:avLst>
              <a:gd name="adj" fmla="val 8000"/>
            </a:avLst>
          </a:prstGeom>
          <a:solidFill>
            <a:srgbClr val="2E7D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FFFFFF"/>
                </a:solidFill>
                <a:latin typeface="Calibri"/>
              </a:rPr>
              <a:t>Data</a:t>
            </a:r>
          </a:p>
        </p:txBody>
      </p:sp>
      <p:sp>
        <p:nvSpPr>
          <p:cNvPr id="25" name="TextBox 24"/>
          <p:cNvSpPr txBox="1"/>
          <p:nvPr/>
        </p:nvSpPr>
        <p:spPr>
          <a:xfrm>
            <a:off x="3474720" y="4389120"/>
            <a:ext cx="7982712" cy="548640"/>
          </a:xfrm>
          <a:prstGeom prst="rect">
            <a:avLst/>
          </a:prstGeom>
          <a:noFill/>
        </p:spPr>
        <p:txBody>
          <a:bodyPr wrap="square" anchor="ctr" lIns="0" rIns="0" tIns="0" bIns="0">
            <a:spAutoFit/>
          </a:bodyPr>
          <a:lstStyle/>
          <a:p>
            <a:pPr algn="l">
              <a:lnSpc>
                <a:spcPct val="105000"/>
              </a:lnSpc>
              <a:spcBef>
                <a:spcPts val="0"/>
              </a:spcBef>
              <a:spcAft>
                <a:spcPts val="600"/>
              </a:spcAft>
            </a:pPr>
            <a:r>
              <a:rPr sz="1100" b="0" i="0">
                <a:solidFill>
                  <a:srgbClr val="3C4654"/>
                </a:solidFill>
                <a:latin typeface="Calibri"/>
              </a:rPr>
              <a:t>Microsoft Fabric / OneLake · Azure Cosmos DB · Blob Storage</a:t>
            </a:r>
          </a:p>
        </p:txBody>
      </p:sp>
      <p:sp>
        <p:nvSpPr>
          <p:cNvPr id="26" name="Rounded Rectangle 25"/>
          <p:cNvSpPr/>
          <p:nvPr/>
        </p:nvSpPr>
        <p:spPr>
          <a:xfrm>
            <a:off x="548640" y="5029200"/>
            <a:ext cx="11091672" cy="548640"/>
          </a:xfrm>
          <a:prstGeom prst="roundRect">
            <a:avLst>
              <a:gd name="adj" fmla="val 8000"/>
            </a:avLst>
          </a:prstGeom>
          <a:solidFill>
            <a:srgbClr val="222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5029200"/>
            <a:ext cx="10789920" cy="548640"/>
          </a:xfrm>
          <a:prstGeom prst="rect">
            <a:avLst/>
          </a:prstGeom>
          <a:noFill/>
        </p:spPr>
        <p:txBody>
          <a:bodyPr wrap="square" anchor="ctr" lIns="0" rIns="0" tIns="0" bIns="0">
            <a:spAutoFit/>
          </a:bodyPr>
          <a:lstStyle/>
          <a:p>
            <a:pPr algn="l">
              <a:lnSpc>
                <a:spcPct val="105000"/>
              </a:lnSpc>
              <a:spcBef>
                <a:spcPts val="0"/>
              </a:spcBef>
              <a:spcAft>
                <a:spcPts val="600"/>
              </a:spcAft>
            </a:pPr>
            <a:r>
              <a:rPr sz="1150" b="1" i="0">
                <a:solidFill>
                  <a:srgbClr val="8FD3CC"/>
                </a:solidFill>
                <a:latin typeface="Calibri"/>
              </a:rPr>
              <a:t>Across everything:  </a:t>
            </a:r>
            <a:r>
              <a:rPr sz="1100" b="0" i="0">
                <a:solidFill>
                  <a:srgbClr val="FFFFFF"/>
                </a:solidFill>
                <a:latin typeface="Calibri"/>
              </a:rPr>
              <a:t>Security &amp; governance (Entra ID · Key Vault · Content Safety · Purview · Defender)   ·   Observability (Azure Monitor · App Insights)   ·   CI/CD (Azure DevOps / GitHub Actions)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10896"/>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COMPONENT CATALOG</a:t>
            </a:r>
          </a:p>
        </p:txBody>
      </p:sp>
      <p:sp>
        <p:nvSpPr>
          <p:cNvPr id="4" name="TextBox 3"/>
          <p:cNvSpPr txBox="1"/>
          <p:nvPr/>
        </p:nvSpPr>
        <p:spPr>
          <a:xfrm>
            <a:off x="640080" y="530352"/>
            <a:ext cx="10881360" cy="640080"/>
          </a:xfrm>
          <a:prstGeom prst="rect">
            <a:avLst/>
          </a:prstGeom>
          <a:noFill/>
        </p:spPr>
        <p:txBody>
          <a:bodyPr wrap="square" anchor="t" lIns="0" rIns="0" tIns="0" bIns="0">
            <a:spAutoFit/>
          </a:bodyPr>
          <a:lstStyle/>
          <a:p>
            <a:pPr algn="l">
              <a:lnSpc>
                <a:spcPct val="105000"/>
              </a:lnSpc>
              <a:spcBef>
                <a:spcPts val="0"/>
              </a:spcBef>
              <a:spcAft>
                <a:spcPts val="600"/>
              </a:spcAft>
            </a:pPr>
            <a:r>
              <a:rPr sz="2500" b="1" i="0">
                <a:solidFill>
                  <a:srgbClr val="1F3A5F"/>
                </a:solidFill>
                <a:latin typeface="Calibri"/>
              </a:rPr>
              <a:t>The reusable building blocks (build once, reuse everywhere)</a:t>
            </a:r>
          </a:p>
        </p:txBody>
      </p:sp>
      <p:sp>
        <p:nvSpPr>
          <p:cNvPr id="5" name="Rectangle 4"/>
          <p:cNvSpPr/>
          <p:nvPr/>
        </p:nvSpPr>
        <p:spPr>
          <a:xfrm>
            <a:off x="658368" y="1115568"/>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55664"/>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4</a:t>
            </a:r>
          </a:p>
        </p:txBody>
      </p:sp>
      <p:sp>
        <p:nvSpPr>
          <p:cNvPr id="7" name="TextBox 6"/>
          <p:cNvSpPr txBox="1"/>
          <p:nvPr/>
        </p:nvSpPr>
        <p:spPr>
          <a:xfrm>
            <a:off x="640080" y="6455664"/>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Enterprise LLMOps on Azure — technical overview</a:t>
            </a:r>
          </a:p>
        </p:txBody>
      </p:sp>
      <p:sp>
        <p:nvSpPr>
          <p:cNvPr id="8" name="Rounded Rectangle 7"/>
          <p:cNvSpPr/>
          <p:nvPr/>
        </p:nvSpPr>
        <p:spPr>
          <a:xfrm>
            <a:off x="548640" y="1417320"/>
            <a:ext cx="2084831" cy="457200"/>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150" b="1">
                <a:solidFill>
                  <a:srgbClr val="FFFFFF"/>
                </a:solidFill>
                <a:latin typeface="Calibri"/>
              </a:rPr>
              <a:t>Agents &amp; orchestration</a:t>
            </a:r>
          </a:p>
        </p:txBody>
      </p:sp>
      <p:sp>
        <p:nvSpPr>
          <p:cNvPr id="9" name="Rounded Rectangle 8"/>
          <p:cNvSpPr/>
          <p:nvPr/>
        </p:nvSpPr>
        <p:spPr>
          <a:xfrm>
            <a:off x="548640" y="1984248"/>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Orchestration engine</a:t>
            </a:r>
          </a:p>
          <a:p>
            <a:pPr algn="ctr">
              <a:lnSpc>
                <a:spcPct val="100000"/>
              </a:lnSpc>
              <a:spcAft>
                <a:spcPts val="100"/>
              </a:spcAft>
            </a:pPr>
            <a:r>
              <a:rPr sz="850" b="0">
                <a:solidFill>
                  <a:srgbClr val="6B7480"/>
                </a:solidFill>
                <a:latin typeface="Calibri"/>
              </a:rPr>
              <a:t>Foundry Agent Service</a:t>
            </a:r>
          </a:p>
        </p:txBody>
      </p:sp>
      <p:sp>
        <p:nvSpPr>
          <p:cNvPr id="10" name="Rounded Rectangle 9"/>
          <p:cNvSpPr/>
          <p:nvPr/>
        </p:nvSpPr>
        <p:spPr>
          <a:xfrm>
            <a:off x="548640" y="2551176"/>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Agent registry</a:t>
            </a:r>
          </a:p>
          <a:p>
            <a:pPr algn="ctr">
              <a:lnSpc>
                <a:spcPct val="100000"/>
              </a:lnSpc>
              <a:spcAft>
                <a:spcPts val="100"/>
              </a:spcAft>
            </a:pPr>
            <a:r>
              <a:rPr sz="850" b="0">
                <a:solidFill>
                  <a:srgbClr val="6B7480"/>
                </a:solidFill>
                <a:latin typeface="Calibri"/>
              </a:rPr>
              <a:t>versioned agents</a:t>
            </a:r>
          </a:p>
        </p:txBody>
      </p:sp>
      <p:sp>
        <p:nvSpPr>
          <p:cNvPr id="11" name="Rounded Rectangle 10"/>
          <p:cNvSpPr/>
          <p:nvPr/>
        </p:nvSpPr>
        <p:spPr>
          <a:xfrm>
            <a:off x="548640" y="3118104"/>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Orchestration patterns</a:t>
            </a:r>
          </a:p>
          <a:p>
            <a:pPr algn="ctr">
              <a:lnSpc>
                <a:spcPct val="100000"/>
              </a:lnSpc>
              <a:spcAft>
                <a:spcPts val="100"/>
              </a:spcAft>
            </a:pPr>
            <a:r>
              <a:rPr sz="850" b="0">
                <a:solidFill>
                  <a:srgbClr val="6B7480"/>
                </a:solidFill>
                <a:latin typeface="Calibri"/>
              </a:rPr>
              <a:t>Agent Framework</a:t>
            </a:r>
          </a:p>
        </p:txBody>
      </p:sp>
      <p:sp>
        <p:nvSpPr>
          <p:cNvPr id="12" name="Rounded Rectangle 11"/>
          <p:cNvSpPr/>
          <p:nvPr/>
        </p:nvSpPr>
        <p:spPr>
          <a:xfrm>
            <a:off x="548640" y="3685032"/>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Tool registry (MCP)</a:t>
            </a:r>
          </a:p>
          <a:p>
            <a:pPr algn="ctr">
              <a:lnSpc>
                <a:spcPct val="100000"/>
              </a:lnSpc>
              <a:spcAft>
                <a:spcPts val="100"/>
              </a:spcAft>
            </a:pPr>
            <a:r>
              <a:rPr sz="850" b="0">
                <a:solidFill>
                  <a:srgbClr val="6B7480"/>
                </a:solidFill>
                <a:latin typeface="Calibri"/>
              </a:rPr>
              <a:t>reusable connectors</a:t>
            </a:r>
          </a:p>
        </p:txBody>
      </p:sp>
      <p:sp>
        <p:nvSpPr>
          <p:cNvPr id="13" name="Rounded Rectangle 12"/>
          <p:cNvSpPr/>
          <p:nvPr/>
        </p:nvSpPr>
        <p:spPr>
          <a:xfrm>
            <a:off x="548640" y="4251960"/>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Agent-to-agent (A2A)</a:t>
            </a:r>
          </a:p>
          <a:p>
            <a:pPr algn="ctr">
              <a:lnSpc>
                <a:spcPct val="100000"/>
              </a:lnSpc>
              <a:spcAft>
                <a:spcPts val="100"/>
              </a:spcAft>
            </a:pPr>
            <a:r>
              <a:rPr sz="850" b="0">
                <a:solidFill>
                  <a:srgbClr val="6B7480"/>
                </a:solidFill>
                <a:latin typeface="Calibri"/>
              </a:rPr>
              <a:t>cross-agent calls</a:t>
            </a:r>
          </a:p>
        </p:txBody>
      </p:sp>
      <p:sp>
        <p:nvSpPr>
          <p:cNvPr id="14" name="Rounded Rectangle 13"/>
          <p:cNvSpPr/>
          <p:nvPr/>
        </p:nvSpPr>
        <p:spPr>
          <a:xfrm>
            <a:off x="548640" y="4818888"/>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Memory &amp; state</a:t>
            </a:r>
          </a:p>
          <a:p>
            <a:pPr algn="ctr">
              <a:lnSpc>
                <a:spcPct val="100000"/>
              </a:lnSpc>
              <a:spcAft>
                <a:spcPts val="100"/>
              </a:spcAft>
            </a:pPr>
            <a:r>
              <a:rPr sz="850" b="0">
                <a:solidFill>
                  <a:srgbClr val="6B7480"/>
                </a:solidFill>
                <a:latin typeface="Calibri"/>
              </a:rPr>
              <a:t>Azure Cosmos DB</a:t>
            </a:r>
          </a:p>
        </p:txBody>
      </p:sp>
      <p:sp>
        <p:nvSpPr>
          <p:cNvPr id="15" name="Rounded Rectangle 14"/>
          <p:cNvSpPr/>
          <p:nvPr/>
        </p:nvSpPr>
        <p:spPr>
          <a:xfrm>
            <a:off x="548640" y="5385816"/>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Durable workflows</a:t>
            </a:r>
          </a:p>
          <a:p>
            <a:pPr algn="ctr">
              <a:lnSpc>
                <a:spcPct val="100000"/>
              </a:lnSpc>
              <a:spcAft>
                <a:spcPts val="100"/>
              </a:spcAft>
            </a:pPr>
            <a:r>
              <a:rPr sz="850" b="0">
                <a:solidFill>
                  <a:srgbClr val="6B7480"/>
                </a:solidFill>
                <a:latin typeface="Calibri"/>
              </a:rPr>
              <a:t>pause / resume</a:t>
            </a:r>
          </a:p>
        </p:txBody>
      </p:sp>
      <p:sp>
        <p:nvSpPr>
          <p:cNvPr id="16" name="Rounded Rectangle 15"/>
          <p:cNvSpPr/>
          <p:nvPr/>
        </p:nvSpPr>
        <p:spPr>
          <a:xfrm>
            <a:off x="2743200" y="1417320"/>
            <a:ext cx="2084831" cy="45720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150" b="1">
                <a:solidFill>
                  <a:srgbClr val="FFFFFF"/>
                </a:solidFill>
                <a:latin typeface="Calibri"/>
              </a:rPr>
              <a:t>Knowledge &amp; data</a:t>
            </a:r>
          </a:p>
        </p:txBody>
      </p:sp>
      <p:sp>
        <p:nvSpPr>
          <p:cNvPr id="17" name="Rounded Rectangle 16"/>
          <p:cNvSpPr/>
          <p:nvPr/>
        </p:nvSpPr>
        <p:spPr>
          <a:xfrm>
            <a:off x="2743200" y="1984248"/>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RAG search</a:t>
            </a:r>
          </a:p>
          <a:p>
            <a:pPr algn="ctr">
              <a:lnSpc>
                <a:spcPct val="100000"/>
              </a:lnSpc>
              <a:spcAft>
                <a:spcPts val="100"/>
              </a:spcAft>
            </a:pPr>
            <a:r>
              <a:rPr sz="850" b="0">
                <a:solidFill>
                  <a:srgbClr val="6B7480"/>
                </a:solidFill>
                <a:latin typeface="Calibri"/>
              </a:rPr>
              <a:t>Azure AI Search</a:t>
            </a:r>
          </a:p>
        </p:txBody>
      </p:sp>
      <p:sp>
        <p:nvSpPr>
          <p:cNvPr id="18" name="Rounded Rectangle 17"/>
          <p:cNvSpPr/>
          <p:nvPr/>
        </p:nvSpPr>
        <p:spPr>
          <a:xfrm>
            <a:off x="2743200" y="2551176"/>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Document ingestion</a:t>
            </a:r>
          </a:p>
          <a:p>
            <a:pPr algn="ctr">
              <a:lnSpc>
                <a:spcPct val="100000"/>
              </a:lnSpc>
              <a:spcAft>
                <a:spcPts val="100"/>
              </a:spcAft>
            </a:pPr>
            <a:r>
              <a:rPr sz="850" b="0">
                <a:solidFill>
                  <a:srgbClr val="6B7480"/>
                </a:solidFill>
                <a:latin typeface="Calibri"/>
              </a:rPr>
              <a:t>Document Intelligence</a:t>
            </a:r>
          </a:p>
        </p:txBody>
      </p:sp>
      <p:sp>
        <p:nvSpPr>
          <p:cNvPr id="19" name="Rounded Rectangle 18"/>
          <p:cNvSpPr/>
          <p:nvPr/>
        </p:nvSpPr>
        <p:spPr>
          <a:xfrm>
            <a:off x="2743200" y="3118104"/>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Embeddings &amp; vectorize</a:t>
            </a:r>
          </a:p>
          <a:p>
            <a:pPr algn="ctr">
              <a:lnSpc>
                <a:spcPct val="100000"/>
              </a:lnSpc>
              <a:spcAft>
                <a:spcPts val="100"/>
              </a:spcAft>
            </a:pPr>
            <a:r>
              <a:rPr sz="850" b="0">
                <a:solidFill>
                  <a:srgbClr val="6B7480"/>
                </a:solidFill>
                <a:latin typeface="Calibri"/>
              </a:rPr>
              <a:t>Azure OpenAI</a:t>
            </a:r>
          </a:p>
        </p:txBody>
      </p:sp>
      <p:sp>
        <p:nvSpPr>
          <p:cNvPr id="20" name="Rounded Rectangle 19"/>
          <p:cNvSpPr/>
          <p:nvPr/>
        </p:nvSpPr>
        <p:spPr>
          <a:xfrm>
            <a:off x="2743200" y="3685032"/>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Data platform</a:t>
            </a:r>
          </a:p>
          <a:p>
            <a:pPr algn="ctr">
              <a:lnSpc>
                <a:spcPct val="100000"/>
              </a:lnSpc>
              <a:spcAft>
                <a:spcPts val="100"/>
              </a:spcAft>
            </a:pPr>
            <a:r>
              <a:rPr sz="850" b="0">
                <a:solidFill>
                  <a:srgbClr val="6B7480"/>
                </a:solidFill>
                <a:latin typeface="Calibri"/>
              </a:rPr>
              <a:t>Fabric / OneLake</a:t>
            </a:r>
          </a:p>
        </p:txBody>
      </p:sp>
      <p:sp>
        <p:nvSpPr>
          <p:cNvPr id="21" name="Rounded Rectangle 20"/>
          <p:cNvSpPr/>
          <p:nvPr/>
        </p:nvSpPr>
        <p:spPr>
          <a:xfrm>
            <a:off x="2743200" y="4251960"/>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Caching layer</a:t>
            </a:r>
          </a:p>
          <a:p>
            <a:pPr algn="ctr">
              <a:lnSpc>
                <a:spcPct val="100000"/>
              </a:lnSpc>
              <a:spcAft>
                <a:spcPts val="100"/>
              </a:spcAft>
            </a:pPr>
            <a:r>
              <a:rPr sz="850" b="0">
                <a:solidFill>
                  <a:srgbClr val="6B7480"/>
                </a:solidFill>
                <a:latin typeface="Calibri"/>
              </a:rPr>
              <a:t>cuts model cost</a:t>
            </a:r>
          </a:p>
        </p:txBody>
      </p:sp>
      <p:sp>
        <p:nvSpPr>
          <p:cNvPr id="22" name="Rounded Rectangle 21"/>
          <p:cNvSpPr/>
          <p:nvPr/>
        </p:nvSpPr>
        <p:spPr>
          <a:xfrm>
            <a:off x="4937760" y="1417320"/>
            <a:ext cx="2084831" cy="457200"/>
          </a:xfrm>
          <a:prstGeom prst="roundRect">
            <a:avLst>
              <a:gd name="adj" fmla="val 8000"/>
            </a:avLst>
          </a:prstGeom>
          <a:solidFill>
            <a:srgbClr val="2F5C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150" b="1">
                <a:solidFill>
                  <a:srgbClr val="FFFFFF"/>
                </a:solidFill>
                <a:latin typeface="Calibri"/>
              </a:rPr>
              <a:t>Models &amp; prompts</a:t>
            </a:r>
          </a:p>
        </p:txBody>
      </p:sp>
      <p:sp>
        <p:nvSpPr>
          <p:cNvPr id="23" name="Rounded Rectangle 22"/>
          <p:cNvSpPr/>
          <p:nvPr/>
        </p:nvSpPr>
        <p:spPr>
          <a:xfrm>
            <a:off x="4937760" y="1984248"/>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Model gateway</a:t>
            </a:r>
          </a:p>
          <a:p>
            <a:pPr algn="ctr">
              <a:lnSpc>
                <a:spcPct val="100000"/>
              </a:lnSpc>
              <a:spcAft>
                <a:spcPts val="100"/>
              </a:spcAft>
            </a:pPr>
            <a:r>
              <a:rPr sz="850" b="0">
                <a:solidFill>
                  <a:srgbClr val="6B7480"/>
                </a:solidFill>
                <a:latin typeface="Calibri"/>
              </a:rPr>
              <a:t>API Management</a:t>
            </a:r>
          </a:p>
        </p:txBody>
      </p:sp>
      <p:sp>
        <p:nvSpPr>
          <p:cNvPr id="24" name="Rounded Rectangle 23"/>
          <p:cNvSpPr/>
          <p:nvPr/>
        </p:nvSpPr>
        <p:spPr>
          <a:xfrm>
            <a:off x="4937760" y="2551176"/>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Model catalog + Router</a:t>
            </a:r>
          </a:p>
          <a:p>
            <a:pPr algn="ctr">
              <a:lnSpc>
                <a:spcPct val="100000"/>
              </a:lnSpc>
              <a:spcAft>
                <a:spcPts val="100"/>
              </a:spcAft>
            </a:pPr>
            <a:r>
              <a:rPr sz="850" b="0">
                <a:solidFill>
                  <a:srgbClr val="6B7480"/>
                </a:solidFill>
                <a:latin typeface="Calibri"/>
              </a:rPr>
              <a:t>cost / quality</a:t>
            </a:r>
          </a:p>
        </p:txBody>
      </p:sp>
      <p:sp>
        <p:nvSpPr>
          <p:cNvPr id="25" name="Rounded Rectangle 24"/>
          <p:cNvSpPr/>
          <p:nvPr/>
        </p:nvSpPr>
        <p:spPr>
          <a:xfrm>
            <a:off x="4937760" y="3118104"/>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Prompt library</a:t>
            </a:r>
          </a:p>
          <a:p>
            <a:pPr algn="ctr">
              <a:lnSpc>
                <a:spcPct val="100000"/>
              </a:lnSpc>
              <a:spcAft>
                <a:spcPts val="100"/>
              </a:spcAft>
            </a:pPr>
            <a:r>
              <a:rPr sz="850" b="0">
                <a:solidFill>
                  <a:srgbClr val="6B7480"/>
                </a:solidFill>
                <a:latin typeface="Calibri"/>
              </a:rPr>
              <a:t>versioned prompts</a:t>
            </a:r>
          </a:p>
        </p:txBody>
      </p:sp>
      <p:sp>
        <p:nvSpPr>
          <p:cNvPr id="26" name="Rounded Rectangle 25"/>
          <p:cNvSpPr/>
          <p:nvPr/>
        </p:nvSpPr>
        <p:spPr>
          <a:xfrm>
            <a:off x="7132320" y="1417320"/>
            <a:ext cx="2084831" cy="457200"/>
          </a:xfrm>
          <a:prstGeom prst="roundRect">
            <a:avLst>
              <a:gd name="adj" fmla="val 8000"/>
            </a:avLst>
          </a:prstGeom>
          <a:solidFill>
            <a:srgbClr val="516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150" b="1">
                <a:solidFill>
                  <a:srgbClr val="FFFFFF"/>
                </a:solidFill>
                <a:latin typeface="Calibri"/>
              </a:rPr>
              <a:t>Quality &amp; safety</a:t>
            </a:r>
          </a:p>
        </p:txBody>
      </p:sp>
      <p:sp>
        <p:nvSpPr>
          <p:cNvPr id="27" name="Rounded Rectangle 26"/>
          <p:cNvSpPr/>
          <p:nvPr/>
        </p:nvSpPr>
        <p:spPr>
          <a:xfrm>
            <a:off x="7132320" y="1984248"/>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Guardrails</a:t>
            </a:r>
          </a:p>
          <a:p>
            <a:pPr algn="ctr">
              <a:lnSpc>
                <a:spcPct val="100000"/>
              </a:lnSpc>
              <a:spcAft>
                <a:spcPts val="100"/>
              </a:spcAft>
            </a:pPr>
            <a:r>
              <a:rPr sz="850" b="0">
                <a:solidFill>
                  <a:srgbClr val="6B7480"/>
                </a:solidFill>
                <a:latin typeface="Calibri"/>
              </a:rPr>
              <a:t>Content Safety</a:t>
            </a:r>
          </a:p>
        </p:txBody>
      </p:sp>
      <p:sp>
        <p:nvSpPr>
          <p:cNvPr id="28" name="Rounded Rectangle 27"/>
          <p:cNvSpPr/>
          <p:nvPr/>
        </p:nvSpPr>
        <p:spPr>
          <a:xfrm>
            <a:off x="7132320" y="2551176"/>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Evaluation service</a:t>
            </a:r>
          </a:p>
          <a:p>
            <a:pPr algn="ctr">
              <a:lnSpc>
                <a:spcPct val="100000"/>
              </a:lnSpc>
              <a:spcAft>
                <a:spcPts val="100"/>
              </a:spcAft>
            </a:pPr>
            <a:r>
              <a:rPr sz="850" b="0">
                <a:solidFill>
                  <a:srgbClr val="6B7480"/>
                </a:solidFill>
                <a:latin typeface="Calibri"/>
              </a:rPr>
              <a:t>Foundry evaluations</a:t>
            </a:r>
          </a:p>
        </p:txBody>
      </p:sp>
      <p:sp>
        <p:nvSpPr>
          <p:cNvPr id="29" name="Rounded Rectangle 28"/>
          <p:cNvSpPr/>
          <p:nvPr/>
        </p:nvSpPr>
        <p:spPr>
          <a:xfrm>
            <a:off x="7132320" y="3118104"/>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Human-in-the-loop</a:t>
            </a:r>
          </a:p>
          <a:p>
            <a:pPr algn="ctr">
              <a:lnSpc>
                <a:spcPct val="100000"/>
              </a:lnSpc>
              <a:spcAft>
                <a:spcPts val="100"/>
              </a:spcAft>
            </a:pPr>
            <a:r>
              <a:rPr sz="850" b="0">
                <a:solidFill>
                  <a:srgbClr val="6B7480"/>
                </a:solidFill>
                <a:latin typeface="Calibri"/>
              </a:rPr>
              <a:t>approvals</a:t>
            </a:r>
          </a:p>
        </p:txBody>
      </p:sp>
      <p:sp>
        <p:nvSpPr>
          <p:cNvPr id="30" name="Rounded Rectangle 29"/>
          <p:cNvSpPr/>
          <p:nvPr/>
        </p:nvSpPr>
        <p:spPr>
          <a:xfrm>
            <a:off x="7132320" y="3685032"/>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Feedback flywheel</a:t>
            </a:r>
          </a:p>
          <a:p>
            <a:pPr algn="ctr">
              <a:lnSpc>
                <a:spcPct val="100000"/>
              </a:lnSpc>
              <a:spcAft>
                <a:spcPts val="100"/>
              </a:spcAft>
            </a:pPr>
            <a:r>
              <a:rPr sz="850" b="0">
                <a:solidFill>
                  <a:srgbClr val="6B7480"/>
                </a:solidFill>
                <a:latin typeface="Calibri"/>
              </a:rPr>
              <a:t>real use → tests</a:t>
            </a:r>
          </a:p>
        </p:txBody>
      </p:sp>
      <p:sp>
        <p:nvSpPr>
          <p:cNvPr id="31" name="Rounded Rectangle 30"/>
          <p:cNvSpPr/>
          <p:nvPr/>
        </p:nvSpPr>
        <p:spPr>
          <a:xfrm>
            <a:off x="9326880" y="1417320"/>
            <a:ext cx="2084831" cy="457200"/>
          </a:xfrm>
          <a:prstGeom prst="roundRect">
            <a:avLst>
              <a:gd name="adj" fmla="val 8000"/>
            </a:avLst>
          </a:prstGeom>
          <a:solidFill>
            <a:srgbClr val="2E7D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150" b="1">
                <a:solidFill>
                  <a:srgbClr val="FFFFFF"/>
                </a:solidFill>
                <a:latin typeface="Calibri"/>
              </a:rPr>
              <a:t>Run &amp; govern</a:t>
            </a:r>
          </a:p>
        </p:txBody>
      </p:sp>
      <p:sp>
        <p:nvSpPr>
          <p:cNvPr id="32" name="Rounded Rectangle 31"/>
          <p:cNvSpPr/>
          <p:nvPr/>
        </p:nvSpPr>
        <p:spPr>
          <a:xfrm>
            <a:off x="9326880" y="1984248"/>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Observability</a:t>
            </a:r>
          </a:p>
          <a:p>
            <a:pPr algn="ctr">
              <a:lnSpc>
                <a:spcPct val="100000"/>
              </a:lnSpc>
              <a:spcAft>
                <a:spcPts val="100"/>
              </a:spcAft>
            </a:pPr>
            <a:r>
              <a:rPr sz="850" b="0">
                <a:solidFill>
                  <a:srgbClr val="6B7480"/>
                </a:solidFill>
                <a:latin typeface="Calibri"/>
              </a:rPr>
              <a:t>Monitor · OpenTelemetry</a:t>
            </a:r>
          </a:p>
        </p:txBody>
      </p:sp>
      <p:sp>
        <p:nvSpPr>
          <p:cNvPr id="33" name="Rounded Rectangle 32"/>
          <p:cNvSpPr/>
          <p:nvPr/>
        </p:nvSpPr>
        <p:spPr>
          <a:xfrm>
            <a:off x="9326880" y="2551176"/>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FinOps / cost metering</a:t>
            </a:r>
          </a:p>
          <a:p>
            <a:pPr algn="ctr">
              <a:lnSpc>
                <a:spcPct val="100000"/>
              </a:lnSpc>
              <a:spcAft>
                <a:spcPts val="100"/>
              </a:spcAft>
            </a:pPr>
            <a:r>
              <a:rPr sz="850" b="0">
                <a:solidFill>
                  <a:srgbClr val="6B7480"/>
                </a:solidFill>
                <a:latin typeface="Calibri"/>
              </a:rPr>
              <a:t>budgets · showback</a:t>
            </a:r>
          </a:p>
        </p:txBody>
      </p:sp>
      <p:sp>
        <p:nvSpPr>
          <p:cNvPr id="34" name="Rounded Rectangle 33"/>
          <p:cNvSpPr/>
          <p:nvPr/>
        </p:nvSpPr>
        <p:spPr>
          <a:xfrm>
            <a:off x="9326880" y="3118104"/>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CI/CD pipeline</a:t>
            </a:r>
          </a:p>
          <a:p>
            <a:pPr algn="ctr">
              <a:lnSpc>
                <a:spcPct val="100000"/>
              </a:lnSpc>
              <a:spcAft>
                <a:spcPts val="100"/>
              </a:spcAft>
            </a:pPr>
            <a:r>
              <a:rPr sz="850" b="0">
                <a:solidFill>
                  <a:srgbClr val="6B7480"/>
                </a:solidFill>
                <a:latin typeface="Calibri"/>
              </a:rPr>
              <a:t>DevOps / GitHub</a:t>
            </a:r>
          </a:p>
        </p:txBody>
      </p:sp>
      <p:sp>
        <p:nvSpPr>
          <p:cNvPr id="35" name="Rounded Rectangle 34"/>
          <p:cNvSpPr/>
          <p:nvPr/>
        </p:nvSpPr>
        <p:spPr>
          <a:xfrm>
            <a:off x="9326880" y="3685032"/>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Security &amp; identity</a:t>
            </a:r>
          </a:p>
          <a:p>
            <a:pPr algn="ctr">
              <a:lnSpc>
                <a:spcPct val="100000"/>
              </a:lnSpc>
              <a:spcAft>
                <a:spcPts val="100"/>
              </a:spcAft>
            </a:pPr>
            <a:r>
              <a:rPr sz="850" b="0">
                <a:solidFill>
                  <a:srgbClr val="6B7480"/>
                </a:solidFill>
                <a:latin typeface="Calibri"/>
              </a:rPr>
              <a:t>Entra ID · Key Vault</a:t>
            </a:r>
          </a:p>
        </p:txBody>
      </p:sp>
      <p:sp>
        <p:nvSpPr>
          <p:cNvPr id="36" name="Rounded Rectangle 35"/>
          <p:cNvSpPr/>
          <p:nvPr/>
        </p:nvSpPr>
        <p:spPr>
          <a:xfrm>
            <a:off x="9326880" y="4251960"/>
            <a:ext cx="2084831" cy="512064"/>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050" b="1">
                <a:solidFill>
                  <a:srgbClr val="1F3A5F"/>
                </a:solidFill>
                <a:latin typeface="Calibri"/>
              </a:rPr>
              <a:t>Environments / IaC</a:t>
            </a:r>
          </a:p>
          <a:p>
            <a:pPr algn="ctr">
              <a:lnSpc>
                <a:spcPct val="100000"/>
              </a:lnSpc>
              <a:spcAft>
                <a:spcPts val="100"/>
              </a:spcAft>
            </a:pPr>
            <a:r>
              <a:rPr sz="850" b="0">
                <a:solidFill>
                  <a:srgbClr val="6B7480"/>
                </a:solidFill>
                <a:latin typeface="Calibri"/>
              </a:rPr>
              <a:t>dev · test · prod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10896"/>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THE CORE</a:t>
            </a:r>
          </a:p>
        </p:txBody>
      </p:sp>
      <p:sp>
        <p:nvSpPr>
          <p:cNvPr id="4" name="TextBox 3"/>
          <p:cNvSpPr txBox="1"/>
          <p:nvPr/>
        </p:nvSpPr>
        <p:spPr>
          <a:xfrm>
            <a:off x="640080" y="530352"/>
            <a:ext cx="10881360" cy="640080"/>
          </a:xfrm>
          <a:prstGeom prst="rect">
            <a:avLst/>
          </a:prstGeom>
          <a:noFill/>
        </p:spPr>
        <p:txBody>
          <a:bodyPr wrap="square" anchor="t" lIns="0" rIns="0" tIns="0" bIns="0">
            <a:spAutoFit/>
          </a:bodyPr>
          <a:lstStyle/>
          <a:p>
            <a:pPr algn="l">
              <a:lnSpc>
                <a:spcPct val="105000"/>
              </a:lnSpc>
              <a:spcBef>
                <a:spcPts val="0"/>
              </a:spcBef>
              <a:spcAft>
                <a:spcPts val="600"/>
              </a:spcAft>
            </a:pPr>
            <a:r>
              <a:rPr sz="2500" b="1" i="0">
                <a:solidFill>
                  <a:srgbClr val="1F3A5F"/>
                </a:solidFill>
                <a:latin typeface="Calibri"/>
              </a:rPr>
              <a:t>Enterprise multi-agent orchestration</a:t>
            </a:r>
          </a:p>
        </p:txBody>
      </p:sp>
      <p:sp>
        <p:nvSpPr>
          <p:cNvPr id="5" name="Rectangle 4"/>
          <p:cNvSpPr/>
          <p:nvPr/>
        </p:nvSpPr>
        <p:spPr>
          <a:xfrm>
            <a:off x="658368" y="1115568"/>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55664"/>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5</a:t>
            </a:r>
          </a:p>
        </p:txBody>
      </p:sp>
      <p:sp>
        <p:nvSpPr>
          <p:cNvPr id="7" name="TextBox 6"/>
          <p:cNvSpPr txBox="1"/>
          <p:nvPr/>
        </p:nvSpPr>
        <p:spPr>
          <a:xfrm>
            <a:off x="640080" y="6455664"/>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Enterprise LLMOps on Azure — technical overview</a:t>
            </a:r>
          </a:p>
        </p:txBody>
      </p:sp>
      <p:sp>
        <p:nvSpPr>
          <p:cNvPr id="8" name="TextBox 7"/>
          <p:cNvSpPr txBox="1"/>
          <p:nvPr/>
        </p:nvSpPr>
        <p:spPr>
          <a:xfrm>
            <a:off x="640080" y="1207008"/>
            <a:ext cx="10881360" cy="310896"/>
          </a:xfrm>
          <a:prstGeom prst="rect">
            <a:avLst/>
          </a:prstGeom>
          <a:noFill/>
        </p:spPr>
        <p:txBody>
          <a:bodyPr wrap="square" anchor="t" lIns="0" rIns="0" tIns="0" bIns="0">
            <a:spAutoFit/>
          </a:bodyPr>
          <a:lstStyle/>
          <a:p>
            <a:pPr algn="l">
              <a:lnSpc>
                <a:spcPct val="105000"/>
              </a:lnSpc>
              <a:spcBef>
                <a:spcPts val="0"/>
              </a:spcBef>
              <a:spcAft>
                <a:spcPts val="600"/>
              </a:spcAft>
            </a:pPr>
            <a:r>
              <a:rPr sz="1300" b="0" i="1">
                <a:solidFill>
                  <a:srgbClr val="3C4654"/>
                </a:solidFill>
                <a:latin typeface="Calibri"/>
              </a:rPr>
              <a:t>An orchestrator coordinates focused agents. It uses shared memory and tools, and every step is guarded and logged.</a:t>
            </a:r>
          </a:p>
        </p:txBody>
      </p:sp>
      <p:sp>
        <p:nvSpPr>
          <p:cNvPr id="9" name="Rounded Rectangle 8"/>
          <p:cNvSpPr/>
          <p:nvPr/>
        </p:nvSpPr>
        <p:spPr>
          <a:xfrm>
            <a:off x="4892040" y="1691640"/>
            <a:ext cx="2423160" cy="868680"/>
          </a:xfrm>
          <a:prstGeom prst="roundRect">
            <a:avLst>
              <a:gd name="adj" fmla="val 8000"/>
            </a:avLst>
          </a:prstGeom>
          <a:solidFill>
            <a:srgbClr val="1F3A5F"/>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FFFFFF"/>
                </a:solidFill>
                <a:latin typeface="Calibri"/>
              </a:rPr>
              <a:t>Orchestrator</a:t>
            </a:r>
          </a:p>
          <a:p>
            <a:pPr algn="ctr">
              <a:lnSpc>
                <a:spcPct val="100000"/>
              </a:lnSpc>
              <a:spcAft>
                <a:spcPts val="100"/>
              </a:spcAft>
            </a:pPr>
            <a:r>
              <a:rPr sz="1000" b="0">
                <a:solidFill>
                  <a:srgbClr val="AEC6DE"/>
                </a:solidFill>
                <a:latin typeface="Calibri"/>
              </a:rPr>
              <a:t>Foundry Agent Service</a:t>
            </a:r>
          </a:p>
        </p:txBody>
      </p:sp>
      <p:sp>
        <p:nvSpPr>
          <p:cNvPr id="10" name="Rounded Rectangle 9"/>
          <p:cNvSpPr/>
          <p:nvPr/>
        </p:nvSpPr>
        <p:spPr>
          <a:xfrm>
            <a:off x="640080" y="1691640"/>
            <a:ext cx="2468880" cy="86868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Memory</a:t>
            </a:r>
          </a:p>
          <a:p>
            <a:pPr algn="ctr">
              <a:lnSpc>
                <a:spcPct val="100000"/>
              </a:lnSpc>
              <a:spcAft>
                <a:spcPts val="100"/>
              </a:spcAft>
            </a:pPr>
            <a:r>
              <a:rPr sz="1000" b="0">
                <a:solidFill>
                  <a:srgbClr val="3C4654"/>
                </a:solidFill>
                <a:latin typeface="Calibri"/>
              </a:rPr>
              <a:t>session · user · procedural (Cosmos DB)</a:t>
            </a:r>
          </a:p>
        </p:txBody>
      </p:sp>
      <p:sp>
        <p:nvSpPr>
          <p:cNvPr id="11" name="Rounded Rectangle 10"/>
          <p:cNvSpPr/>
          <p:nvPr/>
        </p:nvSpPr>
        <p:spPr>
          <a:xfrm>
            <a:off x="9098280" y="1691640"/>
            <a:ext cx="2514600" cy="86868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Tools &amp; interop</a:t>
            </a:r>
          </a:p>
          <a:p>
            <a:pPr algn="ctr">
              <a:lnSpc>
                <a:spcPct val="100000"/>
              </a:lnSpc>
              <a:spcAft>
                <a:spcPts val="100"/>
              </a:spcAft>
            </a:pPr>
            <a:r>
              <a:rPr sz="1000" b="0">
                <a:solidFill>
                  <a:srgbClr val="3C4654"/>
                </a:solidFill>
                <a:latin typeface="Calibri"/>
              </a:rPr>
              <a:t>MCP tools + A2A agents</a:t>
            </a:r>
          </a:p>
        </p:txBody>
      </p:sp>
      <p:cxnSp>
        <p:nvCxnSpPr>
          <p:cNvPr id="12" name="Connector 11"/>
          <p:cNvCxnSpPr/>
          <p:nvPr/>
        </p:nvCxnSpPr>
        <p:spPr>
          <a:xfrm>
            <a:off x="3108960" y="2121408"/>
            <a:ext cx="1783080" cy="0"/>
          </a:xfrm>
          <a:prstGeom prst="line">
            <a:avLst/>
          </a:prstGeom>
          <a:ln w="17780">
            <a:solidFill>
              <a:srgbClr val="C9D2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7315200" y="2121408"/>
            <a:ext cx="1783080" cy="0"/>
          </a:xfrm>
          <a:prstGeom prst="line">
            <a:avLst/>
          </a:prstGeom>
          <a:ln w="17780">
            <a:solidFill>
              <a:srgbClr val="C9D2DD"/>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40080" y="3246120"/>
            <a:ext cx="2103120" cy="86868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Router</a:t>
            </a:r>
          </a:p>
          <a:p>
            <a:pPr algn="ctr">
              <a:lnSpc>
                <a:spcPct val="100000"/>
              </a:lnSpc>
              <a:spcAft>
                <a:spcPts val="100"/>
              </a:spcAft>
            </a:pPr>
            <a:r>
              <a:rPr sz="1000" b="0">
                <a:solidFill>
                  <a:srgbClr val="3C4654"/>
                </a:solidFill>
                <a:latin typeface="Calibri"/>
              </a:rPr>
              <a:t>understand &amp; route</a:t>
            </a:r>
          </a:p>
        </p:txBody>
      </p:sp>
      <p:cxnSp>
        <p:nvCxnSpPr>
          <p:cNvPr id="15" name="Connector 14"/>
          <p:cNvCxnSpPr/>
          <p:nvPr/>
        </p:nvCxnSpPr>
        <p:spPr>
          <a:xfrm flipH="1">
            <a:off x="1691640.0" y="2560320"/>
            <a:ext cx="4407408.0" cy="685800"/>
          </a:xfrm>
          <a:prstGeom prst="line">
            <a:avLst/>
          </a:prstGeom>
          <a:ln w="17780">
            <a:solidFill>
              <a:srgbClr val="C9D2DD"/>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871216" y="3246120"/>
            <a:ext cx="2103120" cy="86868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Knowledge / RAG</a:t>
            </a:r>
          </a:p>
          <a:p>
            <a:pPr algn="ctr">
              <a:lnSpc>
                <a:spcPct val="100000"/>
              </a:lnSpc>
              <a:spcAft>
                <a:spcPts val="100"/>
              </a:spcAft>
            </a:pPr>
            <a:r>
              <a:rPr sz="1000" b="0">
                <a:solidFill>
                  <a:srgbClr val="3C4654"/>
                </a:solidFill>
                <a:latin typeface="Calibri"/>
              </a:rPr>
              <a:t>find documents</a:t>
            </a:r>
          </a:p>
        </p:txBody>
      </p:sp>
      <p:cxnSp>
        <p:nvCxnSpPr>
          <p:cNvPr id="17" name="Connector 16"/>
          <p:cNvCxnSpPr/>
          <p:nvPr/>
        </p:nvCxnSpPr>
        <p:spPr>
          <a:xfrm flipH="1">
            <a:off x="3922776.0" y="2560320"/>
            <a:ext cx="2176272.0" cy="685800"/>
          </a:xfrm>
          <a:prstGeom prst="line">
            <a:avLst/>
          </a:prstGeom>
          <a:ln w="17780">
            <a:solidFill>
              <a:srgbClr val="C9D2DD"/>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102352" y="3246120"/>
            <a:ext cx="2103120" cy="86868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Action / Tools</a:t>
            </a:r>
          </a:p>
          <a:p>
            <a:pPr algn="ctr">
              <a:lnSpc>
                <a:spcPct val="100000"/>
              </a:lnSpc>
              <a:spcAft>
                <a:spcPts val="100"/>
              </a:spcAft>
            </a:pPr>
            <a:r>
              <a:rPr sz="1000" b="0">
                <a:solidFill>
                  <a:srgbClr val="3C4654"/>
                </a:solidFill>
                <a:latin typeface="Calibri"/>
              </a:rPr>
              <a:t>call systems (MCP)</a:t>
            </a:r>
          </a:p>
        </p:txBody>
      </p:sp>
      <p:cxnSp>
        <p:nvCxnSpPr>
          <p:cNvPr id="19" name="Connector 18"/>
          <p:cNvCxnSpPr/>
          <p:nvPr/>
        </p:nvCxnSpPr>
        <p:spPr>
          <a:xfrm>
            <a:off x="6099048" y="2560320"/>
            <a:ext cx="54864.0" cy="685800"/>
          </a:xfrm>
          <a:prstGeom prst="line">
            <a:avLst/>
          </a:prstGeom>
          <a:ln w="17780">
            <a:solidFill>
              <a:srgbClr val="C9D2DD"/>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33488" y="3246120"/>
            <a:ext cx="2103120" cy="86868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Compliance</a:t>
            </a:r>
          </a:p>
          <a:p>
            <a:pPr algn="ctr">
              <a:lnSpc>
                <a:spcPct val="100000"/>
              </a:lnSpc>
              <a:spcAft>
                <a:spcPts val="100"/>
              </a:spcAft>
            </a:pPr>
            <a:r>
              <a:rPr sz="1000" b="0">
                <a:solidFill>
                  <a:srgbClr val="3C4654"/>
                </a:solidFill>
                <a:latin typeface="Calibri"/>
              </a:rPr>
              <a:t>policy &amp; PII checks</a:t>
            </a:r>
          </a:p>
        </p:txBody>
      </p:sp>
      <p:cxnSp>
        <p:nvCxnSpPr>
          <p:cNvPr id="21" name="Connector 20"/>
          <p:cNvCxnSpPr/>
          <p:nvPr/>
        </p:nvCxnSpPr>
        <p:spPr>
          <a:xfrm>
            <a:off x="6099048" y="2560320"/>
            <a:ext cx="2286000.0" cy="685800"/>
          </a:xfrm>
          <a:prstGeom prst="line">
            <a:avLst/>
          </a:prstGeom>
          <a:ln w="17780">
            <a:solidFill>
              <a:srgbClr val="C9D2D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564624" y="3246120"/>
            <a:ext cx="2103120" cy="86868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QA / Summarize</a:t>
            </a:r>
          </a:p>
          <a:p>
            <a:pPr algn="ctr">
              <a:lnSpc>
                <a:spcPct val="100000"/>
              </a:lnSpc>
              <a:spcAft>
                <a:spcPts val="100"/>
              </a:spcAft>
            </a:pPr>
            <a:r>
              <a:rPr sz="1000" b="0">
                <a:solidFill>
                  <a:srgbClr val="3C4654"/>
                </a:solidFill>
                <a:latin typeface="Calibri"/>
              </a:rPr>
              <a:t>score &amp; wrap up</a:t>
            </a:r>
          </a:p>
        </p:txBody>
      </p:sp>
      <p:cxnSp>
        <p:nvCxnSpPr>
          <p:cNvPr id="23" name="Connector 22"/>
          <p:cNvCxnSpPr/>
          <p:nvPr/>
        </p:nvCxnSpPr>
        <p:spPr>
          <a:xfrm>
            <a:off x="6099048" y="2560320"/>
            <a:ext cx="4517136.0" cy="685800"/>
          </a:xfrm>
          <a:prstGeom prst="line">
            <a:avLst/>
          </a:prstGeom>
          <a:ln w="17780">
            <a:solidFill>
              <a:srgbClr val="C9D2DD"/>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40080" y="4480560"/>
            <a:ext cx="10972800" cy="868680"/>
          </a:xfrm>
          <a:prstGeom prst="roundRect">
            <a:avLst>
              <a:gd name="adj" fmla="val 8000"/>
            </a:avLst>
          </a:prstGeom>
          <a:solidFill>
            <a:srgbClr val="222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4480560"/>
            <a:ext cx="10607040" cy="868680"/>
          </a:xfrm>
          <a:prstGeom prst="rect">
            <a:avLst/>
          </a:prstGeom>
          <a:noFill/>
        </p:spPr>
        <p:txBody>
          <a:bodyPr wrap="square" anchor="ctr" lIns="0" rIns="0" tIns="0" bIns="0">
            <a:spAutoFit/>
          </a:bodyPr>
          <a:lstStyle/>
          <a:p>
            <a:pPr algn="l">
              <a:lnSpc>
                <a:spcPct val="105000"/>
              </a:lnSpc>
              <a:spcBef>
                <a:spcPts val="0"/>
              </a:spcBef>
              <a:spcAft>
                <a:spcPts val="600"/>
              </a:spcAft>
            </a:pPr>
            <a:r>
              <a:rPr sz="1200" b="1" i="0">
                <a:solidFill>
                  <a:srgbClr val="8FD3CC"/>
                </a:solidFill>
                <a:latin typeface="Calibri"/>
              </a:rPr>
              <a:t>On every step:  </a:t>
            </a:r>
            <a:r>
              <a:rPr sz="1150" b="0" i="0">
                <a:solidFill>
                  <a:srgbClr val="FFFFFF"/>
                </a:solidFill>
                <a:latin typeface="Calibri"/>
              </a:rPr>
              <a:t>durable execution (pause / resume / retry)   ·   guardrails (Content Safety + PII)   ·   human approval for sensitive actions   ·   full tracing (each step logged and evaluated)</a:t>
            </a:r>
          </a:p>
        </p:txBody>
      </p:sp>
      <p:sp>
        <p:nvSpPr>
          <p:cNvPr id="26" name="TextBox 25"/>
          <p:cNvSpPr txBox="1"/>
          <p:nvPr/>
        </p:nvSpPr>
        <p:spPr>
          <a:xfrm>
            <a:off x="640080" y="5532120"/>
            <a:ext cx="10972800" cy="640080"/>
          </a:xfrm>
          <a:prstGeom prst="rect">
            <a:avLst/>
          </a:prstGeom>
          <a:noFill/>
        </p:spPr>
        <p:txBody>
          <a:bodyPr wrap="square" anchor="t" lIns="0" rIns="0" tIns="0" bIns="0">
            <a:spAutoFit/>
          </a:bodyPr>
          <a:lstStyle/>
          <a:p>
            <a:pPr algn="l">
              <a:lnSpc>
                <a:spcPct val="105000"/>
              </a:lnSpc>
              <a:spcBef>
                <a:spcPts val="0"/>
              </a:spcBef>
              <a:spcAft>
                <a:spcPts val="600"/>
              </a:spcAft>
            </a:pPr>
            <a:r>
              <a:rPr sz="1250" b="1" i="0">
                <a:solidFill>
                  <a:srgbClr val="1F3A5F"/>
                </a:solidFill>
                <a:latin typeface="Calibri"/>
              </a:rPr>
              <a:t>On Azure: </a:t>
            </a:r>
            <a:r>
              <a:rPr sz="1250" b="0" i="0">
                <a:solidFill>
                  <a:srgbClr val="3C4654"/>
                </a:solidFill>
                <a:latin typeface="Calibri"/>
              </a:rPr>
              <a:t>the Agent Service hosts the orchestrator and keeps state; the Microsoft Agent Framework (Semantic Kernel) builds the agents; MCP connects tools; A2A lets agents from other teams cooperate.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10896"/>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MULTI-AGENT</a:t>
            </a:r>
          </a:p>
        </p:txBody>
      </p:sp>
      <p:sp>
        <p:nvSpPr>
          <p:cNvPr id="4" name="TextBox 3"/>
          <p:cNvSpPr txBox="1"/>
          <p:nvPr/>
        </p:nvSpPr>
        <p:spPr>
          <a:xfrm>
            <a:off x="640080" y="530352"/>
            <a:ext cx="10881360" cy="640080"/>
          </a:xfrm>
          <a:prstGeom prst="rect">
            <a:avLst/>
          </a:prstGeom>
          <a:noFill/>
        </p:spPr>
        <p:txBody>
          <a:bodyPr wrap="square" anchor="t" lIns="0" rIns="0" tIns="0" bIns="0">
            <a:spAutoFit/>
          </a:bodyPr>
          <a:lstStyle/>
          <a:p>
            <a:pPr algn="l">
              <a:lnSpc>
                <a:spcPct val="105000"/>
              </a:lnSpc>
              <a:spcBef>
                <a:spcPts val="0"/>
              </a:spcBef>
              <a:spcAft>
                <a:spcPts val="600"/>
              </a:spcAft>
            </a:pPr>
            <a:r>
              <a:rPr sz="2500" b="1" i="0">
                <a:solidFill>
                  <a:srgbClr val="1F3A5F"/>
                </a:solidFill>
                <a:latin typeface="Calibri"/>
              </a:rPr>
              <a:t>How agents work together — orchestration patterns</a:t>
            </a:r>
          </a:p>
        </p:txBody>
      </p:sp>
      <p:sp>
        <p:nvSpPr>
          <p:cNvPr id="5" name="Rectangle 4"/>
          <p:cNvSpPr/>
          <p:nvPr/>
        </p:nvSpPr>
        <p:spPr>
          <a:xfrm>
            <a:off x="658368" y="1115568"/>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55664"/>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6</a:t>
            </a:r>
          </a:p>
        </p:txBody>
      </p:sp>
      <p:sp>
        <p:nvSpPr>
          <p:cNvPr id="7" name="TextBox 6"/>
          <p:cNvSpPr txBox="1"/>
          <p:nvPr/>
        </p:nvSpPr>
        <p:spPr>
          <a:xfrm>
            <a:off x="640080" y="6455664"/>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Enterprise LLMOps on Azure — technical overview</a:t>
            </a:r>
          </a:p>
        </p:txBody>
      </p:sp>
      <p:sp>
        <p:nvSpPr>
          <p:cNvPr id="8" name="Rounded Rectangle 7"/>
          <p:cNvSpPr/>
          <p:nvPr/>
        </p:nvSpPr>
        <p:spPr>
          <a:xfrm>
            <a:off x="640080" y="1554480"/>
            <a:ext cx="3520440" cy="16002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691640"/>
            <a:ext cx="315468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i="0">
                <a:solidFill>
                  <a:srgbClr val="1F3A5F"/>
                </a:solidFill>
                <a:latin typeface="Calibri"/>
              </a:rPr>
              <a:t>Sequential</a:t>
            </a:r>
          </a:p>
        </p:txBody>
      </p:sp>
      <p:sp>
        <p:nvSpPr>
          <p:cNvPr id="10" name="Rounded Rectangle 9"/>
          <p:cNvSpPr/>
          <p:nvPr/>
        </p:nvSpPr>
        <p:spPr>
          <a:xfrm>
            <a:off x="822960" y="2103120"/>
            <a:ext cx="3154680" cy="457200"/>
          </a:xfrm>
          <a:prstGeom prst="roundRect">
            <a:avLst>
              <a:gd name="adj" fmla="val 8000"/>
            </a:avLst>
          </a:prstGeom>
          <a:solidFill>
            <a:srgbClr val="FFFFFF"/>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2A9D8F"/>
                </a:solidFill>
                <a:latin typeface="Calibri"/>
              </a:rPr>
              <a:t>A -&gt; B -&gt; C</a:t>
            </a:r>
          </a:p>
        </p:txBody>
      </p:sp>
      <p:sp>
        <p:nvSpPr>
          <p:cNvPr id="11" name="TextBox 10"/>
          <p:cNvSpPr txBox="1"/>
          <p:nvPr/>
        </p:nvSpPr>
        <p:spPr>
          <a:xfrm>
            <a:off x="822960" y="2633472"/>
            <a:ext cx="3154680" cy="457200"/>
          </a:xfrm>
          <a:prstGeom prst="rect">
            <a:avLst/>
          </a:prstGeom>
          <a:noFill/>
        </p:spPr>
        <p:txBody>
          <a:bodyPr wrap="square" anchor="t" lIns="0" rIns="0" tIns="0" bIns="0">
            <a:spAutoFit/>
          </a:bodyPr>
          <a:lstStyle/>
          <a:p>
            <a:pPr algn="l">
              <a:lnSpc>
                <a:spcPct val="105000"/>
              </a:lnSpc>
              <a:spcBef>
                <a:spcPts val="0"/>
              </a:spcBef>
              <a:spcAft>
                <a:spcPts val="600"/>
              </a:spcAft>
            </a:pPr>
            <a:r>
              <a:rPr sz="1150" b="0" i="0">
                <a:solidFill>
                  <a:srgbClr val="3C4654"/>
                </a:solidFill>
                <a:latin typeface="Calibri"/>
              </a:rPr>
              <a:t>Steps run one after another, each builds on the last.</a:t>
            </a:r>
          </a:p>
        </p:txBody>
      </p:sp>
      <p:sp>
        <p:nvSpPr>
          <p:cNvPr id="12" name="Rounded Rectangle 11"/>
          <p:cNvSpPr/>
          <p:nvPr/>
        </p:nvSpPr>
        <p:spPr>
          <a:xfrm>
            <a:off x="4361688" y="1554480"/>
            <a:ext cx="3520440" cy="16002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1691640"/>
            <a:ext cx="315468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i="0">
                <a:solidFill>
                  <a:srgbClr val="1F3A5F"/>
                </a:solidFill>
                <a:latin typeface="Calibri"/>
              </a:rPr>
              <a:t>Concurrent</a:t>
            </a:r>
          </a:p>
        </p:txBody>
      </p:sp>
      <p:sp>
        <p:nvSpPr>
          <p:cNvPr id="14" name="Rounded Rectangle 13"/>
          <p:cNvSpPr/>
          <p:nvPr/>
        </p:nvSpPr>
        <p:spPr>
          <a:xfrm>
            <a:off x="4544568" y="2103120"/>
            <a:ext cx="3154680" cy="457200"/>
          </a:xfrm>
          <a:prstGeom prst="roundRect">
            <a:avLst>
              <a:gd name="adj" fmla="val 8000"/>
            </a:avLst>
          </a:prstGeom>
          <a:solidFill>
            <a:srgbClr val="FFFFFF"/>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2A9D8F"/>
                </a:solidFill>
                <a:latin typeface="Calibri"/>
              </a:rPr>
              <a:t>A -&gt; [B, C] -&gt; merge</a:t>
            </a:r>
          </a:p>
        </p:txBody>
      </p:sp>
      <p:sp>
        <p:nvSpPr>
          <p:cNvPr id="15" name="TextBox 14"/>
          <p:cNvSpPr txBox="1"/>
          <p:nvPr/>
        </p:nvSpPr>
        <p:spPr>
          <a:xfrm>
            <a:off x="4544568" y="2633472"/>
            <a:ext cx="3154680" cy="457200"/>
          </a:xfrm>
          <a:prstGeom prst="rect">
            <a:avLst/>
          </a:prstGeom>
          <a:noFill/>
        </p:spPr>
        <p:txBody>
          <a:bodyPr wrap="square" anchor="t" lIns="0" rIns="0" tIns="0" bIns="0">
            <a:spAutoFit/>
          </a:bodyPr>
          <a:lstStyle/>
          <a:p>
            <a:pPr algn="l">
              <a:lnSpc>
                <a:spcPct val="105000"/>
              </a:lnSpc>
              <a:spcBef>
                <a:spcPts val="0"/>
              </a:spcBef>
              <a:spcAft>
                <a:spcPts val="600"/>
              </a:spcAft>
            </a:pPr>
            <a:r>
              <a:rPr sz="1150" b="0" i="0">
                <a:solidFill>
                  <a:srgbClr val="3C4654"/>
                </a:solidFill>
                <a:latin typeface="Calibri"/>
              </a:rPr>
              <a:t>Run agents in parallel, then combine the results.</a:t>
            </a:r>
          </a:p>
        </p:txBody>
      </p:sp>
      <p:sp>
        <p:nvSpPr>
          <p:cNvPr id="16" name="Rounded Rectangle 15"/>
          <p:cNvSpPr/>
          <p:nvPr/>
        </p:nvSpPr>
        <p:spPr>
          <a:xfrm>
            <a:off x="8083296" y="1554480"/>
            <a:ext cx="3520440" cy="16002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6" y="1691640"/>
            <a:ext cx="315468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i="0">
                <a:solidFill>
                  <a:srgbClr val="1F3A5F"/>
                </a:solidFill>
                <a:latin typeface="Calibri"/>
              </a:rPr>
              <a:t>Group chat</a:t>
            </a:r>
          </a:p>
        </p:txBody>
      </p:sp>
      <p:sp>
        <p:nvSpPr>
          <p:cNvPr id="18" name="Rounded Rectangle 17"/>
          <p:cNvSpPr/>
          <p:nvPr/>
        </p:nvSpPr>
        <p:spPr>
          <a:xfrm>
            <a:off x="8266176" y="2103120"/>
            <a:ext cx="3154680" cy="457200"/>
          </a:xfrm>
          <a:prstGeom prst="roundRect">
            <a:avLst>
              <a:gd name="adj" fmla="val 8000"/>
            </a:avLst>
          </a:prstGeom>
          <a:solidFill>
            <a:srgbClr val="FFFFFF"/>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2A9D8F"/>
                </a:solidFill>
                <a:latin typeface="Calibri"/>
              </a:rPr>
              <a:t>A &lt;-&gt; B &lt;-&gt; C</a:t>
            </a:r>
          </a:p>
        </p:txBody>
      </p:sp>
      <p:sp>
        <p:nvSpPr>
          <p:cNvPr id="19" name="TextBox 18"/>
          <p:cNvSpPr txBox="1"/>
          <p:nvPr/>
        </p:nvSpPr>
        <p:spPr>
          <a:xfrm>
            <a:off x="8266176" y="2633472"/>
            <a:ext cx="3154680" cy="457200"/>
          </a:xfrm>
          <a:prstGeom prst="rect">
            <a:avLst/>
          </a:prstGeom>
          <a:noFill/>
        </p:spPr>
        <p:txBody>
          <a:bodyPr wrap="square" anchor="t" lIns="0" rIns="0" tIns="0" bIns="0">
            <a:spAutoFit/>
          </a:bodyPr>
          <a:lstStyle/>
          <a:p>
            <a:pPr algn="l">
              <a:lnSpc>
                <a:spcPct val="105000"/>
              </a:lnSpc>
              <a:spcBef>
                <a:spcPts val="0"/>
              </a:spcBef>
              <a:spcAft>
                <a:spcPts val="600"/>
              </a:spcAft>
            </a:pPr>
            <a:r>
              <a:rPr sz="1150" b="0" i="0">
                <a:solidFill>
                  <a:srgbClr val="3C4654"/>
                </a:solidFill>
                <a:latin typeface="Calibri"/>
              </a:rPr>
              <a:t>Agents discuss with each other to reach a better answer.</a:t>
            </a:r>
          </a:p>
        </p:txBody>
      </p:sp>
      <p:sp>
        <p:nvSpPr>
          <p:cNvPr id="20" name="Rounded Rectangle 19"/>
          <p:cNvSpPr/>
          <p:nvPr/>
        </p:nvSpPr>
        <p:spPr>
          <a:xfrm>
            <a:off x="2468880" y="3383280"/>
            <a:ext cx="3520440" cy="16002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51760" y="3520440"/>
            <a:ext cx="315468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i="0">
                <a:solidFill>
                  <a:srgbClr val="1F3A5F"/>
                </a:solidFill>
                <a:latin typeface="Calibri"/>
              </a:rPr>
              <a:t>Handoff</a:t>
            </a:r>
          </a:p>
        </p:txBody>
      </p:sp>
      <p:sp>
        <p:nvSpPr>
          <p:cNvPr id="22" name="Rounded Rectangle 21"/>
          <p:cNvSpPr/>
          <p:nvPr/>
        </p:nvSpPr>
        <p:spPr>
          <a:xfrm>
            <a:off x="2651760" y="3931920"/>
            <a:ext cx="3154680" cy="457200"/>
          </a:xfrm>
          <a:prstGeom prst="roundRect">
            <a:avLst>
              <a:gd name="adj" fmla="val 8000"/>
            </a:avLst>
          </a:prstGeom>
          <a:solidFill>
            <a:srgbClr val="FFFFFF"/>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2A9D8F"/>
                </a:solidFill>
                <a:latin typeface="Calibri"/>
              </a:rPr>
              <a:t>A =&gt; specialist B</a:t>
            </a:r>
          </a:p>
        </p:txBody>
      </p:sp>
      <p:sp>
        <p:nvSpPr>
          <p:cNvPr id="23" name="TextBox 22"/>
          <p:cNvSpPr txBox="1"/>
          <p:nvPr/>
        </p:nvSpPr>
        <p:spPr>
          <a:xfrm>
            <a:off x="2651760" y="4462272"/>
            <a:ext cx="3154680" cy="457200"/>
          </a:xfrm>
          <a:prstGeom prst="rect">
            <a:avLst/>
          </a:prstGeom>
          <a:noFill/>
        </p:spPr>
        <p:txBody>
          <a:bodyPr wrap="square" anchor="t" lIns="0" rIns="0" tIns="0" bIns="0">
            <a:spAutoFit/>
          </a:bodyPr>
          <a:lstStyle/>
          <a:p>
            <a:pPr algn="l">
              <a:lnSpc>
                <a:spcPct val="105000"/>
              </a:lnSpc>
              <a:spcBef>
                <a:spcPts val="0"/>
              </a:spcBef>
              <a:spcAft>
                <a:spcPts val="600"/>
              </a:spcAft>
            </a:pPr>
            <a:r>
              <a:rPr sz="1150" b="0" i="0">
                <a:solidFill>
                  <a:srgbClr val="3C4654"/>
                </a:solidFill>
                <a:latin typeface="Calibri"/>
              </a:rPr>
              <a:t>One agent transfers the task to a specialist.</a:t>
            </a:r>
          </a:p>
        </p:txBody>
      </p:sp>
      <p:sp>
        <p:nvSpPr>
          <p:cNvPr id="24" name="Rounded Rectangle 23"/>
          <p:cNvSpPr/>
          <p:nvPr/>
        </p:nvSpPr>
        <p:spPr>
          <a:xfrm>
            <a:off x="6190488" y="3383280"/>
            <a:ext cx="3520440" cy="16002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73368" y="3520440"/>
            <a:ext cx="315468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i="0">
                <a:solidFill>
                  <a:srgbClr val="1F3A5F"/>
                </a:solidFill>
                <a:latin typeface="Calibri"/>
              </a:rPr>
              <a:t>Planner</a:t>
            </a:r>
          </a:p>
        </p:txBody>
      </p:sp>
      <p:sp>
        <p:nvSpPr>
          <p:cNvPr id="26" name="Rounded Rectangle 25"/>
          <p:cNvSpPr/>
          <p:nvPr/>
        </p:nvSpPr>
        <p:spPr>
          <a:xfrm>
            <a:off x="6373368" y="3931920"/>
            <a:ext cx="3154680" cy="457200"/>
          </a:xfrm>
          <a:prstGeom prst="roundRect">
            <a:avLst>
              <a:gd name="adj" fmla="val 8000"/>
            </a:avLst>
          </a:prstGeom>
          <a:solidFill>
            <a:srgbClr val="FFFFFF"/>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2A9D8F"/>
                </a:solidFill>
                <a:latin typeface="Calibri"/>
              </a:rPr>
              <a:t>Planner -&gt; workers</a:t>
            </a:r>
          </a:p>
        </p:txBody>
      </p:sp>
      <p:sp>
        <p:nvSpPr>
          <p:cNvPr id="27" name="TextBox 26"/>
          <p:cNvSpPr txBox="1"/>
          <p:nvPr/>
        </p:nvSpPr>
        <p:spPr>
          <a:xfrm>
            <a:off x="6373368" y="4462272"/>
            <a:ext cx="3154680" cy="457200"/>
          </a:xfrm>
          <a:prstGeom prst="rect">
            <a:avLst/>
          </a:prstGeom>
          <a:noFill/>
        </p:spPr>
        <p:txBody>
          <a:bodyPr wrap="square" anchor="t" lIns="0" rIns="0" tIns="0" bIns="0">
            <a:spAutoFit/>
          </a:bodyPr>
          <a:lstStyle/>
          <a:p>
            <a:pPr algn="l">
              <a:lnSpc>
                <a:spcPct val="105000"/>
              </a:lnSpc>
              <a:spcBef>
                <a:spcPts val="0"/>
              </a:spcBef>
              <a:spcAft>
                <a:spcPts val="600"/>
              </a:spcAft>
            </a:pPr>
            <a:r>
              <a:rPr sz="1150" b="0" i="0">
                <a:solidFill>
                  <a:srgbClr val="3C4654"/>
                </a:solidFill>
                <a:latin typeface="Calibri"/>
              </a:rPr>
              <a:t>A lead agent plans the work and assigns it to others.</a:t>
            </a:r>
          </a:p>
        </p:txBody>
      </p:sp>
      <p:sp>
        <p:nvSpPr>
          <p:cNvPr id="28" name="TextBox 27"/>
          <p:cNvSpPr txBox="1"/>
          <p:nvPr/>
        </p:nvSpPr>
        <p:spPr>
          <a:xfrm>
            <a:off x="640080" y="5257800"/>
            <a:ext cx="10972800" cy="640080"/>
          </a:xfrm>
          <a:prstGeom prst="rect">
            <a:avLst/>
          </a:prstGeom>
          <a:noFill/>
        </p:spPr>
        <p:txBody>
          <a:bodyPr wrap="square" anchor="t" lIns="0" rIns="0" tIns="0" bIns="0">
            <a:spAutoFit/>
          </a:bodyPr>
          <a:lstStyle/>
          <a:p>
            <a:pPr algn="l">
              <a:lnSpc>
                <a:spcPct val="105000"/>
              </a:lnSpc>
              <a:spcBef>
                <a:spcPts val="0"/>
              </a:spcBef>
              <a:spcAft>
                <a:spcPts val="600"/>
              </a:spcAft>
            </a:pPr>
            <a:r>
              <a:rPr sz="1250" b="0" i="1">
                <a:solidFill>
                  <a:srgbClr val="3C4654"/>
                </a:solidFill>
                <a:latin typeface="Calibri"/>
              </a:rPr>
              <a:t>All five are supported by the Microsoft Agent Framework. We pick the pattern that fits the task — and reuse it across projects.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10896"/>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MULTI-AGENT</a:t>
            </a:r>
          </a:p>
        </p:txBody>
      </p:sp>
      <p:sp>
        <p:nvSpPr>
          <p:cNvPr id="4" name="TextBox 3"/>
          <p:cNvSpPr txBox="1"/>
          <p:nvPr/>
        </p:nvSpPr>
        <p:spPr>
          <a:xfrm>
            <a:off x="640080" y="530352"/>
            <a:ext cx="10881360" cy="640080"/>
          </a:xfrm>
          <a:prstGeom prst="rect">
            <a:avLst/>
          </a:prstGeom>
          <a:noFill/>
        </p:spPr>
        <p:txBody>
          <a:bodyPr wrap="square" anchor="t" lIns="0" rIns="0" tIns="0" bIns="0">
            <a:spAutoFit/>
          </a:bodyPr>
          <a:lstStyle/>
          <a:p>
            <a:pPr algn="l">
              <a:lnSpc>
                <a:spcPct val="105000"/>
              </a:lnSpc>
              <a:spcBef>
                <a:spcPts val="0"/>
              </a:spcBef>
              <a:spcAft>
                <a:spcPts val="600"/>
              </a:spcAft>
            </a:pPr>
            <a:r>
              <a:rPr sz="2500" b="1" i="0">
                <a:solidFill>
                  <a:srgbClr val="1F3A5F"/>
                </a:solidFill>
                <a:latin typeface="Calibri"/>
              </a:rPr>
              <a:t>What makes the orchestration enterprise-grade</a:t>
            </a:r>
          </a:p>
        </p:txBody>
      </p:sp>
      <p:sp>
        <p:nvSpPr>
          <p:cNvPr id="5" name="Rectangle 4"/>
          <p:cNvSpPr/>
          <p:nvPr/>
        </p:nvSpPr>
        <p:spPr>
          <a:xfrm>
            <a:off x="658368" y="1115568"/>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55664"/>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7</a:t>
            </a:r>
          </a:p>
        </p:txBody>
      </p:sp>
      <p:sp>
        <p:nvSpPr>
          <p:cNvPr id="7" name="TextBox 6"/>
          <p:cNvSpPr txBox="1"/>
          <p:nvPr/>
        </p:nvSpPr>
        <p:spPr>
          <a:xfrm>
            <a:off x="640080" y="6455664"/>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Enterprise LLMOps on Azure — technical overview</a:t>
            </a:r>
          </a:p>
        </p:txBody>
      </p:sp>
      <p:sp>
        <p:nvSpPr>
          <p:cNvPr id="8" name="Rounded Rectangle 7"/>
          <p:cNvSpPr/>
          <p:nvPr/>
        </p:nvSpPr>
        <p:spPr>
          <a:xfrm>
            <a:off x="640080" y="1463040"/>
            <a:ext cx="5394960" cy="105156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463040"/>
            <a:ext cx="109728" cy="105156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9344"/>
            <a:ext cx="4983480" cy="365760"/>
          </a:xfrm>
          <a:prstGeom prst="rect">
            <a:avLst/>
          </a:prstGeom>
          <a:noFill/>
        </p:spPr>
        <p:txBody>
          <a:bodyPr wrap="square" anchor="t" lIns="0" rIns="0" tIns="0" bIns="0">
            <a:spAutoFit/>
          </a:bodyPr>
          <a:lstStyle/>
          <a:p>
            <a:pPr algn="l">
              <a:lnSpc>
                <a:spcPct val="105000"/>
              </a:lnSpc>
              <a:spcBef>
                <a:spcPts val="0"/>
              </a:spcBef>
              <a:spcAft>
                <a:spcPts val="600"/>
              </a:spcAft>
            </a:pPr>
            <a:r>
              <a:rPr sz="1350" b="1" i="0">
                <a:solidFill>
                  <a:srgbClr val="1F3A5F"/>
                </a:solidFill>
                <a:latin typeface="Calibri"/>
              </a:rPr>
              <a:t>Durable execution</a:t>
            </a:r>
          </a:p>
        </p:txBody>
      </p:sp>
      <p:sp>
        <p:nvSpPr>
          <p:cNvPr id="11" name="TextBox 10"/>
          <p:cNvSpPr txBox="1"/>
          <p:nvPr/>
        </p:nvSpPr>
        <p:spPr>
          <a:xfrm>
            <a:off x="914400" y="1993392"/>
            <a:ext cx="4983480" cy="457200"/>
          </a:xfrm>
          <a:prstGeom prst="rect">
            <a:avLst/>
          </a:prstGeom>
          <a:noFill/>
        </p:spPr>
        <p:txBody>
          <a:bodyPr wrap="square" anchor="t" lIns="0" rIns="0" tIns="0" bIns="0">
            <a:spAutoFit/>
          </a:bodyPr>
          <a:lstStyle/>
          <a:p>
            <a:pPr algn="l">
              <a:lnSpc>
                <a:spcPct val="105000"/>
              </a:lnSpc>
              <a:spcBef>
                <a:spcPts val="0"/>
              </a:spcBef>
              <a:spcAft>
                <a:spcPts val="600"/>
              </a:spcAft>
            </a:pPr>
            <a:r>
              <a:rPr sz="1150" b="0" i="0">
                <a:solidFill>
                  <a:srgbClr val="3C4654"/>
                </a:solidFill>
                <a:latin typeface="Calibri"/>
              </a:rPr>
              <a:t>Checkpoints, pause/resume, retries — long jobs survive failures.</a:t>
            </a:r>
          </a:p>
        </p:txBody>
      </p:sp>
      <p:sp>
        <p:nvSpPr>
          <p:cNvPr id="12" name="Rounded Rectangle 11"/>
          <p:cNvSpPr/>
          <p:nvPr/>
        </p:nvSpPr>
        <p:spPr>
          <a:xfrm>
            <a:off x="6245352" y="1463040"/>
            <a:ext cx="5394960" cy="105156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5352" y="1463040"/>
            <a:ext cx="109728" cy="105156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9672" y="1609344"/>
            <a:ext cx="4983480" cy="365760"/>
          </a:xfrm>
          <a:prstGeom prst="rect">
            <a:avLst/>
          </a:prstGeom>
          <a:noFill/>
        </p:spPr>
        <p:txBody>
          <a:bodyPr wrap="square" anchor="t" lIns="0" rIns="0" tIns="0" bIns="0">
            <a:spAutoFit/>
          </a:bodyPr>
          <a:lstStyle/>
          <a:p>
            <a:pPr algn="l">
              <a:lnSpc>
                <a:spcPct val="105000"/>
              </a:lnSpc>
              <a:spcBef>
                <a:spcPts val="0"/>
              </a:spcBef>
              <a:spcAft>
                <a:spcPts val="600"/>
              </a:spcAft>
            </a:pPr>
            <a:r>
              <a:rPr sz="1350" b="1" i="0">
                <a:solidFill>
                  <a:srgbClr val="1F3A5F"/>
                </a:solidFill>
                <a:latin typeface="Calibri"/>
              </a:rPr>
              <a:t>Memory</a:t>
            </a:r>
          </a:p>
        </p:txBody>
      </p:sp>
      <p:sp>
        <p:nvSpPr>
          <p:cNvPr id="15" name="TextBox 14"/>
          <p:cNvSpPr txBox="1"/>
          <p:nvPr/>
        </p:nvSpPr>
        <p:spPr>
          <a:xfrm>
            <a:off x="6519672" y="1993392"/>
            <a:ext cx="4983480" cy="457200"/>
          </a:xfrm>
          <a:prstGeom prst="rect">
            <a:avLst/>
          </a:prstGeom>
          <a:noFill/>
        </p:spPr>
        <p:txBody>
          <a:bodyPr wrap="square" anchor="t" lIns="0" rIns="0" tIns="0" bIns="0">
            <a:spAutoFit/>
          </a:bodyPr>
          <a:lstStyle/>
          <a:p>
            <a:pPr algn="l">
              <a:lnSpc>
                <a:spcPct val="105000"/>
              </a:lnSpc>
              <a:spcBef>
                <a:spcPts val="0"/>
              </a:spcBef>
              <a:spcAft>
                <a:spcPts val="600"/>
              </a:spcAft>
            </a:pPr>
            <a:r>
              <a:rPr sz="1150" b="0" i="0">
                <a:solidFill>
                  <a:srgbClr val="3C4654"/>
                </a:solidFill>
                <a:latin typeface="Calibri"/>
              </a:rPr>
              <a:t>Session, user, and procedural memory so agents keep context.</a:t>
            </a:r>
          </a:p>
        </p:txBody>
      </p:sp>
      <p:sp>
        <p:nvSpPr>
          <p:cNvPr id="16" name="Rounded Rectangle 15"/>
          <p:cNvSpPr/>
          <p:nvPr/>
        </p:nvSpPr>
        <p:spPr>
          <a:xfrm>
            <a:off x="640080" y="2697480"/>
            <a:ext cx="5394960" cy="105156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2697480"/>
            <a:ext cx="109728" cy="105156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2843784"/>
            <a:ext cx="4983480" cy="365760"/>
          </a:xfrm>
          <a:prstGeom prst="rect">
            <a:avLst/>
          </a:prstGeom>
          <a:noFill/>
        </p:spPr>
        <p:txBody>
          <a:bodyPr wrap="square" anchor="t" lIns="0" rIns="0" tIns="0" bIns="0">
            <a:spAutoFit/>
          </a:bodyPr>
          <a:lstStyle/>
          <a:p>
            <a:pPr algn="l">
              <a:lnSpc>
                <a:spcPct val="105000"/>
              </a:lnSpc>
              <a:spcBef>
                <a:spcPts val="0"/>
              </a:spcBef>
              <a:spcAft>
                <a:spcPts val="600"/>
              </a:spcAft>
            </a:pPr>
            <a:r>
              <a:rPr sz="1350" b="1" i="0">
                <a:solidFill>
                  <a:srgbClr val="1F3A5F"/>
                </a:solidFill>
                <a:latin typeface="Calibri"/>
              </a:rPr>
              <a:t>Agent registry</a:t>
            </a:r>
          </a:p>
        </p:txBody>
      </p:sp>
      <p:sp>
        <p:nvSpPr>
          <p:cNvPr id="19" name="TextBox 18"/>
          <p:cNvSpPr txBox="1"/>
          <p:nvPr/>
        </p:nvSpPr>
        <p:spPr>
          <a:xfrm>
            <a:off x="914400" y="3227832"/>
            <a:ext cx="4983480" cy="457200"/>
          </a:xfrm>
          <a:prstGeom prst="rect">
            <a:avLst/>
          </a:prstGeom>
          <a:noFill/>
        </p:spPr>
        <p:txBody>
          <a:bodyPr wrap="square" anchor="t" lIns="0" rIns="0" tIns="0" bIns="0">
            <a:spAutoFit/>
          </a:bodyPr>
          <a:lstStyle/>
          <a:p>
            <a:pPr algn="l">
              <a:lnSpc>
                <a:spcPct val="105000"/>
              </a:lnSpc>
              <a:spcBef>
                <a:spcPts val="0"/>
              </a:spcBef>
              <a:spcAft>
                <a:spcPts val="600"/>
              </a:spcAft>
            </a:pPr>
            <a:r>
              <a:rPr sz="1150" b="0" i="0">
                <a:solidFill>
                  <a:srgbClr val="3C4654"/>
                </a:solidFill>
                <a:latin typeface="Calibri"/>
              </a:rPr>
              <a:t>Agents are versioned, discoverable, and governed like code.</a:t>
            </a:r>
          </a:p>
        </p:txBody>
      </p:sp>
      <p:sp>
        <p:nvSpPr>
          <p:cNvPr id="20" name="Rounded Rectangle 19"/>
          <p:cNvSpPr/>
          <p:nvPr/>
        </p:nvSpPr>
        <p:spPr>
          <a:xfrm>
            <a:off x="6245352" y="2697480"/>
            <a:ext cx="5394960" cy="105156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5352" y="2697480"/>
            <a:ext cx="109728" cy="105156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9672" y="2843784"/>
            <a:ext cx="4983480" cy="365760"/>
          </a:xfrm>
          <a:prstGeom prst="rect">
            <a:avLst/>
          </a:prstGeom>
          <a:noFill/>
        </p:spPr>
        <p:txBody>
          <a:bodyPr wrap="square" anchor="t" lIns="0" rIns="0" tIns="0" bIns="0">
            <a:spAutoFit/>
          </a:bodyPr>
          <a:lstStyle/>
          <a:p>
            <a:pPr algn="l">
              <a:lnSpc>
                <a:spcPct val="105000"/>
              </a:lnSpc>
              <a:spcBef>
                <a:spcPts val="0"/>
              </a:spcBef>
              <a:spcAft>
                <a:spcPts val="600"/>
              </a:spcAft>
            </a:pPr>
            <a:r>
              <a:rPr sz="1350" b="1" i="0">
                <a:solidFill>
                  <a:srgbClr val="1F3A5F"/>
                </a:solidFill>
                <a:latin typeface="Calibri"/>
              </a:rPr>
              <a:t>Tool registry (MCP)</a:t>
            </a:r>
          </a:p>
        </p:txBody>
      </p:sp>
      <p:sp>
        <p:nvSpPr>
          <p:cNvPr id="23" name="TextBox 22"/>
          <p:cNvSpPr txBox="1"/>
          <p:nvPr/>
        </p:nvSpPr>
        <p:spPr>
          <a:xfrm>
            <a:off x="6519672" y="3227832"/>
            <a:ext cx="4983480" cy="457200"/>
          </a:xfrm>
          <a:prstGeom prst="rect">
            <a:avLst/>
          </a:prstGeom>
          <a:noFill/>
        </p:spPr>
        <p:txBody>
          <a:bodyPr wrap="square" anchor="t" lIns="0" rIns="0" tIns="0" bIns="0">
            <a:spAutoFit/>
          </a:bodyPr>
          <a:lstStyle/>
          <a:p>
            <a:pPr algn="l">
              <a:lnSpc>
                <a:spcPct val="105000"/>
              </a:lnSpc>
              <a:spcBef>
                <a:spcPts val="0"/>
              </a:spcBef>
              <a:spcAft>
                <a:spcPts val="600"/>
              </a:spcAft>
            </a:pPr>
            <a:r>
              <a:rPr sz="1150" b="0" i="0">
                <a:solidFill>
                  <a:srgbClr val="3C4654"/>
                </a:solidFill>
                <a:latin typeface="Calibri"/>
              </a:rPr>
              <a:t>Reusable, least-privilege connectors to systems and data.</a:t>
            </a:r>
          </a:p>
        </p:txBody>
      </p:sp>
      <p:sp>
        <p:nvSpPr>
          <p:cNvPr id="24" name="Rounded Rectangle 23"/>
          <p:cNvSpPr/>
          <p:nvPr/>
        </p:nvSpPr>
        <p:spPr>
          <a:xfrm>
            <a:off x="640080" y="3931920"/>
            <a:ext cx="5394960" cy="105156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3931920"/>
            <a:ext cx="109728" cy="105156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078224"/>
            <a:ext cx="4983480" cy="365760"/>
          </a:xfrm>
          <a:prstGeom prst="rect">
            <a:avLst/>
          </a:prstGeom>
          <a:noFill/>
        </p:spPr>
        <p:txBody>
          <a:bodyPr wrap="square" anchor="t" lIns="0" rIns="0" tIns="0" bIns="0">
            <a:spAutoFit/>
          </a:bodyPr>
          <a:lstStyle/>
          <a:p>
            <a:pPr algn="l">
              <a:lnSpc>
                <a:spcPct val="105000"/>
              </a:lnSpc>
              <a:spcBef>
                <a:spcPts val="0"/>
              </a:spcBef>
              <a:spcAft>
                <a:spcPts val="600"/>
              </a:spcAft>
            </a:pPr>
            <a:r>
              <a:rPr sz="1350" b="1" i="0">
                <a:solidFill>
                  <a:srgbClr val="1F3A5F"/>
                </a:solidFill>
                <a:latin typeface="Calibri"/>
              </a:rPr>
              <a:t>Agent-to-agent (A2A)</a:t>
            </a:r>
          </a:p>
        </p:txBody>
      </p:sp>
      <p:sp>
        <p:nvSpPr>
          <p:cNvPr id="27" name="TextBox 26"/>
          <p:cNvSpPr txBox="1"/>
          <p:nvPr/>
        </p:nvSpPr>
        <p:spPr>
          <a:xfrm>
            <a:off x="914400" y="4462272"/>
            <a:ext cx="4983480" cy="457200"/>
          </a:xfrm>
          <a:prstGeom prst="rect">
            <a:avLst/>
          </a:prstGeom>
          <a:noFill/>
        </p:spPr>
        <p:txBody>
          <a:bodyPr wrap="square" anchor="t" lIns="0" rIns="0" tIns="0" bIns="0">
            <a:spAutoFit/>
          </a:bodyPr>
          <a:lstStyle/>
          <a:p>
            <a:pPr algn="l">
              <a:lnSpc>
                <a:spcPct val="105000"/>
              </a:lnSpc>
              <a:spcBef>
                <a:spcPts val="0"/>
              </a:spcBef>
              <a:spcAft>
                <a:spcPts val="600"/>
              </a:spcAft>
            </a:pPr>
            <a:r>
              <a:rPr sz="1150" b="0" i="0">
                <a:solidFill>
                  <a:srgbClr val="3C4654"/>
                </a:solidFill>
                <a:latin typeface="Calibri"/>
              </a:rPr>
              <a:t>Agents from different teams can cooperate over a standard.</a:t>
            </a:r>
          </a:p>
        </p:txBody>
      </p:sp>
      <p:sp>
        <p:nvSpPr>
          <p:cNvPr id="28" name="Rounded Rectangle 27"/>
          <p:cNvSpPr/>
          <p:nvPr/>
        </p:nvSpPr>
        <p:spPr>
          <a:xfrm>
            <a:off x="6245352" y="3931920"/>
            <a:ext cx="5394960" cy="105156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45352" y="3931920"/>
            <a:ext cx="109728" cy="105156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19672" y="4078224"/>
            <a:ext cx="4983480" cy="365760"/>
          </a:xfrm>
          <a:prstGeom prst="rect">
            <a:avLst/>
          </a:prstGeom>
          <a:noFill/>
        </p:spPr>
        <p:txBody>
          <a:bodyPr wrap="square" anchor="t" lIns="0" rIns="0" tIns="0" bIns="0">
            <a:spAutoFit/>
          </a:bodyPr>
          <a:lstStyle/>
          <a:p>
            <a:pPr algn="l">
              <a:lnSpc>
                <a:spcPct val="105000"/>
              </a:lnSpc>
              <a:spcBef>
                <a:spcPts val="0"/>
              </a:spcBef>
              <a:spcAft>
                <a:spcPts val="600"/>
              </a:spcAft>
            </a:pPr>
            <a:r>
              <a:rPr sz="1350" b="1" i="0">
                <a:solidFill>
                  <a:srgbClr val="1F3A5F"/>
                </a:solidFill>
                <a:latin typeface="Calibri"/>
              </a:rPr>
              <a:t>Guardrails on every step</a:t>
            </a:r>
          </a:p>
        </p:txBody>
      </p:sp>
      <p:sp>
        <p:nvSpPr>
          <p:cNvPr id="31" name="TextBox 30"/>
          <p:cNvSpPr txBox="1"/>
          <p:nvPr/>
        </p:nvSpPr>
        <p:spPr>
          <a:xfrm>
            <a:off x="6519672" y="4462272"/>
            <a:ext cx="4983480" cy="457200"/>
          </a:xfrm>
          <a:prstGeom prst="rect">
            <a:avLst/>
          </a:prstGeom>
          <a:noFill/>
        </p:spPr>
        <p:txBody>
          <a:bodyPr wrap="square" anchor="t" lIns="0" rIns="0" tIns="0" bIns="0">
            <a:spAutoFit/>
          </a:bodyPr>
          <a:lstStyle/>
          <a:p>
            <a:pPr algn="l">
              <a:lnSpc>
                <a:spcPct val="105000"/>
              </a:lnSpc>
              <a:spcBef>
                <a:spcPts val="0"/>
              </a:spcBef>
              <a:spcAft>
                <a:spcPts val="600"/>
              </a:spcAft>
            </a:pPr>
            <a:r>
              <a:rPr sz="1150" b="0" i="0">
                <a:solidFill>
                  <a:srgbClr val="3C4654"/>
                </a:solidFill>
                <a:latin typeface="Calibri"/>
              </a:rPr>
              <a:t>Safety, policy, and personal-data checks around each agent.</a:t>
            </a:r>
          </a:p>
        </p:txBody>
      </p:sp>
      <p:sp>
        <p:nvSpPr>
          <p:cNvPr id="32" name="Rounded Rectangle 31"/>
          <p:cNvSpPr/>
          <p:nvPr/>
        </p:nvSpPr>
        <p:spPr>
          <a:xfrm>
            <a:off x="640080" y="5166360"/>
            <a:ext cx="5394960" cy="105156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080" y="5166360"/>
            <a:ext cx="109728" cy="105156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5312664"/>
            <a:ext cx="4983480" cy="365760"/>
          </a:xfrm>
          <a:prstGeom prst="rect">
            <a:avLst/>
          </a:prstGeom>
          <a:noFill/>
        </p:spPr>
        <p:txBody>
          <a:bodyPr wrap="square" anchor="t" lIns="0" rIns="0" tIns="0" bIns="0">
            <a:spAutoFit/>
          </a:bodyPr>
          <a:lstStyle/>
          <a:p>
            <a:pPr algn="l">
              <a:lnSpc>
                <a:spcPct val="105000"/>
              </a:lnSpc>
              <a:spcBef>
                <a:spcPts val="0"/>
              </a:spcBef>
              <a:spcAft>
                <a:spcPts val="600"/>
              </a:spcAft>
            </a:pPr>
            <a:r>
              <a:rPr sz="1350" b="1" i="0">
                <a:solidFill>
                  <a:srgbClr val="1F3A5F"/>
                </a:solidFill>
                <a:latin typeface="Calibri"/>
              </a:rPr>
              <a:t>Human-in-the-loop</a:t>
            </a:r>
          </a:p>
        </p:txBody>
      </p:sp>
      <p:sp>
        <p:nvSpPr>
          <p:cNvPr id="35" name="TextBox 34"/>
          <p:cNvSpPr txBox="1"/>
          <p:nvPr/>
        </p:nvSpPr>
        <p:spPr>
          <a:xfrm>
            <a:off x="914400" y="5696712"/>
            <a:ext cx="4983480" cy="457200"/>
          </a:xfrm>
          <a:prstGeom prst="rect">
            <a:avLst/>
          </a:prstGeom>
          <a:noFill/>
        </p:spPr>
        <p:txBody>
          <a:bodyPr wrap="square" anchor="t" lIns="0" rIns="0" tIns="0" bIns="0">
            <a:spAutoFit/>
          </a:bodyPr>
          <a:lstStyle/>
          <a:p>
            <a:pPr algn="l">
              <a:lnSpc>
                <a:spcPct val="105000"/>
              </a:lnSpc>
              <a:spcBef>
                <a:spcPts val="0"/>
              </a:spcBef>
              <a:spcAft>
                <a:spcPts val="600"/>
              </a:spcAft>
            </a:pPr>
            <a:r>
              <a:rPr sz="1150" b="0" i="0">
                <a:solidFill>
                  <a:srgbClr val="3C4654"/>
                </a:solidFill>
                <a:latin typeface="Calibri"/>
              </a:rPr>
              <a:t>People approve sensitive or irreversible actions.</a:t>
            </a:r>
          </a:p>
        </p:txBody>
      </p:sp>
      <p:sp>
        <p:nvSpPr>
          <p:cNvPr id="36" name="Rounded Rectangle 35"/>
          <p:cNvSpPr/>
          <p:nvPr/>
        </p:nvSpPr>
        <p:spPr>
          <a:xfrm>
            <a:off x="6245352" y="5166360"/>
            <a:ext cx="5394960" cy="105156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45352" y="5166360"/>
            <a:ext cx="109728" cy="105156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19672" y="5312664"/>
            <a:ext cx="4983480" cy="365760"/>
          </a:xfrm>
          <a:prstGeom prst="rect">
            <a:avLst/>
          </a:prstGeom>
          <a:noFill/>
        </p:spPr>
        <p:txBody>
          <a:bodyPr wrap="square" anchor="t" lIns="0" rIns="0" tIns="0" bIns="0">
            <a:spAutoFit/>
          </a:bodyPr>
          <a:lstStyle/>
          <a:p>
            <a:pPr algn="l">
              <a:lnSpc>
                <a:spcPct val="105000"/>
              </a:lnSpc>
              <a:spcBef>
                <a:spcPts val="0"/>
              </a:spcBef>
              <a:spcAft>
                <a:spcPts val="600"/>
              </a:spcAft>
            </a:pPr>
            <a:r>
              <a:rPr sz="1350" b="1" i="0">
                <a:solidFill>
                  <a:srgbClr val="1F3A5F"/>
                </a:solidFill>
                <a:latin typeface="Calibri"/>
              </a:rPr>
              <a:t>Full tracing &amp; evaluation</a:t>
            </a:r>
          </a:p>
        </p:txBody>
      </p:sp>
      <p:sp>
        <p:nvSpPr>
          <p:cNvPr id="39" name="TextBox 38"/>
          <p:cNvSpPr txBox="1"/>
          <p:nvPr/>
        </p:nvSpPr>
        <p:spPr>
          <a:xfrm>
            <a:off x="6519672" y="5696712"/>
            <a:ext cx="4983480" cy="457200"/>
          </a:xfrm>
          <a:prstGeom prst="rect">
            <a:avLst/>
          </a:prstGeom>
          <a:noFill/>
        </p:spPr>
        <p:txBody>
          <a:bodyPr wrap="square" anchor="t" lIns="0" rIns="0" tIns="0" bIns="0">
            <a:spAutoFit/>
          </a:bodyPr>
          <a:lstStyle/>
          <a:p>
            <a:pPr algn="l">
              <a:lnSpc>
                <a:spcPct val="105000"/>
              </a:lnSpc>
              <a:spcBef>
                <a:spcPts val="0"/>
              </a:spcBef>
              <a:spcAft>
                <a:spcPts val="600"/>
              </a:spcAft>
            </a:pPr>
            <a:r>
              <a:rPr sz="1150" b="0" i="0">
                <a:solidFill>
                  <a:srgbClr val="3C4654"/>
                </a:solidFill>
                <a:latin typeface="Calibri"/>
              </a:rPr>
              <a:t>Every step is logged, measured, and can be replayed.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10896"/>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COMPONENT DEEP-DIVE</a:t>
            </a:r>
          </a:p>
        </p:txBody>
      </p:sp>
      <p:sp>
        <p:nvSpPr>
          <p:cNvPr id="4" name="TextBox 3"/>
          <p:cNvSpPr txBox="1"/>
          <p:nvPr/>
        </p:nvSpPr>
        <p:spPr>
          <a:xfrm>
            <a:off x="640080" y="530352"/>
            <a:ext cx="10881360" cy="640080"/>
          </a:xfrm>
          <a:prstGeom prst="rect">
            <a:avLst/>
          </a:prstGeom>
          <a:noFill/>
        </p:spPr>
        <p:txBody>
          <a:bodyPr wrap="square" anchor="t" lIns="0" rIns="0" tIns="0" bIns="0">
            <a:spAutoFit/>
          </a:bodyPr>
          <a:lstStyle/>
          <a:p>
            <a:pPr algn="l">
              <a:lnSpc>
                <a:spcPct val="105000"/>
              </a:lnSpc>
              <a:spcBef>
                <a:spcPts val="0"/>
              </a:spcBef>
              <a:spcAft>
                <a:spcPts val="600"/>
              </a:spcAft>
            </a:pPr>
            <a:r>
              <a:rPr sz="2500" b="1" i="0">
                <a:solidFill>
                  <a:srgbClr val="1F3A5F"/>
                </a:solidFill>
                <a:latin typeface="Calibri"/>
              </a:rPr>
              <a:t>Knowledge / RAG on Azure</a:t>
            </a:r>
          </a:p>
        </p:txBody>
      </p:sp>
      <p:sp>
        <p:nvSpPr>
          <p:cNvPr id="5" name="Rectangle 4"/>
          <p:cNvSpPr/>
          <p:nvPr/>
        </p:nvSpPr>
        <p:spPr>
          <a:xfrm>
            <a:off x="658368" y="1115568"/>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55664"/>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8</a:t>
            </a:r>
          </a:p>
        </p:txBody>
      </p:sp>
      <p:sp>
        <p:nvSpPr>
          <p:cNvPr id="7" name="TextBox 6"/>
          <p:cNvSpPr txBox="1"/>
          <p:nvPr/>
        </p:nvSpPr>
        <p:spPr>
          <a:xfrm>
            <a:off x="640080" y="6455664"/>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Enterprise LLMOps on Azure — technical overview</a:t>
            </a:r>
          </a:p>
        </p:txBody>
      </p:sp>
      <p:sp>
        <p:nvSpPr>
          <p:cNvPr id="8" name="TextBox 7"/>
          <p:cNvSpPr txBox="1"/>
          <p:nvPr/>
        </p:nvSpPr>
        <p:spPr>
          <a:xfrm>
            <a:off x="685800" y="1234440"/>
            <a:ext cx="10789920" cy="457200"/>
          </a:xfrm>
          <a:prstGeom prst="rect">
            <a:avLst/>
          </a:prstGeom>
          <a:noFill/>
        </p:spPr>
        <p:txBody>
          <a:bodyPr wrap="square" anchor="t" lIns="0" rIns="0" tIns="0" bIns="0">
            <a:spAutoFit/>
          </a:bodyPr>
          <a:lstStyle/>
          <a:p>
            <a:pPr algn="l">
              <a:lnSpc>
                <a:spcPct val="105000"/>
              </a:lnSpc>
              <a:spcBef>
                <a:spcPts val="0"/>
              </a:spcBef>
              <a:spcAft>
                <a:spcPts val="600"/>
              </a:spcAft>
            </a:pPr>
            <a:r>
              <a:rPr sz="1300" b="0" i="1">
                <a:solidFill>
                  <a:srgbClr val="3C4654"/>
                </a:solidFill>
                <a:latin typeface="Calibri"/>
              </a:rPr>
              <a:t>RAG (Retrieval-Augmented Generation): before answering, we search our own documents and give the model the relevant pieces, so it answers from our data instead of guessing.</a:t>
            </a:r>
          </a:p>
        </p:txBody>
      </p:sp>
      <p:sp>
        <p:nvSpPr>
          <p:cNvPr id="9" name="Rounded Rectangle 8"/>
          <p:cNvSpPr/>
          <p:nvPr/>
        </p:nvSpPr>
        <p:spPr>
          <a:xfrm>
            <a:off x="640080" y="2331720"/>
            <a:ext cx="1965960" cy="128016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Documents</a:t>
            </a:r>
          </a:p>
          <a:p>
            <a:pPr algn="ctr">
              <a:lnSpc>
                <a:spcPct val="100000"/>
              </a:lnSpc>
              <a:spcAft>
                <a:spcPts val="100"/>
              </a:spcAft>
            </a:pPr>
            <a:r>
              <a:rPr sz="1000" b="0">
                <a:solidFill>
                  <a:srgbClr val="3C4654"/>
                </a:solidFill>
                <a:latin typeface="Calibri"/>
              </a:rPr>
              <a:t>policies, PDFs, records</a:t>
            </a:r>
          </a:p>
        </p:txBody>
      </p:sp>
      <p:sp>
        <p:nvSpPr>
          <p:cNvPr id="10" name="Right Arrow 9"/>
          <p:cNvSpPr/>
          <p:nvPr/>
        </p:nvSpPr>
        <p:spPr>
          <a:xfrm>
            <a:off x="2596896" y="2834640"/>
            <a:ext cx="31089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62072" y="2331720"/>
            <a:ext cx="1965960" cy="128016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Document Intelligence</a:t>
            </a:r>
          </a:p>
          <a:p>
            <a:pPr algn="ctr">
              <a:lnSpc>
                <a:spcPct val="100000"/>
              </a:lnSpc>
              <a:spcAft>
                <a:spcPts val="100"/>
              </a:spcAft>
            </a:pPr>
            <a:r>
              <a:rPr sz="1000" b="0">
                <a:solidFill>
                  <a:srgbClr val="3C4654"/>
                </a:solidFill>
                <a:latin typeface="Calibri"/>
              </a:rPr>
              <a:t>read &amp; split text</a:t>
            </a:r>
          </a:p>
        </p:txBody>
      </p:sp>
      <p:sp>
        <p:nvSpPr>
          <p:cNvPr id="12" name="Right Arrow 11"/>
          <p:cNvSpPr/>
          <p:nvPr/>
        </p:nvSpPr>
        <p:spPr>
          <a:xfrm>
            <a:off x="4818888" y="2834640"/>
            <a:ext cx="31089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84064" y="2331720"/>
            <a:ext cx="1965960" cy="128016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Embeddings + AI Search</a:t>
            </a:r>
          </a:p>
          <a:p>
            <a:pPr algn="ctr">
              <a:lnSpc>
                <a:spcPct val="100000"/>
              </a:lnSpc>
              <a:spcAft>
                <a:spcPts val="100"/>
              </a:spcAft>
            </a:pPr>
            <a:r>
              <a:rPr sz="1000" b="0">
                <a:solidFill>
                  <a:srgbClr val="3C4654"/>
                </a:solidFill>
                <a:latin typeface="Calibri"/>
              </a:rPr>
              <a:t>store as searchable index</a:t>
            </a:r>
          </a:p>
        </p:txBody>
      </p:sp>
      <p:sp>
        <p:nvSpPr>
          <p:cNvPr id="14" name="Right Arrow 13"/>
          <p:cNvSpPr/>
          <p:nvPr/>
        </p:nvSpPr>
        <p:spPr>
          <a:xfrm>
            <a:off x="7040880" y="2834640"/>
            <a:ext cx="31089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06056" y="2331720"/>
            <a:ext cx="1965960" cy="128016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Retrieve</a:t>
            </a:r>
          </a:p>
          <a:p>
            <a:pPr algn="ctr">
              <a:lnSpc>
                <a:spcPct val="100000"/>
              </a:lnSpc>
              <a:spcAft>
                <a:spcPts val="100"/>
              </a:spcAft>
            </a:pPr>
            <a:r>
              <a:rPr sz="1000" b="0">
                <a:solidFill>
                  <a:srgbClr val="3C4654"/>
                </a:solidFill>
                <a:latin typeface="Calibri"/>
              </a:rPr>
              <a:t>find relevant pieces</a:t>
            </a:r>
          </a:p>
        </p:txBody>
      </p:sp>
      <p:sp>
        <p:nvSpPr>
          <p:cNvPr id="16" name="Right Arrow 15"/>
          <p:cNvSpPr/>
          <p:nvPr/>
        </p:nvSpPr>
        <p:spPr>
          <a:xfrm>
            <a:off x="9262872" y="2834640"/>
            <a:ext cx="31089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28048" y="2331720"/>
            <a:ext cx="1965960" cy="128016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Model answers</a:t>
            </a:r>
          </a:p>
          <a:p>
            <a:pPr algn="ctr">
              <a:lnSpc>
                <a:spcPct val="100000"/>
              </a:lnSpc>
              <a:spcAft>
                <a:spcPts val="100"/>
              </a:spcAft>
            </a:pPr>
            <a:r>
              <a:rPr sz="1000" b="0">
                <a:solidFill>
                  <a:srgbClr val="3C4654"/>
                </a:solidFill>
                <a:latin typeface="Calibri"/>
              </a:rPr>
              <a:t>grounded, with sources</a:t>
            </a:r>
          </a:p>
        </p:txBody>
      </p:sp>
      <p:sp>
        <p:nvSpPr>
          <p:cNvPr id="18" name="TextBox 17"/>
          <p:cNvSpPr txBox="1"/>
          <p:nvPr/>
        </p:nvSpPr>
        <p:spPr>
          <a:xfrm>
            <a:off x="685800" y="4069080"/>
            <a:ext cx="10789920" cy="1463040"/>
          </a:xfrm>
          <a:prstGeom prst="rect">
            <a:avLst/>
          </a:prstGeom>
          <a:noFill/>
        </p:spPr>
        <p:txBody>
          <a:bodyPr wrap="square" anchor="t" lIns="0" rIns="0" tIns="0" bIns="0">
            <a:spAutoFit/>
          </a:bodyPr>
          <a:lstStyle/>
          <a:p>
            <a:pPr algn="l">
              <a:lnSpc>
                <a:spcPct val="105000"/>
              </a:lnSpc>
              <a:spcBef>
                <a:spcPts val="0"/>
              </a:spcBef>
              <a:spcAft>
                <a:spcPts val="1000"/>
              </a:spcAft>
            </a:pPr>
            <a:r>
              <a:rPr sz="1300" b="1" i="0">
                <a:solidFill>
                  <a:srgbClr val="1F3A5F"/>
                </a:solidFill>
                <a:latin typeface="Calibri"/>
              </a:rPr>
              <a:t>Azure services: </a:t>
            </a:r>
            <a:r>
              <a:rPr sz="1300" b="0" i="0">
                <a:solidFill>
                  <a:srgbClr val="3C4654"/>
                </a:solidFill>
                <a:latin typeface="Calibri"/>
              </a:rPr>
              <a:t>Azure AI Document Intelligence reads and splits files; Azure OpenAI creates embeddings (text turned into numbers); Azure AI Search stores them and finds matches by meaning; the model answers using only those matches.</a:t>
            </a:r>
          </a:p>
          <a:p>
            <a:pPr algn="l">
              <a:lnSpc>
                <a:spcPct val="105000"/>
              </a:lnSpc>
              <a:spcBef>
                <a:spcPts val="0"/>
              </a:spcBef>
              <a:spcAft>
                <a:spcPts val="1000"/>
              </a:spcAft>
            </a:pPr>
            <a:r>
              <a:rPr sz="1300" b="0" i="1">
                <a:solidFill>
                  <a:srgbClr val="3C4654"/>
                </a:solidFill>
                <a:latin typeface="Calibri"/>
              </a:rPr>
              <a:t>Why it matters: this keeps answers accurate and traceable to a source, instead of the model making things 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10896"/>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SECURITY</a:t>
            </a:r>
          </a:p>
        </p:txBody>
      </p:sp>
      <p:sp>
        <p:nvSpPr>
          <p:cNvPr id="4" name="TextBox 3"/>
          <p:cNvSpPr txBox="1"/>
          <p:nvPr/>
        </p:nvSpPr>
        <p:spPr>
          <a:xfrm>
            <a:off x="640080" y="530352"/>
            <a:ext cx="10881360" cy="640080"/>
          </a:xfrm>
          <a:prstGeom prst="rect">
            <a:avLst/>
          </a:prstGeom>
          <a:noFill/>
        </p:spPr>
        <p:txBody>
          <a:bodyPr wrap="square" anchor="t" lIns="0" rIns="0" tIns="0" bIns="0">
            <a:spAutoFit/>
          </a:bodyPr>
          <a:lstStyle/>
          <a:p>
            <a:pPr algn="l">
              <a:lnSpc>
                <a:spcPct val="105000"/>
              </a:lnSpc>
              <a:spcBef>
                <a:spcPts val="0"/>
              </a:spcBef>
              <a:spcAft>
                <a:spcPts val="600"/>
              </a:spcAft>
            </a:pPr>
            <a:r>
              <a:rPr sz="2500" b="1" i="0">
                <a:solidFill>
                  <a:srgbClr val="1F3A5F"/>
                </a:solidFill>
                <a:latin typeface="Calibri"/>
              </a:rPr>
              <a:t>Keeping it safe — layers of defense</a:t>
            </a:r>
          </a:p>
        </p:txBody>
      </p:sp>
      <p:sp>
        <p:nvSpPr>
          <p:cNvPr id="5" name="Rectangle 4"/>
          <p:cNvSpPr/>
          <p:nvPr/>
        </p:nvSpPr>
        <p:spPr>
          <a:xfrm>
            <a:off x="658368" y="1115568"/>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55664"/>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9</a:t>
            </a:r>
          </a:p>
        </p:txBody>
      </p:sp>
      <p:sp>
        <p:nvSpPr>
          <p:cNvPr id="7" name="TextBox 6"/>
          <p:cNvSpPr txBox="1"/>
          <p:nvPr/>
        </p:nvSpPr>
        <p:spPr>
          <a:xfrm>
            <a:off x="640080" y="6455664"/>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Enterprise LLMOps on Azure — technical overview</a:t>
            </a:r>
          </a:p>
        </p:txBody>
      </p:sp>
      <p:sp>
        <p:nvSpPr>
          <p:cNvPr id="8" name="Rounded Rectangle 7"/>
          <p:cNvSpPr/>
          <p:nvPr/>
        </p:nvSpPr>
        <p:spPr>
          <a:xfrm>
            <a:off x="2011680" y="1371600"/>
            <a:ext cx="8229600" cy="585216"/>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40280" y="1371600"/>
            <a:ext cx="2651760" cy="585216"/>
          </a:xfrm>
          <a:prstGeom prst="rect">
            <a:avLst/>
          </a:prstGeom>
          <a:noFill/>
        </p:spPr>
        <p:txBody>
          <a:bodyPr wrap="square" anchor="ctr" lIns="0" rIns="0" tIns="0" bIns="0">
            <a:spAutoFit/>
          </a:bodyPr>
          <a:lstStyle/>
          <a:p>
            <a:pPr algn="l">
              <a:lnSpc>
                <a:spcPct val="105000"/>
              </a:lnSpc>
              <a:spcBef>
                <a:spcPts val="0"/>
              </a:spcBef>
              <a:spcAft>
                <a:spcPts val="600"/>
              </a:spcAft>
            </a:pPr>
            <a:r>
              <a:rPr sz="1300" b="1" i="0">
                <a:solidFill>
                  <a:srgbClr val="1F3A5F"/>
                </a:solidFill>
                <a:latin typeface="Calibri"/>
              </a:rPr>
              <a:t>Identity &amp; network</a:t>
            </a:r>
          </a:p>
        </p:txBody>
      </p:sp>
      <p:sp>
        <p:nvSpPr>
          <p:cNvPr id="10" name="TextBox 9"/>
          <p:cNvSpPr txBox="1"/>
          <p:nvPr/>
        </p:nvSpPr>
        <p:spPr>
          <a:xfrm>
            <a:off x="5029200" y="1371600"/>
            <a:ext cx="5029200" cy="585216"/>
          </a:xfrm>
          <a:prstGeom prst="rect">
            <a:avLst/>
          </a:prstGeom>
          <a:noFill/>
        </p:spPr>
        <p:txBody>
          <a:bodyPr wrap="square" anchor="ctr" lIns="0" rIns="0" tIns="0" bIns="0">
            <a:spAutoFit/>
          </a:bodyPr>
          <a:lstStyle/>
          <a:p>
            <a:pPr algn="l">
              <a:lnSpc>
                <a:spcPct val="105000"/>
              </a:lnSpc>
              <a:spcBef>
                <a:spcPts val="0"/>
              </a:spcBef>
              <a:spcAft>
                <a:spcPts val="600"/>
              </a:spcAft>
            </a:pPr>
            <a:r>
              <a:rPr sz="1150" b="0" i="0">
                <a:solidFill>
                  <a:srgbClr val="3C4654"/>
                </a:solidFill>
                <a:latin typeface="Calibri"/>
              </a:rPr>
              <a:t>Entra ID sign-in, private network, no public exposure</a:t>
            </a:r>
          </a:p>
        </p:txBody>
      </p:sp>
      <p:sp>
        <p:nvSpPr>
          <p:cNvPr id="11" name="Rectangle 10"/>
          <p:cNvSpPr/>
          <p:nvPr/>
        </p:nvSpPr>
        <p:spPr>
          <a:xfrm>
            <a:off x="1737360" y="1371600"/>
            <a:ext cx="128016" cy="58521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011680" y="2029968"/>
            <a:ext cx="8229600" cy="585216"/>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40280" y="2029968"/>
            <a:ext cx="2651760" cy="585216"/>
          </a:xfrm>
          <a:prstGeom prst="rect">
            <a:avLst/>
          </a:prstGeom>
          <a:noFill/>
        </p:spPr>
        <p:txBody>
          <a:bodyPr wrap="square" anchor="ctr" lIns="0" rIns="0" tIns="0" bIns="0">
            <a:spAutoFit/>
          </a:bodyPr>
          <a:lstStyle/>
          <a:p>
            <a:pPr algn="l">
              <a:lnSpc>
                <a:spcPct val="105000"/>
              </a:lnSpc>
              <a:spcBef>
                <a:spcPts val="0"/>
              </a:spcBef>
              <a:spcAft>
                <a:spcPts val="600"/>
              </a:spcAft>
            </a:pPr>
            <a:r>
              <a:rPr sz="1300" b="1" i="0">
                <a:solidFill>
                  <a:srgbClr val="1F3A5F"/>
                </a:solidFill>
                <a:latin typeface="Calibri"/>
              </a:rPr>
              <a:t>Gateway limits</a:t>
            </a:r>
          </a:p>
        </p:txBody>
      </p:sp>
      <p:sp>
        <p:nvSpPr>
          <p:cNvPr id="14" name="TextBox 13"/>
          <p:cNvSpPr txBox="1"/>
          <p:nvPr/>
        </p:nvSpPr>
        <p:spPr>
          <a:xfrm>
            <a:off x="5029200" y="2029968"/>
            <a:ext cx="5029200" cy="585216"/>
          </a:xfrm>
          <a:prstGeom prst="rect">
            <a:avLst/>
          </a:prstGeom>
          <a:noFill/>
        </p:spPr>
        <p:txBody>
          <a:bodyPr wrap="square" anchor="ctr" lIns="0" rIns="0" tIns="0" bIns="0">
            <a:spAutoFit/>
          </a:bodyPr>
          <a:lstStyle/>
          <a:p>
            <a:pPr algn="l">
              <a:lnSpc>
                <a:spcPct val="105000"/>
              </a:lnSpc>
              <a:spcBef>
                <a:spcPts val="0"/>
              </a:spcBef>
              <a:spcAft>
                <a:spcPts val="600"/>
              </a:spcAft>
            </a:pPr>
            <a:r>
              <a:rPr sz="1150" b="0" i="0">
                <a:solidFill>
                  <a:srgbClr val="3C4654"/>
                </a:solidFill>
                <a:latin typeface="Calibri"/>
              </a:rPr>
              <a:t>Azure API Management — keys, rate limits, quotas</a:t>
            </a:r>
          </a:p>
        </p:txBody>
      </p:sp>
      <p:sp>
        <p:nvSpPr>
          <p:cNvPr id="15" name="Rectangle 14"/>
          <p:cNvSpPr/>
          <p:nvPr/>
        </p:nvSpPr>
        <p:spPr>
          <a:xfrm>
            <a:off x="1737360" y="2029968"/>
            <a:ext cx="128016" cy="58521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011680" y="2688336"/>
            <a:ext cx="8229600" cy="585216"/>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40280" y="2688336"/>
            <a:ext cx="2651760" cy="585216"/>
          </a:xfrm>
          <a:prstGeom prst="rect">
            <a:avLst/>
          </a:prstGeom>
          <a:noFill/>
        </p:spPr>
        <p:txBody>
          <a:bodyPr wrap="square" anchor="ctr" lIns="0" rIns="0" tIns="0" bIns="0">
            <a:spAutoFit/>
          </a:bodyPr>
          <a:lstStyle/>
          <a:p>
            <a:pPr algn="l">
              <a:lnSpc>
                <a:spcPct val="105000"/>
              </a:lnSpc>
              <a:spcBef>
                <a:spcPts val="0"/>
              </a:spcBef>
              <a:spcAft>
                <a:spcPts val="600"/>
              </a:spcAft>
            </a:pPr>
            <a:r>
              <a:rPr sz="1300" b="1" i="0">
                <a:solidFill>
                  <a:srgbClr val="1F3A5F"/>
                </a:solidFill>
                <a:latin typeface="Calibri"/>
              </a:rPr>
              <a:t>Input checks</a:t>
            </a:r>
          </a:p>
        </p:txBody>
      </p:sp>
      <p:sp>
        <p:nvSpPr>
          <p:cNvPr id="18" name="TextBox 17"/>
          <p:cNvSpPr txBox="1"/>
          <p:nvPr/>
        </p:nvSpPr>
        <p:spPr>
          <a:xfrm>
            <a:off x="5029200" y="2688336"/>
            <a:ext cx="5029200" cy="585216"/>
          </a:xfrm>
          <a:prstGeom prst="rect">
            <a:avLst/>
          </a:prstGeom>
          <a:noFill/>
        </p:spPr>
        <p:txBody>
          <a:bodyPr wrap="square" anchor="ctr" lIns="0" rIns="0" tIns="0" bIns="0">
            <a:spAutoFit/>
          </a:bodyPr>
          <a:lstStyle/>
          <a:p>
            <a:pPr algn="l">
              <a:lnSpc>
                <a:spcPct val="105000"/>
              </a:lnSpc>
              <a:spcBef>
                <a:spcPts val="0"/>
              </a:spcBef>
              <a:spcAft>
                <a:spcPts val="600"/>
              </a:spcAft>
            </a:pPr>
            <a:r>
              <a:rPr sz="1150" b="0" i="0">
                <a:solidFill>
                  <a:srgbClr val="3C4654"/>
                </a:solidFill>
                <a:latin typeface="Calibri"/>
              </a:rPr>
              <a:t>Azure AI Content Safety — block unsafe or malicious prompts</a:t>
            </a:r>
          </a:p>
        </p:txBody>
      </p:sp>
      <p:sp>
        <p:nvSpPr>
          <p:cNvPr id="19" name="Rectangle 18"/>
          <p:cNvSpPr/>
          <p:nvPr/>
        </p:nvSpPr>
        <p:spPr>
          <a:xfrm>
            <a:off x="1737360" y="2688336"/>
            <a:ext cx="128016" cy="58521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011680" y="3346704"/>
            <a:ext cx="8229600" cy="585216"/>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40280" y="3346704"/>
            <a:ext cx="2651760" cy="585216"/>
          </a:xfrm>
          <a:prstGeom prst="rect">
            <a:avLst/>
          </a:prstGeom>
          <a:noFill/>
        </p:spPr>
        <p:txBody>
          <a:bodyPr wrap="square" anchor="ctr" lIns="0" rIns="0" tIns="0" bIns="0">
            <a:spAutoFit/>
          </a:bodyPr>
          <a:lstStyle/>
          <a:p>
            <a:pPr algn="l">
              <a:lnSpc>
                <a:spcPct val="105000"/>
              </a:lnSpc>
              <a:spcBef>
                <a:spcPts val="0"/>
              </a:spcBef>
              <a:spcAft>
                <a:spcPts val="600"/>
              </a:spcAft>
            </a:pPr>
            <a:r>
              <a:rPr sz="1300" b="1" i="0">
                <a:solidFill>
                  <a:srgbClr val="1F3A5F"/>
                </a:solidFill>
                <a:latin typeface="Calibri"/>
              </a:rPr>
              <a:t>Least access</a:t>
            </a:r>
          </a:p>
        </p:txBody>
      </p:sp>
      <p:sp>
        <p:nvSpPr>
          <p:cNvPr id="22" name="TextBox 21"/>
          <p:cNvSpPr txBox="1"/>
          <p:nvPr/>
        </p:nvSpPr>
        <p:spPr>
          <a:xfrm>
            <a:off x="5029200" y="3346704"/>
            <a:ext cx="5029200" cy="585216"/>
          </a:xfrm>
          <a:prstGeom prst="rect">
            <a:avLst/>
          </a:prstGeom>
          <a:noFill/>
        </p:spPr>
        <p:txBody>
          <a:bodyPr wrap="square" anchor="ctr" lIns="0" rIns="0" tIns="0" bIns="0">
            <a:spAutoFit/>
          </a:bodyPr>
          <a:lstStyle/>
          <a:p>
            <a:pPr algn="l">
              <a:lnSpc>
                <a:spcPct val="105000"/>
              </a:lnSpc>
              <a:spcBef>
                <a:spcPts val="0"/>
              </a:spcBef>
              <a:spcAft>
                <a:spcPts val="600"/>
              </a:spcAft>
            </a:pPr>
            <a:r>
              <a:rPr sz="1150" b="0" i="0">
                <a:solidFill>
                  <a:srgbClr val="3C4654"/>
                </a:solidFill>
                <a:latin typeface="Calibri"/>
              </a:rPr>
              <a:t>tools and data limited to only what is needed; human approval for sensitive actions</a:t>
            </a:r>
          </a:p>
        </p:txBody>
      </p:sp>
      <p:sp>
        <p:nvSpPr>
          <p:cNvPr id="23" name="Rectangle 22"/>
          <p:cNvSpPr/>
          <p:nvPr/>
        </p:nvSpPr>
        <p:spPr>
          <a:xfrm>
            <a:off x="1737360" y="3346704"/>
            <a:ext cx="128016" cy="58521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011680" y="4005072"/>
            <a:ext cx="8229600" cy="585216"/>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40280" y="4005072"/>
            <a:ext cx="2651760" cy="585216"/>
          </a:xfrm>
          <a:prstGeom prst="rect">
            <a:avLst/>
          </a:prstGeom>
          <a:noFill/>
        </p:spPr>
        <p:txBody>
          <a:bodyPr wrap="square" anchor="ctr" lIns="0" rIns="0" tIns="0" bIns="0">
            <a:spAutoFit/>
          </a:bodyPr>
          <a:lstStyle/>
          <a:p>
            <a:pPr algn="l">
              <a:lnSpc>
                <a:spcPct val="105000"/>
              </a:lnSpc>
              <a:spcBef>
                <a:spcPts val="0"/>
              </a:spcBef>
              <a:spcAft>
                <a:spcPts val="600"/>
              </a:spcAft>
            </a:pPr>
            <a:r>
              <a:rPr sz="1300" b="1" i="0">
                <a:solidFill>
                  <a:srgbClr val="1F3A5F"/>
                </a:solidFill>
                <a:latin typeface="Calibri"/>
              </a:rPr>
              <a:t>Output checks</a:t>
            </a:r>
          </a:p>
        </p:txBody>
      </p:sp>
      <p:sp>
        <p:nvSpPr>
          <p:cNvPr id="26" name="TextBox 25"/>
          <p:cNvSpPr txBox="1"/>
          <p:nvPr/>
        </p:nvSpPr>
        <p:spPr>
          <a:xfrm>
            <a:off x="5029200" y="4005072"/>
            <a:ext cx="5029200" cy="585216"/>
          </a:xfrm>
          <a:prstGeom prst="rect">
            <a:avLst/>
          </a:prstGeom>
          <a:noFill/>
        </p:spPr>
        <p:txBody>
          <a:bodyPr wrap="square" anchor="ctr" lIns="0" rIns="0" tIns="0" bIns="0">
            <a:spAutoFit/>
          </a:bodyPr>
          <a:lstStyle/>
          <a:p>
            <a:pPr algn="l">
              <a:lnSpc>
                <a:spcPct val="105000"/>
              </a:lnSpc>
              <a:spcBef>
                <a:spcPts val="0"/>
              </a:spcBef>
              <a:spcAft>
                <a:spcPts val="600"/>
              </a:spcAft>
            </a:pPr>
            <a:r>
              <a:rPr sz="1150" b="0" i="0">
                <a:solidFill>
                  <a:srgbClr val="3C4654"/>
                </a:solidFill>
                <a:latin typeface="Calibri"/>
              </a:rPr>
              <a:t>filter unsafe content, hide personal data (PII) before it leaves</a:t>
            </a:r>
          </a:p>
        </p:txBody>
      </p:sp>
      <p:sp>
        <p:nvSpPr>
          <p:cNvPr id="27" name="Rectangle 26"/>
          <p:cNvSpPr/>
          <p:nvPr/>
        </p:nvSpPr>
        <p:spPr>
          <a:xfrm>
            <a:off x="1737360" y="4005072"/>
            <a:ext cx="128016" cy="58521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011680" y="4663440"/>
            <a:ext cx="8229600" cy="585216"/>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40280" y="4663440"/>
            <a:ext cx="2651760" cy="585216"/>
          </a:xfrm>
          <a:prstGeom prst="rect">
            <a:avLst/>
          </a:prstGeom>
          <a:noFill/>
        </p:spPr>
        <p:txBody>
          <a:bodyPr wrap="square" anchor="ctr" lIns="0" rIns="0" tIns="0" bIns="0">
            <a:spAutoFit/>
          </a:bodyPr>
          <a:lstStyle/>
          <a:p>
            <a:pPr algn="l">
              <a:lnSpc>
                <a:spcPct val="105000"/>
              </a:lnSpc>
              <a:spcBef>
                <a:spcPts val="0"/>
              </a:spcBef>
              <a:spcAft>
                <a:spcPts val="600"/>
              </a:spcAft>
            </a:pPr>
            <a:r>
              <a:rPr sz="1300" b="1" i="0">
                <a:solidFill>
                  <a:srgbClr val="1F3A5F"/>
                </a:solidFill>
                <a:latin typeface="Calibri"/>
              </a:rPr>
              <a:t>Monitor &amp; respond</a:t>
            </a:r>
          </a:p>
        </p:txBody>
      </p:sp>
      <p:sp>
        <p:nvSpPr>
          <p:cNvPr id="30" name="TextBox 29"/>
          <p:cNvSpPr txBox="1"/>
          <p:nvPr/>
        </p:nvSpPr>
        <p:spPr>
          <a:xfrm>
            <a:off x="5029200" y="4663440"/>
            <a:ext cx="5029200" cy="585216"/>
          </a:xfrm>
          <a:prstGeom prst="rect">
            <a:avLst/>
          </a:prstGeom>
          <a:noFill/>
        </p:spPr>
        <p:txBody>
          <a:bodyPr wrap="square" anchor="ctr" lIns="0" rIns="0" tIns="0" bIns="0">
            <a:spAutoFit/>
          </a:bodyPr>
          <a:lstStyle/>
          <a:p>
            <a:pPr algn="l">
              <a:lnSpc>
                <a:spcPct val="105000"/>
              </a:lnSpc>
              <a:spcBef>
                <a:spcPts val="0"/>
              </a:spcBef>
              <a:spcAft>
                <a:spcPts val="600"/>
              </a:spcAft>
            </a:pPr>
            <a:r>
              <a:rPr sz="1150" b="0" i="0">
                <a:solidFill>
                  <a:srgbClr val="3C4654"/>
                </a:solidFill>
                <a:latin typeface="Calibri"/>
              </a:rPr>
              <a:t>Microsoft Defender for Cloud, alerts, and an audit trail</a:t>
            </a:r>
          </a:p>
        </p:txBody>
      </p:sp>
      <p:sp>
        <p:nvSpPr>
          <p:cNvPr id="31" name="Rectangle 30"/>
          <p:cNvSpPr/>
          <p:nvPr/>
        </p:nvSpPr>
        <p:spPr>
          <a:xfrm>
            <a:off x="1737360" y="4663440"/>
            <a:ext cx="128016" cy="58521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737360" y="5358384"/>
            <a:ext cx="8503920" cy="457200"/>
          </a:xfrm>
          <a:prstGeom prst="rect">
            <a:avLst/>
          </a:prstGeom>
          <a:noFill/>
        </p:spPr>
        <p:txBody>
          <a:bodyPr wrap="square" anchor="t" lIns="0" rIns="0" tIns="0" bIns="0">
            <a:spAutoFit/>
          </a:bodyPr>
          <a:lstStyle/>
          <a:p>
            <a:pPr algn="l">
              <a:lnSpc>
                <a:spcPct val="105000"/>
              </a:lnSpc>
              <a:spcBef>
                <a:spcPts val="0"/>
              </a:spcBef>
              <a:spcAft>
                <a:spcPts val="600"/>
              </a:spcAft>
            </a:pPr>
            <a:r>
              <a:rPr sz="1250" b="1" i="1">
                <a:solidFill>
                  <a:srgbClr val="1F3A5F"/>
                </a:solidFill>
                <a:latin typeface="Calibri"/>
              </a:rPr>
              <a:t>Rule of thumb: treat everything going in and coming out of the model as untrusted, and check both.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10896"/>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QUALITY &amp; MONITORING</a:t>
            </a:r>
          </a:p>
        </p:txBody>
      </p:sp>
      <p:sp>
        <p:nvSpPr>
          <p:cNvPr id="4" name="TextBox 3"/>
          <p:cNvSpPr txBox="1"/>
          <p:nvPr/>
        </p:nvSpPr>
        <p:spPr>
          <a:xfrm>
            <a:off x="640080" y="530352"/>
            <a:ext cx="10881360" cy="640080"/>
          </a:xfrm>
          <a:prstGeom prst="rect">
            <a:avLst/>
          </a:prstGeom>
          <a:noFill/>
        </p:spPr>
        <p:txBody>
          <a:bodyPr wrap="square" anchor="t" lIns="0" rIns="0" tIns="0" bIns="0">
            <a:spAutoFit/>
          </a:bodyPr>
          <a:lstStyle/>
          <a:p>
            <a:pPr algn="l">
              <a:lnSpc>
                <a:spcPct val="105000"/>
              </a:lnSpc>
              <a:spcBef>
                <a:spcPts val="0"/>
              </a:spcBef>
              <a:spcAft>
                <a:spcPts val="600"/>
              </a:spcAft>
            </a:pPr>
            <a:r>
              <a:rPr sz="2500" b="1" i="0">
                <a:solidFill>
                  <a:srgbClr val="1F3A5F"/>
                </a:solidFill>
                <a:latin typeface="Calibri"/>
              </a:rPr>
              <a:t>Making sure answers stay good, and watching them run</a:t>
            </a:r>
          </a:p>
        </p:txBody>
      </p:sp>
      <p:sp>
        <p:nvSpPr>
          <p:cNvPr id="5" name="Rectangle 4"/>
          <p:cNvSpPr/>
          <p:nvPr/>
        </p:nvSpPr>
        <p:spPr>
          <a:xfrm>
            <a:off x="658368" y="1115568"/>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55664"/>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10</a:t>
            </a:r>
          </a:p>
        </p:txBody>
      </p:sp>
      <p:sp>
        <p:nvSpPr>
          <p:cNvPr id="7" name="TextBox 6"/>
          <p:cNvSpPr txBox="1"/>
          <p:nvPr/>
        </p:nvSpPr>
        <p:spPr>
          <a:xfrm>
            <a:off x="640080" y="6455664"/>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Enterprise LLMOps on Azure — technical overview</a:t>
            </a:r>
          </a:p>
        </p:txBody>
      </p:sp>
      <p:sp>
        <p:nvSpPr>
          <p:cNvPr id="8" name="Rounded Rectangle 7"/>
          <p:cNvSpPr/>
          <p:nvPr/>
        </p:nvSpPr>
        <p:spPr>
          <a:xfrm>
            <a:off x="640080" y="1417320"/>
            <a:ext cx="5394960" cy="416052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Evaluation (before release)</a:t>
            </a:r>
          </a:p>
        </p:txBody>
      </p:sp>
      <p:sp>
        <p:nvSpPr>
          <p:cNvPr id="9" name="TextBox 8"/>
          <p:cNvSpPr txBox="1"/>
          <p:nvPr/>
        </p:nvSpPr>
        <p:spPr>
          <a:xfrm>
            <a:off x="868680" y="1920240"/>
            <a:ext cx="4983480" cy="3657600"/>
          </a:xfrm>
          <a:prstGeom prst="rect">
            <a:avLst/>
          </a:prstGeom>
          <a:noFill/>
        </p:spPr>
        <p:txBody>
          <a:bodyPr wrap="square" lIns="0" tIns="0">
            <a:spAutoFit/>
          </a:bodyPr>
          <a:lstStyle/>
          <a:p>
            <a:pPr>
              <a:lnSpc>
                <a:spcPct val="106000"/>
              </a:lnSpc>
              <a:spcBef>
                <a:spcPts val="0"/>
              </a:spcBef>
              <a:spcAft>
                <a:spcPts val="1200"/>
              </a:spcAft>
            </a:pPr>
            <a:r>
              <a:rPr sz="1350" b="0">
                <a:solidFill>
                  <a:srgbClr val="3C4654"/>
                </a:solidFill>
                <a:latin typeface="Calibri"/>
              </a:rPr>
              <a:t>•  Test answers with example questions and expected results.</a:t>
            </a:r>
          </a:p>
          <a:p>
            <a:pPr>
              <a:lnSpc>
                <a:spcPct val="106000"/>
              </a:lnSpc>
              <a:spcBef>
                <a:spcPts val="0"/>
              </a:spcBef>
              <a:spcAft>
                <a:spcPts val="1200"/>
              </a:spcAft>
            </a:pPr>
            <a:r>
              <a:rPr sz="1350" b="0">
                <a:solidFill>
                  <a:srgbClr val="3C4654"/>
                </a:solidFill>
                <a:latin typeface="Calibri"/>
              </a:rPr>
              <a:t>•  Score for: correct, on-topic, and answered from our data.</a:t>
            </a:r>
          </a:p>
          <a:p>
            <a:pPr>
              <a:lnSpc>
                <a:spcPct val="106000"/>
              </a:lnSpc>
              <a:spcBef>
                <a:spcPts val="0"/>
              </a:spcBef>
              <a:spcAft>
                <a:spcPts val="1200"/>
              </a:spcAft>
            </a:pPr>
            <a:r>
              <a:rPr sz="1350" b="0">
                <a:solidFill>
                  <a:srgbClr val="3C4654"/>
                </a:solidFill>
                <a:latin typeface="Calibri"/>
              </a:rPr>
              <a:t>•  Every release is checked against a saved test set, so quality does not slip.</a:t>
            </a:r>
          </a:p>
          <a:p>
            <a:pPr>
              <a:lnSpc>
                <a:spcPct val="106000"/>
              </a:lnSpc>
              <a:spcBef>
                <a:spcPts val="0"/>
              </a:spcBef>
              <a:spcAft>
                <a:spcPts val="1200"/>
              </a:spcAft>
            </a:pPr>
            <a:r>
              <a:rPr sz="1350" b="1">
                <a:solidFill>
                  <a:srgbClr val="1F3A5F"/>
                </a:solidFill>
                <a:latin typeface="Calibri"/>
              </a:rPr>
              <a:t>•  Azure: Azure AI Foundry evaluations run these checks in the pipeline.</a:t>
            </a:r>
          </a:p>
        </p:txBody>
      </p:sp>
      <p:sp>
        <p:nvSpPr>
          <p:cNvPr id="10" name="Rounded Rectangle 9"/>
          <p:cNvSpPr/>
          <p:nvPr/>
        </p:nvSpPr>
        <p:spPr>
          <a:xfrm>
            <a:off x="6309360" y="1417320"/>
            <a:ext cx="5330952" cy="416052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Observability (in production)</a:t>
            </a:r>
          </a:p>
        </p:txBody>
      </p:sp>
      <p:sp>
        <p:nvSpPr>
          <p:cNvPr id="11" name="TextBox 10"/>
          <p:cNvSpPr txBox="1"/>
          <p:nvPr/>
        </p:nvSpPr>
        <p:spPr>
          <a:xfrm>
            <a:off x="6537960" y="1920240"/>
            <a:ext cx="4937760" cy="3657600"/>
          </a:xfrm>
          <a:prstGeom prst="rect">
            <a:avLst/>
          </a:prstGeom>
          <a:noFill/>
        </p:spPr>
        <p:txBody>
          <a:bodyPr wrap="square" lIns="0" tIns="0">
            <a:spAutoFit/>
          </a:bodyPr>
          <a:lstStyle/>
          <a:p>
            <a:pPr>
              <a:lnSpc>
                <a:spcPct val="106000"/>
              </a:lnSpc>
              <a:spcBef>
                <a:spcPts val="0"/>
              </a:spcBef>
              <a:spcAft>
                <a:spcPts val="1200"/>
              </a:spcAft>
            </a:pPr>
            <a:r>
              <a:rPr sz="1350" b="0">
                <a:solidFill>
                  <a:srgbClr val="3C4654"/>
                </a:solidFill>
                <a:latin typeface="Calibri"/>
              </a:rPr>
              <a:t>•  Watch quality, speed, errors, and cost of every request.</a:t>
            </a:r>
          </a:p>
          <a:p>
            <a:pPr>
              <a:lnSpc>
                <a:spcPct val="106000"/>
              </a:lnSpc>
              <a:spcBef>
                <a:spcPts val="0"/>
              </a:spcBef>
              <a:spcAft>
                <a:spcPts val="1200"/>
              </a:spcAft>
            </a:pPr>
            <a:r>
              <a:rPr sz="1350" b="0">
                <a:solidFill>
                  <a:srgbClr val="3C4654"/>
                </a:solidFill>
                <a:latin typeface="Calibri"/>
              </a:rPr>
              <a:t>•  Traces show each step the agents took, for troubleshooting.</a:t>
            </a:r>
          </a:p>
          <a:p>
            <a:pPr>
              <a:lnSpc>
                <a:spcPct val="106000"/>
              </a:lnSpc>
              <a:spcBef>
                <a:spcPts val="0"/>
              </a:spcBef>
              <a:spcAft>
                <a:spcPts val="1200"/>
              </a:spcAft>
            </a:pPr>
            <a:r>
              <a:rPr sz="1350" b="0">
                <a:solidFill>
                  <a:srgbClr val="3C4654"/>
                </a:solidFill>
                <a:latin typeface="Calibri"/>
              </a:rPr>
              <a:t>•  Alerts fire when something drifts or breaks.</a:t>
            </a:r>
          </a:p>
          <a:p>
            <a:pPr>
              <a:lnSpc>
                <a:spcPct val="106000"/>
              </a:lnSpc>
              <a:spcBef>
                <a:spcPts val="0"/>
              </a:spcBef>
              <a:spcAft>
                <a:spcPts val="1200"/>
              </a:spcAft>
            </a:pPr>
            <a:r>
              <a:rPr sz="1350" b="1">
                <a:solidFill>
                  <a:srgbClr val="1F3A5F"/>
                </a:solidFill>
                <a:latin typeface="Calibri"/>
              </a:rPr>
              <a:t>•  Azure: Azure Monitor + Application Insights, using OpenTelemetry (an open tracing standard).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10896"/>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DELIVERY</a:t>
            </a:r>
          </a:p>
        </p:txBody>
      </p:sp>
      <p:sp>
        <p:nvSpPr>
          <p:cNvPr id="4" name="TextBox 3"/>
          <p:cNvSpPr txBox="1"/>
          <p:nvPr/>
        </p:nvSpPr>
        <p:spPr>
          <a:xfrm>
            <a:off x="640080" y="530352"/>
            <a:ext cx="10881360" cy="640080"/>
          </a:xfrm>
          <a:prstGeom prst="rect">
            <a:avLst/>
          </a:prstGeom>
          <a:noFill/>
        </p:spPr>
        <p:txBody>
          <a:bodyPr wrap="square" anchor="t" lIns="0" rIns="0" tIns="0" bIns="0">
            <a:spAutoFit/>
          </a:bodyPr>
          <a:lstStyle/>
          <a:p>
            <a:pPr algn="l">
              <a:lnSpc>
                <a:spcPct val="105000"/>
              </a:lnSpc>
              <a:spcBef>
                <a:spcPts val="0"/>
              </a:spcBef>
              <a:spcAft>
                <a:spcPts val="600"/>
              </a:spcAft>
            </a:pPr>
            <a:r>
              <a:rPr sz="2500" b="1" i="0">
                <a:solidFill>
                  <a:srgbClr val="1F3A5F"/>
                </a:solidFill>
                <a:latin typeface="Calibri"/>
              </a:rPr>
              <a:t>How changes are tested and shipped (CI/CD)</a:t>
            </a:r>
          </a:p>
        </p:txBody>
      </p:sp>
      <p:sp>
        <p:nvSpPr>
          <p:cNvPr id="5" name="Rectangle 4"/>
          <p:cNvSpPr/>
          <p:nvPr/>
        </p:nvSpPr>
        <p:spPr>
          <a:xfrm>
            <a:off x="658368" y="1115568"/>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55664"/>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11</a:t>
            </a:r>
          </a:p>
        </p:txBody>
      </p:sp>
      <p:sp>
        <p:nvSpPr>
          <p:cNvPr id="7" name="TextBox 6"/>
          <p:cNvSpPr txBox="1"/>
          <p:nvPr/>
        </p:nvSpPr>
        <p:spPr>
          <a:xfrm>
            <a:off x="640080" y="6455664"/>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Enterprise LLMOps on Azure — technical overview</a:t>
            </a:r>
          </a:p>
        </p:txBody>
      </p:sp>
      <p:sp>
        <p:nvSpPr>
          <p:cNvPr id="8" name="TextBox 7"/>
          <p:cNvSpPr txBox="1"/>
          <p:nvPr/>
        </p:nvSpPr>
        <p:spPr>
          <a:xfrm>
            <a:off x="685800" y="1188720"/>
            <a:ext cx="10789920" cy="411480"/>
          </a:xfrm>
          <a:prstGeom prst="rect">
            <a:avLst/>
          </a:prstGeom>
          <a:noFill/>
        </p:spPr>
        <p:txBody>
          <a:bodyPr wrap="square" anchor="t" lIns="0" rIns="0" tIns="0" bIns="0">
            <a:spAutoFit/>
          </a:bodyPr>
          <a:lstStyle/>
          <a:p>
            <a:pPr algn="l">
              <a:lnSpc>
                <a:spcPct val="105000"/>
              </a:lnSpc>
              <a:spcBef>
                <a:spcPts val="0"/>
              </a:spcBef>
              <a:spcAft>
                <a:spcPts val="600"/>
              </a:spcAft>
            </a:pPr>
            <a:r>
              <a:rPr sz="1300" b="0" i="1">
                <a:solidFill>
                  <a:srgbClr val="3C4654"/>
                </a:solidFill>
                <a:latin typeface="Calibri"/>
              </a:rPr>
              <a:t>CI/CD = Continuous Integration / Continuous Delivery: an automated pipeline that tests every change and releases it safely.</a:t>
            </a:r>
          </a:p>
        </p:txBody>
      </p:sp>
      <p:sp>
        <p:nvSpPr>
          <p:cNvPr id="9" name="Rounded Rectangle 8"/>
          <p:cNvSpPr/>
          <p:nvPr/>
        </p:nvSpPr>
        <p:spPr>
          <a:xfrm>
            <a:off x="640080" y="2148840"/>
            <a:ext cx="1965960" cy="11430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Change</a:t>
            </a:r>
          </a:p>
          <a:p>
            <a:pPr algn="ctr">
              <a:lnSpc>
                <a:spcPct val="100000"/>
              </a:lnSpc>
              <a:spcAft>
                <a:spcPts val="100"/>
              </a:spcAft>
            </a:pPr>
            <a:r>
              <a:rPr sz="1000" b="0">
                <a:solidFill>
                  <a:srgbClr val="3C4654"/>
                </a:solidFill>
                <a:latin typeface="Calibri"/>
              </a:rPr>
              <a:t>edit agent/prompt</a:t>
            </a:r>
          </a:p>
        </p:txBody>
      </p:sp>
      <p:sp>
        <p:nvSpPr>
          <p:cNvPr id="10" name="Right Arrow 9"/>
          <p:cNvSpPr/>
          <p:nvPr/>
        </p:nvSpPr>
        <p:spPr>
          <a:xfrm>
            <a:off x="2596896" y="2583180"/>
            <a:ext cx="31089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62072" y="2148840"/>
            <a:ext cx="1965960" cy="11430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Build</a:t>
            </a:r>
          </a:p>
          <a:p>
            <a:pPr algn="ctr">
              <a:lnSpc>
                <a:spcPct val="100000"/>
              </a:lnSpc>
              <a:spcAft>
                <a:spcPts val="100"/>
              </a:spcAft>
            </a:pPr>
            <a:r>
              <a:rPr sz="1000" b="0">
                <a:solidFill>
                  <a:srgbClr val="3C4654"/>
                </a:solidFill>
                <a:latin typeface="Calibri"/>
              </a:rPr>
              <a:t>package as code</a:t>
            </a:r>
          </a:p>
        </p:txBody>
      </p:sp>
      <p:sp>
        <p:nvSpPr>
          <p:cNvPr id="12" name="Right Arrow 11"/>
          <p:cNvSpPr/>
          <p:nvPr/>
        </p:nvSpPr>
        <p:spPr>
          <a:xfrm>
            <a:off x="4818888" y="2583180"/>
            <a:ext cx="31089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84064" y="2148840"/>
            <a:ext cx="1965960" cy="1143000"/>
          </a:xfrm>
          <a:prstGeom prst="roundRect">
            <a:avLst>
              <a:gd name="adj" fmla="val 8000"/>
            </a:avLst>
          </a:prstGeom>
          <a:solidFill>
            <a:srgbClr val="F6E9E0"/>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C87B1E"/>
                </a:solidFill>
                <a:latin typeface="Calibri"/>
              </a:rPr>
              <a:t>Test gates</a:t>
            </a:r>
          </a:p>
          <a:p>
            <a:pPr algn="ctr">
              <a:lnSpc>
                <a:spcPct val="100000"/>
              </a:lnSpc>
              <a:spcAft>
                <a:spcPts val="100"/>
              </a:spcAft>
            </a:pPr>
            <a:r>
              <a:rPr sz="1000" b="0">
                <a:solidFill>
                  <a:srgbClr val="3C4654"/>
                </a:solidFill>
                <a:latin typeface="Calibri"/>
              </a:rPr>
              <a:t>quality · safety · cost</a:t>
            </a:r>
          </a:p>
        </p:txBody>
      </p:sp>
      <p:sp>
        <p:nvSpPr>
          <p:cNvPr id="14" name="Right Arrow 13"/>
          <p:cNvSpPr/>
          <p:nvPr/>
        </p:nvSpPr>
        <p:spPr>
          <a:xfrm>
            <a:off x="7040880" y="2583180"/>
            <a:ext cx="31089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06056" y="2148840"/>
            <a:ext cx="1965960" cy="11430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Release</a:t>
            </a:r>
          </a:p>
          <a:p>
            <a:pPr algn="ctr">
              <a:lnSpc>
                <a:spcPct val="100000"/>
              </a:lnSpc>
              <a:spcAft>
                <a:spcPts val="100"/>
              </a:spcAft>
            </a:pPr>
            <a:r>
              <a:rPr sz="1000" b="0">
                <a:solidFill>
                  <a:srgbClr val="3C4654"/>
                </a:solidFill>
                <a:latin typeface="Calibri"/>
              </a:rPr>
              <a:t>start small (canary)</a:t>
            </a:r>
          </a:p>
        </p:txBody>
      </p:sp>
      <p:sp>
        <p:nvSpPr>
          <p:cNvPr id="16" name="Right Arrow 15"/>
          <p:cNvSpPr/>
          <p:nvPr/>
        </p:nvSpPr>
        <p:spPr>
          <a:xfrm>
            <a:off x="9262872" y="2583180"/>
            <a:ext cx="31089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28048" y="2148840"/>
            <a:ext cx="1965960" cy="11430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Production</a:t>
            </a:r>
          </a:p>
          <a:p>
            <a:pPr algn="ctr">
              <a:lnSpc>
                <a:spcPct val="100000"/>
              </a:lnSpc>
              <a:spcAft>
                <a:spcPts val="100"/>
              </a:spcAft>
            </a:pPr>
            <a:r>
              <a:rPr sz="1000" b="0">
                <a:solidFill>
                  <a:srgbClr val="3C4654"/>
                </a:solidFill>
                <a:latin typeface="Calibri"/>
              </a:rPr>
              <a:t>watch &amp; improve</a:t>
            </a:r>
          </a:p>
        </p:txBody>
      </p:sp>
      <p:sp>
        <p:nvSpPr>
          <p:cNvPr id="18" name="TextBox 17"/>
          <p:cNvSpPr txBox="1"/>
          <p:nvPr/>
        </p:nvSpPr>
        <p:spPr>
          <a:xfrm>
            <a:off x="640080" y="3611880"/>
            <a:ext cx="10881360" cy="365760"/>
          </a:xfrm>
          <a:prstGeom prst="rect">
            <a:avLst/>
          </a:prstGeom>
          <a:noFill/>
        </p:spPr>
        <p:txBody>
          <a:bodyPr wrap="square" anchor="t" lIns="0" rIns="0" tIns="0" bIns="0">
            <a:spAutoFit/>
          </a:bodyPr>
          <a:lstStyle/>
          <a:p>
            <a:pPr algn="l">
              <a:lnSpc>
                <a:spcPct val="105000"/>
              </a:lnSpc>
              <a:spcBef>
                <a:spcPts val="0"/>
              </a:spcBef>
              <a:spcAft>
                <a:spcPts val="600"/>
              </a:spcAft>
            </a:pPr>
            <a:r>
              <a:rPr sz="1300" b="1" i="0">
                <a:solidFill>
                  <a:srgbClr val="C87B1E"/>
                </a:solidFill>
                <a:latin typeface="Calibri"/>
              </a:rPr>
              <a:t>The test gates block a release if it fails any of:</a:t>
            </a:r>
          </a:p>
        </p:txBody>
      </p:sp>
      <p:sp>
        <p:nvSpPr>
          <p:cNvPr id="19" name="Rounded Rectangle 18"/>
          <p:cNvSpPr/>
          <p:nvPr/>
        </p:nvSpPr>
        <p:spPr>
          <a:xfrm>
            <a:off x="640080" y="4023360"/>
            <a:ext cx="2670048" cy="9144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Quality</a:t>
            </a:r>
          </a:p>
          <a:p>
            <a:pPr algn="ctr">
              <a:lnSpc>
                <a:spcPct val="100000"/>
              </a:lnSpc>
              <a:spcAft>
                <a:spcPts val="100"/>
              </a:spcAft>
            </a:pPr>
            <a:r>
              <a:rPr sz="1000" b="0">
                <a:solidFill>
                  <a:srgbClr val="3C4654"/>
                </a:solidFill>
                <a:latin typeface="Calibri"/>
              </a:rPr>
              <a:t>correct &amp; on-topic</a:t>
            </a:r>
          </a:p>
        </p:txBody>
      </p:sp>
      <p:sp>
        <p:nvSpPr>
          <p:cNvPr id="20" name="Rounded Rectangle 19"/>
          <p:cNvSpPr/>
          <p:nvPr/>
        </p:nvSpPr>
        <p:spPr>
          <a:xfrm>
            <a:off x="3429000" y="4023360"/>
            <a:ext cx="2670048" cy="9144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Groundedness</a:t>
            </a:r>
          </a:p>
          <a:p>
            <a:pPr algn="ctr">
              <a:lnSpc>
                <a:spcPct val="100000"/>
              </a:lnSpc>
              <a:spcAft>
                <a:spcPts val="100"/>
              </a:spcAft>
            </a:pPr>
            <a:r>
              <a:rPr sz="1000" b="0">
                <a:solidFill>
                  <a:srgbClr val="3C4654"/>
                </a:solidFill>
                <a:latin typeface="Calibri"/>
              </a:rPr>
              <a:t>from our data, with sources</a:t>
            </a:r>
          </a:p>
        </p:txBody>
      </p:sp>
      <p:sp>
        <p:nvSpPr>
          <p:cNvPr id="21" name="Rounded Rectangle 20"/>
          <p:cNvSpPr/>
          <p:nvPr/>
        </p:nvSpPr>
        <p:spPr>
          <a:xfrm>
            <a:off x="6217920" y="4023360"/>
            <a:ext cx="2670048" cy="9144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Safety</a:t>
            </a:r>
          </a:p>
          <a:p>
            <a:pPr algn="ctr">
              <a:lnSpc>
                <a:spcPct val="100000"/>
              </a:lnSpc>
              <a:spcAft>
                <a:spcPts val="100"/>
              </a:spcAft>
            </a:pPr>
            <a:r>
              <a:rPr sz="1000" b="0">
                <a:solidFill>
                  <a:srgbClr val="3C4654"/>
                </a:solidFill>
                <a:latin typeface="Calibri"/>
              </a:rPr>
              <a:t>no unsafe content; red-team</a:t>
            </a:r>
          </a:p>
        </p:txBody>
      </p:sp>
      <p:sp>
        <p:nvSpPr>
          <p:cNvPr id="22" name="Rounded Rectangle 21"/>
          <p:cNvSpPr/>
          <p:nvPr/>
        </p:nvSpPr>
        <p:spPr>
          <a:xfrm>
            <a:off x="9006840" y="4023360"/>
            <a:ext cx="2670048" cy="91440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Cost &amp; speed</a:t>
            </a:r>
          </a:p>
          <a:p>
            <a:pPr algn="ctr">
              <a:lnSpc>
                <a:spcPct val="100000"/>
              </a:lnSpc>
              <a:spcAft>
                <a:spcPts val="100"/>
              </a:spcAft>
            </a:pPr>
            <a:r>
              <a:rPr sz="1000" b="0">
                <a:solidFill>
                  <a:srgbClr val="3C4654"/>
                </a:solidFill>
                <a:latin typeface="Calibri"/>
              </a:rPr>
              <a:t>within budget &amp; time</a:t>
            </a:r>
          </a:p>
        </p:txBody>
      </p:sp>
      <p:sp>
        <p:nvSpPr>
          <p:cNvPr id="23" name="TextBox 22"/>
          <p:cNvSpPr txBox="1"/>
          <p:nvPr/>
        </p:nvSpPr>
        <p:spPr>
          <a:xfrm>
            <a:off x="685800" y="5166360"/>
            <a:ext cx="10789920" cy="548640"/>
          </a:xfrm>
          <a:prstGeom prst="rect">
            <a:avLst/>
          </a:prstGeom>
          <a:noFill/>
        </p:spPr>
        <p:txBody>
          <a:bodyPr wrap="square" anchor="t" lIns="0" rIns="0" tIns="0" bIns="0">
            <a:spAutoFit/>
          </a:bodyPr>
          <a:lstStyle/>
          <a:p>
            <a:pPr algn="l">
              <a:lnSpc>
                <a:spcPct val="105000"/>
              </a:lnSpc>
              <a:spcBef>
                <a:spcPts val="0"/>
              </a:spcBef>
              <a:spcAft>
                <a:spcPts val="600"/>
              </a:spcAft>
            </a:pPr>
            <a:r>
              <a:rPr sz="1300" b="1" i="0">
                <a:solidFill>
                  <a:srgbClr val="1F3A5F"/>
                </a:solidFill>
                <a:latin typeface="Calibri"/>
              </a:rPr>
              <a:t>Azure: </a:t>
            </a:r>
            <a:r>
              <a:rPr sz="1300" b="0" i="0">
                <a:solidFill>
                  <a:srgbClr val="3C4654"/>
                </a:solidFill>
                <a:latin typeface="Calibri"/>
              </a:rPr>
              <a:t>Azure DevOps or GitHub Actions runs the pipeline; releases go out gradually and roll back automatically if a problem shows 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10896"/>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HOW IT ALL FLOWS</a:t>
            </a:r>
          </a:p>
        </p:txBody>
      </p:sp>
      <p:sp>
        <p:nvSpPr>
          <p:cNvPr id="4" name="TextBox 3"/>
          <p:cNvSpPr txBox="1"/>
          <p:nvPr/>
        </p:nvSpPr>
        <p:spPr>
          <a:xfrm>
            <a:off x="640080" y="530352"/>
            <a:ext cx="10881360" cy="640080"/>
          </a:xfrm>
          <a:prstGeom prst="rect">
            <a:avLst/>
          </a:prstGeom>
          <a:noFill/>
        </p:spPr>
        <p:txBody>
          <a:bodyPr wrap="square" anchor="t" lIns="0" rIns="0" tIns="0" bIns="0">
            <a:spAutoFit/>
          </a:bodyPr>
          <a:lstStyle/>
          <a:p>
            <a:pPr algn="l">
              <a:lnSpc>
                <a:spcPct val="105000"/>
              </a:lnSpc>
              <a:spcBef>
                <a:spcPts val="0"/>
              </a:spcBef>
              <a:spcAft>
                <a:spcPts val="600"/>
              </a:spcAft>
            </a:pPr>
            <a:r>
              <a:rPr sz="2500" b="1" i="0">
                <a:solidFill>
                  <a:srgbClr val="1F3A5F"/>
                </a:solidFill>
                <a:latin typeface="Calibri"/>
              </a:rPr>
              <a:t>The LLMOps lifecycle</a:t>
            </a:r>
          </a:p>
        </p:txBody>
      </p:sp>
      <p:sp>
        <p:nvSpPr>
          <p:cNvPr id="5" name="Rectangle 4"/>
          <p:cNvSpPr/>
          <p:nvPr/>
        </p:nvSpPr>
        <p:spPr>
          <a:xfrm>
            <a:off x="658368" y="1115568"/>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55664"/>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12</a:t>
            </a:r>
          </a:p>
        </p:txBody>
      </p:sp>
      <p:sp>
        <p:nvSpPr>
          <p:cNvPr id="7" name="TextBox 6"/>
          <p:cNvSpPr txBox="1"/>
          <p:nvPr/>
        </p:nvSpPr>
        <p:spPr>
          <a:xfrm>
            <a:off x="640080" y="6455664"/>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Enterprise LLMOps on Azure — technical overview</a:t>
            </a:r>
          </a:p>
        </p:txBody>
      </p:sp>
      <p:sp>
        <p:nvSpPr>
          <p:cNvPr id="8" name="Rounded Rectangle 7"/>
          <p:cNvSpPr/>
          <p:nvPr/>
        </p:nvSpPr>
        <p:spPr>
          <a:xfrm>
            <a:off x="685800" y="2148840"/>
            <a:ext cx="1691640" cy="12344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Prepare</a:t>
            </a:r>
          </a:p>
          <a:p>
            <a:pPr algn="ctr">
              <a:lnSpc>
                <a:spcPct val="100000"/>
              </a:lnSpc>
              <a:spcAft>
                <a:spcPts val="100"/>
              </a:spcAft>
            </a:pPr>
            <a:r>
              <a:rPr sz="1000" b="0">
                <a:solidFill>
                  <a:srgbClr val="3C4654"/>
                </a:solidFill>
                <a:latin typeface="Calibri"/>
              </a:rPr>
              <a:t>data &amp; prompts</a:t>
            </a:r>
          </a:p>
        </p:txBody>
      </p:sp>
      <p:sp>
        <p:nvSpPr>
          <p:cNvPr id="9" name="Right Arrow 8"/>
          <p:cNvSpPr/>
          <p:nvPr/>
        </p:nvSpPr>
        <p:spPr>
          <a:xfrm>
            <a:off x="2359152" y="2628900"/>
            <a:ext cx="21945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05456" y="2148840"/>
            <a:ext cx="1691640" cy="12344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Build</a:t>
            </a:r>
          </a:p>
          <a:p>
            <a:pPr algn="ctr">
              <a:lnSpc>
                <a:spcPct val="100000"/>
              </a:lnSpc>
              <a:spcAft>
                <a:spcPts val="100"/>
              </a:spcAft>
            </a:pPr>
            <a:r>
              <a:rPr sz="1000" b="0">
                <a:solidFill>
                  <a:srgbClr val="3C4654"/>
                </a:solidFill>
                <a:latin typeface="Calibri"/>
              </a:rPr>
              <a:t>agents</a:t>
            </a:r>
          </a:p>
        </p:txBody>
      </p:sp>
      <p:sp>
        <p:nvSpPr>
          <p:cNvPr id="11" name="Right Arrow 10"/>
          <p:cNvSpPr/>
          <p:nvPr/>
        </p:nvSpPr>
        <p:spPr>
          <a:xfrm>
            <a:off x="4178808" y="2628900"/>
            <a:ext cx="21945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5112" y="2148840"/>
            <a:ext cx="1691640" cy="12344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Test</a:t>
            </a:r>
          </a:p>
          <a:p>
            <a:pPr algn="ctr">
              <a:lnSpc>
                <a:spcPct val="100000"/>
              </a:lnSpc>
              <a:spcAft>
                <a:spcPts val="100"/>
              </a:spcAft>
            </a:pPr>
            <a:r>
              <a:rPr sz="1000" b="0">
                <a:solidFill>
                  <a:srgbClr val="3C4654"/>
                </a:solidFill>
                <a:latin typeface="Calibri"/>
              </a:rPr>
              <a:t>(evaluate)</a:t>
            </a:r>
          </a:p>
        </p:txBody>
      </p:sp>
      <p:sp>
        <p:nvSpPr>
          <p:cNvPr id="13" name="Right Arrow 12"/>
          <p:cNvSpPr/>
          <p:nvPr/>
        </p:nvSpPr>
        <p:spPr>
          <a:xfrm>
            <a:off x="5998464" y="2628900"/>
            <a:ext cx="21945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144768" y="2148840"/>
            <a:ext cx="1691640" cy="12344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Release</a:t>
            </a:r>
          </a:p>
          <a:p>
            <a:pPr algn="ctr">
              <a:lnSpc>
                <a:spcPct val="100000"/>
              </a:lnSpc>
              <a:spcAft>
                <a:spcPts val="100"/>
              </a:spcAft>
            </a:pPr>
            <a:r>
              <a:rPr sz="1000" b="0">
                <a:solidFill>
                  <a:srgbClr val="3C4654"/>
                </a:solidFill>
                <a:latin typeface="Calibri"/>
              </a:rPr>
              <a:t>(CI/CD)</a:t>
            </a:r>
          </a:p>
        </p:txBody>
      </p:sp>
      <p:sp>
        <p:nvSpPr>
          <p:cNvPr id="15" name="Right Arrow 14"/>
          <p:cNvSpPr/>
          <p:nvPr/>
        </p:nvSpPr>
        <p:spPr>
          <a:xfrm>
            <a:off x="7818120" y="2628900"/>
            <a:ext cx="21945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964424" y="2148840"/>
            <a:ext cx="1691640" cy="12344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Run &amp; monitor</a:t>
            </a:r>
          </a:p>
        </p:txBody>
      </p:sp>
      <p:sp>
        <p:nvSpPr>
          <p:cNvPr id="17" name="Right Arrow 16"/>
          <p:cNvSpPr/>
          <p:nvPr/>
        </p:nvSpPr>
        <p:spPr>
          <a:xfrm>
            <a:off x="9637776" y="2628900"/>
            <a:ext cx="21945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84080" y="2148840"/>
            <a:ext cx="1691640" cy="12344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Improve</a:t>
            </a:r>
          </a:p>
        </p:txBody>
      </p:sp>
      <p:sp>
        <p:nvSpPr>
          <p:cNvPr id="19" name="Left Arrow 18"/>
          <p:cNvSpPr/>
          <p:nvPr/>
        </p:nvSpPr>
        <p:spPr>
          <a:xfrm>
            <a:off x="822960" y="3749039"/>
            <a:ext cx="9875520" cy="201168"/>
          </a:xfrm>
          <a:prstGeom prst="leftArrow">
            <a:avLst/>
          </a:prstGeom>
          <a:solidFill>
            <a:srgbClr val="BFD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069080"/>
            <a:ext cx="10607040" cy="1280160"/>
          </a:xfrm>
          <a:prstGeom prst="rect">
            <a:avLst/>
          </a:prstGeom>
          <a:noFill/>
        </p:spPr>
        <p:txBody>
          <a:bodyPr wrap="square" anchor="t" lIns="0" rIns="0" tIns="0" bIns="0">
            <a:spAutoFit/>
          </a:bodyPr>
          <a:lstStyle/>
          <a:p>
            <a:pPr algn="l">
              <a:lnSpc>
                <a:spcPct val="105000"/>
              </a:lnSpc>
              <a:spcBef>
                <a:spcPts val="0"/>
              </a:spcBef>
              <a:spcAft>
                <a:spcPts val="1000"/>
              </a:spcAft>
            </a:pPr>
            <a:r>
              <a:rPr sz="1400" b="1" i="0">
                <a:solidFill>
                  <a:srgbClr val="1F3A5F"/>
                </a:solidFill>
                <a:latin typeface="Calibri"/>
              </a:rPr>
              <a:t>The loop matters most: </a:t>
            </a:r>
            <a:r>
              <a:rPr sz="1400" b="0" i="0">
                <a:solidFill>
                  <a:srgbClr val="3C4654"/>
                </a:solidFill>
                <a:latin typeface="Calibri"/>
              </a:rPr>
              <a:t>real use produces feedback — wrong answers, new questions, cost data — which flows back to improve prompts, data, agents, and tests.</a:t>
            </a:r>
          </a:p>
          <a:p>
            <a:pPr algn="l">
              <a:lnSpc>
                <a:spcPct val="105000"/>
              </a:lnSpc>
              <a:spcBef>
                <a:spcPts val="0"/>
              </a:spcBef>
              <a:spcAft>
                <a:spcPts val="1000"/>
              </a:spcAft>
            </a:pPr>
            <a:r>
              <a:rPr sz="1400" b="0" i="1">
                <a:solidFill>
                  <a:srgbClr val="3C4654"/>
                </a:solidFill>
                <a:latin typeface="Calibri"/>
              </a:rPr>
              <a:t>This is what turns a one-time build into an operation that keeps getting better.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10896"/>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PLAN</a:t>
            </a:r>
          </a:p>
        </p:txBody>
      </p:sp>
      <p:sp>
        <p:nvSpPr>
          <p:cNvPr id="4" name="TextBox 3"/>
          <p:cNvSpPr txBox="1"/>
          <p:nvPr/>
        </p:nvSpPr>
        <p:spPr>
          <a:xfrm>
            <a:off x="640080" y="530352"/>
            <a:ext cx="10881360" cy="640080"/>
          </a:xfrm>
          <a:prstGeom prst="rect">
            <a:avLst/>
          </a:prstGeom>
          <a:noFill/>
        </p:spPr>
        <p:txBody>
          <a:bodyPr wrap="square" anchor="t" lIns="0" rIns="0" tIns="0" bIns="0">
            <a:spAutoFit/>
          </a:bodyPr>
          <a:lstStyle/>
          <a:p>
            <a:pPr algn="l">
              <a:lnSpc>
                <a:spcPct val="105000"/>
              </a:lnSpc>
              <a:spcBef>
                <a:spcPts val="0"/>
              </a:spcBef>
              <a:spcAft>
                <a:spcPts val="600"/>
              </a:spcAft>
            </a:pPr>
            <a:r>
              <a:rPr sz="2500" b="1" i="0">
                <a:solidFill>
                  <a:srgbClr val="1F3A5F"/>
                </a:solidFill>
                <a:latin typeface="Calibri"/>
              </a:rPr>
              <a:t>Building the base framework on Azure — about one month</a:t>
            </a:r>
          </a:p>
        </p:txBody>
      </p:sp>
      <p:sp>
        <p:nvSpPr>
          <p:cNvPr id="5" name="Rectangle 4"/>
          <p:cNvSpPr/>
          <p:nvPr/>
        </p:nvSpPr>
        <p:spPr>
          <a:xfrm>
            <a:off x="658368" y="1115568"/>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55664"/>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13</a:t>
            </a:r>
          </a:p>
        </p:txBody>
      </p:sp>
      <p:sp>
        <p:nvSpPr>
          <p:cNvPr id="7" name="TextBox 6"/>
          <p:cNvSpPr txBox="1"/>
          <p:nvPr/>
        </p:nvSpPr>
        <p:spPr>
          <a:xfrm>
            <a:off x="640080" y="6455664"/>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Enterprise LLMOps on Azure — technical overview</a:t>
            </a:r>
          </a:p>
        </p:txBody>
      </p:sp>
      <p:graphicFrame>
        <p:nvGraphicFramePr>
          <p:cNvPr id="8" name="Table 7"/>
          <p:cNvGraphicFramePr>
            <a:graphicFrameLocks noGrp="1"/>
          </p:cNvGraphicFramePr>
          <p:nvPr/>
        </p:nvGraphicFramePr>
        <p:xfrm>
          <a:off x="548640" y="1371600"/>
          <a:ext cx="11091672" cy="4480560"/>
        </p:xfrm>
        <a:graphic>
          <a:graphicData uri="http://schemas.openxmlformats.org/drawingml/2006/table">
            <a:tbl>
              <a:tblPr firstRow="1" bandRow="1">
                <a:tableStyleId>{5C22544A-7EE6-4342-B048-85BDC9FD1C3A}</a:tableStyleId>
              </a:tblPr>
              <a:tblGrid>
                <a:gridCol w="1097280"/>
                <a:gridCol w="2286000"/>
                <a:gridCol w="7708392"/>
              </a:tblGrid>
              <a:tr h="896112">
                <a:tc>
                  <a:txBody>
                    <a:bodyPr/>
                    <a:lstStyle/>
                    <a:p>
                      <a:r>
                        <a:rPr sz="1150" b="1">
                          <a:solidFill>
                            <a:srgbClr val="FFFFFF"/>
                          </a:solidFill>
                          <a:latin typeface="Calibri"/>
                        </a:rPr>
                        <a:t>Week</a:t>
                      </a:r>
                    </a:p>
                  </a:txBody>
                  <a:tcPr anchor="ctr" marL="91440" marT="18288" marB="18288">
                    <a:solidFill>
                      <a:srgbClr val="1F3A5F"/>
                    </a:solidFill>
                  </a:tcPr>
                </a:tc>
                <a:tc>
                  <a:txBody>
                    <a:bodyPr/>
                    <a:lstStyle/>
                    <a:p>
                      <a:r>
                        <a:rPr sz="1150" b="1">
                          <a:solidFill>
                            <a:srgbClr val="FFFFFF"/>
                          </a:solidFill>
                          <a:latin typeface="Calibri"/>
                        </a:rPr>
                        <a:t>Focus</a:t>
                      </a:r>
                    </a:p>
                  </a:txBody>
                  <a:tcPr anchor="ctr" marL="91440" marT="18288" marB="18288">
                    <a:solidFill>
                      <a:srgbClr val="1F3A5F"/>
                    </a:solidFill>
                  </a:tcPr>
                </a:tc>
                <a:tc>
                  <a:txBody>
                    <a:bodyPr/>
                    <a:lstStyle/>
                    <a:p>
                      <a:r>
                        <a:rPr sz="1150" b="1">
                          <a:solidFill>
                            <a:srgbClr val="FFFFFF"/>
                          </a:solidFill>
                          <a:latin typeface="Calibri"/>
                        </a:rPr>
                        <a:t>What we set up on Azure</a:t>
                      </a:r>
                    </a:p>
                  </a:txBody>
                  <a:tcPr anchor="ctr" marL="91440" marT="18288" marB="18288">
                    <a:solidFill>
                      <a:srgbClr val="1F3A5F"/>
                    </a:solidFill>
                  </a:tcPr>
                </a:tc>
              </a:tr>
              <a:tr h="896112">
                <a:tc>
                  <a:txBody>
                    <a:bodyPr/>
                    <a:lstStyle/>
                    <a:p>
                      <a:r>
                        <a:rPr sz="1150" b="1">
                          <a:solidFill>
                            <a:srgbClr val="1F3A5F"/>
                          </a:solidFill>
                          <a:latin typeface="Calibri"/>
                        </a:rPr>
                        <a:t>Week 1</a:t>
                      </a:r>
                    </a:p>
                  </a:txBody>
                  <a:tcPr anchor="ctr" marL="91440" marT="18288" marB="18288">
                    <a:solidFill>
                      <a:srgbClr val="FFFFFF"/>
                    </a:solidFill>
                  </a:tcPr>
                </a:tc>
                <a:tc>
                  <a:txBody>
                    <a:bodyPr/>
                    <a:lstStyle/>
                    <a:p>
                      <a:r>
                        <a:rPr sz="1150">
                          <a:solidFill>
                            <a:srgbClr val="3C4654"/>
                          </a:solidFill>
                          <a:latin typeface="Calibri"/>
                        </a:rPr>
                        <a:t>Set up &amp; secure</a:t>
                      </a:r>
                    </a:p>
                  </a:txBody>
                  <a:tcPr anchor="ctr" marL="91440" marT="18288" marB="18288">
                    <a:solidFill>
                      <a:srgbClr val="FFFFFF"/>
                    </a:solidFill>
                  </a:tcPr>
                </a:tc>
                <a:tc>
                  <a:txBody>
                    <a:bodyPr/>
                    <a:lstStyle/>
                    <a:p>
                      <a:r>
                        <a:rPr sz="1150">
                          <a:solidFill>
                            <a:srgbClr val="3C4654"/>
                          </a:solidFill>
                          <a:latin typeface="Calibri"/>
                        </a:rPr>
                        <a:t>Subscription &amp; resource groups, Entra ID access, Key Vault, private network, API Management gateway, Azure OpenAI, logging.</a:t>
                      </a:r>
                    </a:p>
                  </a:txBody>
                  <a:tcPr anchor="ctr" marL="91440" marT="18288" marB="18288">
                    <a:solidFill>
                      <a:srgbClr val="FFFFFF"/>
                    </a:solidFill>
                  </a:tcPr>
                </a:tc>
              </a:tr>
              <a:tr h="896112">
                <a:tc>
                  <a:txBody>
                    <a:bodyPr/>
                    <a:lstStyle/>
                    <a:p>
                      <a:r>
                        <a:rPr sz="1150" b="1">
                          <a:solidFill>
                            <a:srgbClr val="1F3A5F"/>
                          </a:solidFill>
                          <a:latin typeface="Calibri"/>
                        </a:rPr>
                        <a:t>Week 2</a:t>
                      </a:r>
                    </a:p>
                  </a:txBody>
                  <a:tcPr anchor="ctr" marL="91440" marT="18288" marB="18288">
                    <a:solidFill>
                      <a:srgbClr val="EEF1F5"/>
                    </a:solidFill>
                  </a:tcPr>
                </a:tc>
                <a:tc>
                  <a:txBody>
                    <a:bodyPr/>
                    <a:lstStyle/>
                    <a:p>
                      <a:r>
                        <a:rPr sz="1150">
                          <a:solidFill>
                            <a:srgbClr val="3C4654"/>
                          </a:solidFill>
                          <a:latin typeface="Calibri"/>
                        </a:rPr>
                        <a:t>Agents &amp; knowledge</a:t>
                      </a:r>
                    </a:p>
                  </a:txBody>
                  <a:tcPr anchor="ctr" marL="91440" marT="18288" marB="18288">
                    <a:solidFill>
                      <a:srgbClr val="EEF1F5"/>
                    </a:solidFill>
                  </a:tcPr>
                </a:tc>
                <a:tc>
                  <a:txBody>
                    <a:bodyPr/>
                    <a:lstStyle/>
                    <a:p>
                      <a:r>
                        <a:rPr sz="1150">
                          <a:solidFill>
                            <a:srgbClr val="3C4654"/>
                          </a:solidFill>
                          <a:latin typeface="Calibri"/>
                        </a:rPr>
                        <a:t>Foundry Agent Service orchestration, first specialist agents, tool registry (MCP), memory (Cosmos DB), Azure AI Search (RAG).</a:t>
                      </a:r>
                    </a:p>
                  </a:txBody>
                  <a:tcPr anchor="ctr" marL="91440" marT="18288" marB="18288">
                    <a:solidFill>
                      <a:srgbClr val="EEF1F5"/>
                    </a:solidFill>
                  </a:tcPr>
                </a:tc>
              </a:tr>
              <a:tr h="896112">
                <a:tc>
                  <a:txBody>
                    <a:bodyPr/>
                    <a:lstStyle/>
                    <a:p>
                      <a:r>
                        <a:rPr sz="1150" b="1">
                          <a:solidFill>
                            <a:srgbClr val="1F3A5F"/>
                          </a:solidFill>
                          <a:latin typeface="Calibri"/>
                        </a:rPr>
                        <a:t>Week 3</a:t>
                      </a:r>
                    </a:p>
                  </a:txBody>
                  <a:tcPr anchor="ctr" marL="91440" marT="18288" marB="18288">
                    <a:solidFill>
                      <a:srgbClr val="FFFFFF"/>
                    </a:solidFill>
                  </a:tcPr>
                </a:tc>
                <a:tc>
                  <a:txBody>
                    <a:bodyPr/>
                    <a:lstStyle/>
                    <a:p>
                      <a:r>
                        <a:rPr sz="1150">
                          <a:solidFill>
                            <a:srgbClr val="3C4654"/>
                          </a:solidFill>
                          <a:latin typeface="Calibri"/>
                        </a:rPr>
                        <a:t>Quality &amp; pipeline</a:t>
                      </a:r>
                    </a:p>
                  </a:txBody>
                  <a:tcPr anchor="ctr" marL="91440" marT="18288" marB="18288">
                    <a:solidFill>
                      <a:srgbClr val="FFFFFF"/>
                    </a:solidFill>
                  </a:tcPr>
                </a:tc>
                <a:tc>
                  <a:txBody>
                    <a:bodyPr/>
                    <a:lstStyle/>
                    <a:p>
                      <a:r>
                        <a:rPr sz="1150">
                          <a:solidFill>
                            <a:srgbClr val="3C4654"/>
                          </a:solidFill>
                          <a:latin typeface="Calibri"/>
                        </a:rPr>
                        <a:t>Guardrails (Content Safety), Foundry evaluations, Azure DevOps/GitHub CI/CD, dev / test / production.</a:t>
                      </a:r>
                    </a:p>
                  </a:txBody>
                  <a:tcPr anchor="ctr" marL="91440" marT="18288" marB="18288">
                    <a:solidFill>
                      <a:srgbClr val="FFFFFF"/>
                    </a:solidFill>
                  </a:tcPr>
                </a:tc>
              </a:tr>
              <a:tr h="896112">
                <a:tc>
                  <a:txBody>
                    <a:bodyPr/>
                    <a:lstStyle/>
                    <a:p>
                      <a:r>
                        <a:rPr sz="1150" b="1">
                          <a:solidFill>
                            <a:srgbClr val="1F3A5F"/>
                          </a:solidFill>
                          <a:latin typeface="Calibri"/>
                        </a:rPr>
                        <a:t>Week 4</a:t>
                      </a:r>
                    </a:p>
                  </a:txBody>
                  <a:tcPr anchor="ctr" marL="91440" marT="18288" marB="18288">
                    <a:solidFill>
                      <a:srgbClr val="EEF1F5"/>
                    </a:solidFill>
                  </a:tcPr>
                </a:tc>
                <a:tc>
                  <a:txBody>
                    <a:bodyPr/>
                    <a:lstStyle/>
                    <a:p>
                      <a:r>
                        <a:rPr sz="1150">
                          <a:solidFill>
                            <a:srgbClr val="3C4654"/>
                          </a:solidFill>
                          <a:latin typeface="Calibri"/>
                        </a:rPr>
                        <a:t>Monitor &amp; harden</a:t>
                      </a:r>
                    </a:p>
                  </a:txBody>
                  <a:tcPr anchor="ctr" marL="91440" marT="18288" marB="18288">
                    <a:solidFill>
                      <a:srgbClr val="EEF1F5"/>
                    </a:solidFill>
                  </a:tcPr>
                </a:tc>
                <a:tc>
                  <a:txBody>
                    <a:bodyPr/>
                    <a:lstStyle/>
                    <a:p>
                      <a:r>
                        <a:rPr sz="1150">
                          <a:solidFill>
                            <a:srgbClr val="3C4654"/>
                          </a:solidFill>
                          <a:latin typeface="Calibri"/>
                        </a:rPr>
                        <a:t>Azure Monitor + App Insights dashboards, cost tracking, security review, docs, and a small multi-agent sample to prove it works.</a:t>
                      </a:r>
                    </a:p>
                  </a:txBody>
                  <a:tcPr anchor="ctr" marL="91440" marT="18288" marB="18288">
                    <a:solidFill>
                      <a:srgbClr val="EEF1F5"/>
                    </a:solidFill>
                  </a:tcPr>
                </a:tc>
              </a:tr>
            </a:tbl>
          </a:graphicData>
        </a:graphic>
      </p:graphicFrame>
      <p:sp>
        <p:nvSpPr>
          <p:cNvPr id="9" name="TextBox 8"/>
          <p:cNvSpPr txBox="1"/>
          <p:nvPr/>
        </p:nvSpPr>
        <p:spPr>
          <a:xfrm>
            <a:off x="548640" y="5440680"/>
            <a:ext cx="11091672" cy="822960"/>
          </a:xfrm>
          <a:prstGeom prst="rect">
            <a:avLst/>
          </a:prstGeom>
          <a:noFill/>
        </p:spPr>
        <p:txBody>
          <a:bodyPr wrap="square" anchor="t" lIns="0" rIns="0" tIns="0" bIns="0">
            <a:spAutoFit/>
          </a:bodyPr>
          <a:lstStyle/>
          <a:p>
            <a:pPr algn="l">
              <a:lnSpc>
                <a:spcPct val="105000"/>
              </a:lnSpc>
              <a:spcBef>
                <a:spcPts val="0"/>
              </a:spcBef>
              <a:spcAft>
                <a:spcPts val="600"/>
              </a:spcAft>
            </a:pPr>
            <a:r>
              <a:rPr sz="1300" b="1" i="0">
                <a:solidFill>
                  <a:srgbClr val="1F3A5F"/>
                </a:solidFill>
                <a:latin typeface="Calibri"/>
              </a:rPr>
              <a:t>Honest scope: </a:t>
            </a:r>
            <a:r>
              <a:rPr sz="1300" b="0" i="0">
                <a:solidFill>
                  <a:srgbClr val="3C4654"/>
                </a:solidFill>
                <a:latin typeface="Calibri"/>
              </a:rPr>
              <a:t>one month gives a working, reusable base — orchestration, one set of agents, knowledge, guardrails, evaluation, and CI/CD. It is enough to onboard the first real project safely, and we add components over time.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10896"/>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ONBOARDING</a:t>
            </a:r>
          </a:p>
        </p:txBody>
      </p:sp>
      <p:sp>
        <p:nvSpPr>
          <p:cNvPr id="4" name="TextBox 3"/>
          <p:cNvSpPr txBox="1"/>
          <p:nvPr/>
        </p:nvSpPr>
        <p:spPr>
          <a:xfrm>
            <a:off x="640080" y="530352"/>
            <a:ext cx="10881360" cy="640080"/>
          </a:xfrm>
          <a:prstGeom prst="rect">
            <a:avLst/>
          </a:prstGeom>
          <a:noFill/>
        </p:spPr>
        <p:txBody>
          <a:bodyPr wrap="square" anchor="t" lIns="0" rIns="0" tIns="0" bIns="0">
            <a:spAutoFit/>
          </a:bodyPr>
          <a:lstStyle/>
          <a:p>
            <a:pPr algn="l">
              <a:lnSpc>
                <a:spcPct val="105000"/>
              </a:lnSpc>
              <a:spcBef>
                <a:spcPts val="0"/>
              </a:spcBef>
              <a:spcAft>
                <a:spcPts val="600"/>
              </a:spcAft>
            </a:pPr>
            <a:r>
              <a:rPr sz="2500" b="1" i="0">
                <a:solidFill>
                  <a:srgbClr val="1F3A5F"/>
                </a:solidFill>
                <a:latin typeface="Calibri"/>
              </a:rPr>
              <a:t>Using the framework for a new project</a:t>
            </a:r>
          </a:p>
        </p:txBody>
      </p:sp>
      <p:sp>
        <p:nvSpPr>
          <p:cNvPr id="5" name="Rectangle 4"/>
          <p:cNvSpPr/>
          <p:nvPr/>
        </p:nvSpPr>
        <p:spPr>
          <a:xfrm>
            <a:off x="658368" y="1115568"/>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55664"/>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14</a:t>
            </a:r>
          </a:p>
        </p:txBody>
      </p:sp>
      <p:sp>
        <p:nvSpPr>
          <p:cNvPr id="7" name="TextBox 6"/>
          <p:cNvSpPr txBox="1"/>
          <p:nvPr/>
        </p:nvSpPr>
        <p:spPr>
          <a:xfrm>
            <a:off x="640080" y="6455664"/>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Enterprise LLMOps on Azure — technical overview</a:t>
            </a:r>
          </a:p>
        </p:txBody>
      </p:sp>
      <p:sp>
        <p:nvSpPr>
          <p:cNvPr id="8" name="Rounded Rectangle 7"/>
          <p:cNvSpPr/>
          <p:nvPr/>
        </p:nvSpPr>
        <p:spPr>
          <a:xfrm>
            <a:off x="640080" y="2103120"/>
            <a:ext cx="1691640" cy="12344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Define need</a:t>
            </a:r>
          </a:p>
          <a:p>
            <a:pPr algn="ctr">
              <a:lnSpc>
                <a:spcPct val="100000"/>
              </a:lnSpc>
              <a:spcAft>
                <a:spcPts val="100"/>
              </a:spcAft>
            </a:pPr>
            <a:r>
              <a:rPr sz="1000" b="0">
                <a:solidFill>
                  <a:srgbClr val="3C4654"/>
                </a:solidFill>
                <a:latin typeface="Calibri"/>
              </a:rPr>
              <a:t>and success measures</a:t>
            </a:r>
          </a:p>
        </p:txBody>
      </p:sp>
      <p:sp>
        <p:nvSpPr>
          <p:cNvPr id="9" name="Right Arrow 8"/>
          <p:cNvSpPr/>
          <p:nvPr/>
        </p:nvSpPr>
        <p:spPr>
          <a:xfrm>
            <a:off x="2313432" y="2583180"/>
            <a:ext cx="21945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459736" y="2103120"/>
            <a:ext cx="1691640" cy="12344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Pick pattern</a:t>
            </a:r>
          </a:p>
          <a:p>
            <a:pPr algn="ctr">
              <a:lnSpc>
                <a:spcPct val="100000"/>
              </a:lnSpc>
              <a:spcAft>
                <a:spcPts val="100"/>
              </a:spcAft>
            </a:pPr>
            <a:r>
              <a:rPr sz="1000" b="0">
                <a:solidFill>
                  <a:srgbClr val="3C4654"/>
                </a:solidFill>
                <a:latin typeface="Calibri"/>
              </a:rPr>
              <a:t>reuse building blocks</a:t>
            </a:r>
          </a:p>
        </p:txBody>
      </p:sp>
      <p:sp>
        <p:nvSpPr>
          <p:cNvPr id="11" name="Right Arrow 10"/>
          <p:cNvSpPr/>
          <p:nvPr/>
        </p:nvSpPr>
        <p:spPr>
          <a:xfrm>
            <a:off x="4133088" y="2583180"/>
            <a:ext cx="21945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79392" y="2103120"/>
            <a:ext cx="1691640" cy="12344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Add / connect agents</a:t>
            </a:r>
          </a:p>
          <a:p>
            <a:pPr algn="ctr">
              <a:lnSpc>
                <a:spcPct val="100000"/>
              </a:lnSpc>
              <a:spcAft>
                <a:spcPts val="100"/>
              </a:spcAft>
            </a:pPr>
            <a:r>
              <a:rPr sz="1000" b="0">
                <a:solidFill>
                  <a:srgbClr val="3C4654"/>
                </a:solidFill>
                <a:latin typeface="Calibri"/>
              </a:rPr>
              <a:t>specific tools &amp; data</a:t>
            </a:r>
          </a:p>
        </p:txBody>
      </p:sp>
      <p:sp>
        <p:nvSpPr>
          <p:cNvPr id="13" name="Right Arrow 12"/>
          <p:cNvSpPr/>
          <p:nvPr/>
        </p:nvSpPr>
        <p:spPr>
          <a:xfrm>
            <a:off x="5952744" y="2583180"/>
            <a:ext cx="21945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099048" y="2103120"/>
            <a:ext cx="1691640" cy="12344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Test quality</a:t>
            </a:r>
          </a:p>
          <a:p>
            <a:pPr algn="ctr">
              <a:lnSpc>
                <a:spcPct val="100000"/>
              </a:lnSpc>
              <a:spcAft>
                <a:spcPts val="100"/>
              </a:spcAft>
            </a:pPr>
            <a:r>
              <a:rPr sz="1000" b="0">
                <a:solidFill>
                  <a:srgbClr val="3C4654"/>
                </a:solidFill>
                <a:latin typeface="Calibri"/>
              </a:rPr>
              <a:t>fix until it passes</a:t>
            </a:r>
          </a:p>
        </p:txBody>
      </p:sp>
      <p:sp>
        <p:nvSpPr>
          <p:cNvPr id="15" name="Right Arrow 14"/>
          <p:cNvSpPr/>
          <p:nvPr/>
        </p:nvSpPr>
        <p:spPr>
          <a:xfrm>
            <a:off x="7772400" y="2583180"/>
            <a:ext cx="21945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918704" y="2103120"/>
            <a:ext cx="1691640" cy="12344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Release small</a:t>
            </a:r>
          </a:p>
          <a:p>
            <a:pPr algn="ctr">
              <a:lnSpc>
                <a:spcPct val="100000"/>
              </a:lnSpc>
              <a:spcAft>
                <a:spcPts val="100"/>
              </a:spcAft>
            </a:pPr>
            <a:r>
              <a:rPr sz="1000" b="0">
                <a:solidFill>
                  <a:srgbClr val="3C4654"/>
                </a:solidFill>
                <a:latin typeface="Calibri"/>
              </a:rPr>
              <a:t>watch closely</a:t>
            </a:r>
          </a:p>
        </p:txBody>
      </p:sp>
      <p:sp>
        <p:nvSpPr>
          <p:cNvPr id="17" name="Right Arrow 16"/>
          <p:cNvSpPr/>
          <p:nvPr/>
        </p:nvSpPr>
        <p:spPr>
          <a:xfrm>
            <a:off x="9592056" y="2583180"/>
            <a:ext cx="219456" cy="274320"/>
          </a:xfrm>
          <a:prstGeom prst="rightArrow">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38360" y="2103120"/>
            <a:ext cx="1691640" cy="123444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Improve</a:t>
            </a:r>
          </a:p>
          <a:p>
            <a:pPr algn="ctr">
              <a:lnSpc>
                <a:spcPct val="100000"/>
              </a:lnSpc>
              <a:spcAft>
                <a:spcPts val="100"/>
              </a:spcAft>
            </a:pPr>
            <a:r>
              <a:rPr sz="1000" b="0">
                <a:solidFill>
                  <a:srgbClr val="3C4654"/>
                </a:solidFill>
                <a:latin typeface="Calibri"/>
              </a:rPr>
              <a:t>from real feedback</a:t>
            </a:r>
          </a:p>
        </p:txBody>
      </p:sp>
      <p:sp>
        <p:nvSpPr>
          <p:cNvPr id="19" name="TextBox 18"/>
          <p:cNvSpPr txBox="1"/>
          <p:nvPr/>
        </p:nvSpPr>
        <p:spPr>
          <a:xfrm>
            <a:off x="640080" y="3977639"/>
            <a:ext cx="10881360" cy="1371600"/>
          </a:xfrm>
          <a:prstGeom prst="rect">
            <a:avLst/>
          </a:prstGeom>
          <a:noFill/>
        </p:spPr>
        <p:txBody>
          <a:bodyPr wrap="square" anchor="t" lIns="0" rIns="0" tIns="0" bIns="0">
            <a:spAutoFit/>
          </a:bodyPr>
          <a:lstStyle/>
          <a:p>
            <a:pPr algn="l">
              <a:lnSpc>
                <a:spcPct val="105000"/>
              </a:lnSpc>
              <a:spcBef>
                <a:spcPts val="0"/>
              </a:spcBef>
              <a:spcAft>
                <a:spcPts val="1000"/>
              </a:spcAft>
            </a:pPr>
            <a:r>
              <a:rPr sz="1500" b="1" i="0">
                <a:solidFill>
                  <a:srgbClr val="1F3A5F"/>
                </a:solidFill>
                <a:latin typeface="Calibri"/>
              </a:rPr>
              <a:t>Because the base already exists, most of this is configuration — reuse existing agents, connectors, and prompts, then add only what is new.</a:t>
            </a:r>
          </a:p>
          <a:p>
            <a:pPr algn="l">
              <a:lnSpc>
                <a:spcPct val="105000"/>
              </a:lnSpc>
              <a:spcBef>
                <a:spcPts val="0"/>
              </a:spcBef>
              <a:spcAft>
                <a:spcPts val="1000"/>
              </a:spcAft>
            </a:pPr>
            <a:r>
              <a:rPr sz="1400" b="0" i="1">
                <a:solidFill>
                  <a:srgbClr val="3C4654"/>
                </a:solidFill>
                <a:latin typeface="Calibri"/>
              </a:rPr>
              <a:t>That is why the first project takes the longest, and every one after it is faster and cheaper.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10896"/>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RUNNING COST</a:t>
            </a:r>
          </a:p>
        </p:txBody>
      </p:sp>
      <p:sp>
        <p:nvSpPr>
          <p:cNvPr id="4" name="TextBox 3"/>
          <p:cNvSpPr txBox="1"/>
          <p:nvPr/>
        </p:nvSpPr>
        <p:spPr>
          <a:xfrm>
            <a:off x="640080" y="530352"/>
            <a:ext cx="10881360" cy="640080"/>
          </a:xfrm>
          <a:prstGeom prst="rect">
            <a:avLst/>
          </a:prstGeom>
          <a:noFill/>
        </p:spPr>
        <p:txBody>
          <a:bodyPr wrap="square" anchor="t" lIns="0" rIns="0" tIns="0" bIns="0">
            <a:spAutoFit/>
          </a:bodyPr>
          <a:lstStyle/>
          <a:p>
            <a:pPr algn="l">
              <a:lnSpc>
                <a:spcPct val="105000"/>
              </a:lnSpc>
              <a:spcBef>
                <a:spcPts val="0"/>
              </a:spcBef>
              <a:spcAft>
                <a:spcPts val="600"/>
              </a:spcAft>
            </a:pPr>
            <a:r>
              <a:rPr sz="2500" b="1" i="0">
                <a:solidFill>
                  <a:srgbClr val="1F3A5F"/>
                </a:solidFill>
                <a:latin typeface="Calibri"/>
              </a:rPr>
              <a:t>What it costs to keep running on Azure</a:t>
            </a:r>
          </a:p>
        </p:txBody>
      </p:sp>
      <p:sp>
        <p:nvSpPr>
          <p:cNvPr id="5" name="Rectangle 4"/>
          <p:cNvSpPr/>
          <p:nvPr/>
        </p:nvSpPr>
        <p:spPr>
          <a:xfrm>
            <a:off x="658368" y="1115568"/>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55664"/>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15</a:t>
            </a:r>
          </a:p>
        </p:txBody>
      </p:sp>
      <p:sp>
        <p:nvSpPr>
          <p:cNvPr id="7" name="TextBox 6"/>
          <p:cNvSpPr txBox="1"/>
          <p:nvPr/>
        </p:nvSpPr>
        <p:spPr>
          <a:xfrm>
            <a:off x="640080" y="6455664"/>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Enterprise LLMOps on Azure — technical overview</a:t>
            </a:r>
          </a:p>
        </p:txBody>
      </p:sp>
      <p:sp>
        <p:nvSpPr>
          <p:cNvPr id="8" name="TextBox 7"/>
          <p:cNvSpPr txBox="1"/>
          <p:nvPr/>
        </p:nvSpPr>
        <p:spPr>
          <a:xfrm>
            <a:off x="548640" y="1280160"/>
            <a:ext cx="11091672" cy="365760"/>
          </a:xfrm>
          <a:prstGeom prst="rect">
            <a:avLst/>
          </a:prstGeom>
          <a:noFill/>
        </p:spPr>
        <p:txBody>
          <a:bodyPr wrap="square" anchor="t" lIns="0" rIns="0" tIns="0" bIns="0">
            <a:spAutoFit/>
          </a:bodyPr>
          <a:lstStyle/>
          <a:p>
            <a:pPr algn="l">
              <a:lnSpc>
                <a:spcPct val="105000"/>
              </a:lnSpc>
              <a:spcBef>
                <a:spcPts val="0"/>
              </a:spcBef>
              <a:spcAft>
                <a:spcPts val="600"/>
              </a:spcAft>
            </a:pPr>
            <a:r>
              <a:rPr sz="1250" b="0" i="1">
                <a:solidFill>
                  <a:srgbClr val="3C4654"/>
                </a:solidFill>
                <a:latin typeface="Calibri"/>
              </a:rPr>
              <a:t>These are ongoing costs, not a one-time build. Most go up as the system is used more.</a:t>
            </a:r>
          </a:p>
        </p:txBody>
      </p:sp>
      <p:graphicFrame>
        <p:nvGraphicFramePr>
          <p:cNvPr id="9" name="Table 8"/>
          <p:cNvGraphicFramePr>
            <a:graphicFrameLocks noGrp="1"/>
          </p:cNvGraphicFramePr>
          <p:nvPr/>
        </p:nvGraphicFramePr>
        <p:xfrm>
          <a:off x="548640" y="1691640"/>
          <a:ext cx="11091672" cy="3584448"/>
        </p:xfrm>
        <a:graphic>
          <a:graphicData uri="http://schemas.openxmlformats.org/drawingml/2006/table">
            <a:tbl>
              <a:tblPr firstRow="1" bandRow="1">
                <a:tableStyleId>{5C22544A-7EE6-4342-B048-85BDC9FD1C3A}</a:tableStyleId>
              </a:tblPr>
              <a:tblGrid>
                <a:gridCol w="2103120"/>
                <a:gridCol w="2743200"/>
                <a:gridCol w="4416552"/>
                <a:gridCol w="1828800"/>
              </a:tblGrid>
              <a:tr h="512064">
                <a:tc>
                  <a:txBody>
                    <a:bodyPr/>
                    <a:lstStyle/>
                    <a:p>
                      <a:r>
                        <a:rPr sz="1150" b="1">
                          <a:solidFill>
                            <a:srgbClr val="FFFFFF"/>
                          </a:solidFill>
                          <a:latin typeface="Calibri"/>
                        </a:rPr>
                        <a:t>Cost area</a:t>
                      </a:r>
                    </a:p>
                  </a:txBody>
                  <a:tcPr anchor="ctr" marL="91440" marT="18288" marB="18288">
                    <a:solidFill>
                      <a:srgbClr val="1F3A5F"/>
                    </a:solidFill>
                  </a:tcPr>
                </a:tc>
                <a:tc>
                  <a:txBody>
                    <a:bodyPr/>
                    <a:lstStyle/>
                    <a:p>
                      <a:r>
                        <a:rPr sz="1150" b="1">
                          <a:solidFill>
                            <a:srgbClr val="FFFFFF"/>
                          </a:solidFill>
                          <a:latin typeface="Calibri"/>
                        </a:rPr>
                        <a:t>Azure service</a:t>
                      </a:r>
                    </a:p>
                  </a:txBody>
                  <a:tcPr anchor="ctr" marL="91440" marT="18288" marB="18288">
                    <a:solidFill>
                      <a:srgbClr val="1F3A5F"/>
                    </a:solidFill>
                  </a:tcPr>
                </a:tc>
                <a:tc>
                  <a:txBody>
                    <a:bodyPr/>
                    <a:lstStyle/>
                    <a:p>
                      <a:r>
                        <a:rPr sz="1150" b="1">
                          <a:solidFill>
                            <a:srgbClr val="FFFFFF"/>
                          </a:solidFill>
                          <a:latin typeface="Calibri"/>
                        </a:rPr>
                        <a:t>What drives it</a:t>
                      </a:r>
                    </a:p>
                  </a:txBody>
                  <a:tcPr anchor="ctr" marL="91440" marT="18288" marB="18288">
                    <a:solidFill>
                      <a:srgbClr val="1F3A5F"/>
                    </a:solidFill>
                  </a:tcPr>
                </a:tc>
                <a:tc>
                  <a:txBody>
                    <a:bodyPr/>
                    <a:lstStyle/>
                    <a:p>
                      <a:r>
                        <a:rPr sz="1150" b="1">
                          <a:solidFill>
                            <a:srgbClr val="FFFFFF"/>
                          </a:solidFill>
                          <a:latin typeface="Calibri"/>
                        </a:rPr>
                        <a:t>Size</a:t>
                      </a:r>
                    </a:p>
                  </a:txBody>
                  <a:tcPr anchor="ctr" marL="91440" marT="18288" marB="18288">
                    <a:solidFill>
                      <a:srgbClr val="1F3A5F"/>
                    </a:solidFill>
                  </a:tcPr>
                </a:tc>
              </a:tr>
              <a:tr h="512064">
                <a:tc>
                  <a:txBody>
                    <a:bodyPr/>
                    <a:lstStyle/>
                    <a:p>
                      <a:r>
                        <a:rPr sz="1050" b="1">
                          <a:solidFill>
                            <a:srgbClr val="1F3A5F"/>
                          </a:solidFill>
                          <a:latin typeface="Calibri"/>
                        </a:rPr>
                        <a:t>Model usage</a:t>
                      </a:r>
                    </a:p>
                  </a:txBody>
                  <a:tcPr anchor="ctr" marL="91440" marT="18288" marB="18288">
                    <a:solidFill>
                      <a:srgbClr val="FFFFFF"/>
                    </a:solidFill>
                  </a:tcPr>
                </a:tc>
                <a:tc>
                  <a:txBody>
                    <a:bodyPr/>
                    <a:lstStyle/>
                    <a:p>
                      <a:r>
                        <a:rPr sz="1050">
                          <a:solidFill>
                            <a:srgbClr val="3C4654"/>
                          </a:solidFill>
                          <a:latin typeface="Calibri"/>
                        </a:rPr>
                        <a:t>Azure OpenAI</a:t>
                      </a:r>
                    </a:p>
                  </a:txBody>
                  <a:tcPr anchor="ctr" marL="91440" marT="18288" marB="18288">
                    <a:solidFill>
                      <a:srgbClr val="FFFFFF"/>
                    </a:solidFill>
                  </a:tcPr>
                </a:tc>
                <a:tc>
                  <a:txBody>
                    <a:bodyPr/>
                    <a:lstStyle/>
                    <a:p>
                      <a:r>
                        <a:rPr sz="1050">
                          <a:solidFill>
                            <a:srgbClr val="3C4654"/>
                          </a:solidFill>
                          <a:latin typeface="Calibri"/>
                        </a:rPr>
                        <a:t>Per token; more agents &amp; steps = more calls</a:t>
                      </a:r>
                    </a:p>
                  </a:txBody>
                  <a:tcPr anchor="ctr" marL="91440" marT="18288" marB="18288">
                    <a:solidFill>
                      <a:srgbClr val="FFFFFF"/>
                    </a:solidFill>
                  </a:tcPr>
                </a:tc>
                <a:tc>
                  <a:txBody>
                    <a:bodyPr/>
                    <a:lstStyle/>
                    <a:p>
                      <a:r>
                        <a:rPr sz="1050">
                          <a:solidFill>
                            <a:srgbClr val="3C4654"/>
                          </a:solidFill>
                          <a:latin typeface="Calibri"/>
                        </a:rPr>
                        <a:t>Largest, variable</a:t>
                      </a:r>
                    </a:p>
                  </a:txBody>
                  <a:tcPr anchor="ctr" marL="91440" marT="18288" marB="18288">
                    <a:solidFill>
                      <a:srgbClr val="FFFFFF"/>
                    </a:solidFill>
                  </a:tcPr>
                </a:tc>
              </a:tr>
              <a:tr h="512064">
                <a:tc>
                  <a:txBody>
                    <a:bodyPr/>
                    <a:lstStyle/>
                    <a:p>
                      <a:r>
                        <a:rPr sz="1050" b="1">
                          <a:solidFill>
                            <a:srgbClr val="1F3A5F"/>
                          </a:solidFill>
                          <a:latin typeface="Calibri"/>
                        </a:rPr>
                        <a:t>Compute / hosting</a:t>
                      </a:r>
                    </a:p>
                  </a:txBody>
                  <a:tcPr anchor="ctr" marL="91440" marT="18288" marB="18288">
                    <a:solidFill>
                      <a:srgbClr val="EEF1F5"/>
                    </a:solidFill>
                  </a:tcPr>
                </a:tc>
                <a:tc>
                  <a:txBody>
                    <a:bodyPr/>
                    <a:lstStyle/>
                    <a:p>
                      <a:r>
                        <a:rPr sz="1050">
                          <a:solidFill>
                            <a:srgbClr val="3C4654"/>
                          </a:solidFill>
                          <a:latin typeface="Calibri"/>
                        </a:rPr>
                        <a:t>Container Apps / Functions</a:t>
                      </a:r>
                    </a:p>
                  </a:txBody>
                  <a:tcPr anchor="ctr" marL="91440" marT="18288" marB="18288">
                    <a:solidFill>
                      <a:srgbClr val="EEF1F5"/>
                    </a:solidFill>
                  </a:tcPr>
                </a:tc>
                <a:tc>
                  <a:txBody>
                    <a:bodyPr/>
                    <a:lstStyle/>
                    <a:p>
                      <a:r>
                        <a:rPr sz="1050">
                          <a:solidFill>
                            <a:srgbClr val="3C4654"/>
                          </a:solidFill>
                          <a:latin typeface="Calibri"/>
                        </a:rPr>
                        <a:t>Always-on agent services</a:t>
                      </a:r>
                    </a:p>
                  </a:txBody>
                  <a:tcPr anchor="ctr" marL="91440" marT="18288" marB="18288">
                    <a:solidFill>
                      <a:srgbClr val="EEF1F5"/>
                    </a:solidFill>
                  </a:tcPr>
                </a:tc>
                <a:tc>
                  <a:txBody>
                    <a:bodyPr/>
                    <a:lstStyle/>
                    <a:p>
                      <a:r>
                        <a:rPr sz="1050">
                          <a:solidFill>
                            <a:srgbClr val="3C4654"/>
                          </a:solidFill>
                          <a:latin typeface="Calibri"/>
                        </a:rPr>
                        <a:t>Medium, steady</a:t>
                      </a:r>
                    </a:p>
                  </a:txBody>
                  <a:tcPr anchor="ctr" marL="91440" marT="18288" marB="18288">
                    <a:solidFill>
                      <a:srgbClr val="EEF1F5"/>
                    </a:solidFill>
                  </a:tcPr>
                </a:tc>
              </a:tr>
              <a:tr h="512064">
                <a:tc>
                  <a:txBody>
                    <a:bodyPr/>
                    <a:lstStyle/>
                    <a:p>
                      <a:r>
                        <a:rPr sz="1050" b="1">
                          <a:solidFill>
                            <a:srgbClr val="1F3A5F"/>
                          </a:solidFill>
                          <a:latin typeface="Calibri"/>
                        </a:rPr>
                        <a:t>Search index</a:t>
                      </a:r>
                    </a:p>
                  </a:txBody>
                  <a:tcPr anchor="ctr" marL="91440" marT="18288" marB="18288">
                    <a:solidFill>
                      <a:srgbClr val="FFFFFF"/>
                    </a:solidFill>
                  </a:tcPr>
                </a:tc>
                <a:tc>
                  <a:txBody>
                    <a:bodyPr/>
                    <a:lstStyle/>
                    <a:p>
                      <a:r>
                        <a:rPr sz="1050">
                          <a:solidFill>
                            <a:srgbClr val="3C4654"/>
                          </a:solidFill>
                          <a:latin typeface="Calibri"/>
                        </a:rPr>
                        <a:t>Azure AI Search</a:t>
                      </a:r>
                    </a:p>
                  </a:txBody>
                  <a:tcPr anchor="ctr" marL="91440" marT="18288" marB="18288">
                    <a:solidFill>
                      <a:srgbClr val="FFFFFF"/>
                    </a:solidFill>
                  </a:tcPr>
                </a:tc>
                <a:tc>
                  <a:txBody>
                    <a:bodyPr/>
                    <a:lstStyle/>
                    <a:p>
                      <a:r>
                        <a:rPr sz="1050">
                          <a:solidFill>
                            <a:srgbClr val="3C4654"/>
                          </a:solidFill>
                          <a:latin typeface="Calibri"/>
                        </a:rPr>
                        <a:t>Storage + number of lookups</a:t>
                      </a:r>
                    </a:p>
                  </a:txBody>
                  <a:tcPr anchor="ctr" marL="91440" marT="18288" marB="18288">
                    <a:solidFill>
                      <a:srgbClr val="FFFFFF"/>
                    </a:solidFill>
                  </a:tcPr>
                </a:tc>
                <a:tc>
                  <a:txBody>
                    <a:bodyPr/>
                    <a:lstStyle/>
                    <a:p>
                      <a:r>
                        <a:rPr sz="1050">
                          <a:solidFill>
                            <a:srgbClr val="3C4654"/>
                          </a:solidFill>
                          <a:latin typeface="Calibri"/>
                        </a:rPr>
                        <a:t>Medium</a:t>
                      </a:r>
                    </a:p>
                  </a:txBody>
                  <a:tcPr anchor="ctr" marL="91440" marT="18288" marB="18288">
                    <a:solidFill>
                      <a:srgbClr val="FFFFFF"/>
                    </a:solidFill>
                  </a:tcPr>
                </a:tc>
              </a:tr>
              <a:tr h="512064">
                <a:tc>
                  <a:txBody>
                    <a:bodyPr/>
                    <a:lstStyle/>
                    <a:p>
                      <a:r>
                        <a:rPr sz="1050" b="1">
                          <a:solidFill>
                            <a:srgbClr val="1F3A5F"/>
                          </a:solidFill>
                          <a:latin typeface="Calibri"/>
                        </a:rPr>
                        <a:t>Data &amp; memory</a:t>
                      </a:r>
                    </a:p>
                  </a:txBody>
                  <a:tcPr anchor="ctr" marL="91440" marT="18288" marB="18288">
                    <a:solidFill>
                      <a:srgbClr val="EEF1F5"/>
                    </a:solidFill>
                  </a:tcPr>
                </a:tc>
                <a:tc>
                  <a:txBody>
                    <a:bodyPr/>
                    <a:lstStyle/>
                    <a:p>
                      <a:r>
                        <a:rPr sz="1050">
                          <a:solidFill>
                            <a:srgbClr val="3C4654"/>
                          </a:solidFill>
                          <a:latin typeface="Calibri"/>
                        </a:rPr>
                        <a:t>Cosmos DB / Fabric / Blob</a:t>
                      </a:r>
                    </a:p>
                  </a:txBody>
                  <a:tcPr anchor="ctr" marL="91440" marT="18288" marB="18288">
                    <a:solidFill>
                      <a:srgbClr val="EEF1F5"/>
                    </a:solidFill>
                  </a:tcPr>
                </a:tc>
                <a:tc>
                  <a:txBody>
                    <a:bodyPr/>
                    <a:lstStyle/>
                    <a:p>
                      <a:r>
                        <a:rPr sz="1050">
                          <a:solidFill>
                            <a:srgbClr val="3C4654"/>
                          </a:solidFill>
                          <a:latin typeface="Calibri"/>
                        </a:rPr>
                        <a:t>Volume of data and state kept</a:t>
                      </a:r>
                    </a:p>
                  </a:txBody>
                  <a:tcPr anchor="ctr" marL="91440" marT="18288" marB="18288">
                    <a:solidFill>
                      <a:srgbClr val="EEF1F5"/>
                    </a:solidFill>
                  </a:tcPr>
                </a:tc>
                <a:tc>
                  <a:txBody>
                    <a:bodyPr/>
                    <a:lstStyle/>
                    <a:p>
                      <a:r>
                        <a:rPr sz="1050">
                          <a:solidFill>
                            <a:srgbClr val="3C4654"/>
                          </a:solidFill>
                          <a:latin typeface="Calibri"/>
                        </a:rPr>
                        <a:t>Low–Medium</a:t>
                      </a:r>
                    </a:p>
                  </a:txBody>
                  <a:tcPr anchor="ctr" marL="91440" marT="18288" marB="18288">
                    <a:solidFill>
                      <a:srgbClr val="EEF1F5"/>
                    </a:solidFill>
                  </a:tcPr>
                </a:tc>
              </a:tr>
              <a:tr h="512064">
                <a:tc>
                  <a:txBody>
                    <a:bodyPr/>
                    <a:lstStyle/>
                    <a:p>
                      <a:r>
                        <a:rPr sz="1050" b="1">
                          <a:solidFill>
                            <a:srgbClr val="1F3A5F"/>
                          </a:solidFill>
                          <a:latin typeface="Calibri"/>
                        </a:rPr>
                        <a:t>Monitoring</a:t>
                      </a:r>
                    </a:p>
                  </a:txBody>
                  <a:tcPr anchor="ctr" marL="91440" marT="18288" marB="18288">
                    <a:solidFill>
                      <a:srgbClr val="FFFFFF"/>
                    </a:solidFill>
                  </a:tcPr>
                </a:tc>
                <a:tc>
                  <a:txBody>
                    <a:bodyPr/>
                    <a:lstStyle/>
                    <a:p>
                      <a:r>
                        <a:rPr sz="1050">
                          <a:solidFill>
                            <a:srgbClr val="3C4654"/>
                          </a:solidFill>
                          <a:latin typeface="Calibri"/>
                        </a:rPr>
                        <a:t>Azure Monitor / App Insights</a:t>
                      </a:r>
                    </a:p>
                  </a:txBody>
                  <a:tcPr anchor="ctr" marL="91440" marT="18288" marB="18288">
                    <a:solidFill>
                      <a:srgbClr val="FFFFFF"/>
                    </a:solidFill>
                  </a:tcPr>
                </a:tc>
                <a:tc>
                  <a:txBody>
                    <a:bodyPr/>
                    <a:lstStyle/>
                    <a:p>
                      <a:r>
                        <a:rPr sz="1050">
                          <a:solidFill>
                            <a:srgbClr val="3C4654"/>
                          </a:solidFill>
                          <a:latin typeface="Calibri"/>
                        </a:rPr>
                        <a:t>Volume of logs and traces</a:t>
                      </a:r>
                    </a:p>
                  </a:txBody>
                  <a:tcPr anchor="ctr" marL="91440" marT="18288" marB="18288">
                    <a:solidFill>
                      <a:srgbClr val="FFFFFF"/>
                    </a:solidFill>
                  </a:tcPr>
                </a:tc>
                <a:tc>
                  <a:txBody>
                    <a:bodyPr/>
                    <a:lstStyle/>
                    <a:p>
                      <a:r>
                        <a:rPr sz="1050">
                          <a:solidFill>
                            <a:srgbClr val="3C4654"/>
                          </a:solidFill>
                          <a:latin typeface="Calibri"/>
                        </a:rPr>
                        <a:t>Low–Medium</a:t>
                      </a:r>
                    </a:p>
                  </a:txBody>
                  <a:tcPr anchor="ctr" marL="91440" marT="18288" marB="18288">
                    <a:solidFill>
                      <a:srgbClr val="FFFFFF"/>
                    </a:solidFill>
                  </a:tcPr>
                </a:tc>
              </a:tr>
              <a:tr h="512064">
                <a:tc>
                  <a:txBody>
                    <a:bodyPr/>
                    <a:lstStyle/>
                    <a:p>
                      <a:r>
                        <a:rPr sz="1050" b="1">
                          <a:solidFill>
                            <a:srgbClr val="1F3A5F"/>
                          </a:solidFill>
                          <a:latin typeface="Calibri"/>
                        </a:rPr>
                        <a:t>People</a:t>
                      </a:r>
                    </a:p>
                  </a:txBody>
                  <a:tcPr anchor="ctr" marL="91440" marT="18288" marB="18288">
                    <a:solidFill>
                      <a:srgbClr val="EEF1F5"/>
                    </a:solidFill>
                  </a:tcPr>
                </a:tc>
                <a:tc>
                  <a:txBody>
                    <a:bodyPr/>
                    <a:lstStyle/>
                    <a:p>
                      <a:r>
                        <a:rPr sz="1050">
                          <a:solidFill>
                            <a:srgbClr val="3C4654"/>
                          </a:solidFill>
                          <a:latin typeface="Calibri"/>
                        </a:rPr>
                        <a:t>—</a:t>
                      </a:r>
                    </a:p>
                  </a:txBody>
                  <a:tcPr anchor="ctr" marL="91440" marT="18288" marB="18288">
                    <a:solidFill>
                      <a:srgbClr val="EEF1F5"/>
                    </a:solidFill>
                  </a:tcPr>
                </a:tc>
                <a:tc>
                  <a:txBody>
                    <a:bodyPr/>
                    <a:lstStyle/>
                    <a:p>
                      <a:r>
                        <a:rPr sz="1050">
                          <a:solidFill>
                            <a:srgbClr val="3C4654"/>
                          </a:solidFill>
                          <a:latin typeface="Calibri"/>
                        </a:rPr>
                        <a:t>Small team to maintain &amp; support</a:t>
                      </a:r>
                    </a:p>
                  </a:txBody>
                  <a:tcPr anchor="ctr" marL="91440" marT="18288" marB="18288">
                    <a:solidFill>
                      <a:srgbClr val="EEF1F5"/>
                    </a:solidFill>
                  </a:tcPr>
                </a:tc>
                <a:tc>
                  <a:txBody>
                    <a:bodyPr/>
                    <a:lstStyle/>
                    <a:p>
                      <a:r>
                        <a:rPr sz="1050">
                          <a:solidFill>
                            <a:srgbClr val="3C4654"/>
                          </a:solidFill>
                          <a:latin typeface="Calibri"/>
                        </a:rPr>
                        <a:t>Biggest overall</a:t>
                      </a:r>
                    </a:p>
                  </a:txBody>
                  <a:tcPr anchor="ctr" marL="91440" marT="18288" marB="18288">
                    <a:solidFill>
                      <a:srgbClr val="EEF1F5"/>
                    </a:solidFill>
                  </a:tcPr>
                </a:tc>
              </a:tr>
            </a:tbl>
          </a:graphicData>
        </a:graphic>
      </p:graphicFrame>
      <p:sp>
        <p:nvSpPr>
          <p:cNvPr id="10" name="TextBox 9"/>
          <p:cNvSpPr txBox="1"/>
          <p:nvPr/>
        </p:nvSpPr>
        <p:spPr>
          <a:xfrm>
            <a:off x="548640" y="5669280"/>
            <a:ext cx="11091672" cy="640080"/>
          </a:xfrm>
          <a:prstGeom prst="rect">
            <a:avLst/>
          </a:prstGeom>
          <a:noFill/>
        </p:spPr>
        <p:txBody>
          <a:bodyPr wrap="square" anchor="t" lIns="0" rIns="0" tIns="0" bIns="0">
            <a:spAutoFit/>
          </a:bodyPr>
          <a:lstStyle/>
          <a:p>
            <a:pPr algn="l">
              <a:lnSpc>
                <a:spcPct val="105000"/>
              </a:lnSpc>
              <a:spcBef>
                <a:spcPts val="0"/>
              </a:spcBef>
              <a:spcAft>
                <a:spcPts val="600"/>
              </a:spcAft>
            </a:pPr>
            <a:r>
              <a:rPr sz="1250" b="1" i="0">
                <a:solidFill>
                  <a:srgbClr val="1F3A5F"/>
                </a:solidFill>
                <a:latin typeface="Calibri"/>
              </a:rPr>
              <a:t>Two big levers: </a:t>
            </a:r>
            <a:r>
              <a:rPr sz="1250" b="0" i="0">
                <a:solidFill>
                  <a:srgbClr val="3C4654"/>
                </a:solidFill>
                <a:latin typeface="Calibri"/>
              </a:rPr>
              <a:t>use the Model Router to pick a smaller, cheaper model when a task allows it, and cache repeated answers. Note: multi-agent means several model calls per request, so caching and right-sizing matter even more.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10896"/>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PEOPLE &amp; RISK</a:t>
            </a:r>
          </a:p>
        </p:txBody>
      </p:sp>
      <p:sp>
        <p:nvSpPr>
          <p:cNvPr id="4" name="TextBox 3"/>
          <p:cNvSpPr txBox="1"/>
          <p:nvPr/>
        </p:nvSpPr>
        <p:spPr>
          <a:xfrm>
            <a:off x="640080" y="530352"/>
            <a:ext cx="10881360" cy="640080"/>
          </a:xfrm>
          <a:prstGeom prst="rect">
            <a:avLst/>
          </a:prstGeom>
          <a:noFill/>
        </p:spPr>
        <p:txBody>
          <a:bodyPr wrap="square" anchor="t" lIns="0" rIns="0" tIns="0" bIns="0">
            <a:spAutoFit/>
          </a:bodyPr>
          <a:lstStyle/>
          <a:p>
            <a:pPr algn="l">
              <a:lnSpc>
                <a:spcPct val="105000"/>
              </a:lnSpc>
              <a:spcBef>
                <a:spcPts val="0"/>
              </a:spcBef>
              <a:spcAft>
                <a:spcPts val="600"/>
              </a:spcAft>
            </a:pPr>
            <a:r>
              <a:rPr sz="2500" b="1" i="0">
                <a:solidFill>
                  <a:srgbClr val="1F3A5F"/>
                </a:solidFill>
                <a:latin typeface="Calibri"/>
              </a:rPr>
              <a:t>Who runs it, and what to watch</a:t>
            </a:r>
          </a:p>
        </p:txBody>
      </p:sp>
      <p:sp>
        <p:nvSpPr>
          <p:cNvPr id="5" name="Rectangle 4"/>
          <p:cNvSpPr/>
          <p:nvPr/>
        </p:nvSpPr>
        <p:spPr>
          <a:xfrm>
            <a:off x="658368" y="1115568"/>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55664"/>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16</a:t>
            </a:r>
          </a:p>
        </p:txBody>
      </p:sp>
      <p:sp>
        <p:nvSpPr>
          <p:cNvPr id="7" name="TextBox 6"/>
          <p:cNvSpPr txBox="1"/>
          <p:nvPr/>
        </p:nvSpPr>
        <p:spPr>
          <a:xfrm>
            <a:off x="640080" y="6455664"/>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Enterprise LLMOps on Azure — technical overview</a:t>
            </a:r>
          </a:p>
        </p:txBody>
      </p:sp>
      <p:sp>
        <p:nvSpPr>
          <p:cNvPr id="8" name="Rounded Rectangle 7"/>
          <p:cNvSpPr/>
          <p:nvPr/>
        </p:nvSpPr>
        <p:spPr>
          <a:xfrm>
            <a:off x="640080" y="1417320"/>
            <a:ext cx="5394960" cy="416052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Team &amp; roles</a:t>
            </a:r>
          </a:p>
        </p:txBody>
      </p:sp>
      <p:sp>
        <p:nvSpPr>
          <p:cNvPr id="9" name="TextBox 8"/>
          <p:cNvSpPr txBox="1"/>
          <p:nvPr/>
        </p:nvSpPr>
        <p:spPr>
          <a:xfrm>
            <a:off x="868680" y="1920240"/>
            <a:ext cx="4983480" cy="3657600"/>
          </a:xfrm>
          <a:prstGeom prst="rect">
            <a:avLst/>
          </a:prstGeom>
          <a:noFill/>
        </p:spPr>
        <p:txBody>
          <a:bodyPr wrap="square" lIns="0" tIns="0">
            <a:spAutoFit/>
          </a:bodyPr>
          <a:lstStyle/>
          <a:p>
            <a:pPr>
              <a:lnSpc>
                <a:spcPct val="106000"/>
              </a:lnSpc>
              <a:spcBef>
                <a:spcPts val="0"/>
              </a:spcBef>
              <a:spcAft>
                <a:spcPts val="1100"/>
              </a:spcAft>
            </a:pPr>
            <a:r>
              <a:rPr sz="1300" b="0">
                <a:solidFill>
                  <a:srgbClr val="3C4654"/>
                </a:solidFill>
                <a:latin typeface="Calibri"/>
              </a:rPr>
              <a:t>•  Platform lead / architect — owns design &amp; standards.</a:t>
            </a:r>
          </a:p>
          <a:p>
            <a:pPr>
              <a:lnSpc>
                <a:spcPct val="106000"/>
              </a:lnSpc>
              <a:spcBef>
                <a:spcPts val="0"/>
              </a:spcBef>
              <a:spcAft>
                <a:spcPts val="1100"/>
              </a:spcAft>
            </a:pPr>
            <a:r>
              <a:rPr sz="1300" b="0">
                <a:solidFill>
                  <a:srgbClr val="3C4654"/>
                </a:solidFill>
                <a:latin typeface="Calibri"/>
              </a:rPr>
              <a:t>•  Engineers — build the framework, agents, and pipeline.</a:t>
            </a:r>
          </a:p>
          <a:p>
            <a:pPr>
              <a:lnSpc>
                <a:spcPct val="106000"/>
              </a:lnSpc>
              <a:spcBef>
                <a:spcPts val="0"/>
              </a:spcBef>
              <a:spcAft>
                <a:spcPts val="1100"/>
              </a:spcAft>
            </a:pPr>
            <a:r>
              <a:rPr sz="1300" b="0">
                <a:solidFill>
                  <a:srgbClr val="3C4654"/>
                </a:solidFill>
                <a:latin typeface="Calibri"/>
              </a:rPr>
              <a:t>•  Data engineer — prepares and connects data.</a:t>
            </a:r>
          </a:p>
          <a:p>
            <a:pPr>
              <a:lnSpc>
                <a:spcPct val="106000"/>
              </a:lnSpc>
              <a:spcBef>
                <a:spcPts val="0"/>
              </a:spcBef>
              <a:spcAft>
                <a:spcPts val="1100"/>
              </a:spcAft>
            </a:pPr>
            <a:r>
              <a:rPr sz="1300" b="0">
                <a:solidFill>
                  <a:srgbClr val="3C4654"/>
                </a:solidFill>
                <a:latin typeface="Calibri"/>
              </a:rPr>
              <a:t>•  Security &amp; governance — access, privacy, compliance.</a:t>
            </a:r>
          </a:p>
          <a:p>
            <a:pPr>
              <a:lnSpc>
                <a:spcPct val="106000"/>
              </a:lnSpc>
              <a:spcBef>
                <a:spcPts val="0"/>
              </a:spcBef>
              <a:spcAft>
                <a:spcPts val="1100"/>
              </a:spcAft>
            </a:pPr>
            <a:r>
              <a:rPr sz="1300" b="0">
                <a:solidFill>
                  <a:srgbClr val="3C4654"/>
                </a:solidFill>
                <a:latin typeface="Calibri"/>
              </a:rPr>
              <a:t>•  Support / operations — keeps it running.</a:t>
            </a:r>
          </a:p>
        </p:txBody>
      </p:sp>
      <p:sp>
        <p:nvSpPr>
          <p:cNvPr id="10" name="Rounded Rectangle 9"/>
          <p:cNvSpPr/>
          <p:nvPr/>
        </p:nvSpPr>
        <p:spPr>
          <a:xfrm>
            <a:off x="6309360" y="1417320"/>
            <a:ext cx="5330952" cy="4160520"/>
          </a:xfrm>
          <a:prstGeom prst="roundRect">
            <a:avLst>
              <a:gd name="adj" fmla="val 8000"/>
            </a:avLst>
          </a:prstGeom>
          <a:solidFill>
            <a:srgbClr val="EEF1F5"/>
          </a:solidFill>
          <a:ln w="1270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Aft>
                <a:spcPts val="100"/>
              </a:spcAft>
            </a:pPr>
            <a:r>
              <a:rPr sz="1250" b="1">
                <a:solidFill>
                  <a:srgbClr val="1F3A5F"/>
                </a:solidFill>
                <a:latin typeface="Calibri"/>
              </a:rPr>
              <a:t>Risks to watch</a:t>
            </a:r>
          </a:p>
        </p:txBody>
      </p:sp>
      <p:sp>
        <p:nvSpPr>
          <p:cNvPr id="11" name="TextBox 10"/>
          <p:cNvSpPr txBox="1"/>
          <p:nvPr/>
        </p:nvSpPr>
        <p:spPr>
          <a:xfrm>
            <a:off x="6537960" y="1920240"/>
            <a:ext cx="4937760" cy="3657600"/>
          </a:xfrm>
          <a:prstGeom prst="rect">
            <a:avLst/>
          </a:prstGeom>
          <a:noFill/>
        </p:spPr>
        <p:txBody>
          <a:bodyPr wrap="square" lIns="0" tIns="0">
            <a:spAutoFit/>
          </a:bodyPr>
          <a:lstStyle/>
          <a:p>
            <a:pPr>
              <a:lnSpc>
                <a:spcPct val="106000"/>
              </a:lnSpc>
              <a:spcBef>
                <a:spcPts val="0"/>
              </a:spcBef>
              <a:spcAft>
                <a:spcPts val="1100"/>
              </a:spcAft>
            </a:pPr>
            <a:r>
              <a:rPr sz="1300" b="0">
                <a:solidFill>
                  <a:srgbClr val="3C4654"/>
                </a:solidFill>
                <a:latin typeface="Calibri"/>
              </a:rPr>
              <a:t>•  Wrong or made-up answers -&gt; grounding + testing.</a:t>
            </a:r>
          </a:p>
          <a:p>
            <a:pPr>
              <a:lnSpc>
                <a:spcPct val="106000"/>
              </a:lnSpc>
              <a:spcBef>
                <a:spcPts val="0"/>
              </a:spcBef>
              <a:spcAft>
                <a:spcPts val="1100"/>
              </a:spcAft>
            </a:pPr>
            <a:r>
              <a:rPr sz="1300" b="0">
                <a:solidFill>
                  <a:srgbClr val="3C4654"/>
                </a:solidFill>
                <a:latin typeface="Calibri"/>
              </a:rPr>
              <a:t>•  Cost surprises (many agent calls) -&gt; limits, budgets, caching.</a:t>
            </a:r>
          </a:p>
          <a:p>
            <a:pPr>
              <a:lnSpc>
                <a:spcPct val="106000"/>
              </a:lnSpc>
              <a:spcBef>
                <a:spcPts val="0"/>
              </a:spcBef>
              <a:spcAft>
                <a:spcPts val="1100"/>
              </a:spcAft>
            </a:pPr>
            <a:r>
              <a:rPr sz="1300" b="0">
                <a:solidFill>
                  <a:srgbClr val="3C4654"/>
                </a:solidFill>
                <a:latin typeface="Calibri"/>
              </a:rPr>
              <a:t>•  Too much automation -&gt; keep humans in the loop.</a:t>
            </a:r>
          </a:p>
          <a:p>
            <a:pPr>
              <a:lnSpc>
                <a:spcPct val="106000"/>
              </a:lnSpc>
              <a:spcBef>
                <a:spcPts val="0"/>
              </a:spcBef>
              <a:spcAft>
                <a:spcPts val="1100"/>
              </a:spcAft>
            </a:pPr>
            <a:r>
              <a:rPr sz="1300" b="0">
                <a:solidFill>
                  <a:srgbClr val="3C4654"/>
                </a:solidFill>
                <a:latin typeface="Calibri"/>
              </a:rPr>
              <a:t>•  Locked to one model -&gt; the gateway lets us switch.</a:t>
            </a:r>
          </a:p>
          <a:p>
            <a:pPr>
              <a:lnSpc>
                <a:spcPct val="106000"/>
              </a:lnSpc>
              <a:spcBef>
                <a:spcPts val="0"/>
              </a:spcBef>
              <a:spcAft>
                <a:spcPts val="1100"/>
              </a:spcAft>
            </a:pPr>
            <a:r>
              <a:rPr sz="1300" b="0">
                <a:solidFill>
                  <a:srgbClr val="3C4654"/>
                </a:solidFill>
                <a:latin typeface="Calibri"/>
              </a:rPr>
              <a:t>•  Security gaps -&gt; treat all input/output as untrusted.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10896"/>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WRAP-UP</a:t>
            </a:r>
          </a:p>
        </p:txBody>
      </p:sp>
      <p:sp>
        <p:nvSpPr>
          <p:cNvPr id="4" name="TextBox 3"/>
          <p:cNvSpPr txBox="1"/>
          <p:nvPr/>
        </p:nvSpPr>
        <p:spPr>
          <a:xfrm>
            <a:off x="640080" y="530352"/>
            <a:ext cx="10881360" cy="640080"/>
          </a:xfrm>
          <a:prstGeom prst="rect">
            <a:avLst/>
          </a:prstGeom>
          <a:noFill/>
        </p:spPr>
        <p:txBody>
          <a:bodyPr wrap="square" anchor="t" lIns="0" rIns="0" tIns="0" bIns="0">
            <a:spAutoFit/>
          </a:bodyPr>
          <a:lstStyle/>
          <a:p>
            <a:pPr algn="l">
              <a:lnSpc>
                <a:spcPct val="105000"/>
              </a:lnSpc>
              <a:spcBef>
                <a:spcPts val="0"/>
              </a:spcBef>
              <a:spcAft>
                <a:spcPts val="600"/>
              </a:spcAft>
            </a:pPr>
            <a:r>
              <a:rPr sz="2500" b="1" i="0">
                <a:solidFill>
                  <a:srgbClr val="1F3A5F"/>
                </a:solidFill>
                <a:latin typeface="Calibri"/>
              </a:rPr>
              <a:t>Summary and next steps</a:t>
            </a:r>
          </a:p>
        </p:txBody>
      </p:sp>
      <p:sp>
        <p:nvSpPr>
          <p:cNvPr id="5" name="Rectangle 4"/>
          <p:cNvSpPr/>
          <p:nvPr/>
        </p:nvSpPr>
        <p:spPr>
          <a:xfrm>
            <a:off x="658368" y="1115568"/>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55664"/>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17</a:t>
            </a:r>
          </a:p>
        </p:txBody>
      </p:sp>
      <p:sp>
        <p:nvSpPr>
          <p:cNvPr id="7" name="TextBox 6"/>
          <p:cNvSpPr txBox="1"/>
          <p:nvPr/>
        </p:nvSpPr>
        <p:spPr>
          <a:xfrm>
            <a:off x="640080" y="6455664"/>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Enterprise LLMOps on Azure — technical overview</a:t>
            </a:r>
          </a:p>
        </p:txBody>
      </p:sp>
      <p:sp>
        <p:nvSpPr>
          <p:cNvPr id="8" name="TextBox 7"/>
          <p:cNvSpPr txBox="1"/>
          <p:nvPr/>
        </p:nvSpPr>
        <p:spPr>
          <a:xfrm>
            <a:off x="685800" y="1463040"/>
            <a:ext cx="10789920" cy="4754880"/>
          </a:xfrm>
          <a:prstGeom prst="rect">
            <a:avLst/>
          </a:prstGeom>
          <a:noFill/>
        </p:spPr>
        <p:txBody>
          <a:bodyPr wrap="square" lIns="0" tIns="0">
            <a:spAutoFit/>
          </a:bodyPr>
          <a:lstStyle/>
          <a:p>
            <a:pPr>
              <a:lnSpc>
                <a:spcPct val="106000"/>
              </a:lnSpc>
              <a:spcBef>
                <a:spcPts val="0"/>
              </a:spcBef>
              <a:spcAft>
                <a:spcPts val="1100"/>
              </a:spcAft>
            </a:pPr>
            <a:r>
              <a:rPr sz="1600" b="0">
                <a:solidFill>
                  <a:srgbClr val="3C4654"/>
                </a:solidFill>
                <a:latin typeface="Calibri"/>
              </a:rPr>
              <a:t>•  LLMOps is how we run LLM apps reliably, not just build a demo.</a:t>
            </a:r>
          </a:p>
          <a:p>
            <a:pPr>
              <a:lnSpc>
                <a:spcPct val="106000"/>
              </a:lnSpc>
              <a:spcBef>
                <a:spcPts val="0"/>
              </a:spcBef>
              <a:spcAft>
                <a:spcPts val="1100"/>
              </a:spcAft>
            </a:pPr>
            <a:r>
              <a:rPr sz="1600" b="1">
                <a:solidFill>
                  <a:srgbClr val="1F3A5F"/>
                </a:solidFill>
                <a:latin typeface="Calibri"/>
              </a:rPr>
              <a:t>•  The value is a set of reusable components — build once, reuse for every project.</a:t>
            </a:r>
          </a:p>
          <a:p>
            <a:pPr>
              <a:lnSpc>
                <a:spcPct val="106000"/>
              </a:lnSpc>
              <a:spcBef>
                <a:spcPts val="0"/>
              </a:spcBef>
              <a:spcAft>
                <a:spcPts val="1100"/>
              </a:spcAft>
            </a:pPr>
            <a:r>
              <a:rPr sz="1600" b="0">
                <a:solidFill>
                  <a:srgbClr val="3C4654"/>
                </a:solidFill>
                <a:latin typeface="Calibri"/>
              </a:rPr>
              <a:t>•  Multi-agent orchestration is the core: an orchestrator coordinating focused agents, made enterprise-grade by durable execution, memory, guardrails, and tracing.</a:t>
            </a:r>
          </a:p>
          <a:p>
            <a:pPr>
              <a:lnSpc>
                <a:spcPct val="106000"/>
              </a:lnSpc>
              <a:spcBef>
                <a:spcPts val="0"/>
              </a:spcBef>
              <a:spcAft>
                <a:spcPts val="1100"/>
              </a:spcAft>
            </a:pPr>
            <a:r>
              <a:rPr sz="1600" b="0">
                <a:solidFill>
                  <a:srgbClr val="3C4654"/>
                </a:solidFill>
                <a:latin typeface="Calibri"/>
              </a:rPr>
              <a:t>•  Every component maps to a specific Azure service, so the build is concrete.</a:t>
            </a:r>
          </a:p>
          <a:p>
            <a:pPr>
              <a:lnSpc>
                <a:spcPct val="106000"/>
              </a:lnSpc>
              <a:spcBef>
                <a:spcPts val="0"/>
              </a:spcBef>
              <a:spcAft>
                <a:spcPts val="1100"/>
              </a:spcAft>
            </a:pPr>
            <a:r>
              <a:rPr sz="1600" b="1">
                <a:solidFill>
                  <a:srgbClr val="1F3A5F"/>
                </a:solidFill>
                <a:latin typeface="Calibri"/>
              </a:rPr>
              <a:t>•  Build the base in about one month; then onboard projects quickly on top.</a:t>
            </a:r>
          </a:p>
          <a:p>
            <a:pPr>
              <a:lnSpc>
                <a:spcPct val="106000"/>
              </a:lnSpc>
              <a:spcBef>
                <a:spcPts val="0"/>
              </a:spcBef>
              <a:spcAft>
                <a:spcPts val="1100"/>
              </a:spcAft>
            </a:pPr>
            <a:r>
              <a:rPr sz="1600" b="0">
                <a:solidFill>
                  <a:srgbClr val="3C4654"/>
                </a:solidFill>
                <a:latin typeface="Calibri"/>
              </a:rPr>
              <a:t>•  Plan for ongoing running costs — mainly model usage and people.</a:t>
            </a:r>
          </a:p>
          <a:p>
            <a:pPr>
              <a:lnSpc>
                <a:spcPct val="106000"/>
              </a:lnSpc>
              <a:spcBef>
                <a:spcPts val="0"/>
              </a:spcBef>
              <a:spcAft>
                <a:spcPts val="1100"/>
              </a:spcAft>
            </a:pPr>
            <a:r>
              <a:rPr sz="1600" b="1">
                <a:solidFill>
                  <a:srgbClr val="1F3A5F"/>
                </a:solidFill>
                <a:latin typeface="Calibri"/>
              </a:rPr>
              <a:t>•  Next step: agree scope for the one-month base build and set up the Azure environment.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10896"/>
            <a:ext cx="10881360" cy="2743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A9D8F"/>
                </a:solidFill>
                <a:latin typeface="Calibri"/>
              </a:rPr>
              <a:t>APPENDIX</a:t>
            </a:r>
          </a:p>
        </p:txBody>
      </p:sp>
      <p:sp>
        <p:nvSpPr>
          <p:cNvPr id="4" name="TextBox 3"/>
          <p:cNvSpPr txBox="1"/>
          <p:nvPr/>
        </p:nvSpPr>
        <p:spPr>
          <a:xfrm>
            <a:off x="640080" y="530352"/>
            <a:ext cx="10881360" cy="640080"/>
          </a:xfrm>
          <a:prstGeom prst="rect">
            <a:avLst/>
          </a:prstGeom>
          <a:noFill/>
        </p:spPr>
        <p:txBody>
          <a:bodyPr wrap="square" anchor="t" lIns="0" rIns="0" tIns="0" bIns="0">
            <a:spAutoFit/>
          </a:bodyPr>
          <a:lstStyle/>
          <a:p>
            <a:pPr algn="l">
              <a:lnSpc>
                <a:spcPct val="105000"/>
              </a:lnSpc>
              <a:spcBef>
                <a:spcPts val="0"/>
              </a:spcBef>
              <a:spcAft>
                <a:spcPts val="600"/>
              </a:spcAft>
            </a:pPr>
            <a:r>
              <a:rPr sz="2500" b="1" i="0">
                <a:solidFill>
                  <a:srgbClr val="1F3A5F"/>
                </a:solidFill>
                <a:latin typeface="Calibri"/>
              </a:rPr>
              <a:t>Terms in plain English (quick reference)</a:t>
            </a:r>
          </a:p>
        </p:txBody>
      </p:sp>
      <p:sp>
        <p:nvSpPr>
          <p:cNvPr id="5" name="Rectangle 4"/>
          <p:cNvSpPr/>
          <p:nvPr/>
        </p:nvSpPr>
        <p:spPr>
          <a:xfrm>
            <a:off x="658368" y="1115568"/>
            <a:ext cx="1371600" cy="38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85855" y="6455664"/>
            <a:ext cx="64008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i="0">
                <a:solidFill>
                  <a:srgbClr val="6B7480"/>
                </a:solidFill>
                <a:latin typeface="Calibri"/>
              </a:rPr>
              <a:t>18</a:t>
            </a:r>
          </a:p>
        </p:txBody>
      </p:sp>
      <p:sp>
        <p:nvSpPr>
          <p:cNvPr id="7" name="TextBox 6"/>
          <p:cNvSpPr txBox="1"/>
          <p:nvPr/>
        </p:nvSpPr>
        <p:spPr>
          <a:xfrm>
            <a:off x="640080" y="6455664"/>
            <a:ext cx="8229600" cy="274320"/>
          </a:xfrm>
          <a:prstGeom prst="rect">
            <a:avLst/>
          </a:prstGeom>
          <a:noFill/>
        </p:spPr>
        <p:txBody>
          <a:bodyPr wrap="square" anchor="t" lIns="0" rIns="0" tIns="0" bIns="0">
            <a:spAutoFit/>
          </a:bodyPr>
          <a:lstStyle/>
          <a:p>
            <a:pPr algn="l">
              <a:lnSpc>
                <a:spcPct val="105000"/>
              </a:lnSpc>
              <a:spcBef>
                <a:spcPts val="0"/>
              </a:spcBef>
              <a:spcAft>
                <a:spcPts val="600"/>
              </a:spcAft>
            </a:pPr>
            <a:r>
              <a:rPr sz="900" b="0" i="0">
                <a:solidFill>
                  <a:srgbClr val="6B7480"/>
                </a:solidFill>
                <a:latin typeface="Calibri"/>
              </a:rPr>
              <a:t>Enterprise LLMOps on Azure — technical overview</a:t>
            </a:r>
          </a:p>
        </p:txBody>
      </p:sp>
      <p:sp>
        <p:nvSpPr>
          <p:cNvPr id="8" name="TextBox 7"/>
          <p:cNvSpPr txBox="1"/>
          <p:nvPr/>
        </p:nvSpPr>
        <p:spPr>
          <a:xfrm>
            <a:off x="640080" y="1371600"/>
            <a:ext cx="5440680" cy="603504"/>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LLM  </a:t>
            </a:r>
            <a:r>
              <a:rPr sz="1100" b="0" i="0">
                <a:solidFill>
                  <a:srgbClr val="3C4654"/>
                </a:solidFill>
                <a:latin typeface="Calibri"/>
              </a:rPr>
              <a:t>Large Language Model — AI that reads and writes text.</a:t>
            </a:r>
          </a:p>
        </p:txBody>
      </p:sp>
      <p:sp>
        <p:nvSpPr>
          <p:cNvPr id="9" name="TextBox 8"/>
          <p:cNvSpPr txBox="1"/>
          <p:nvPr/>
        </p:nvSpPr>
        <p:spPr>
          <a:xfrm>
            <a:off x="6309360" y="1371600"/>
            <a:ext cx="5440680" cy="603504"/>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LLMOps  </a:t>
            </a:r>
            <a:r>
              <a:rPr sz="1100" b="0" i="0">
                <a:solidFill>
                  <a:srgbClr val="3C4654"/>
                </a:solidFill>
                <a:latin typeface="Calibri"/>
              </a:rPr>
              <a:t>Large Language Model Operations — building, testing, shipping, running LLM apps.</a:t>
            </a:r>
          </a:p>
        </p:txBody>
      </p:sp>
      <p:sp>
        <p:nvSpPr>
          <p:cNvPr id="10" name="TextBox 9"/>
          <p:cNvSpPr txBox="1"/>
          <p:nvPr/>
        </p:nvSpPr>
        <p:spPr>
          <a:xfrm>
            <a:off x="640080" y="1975104"/>
            <a:ext cx="5440680" cy="603504"/>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Agent  </a:t>
            </a:r>
            <a:r>
              <a:rPr sz="1100" b="0" i="0">
                <a:solidFill>
                  <a:srgbClr val="3C4654"/>
                </a:solidFill>
                <a:latin typeface="Calibri"/>
              </a:rPr>
              <a:t>An LLM that can use tools and take steps, not just chat.</a:t>
            </a:r>
          </a:p>
        </p:txBody>
      </p:sp>
      <p:sp>
        <p:nvSpPr>
          <p:cNvPr id="11" name="TextBox 10"/>
          <p:cNvSpPr txBox="1"/>
          <p:nvPr/>
        </p:nvSpPr>
        <p:spPr>
          <a:xfrm>
            <a:off x="6309360" y="1975104"/>
            <a:ext cx="5440680" cy="603504"/>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Orchestrator  </a:t>
            </a:r>
            <a:r>
              <a:rPr sz="1100" b="0" i="0">
                <a:solidFill>
                  <a:srgbClr val="3C4654"/>
                </a:solidFill>
                <a:latin typeface="Calibri"/>
              </a:rPr>
              <a:t>The coordinator that decides which agent does what, and when.</a:t>
            </a:r>
          </a:p>
        </p:txBody>
      </p:sp>
      <p:sp>
        <p:nvSpPr>
          <p:cNvPr id="12" name="TextBox 11"/>
          <p:cNvSpPr txBox="1"/>
          <p:nvPr/>
        </p:nvSpPr>
        <p:spPr>
          <a:xfrm>
            <a:off x="640080" y="2578608"/>
            <a:ext cx="5440680" cy="603504"/>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MCP  </a:t>
            </a:r>
            <a:r>
              <a:rPr sz="1100" b="0" i="0">
                <a:solidFill>
                  <a:srgbClr val="3C4654"/>
                </a:solidFill>
                <a:latin typeface="Calibri"/>
              </a:rPr>
              <a:t>Model Context Protocol — a standard way for agents to use tools/connectors.</a:t>
            </a:r>
          </a:p>
        </p:txBody>
      </p:sp>
      <p:sp>
        <p:nvSpPr>
          <p:cNvPr id="13" name="TextBox 12"/>
          <p:cNvSpPr txBox="1"/>
          <p:nvPr/>
        </p:nvSpPr>
        <p:spPr>
          <a:xfrm>
            <a:off x="6309360" y="2578608"/>
            <a:ext cx="5440680" cy="603504"/>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A2A  </a:t>
            </a:r>
            <a:r>
              <a:rPr sz="1100" b="0" i="0">
                <a:solidFill>
                  <a:srgbClr val="3C4654"/>
                </a:solidFill>
                <a:latin typeface="Calibri"/>
              </a:rPr>
              <a:t>Agent-to-Agent — a standard way for agents to talk to each other.</a:t>
            </a:r>
          </a:p>
        </p:txBody>
      </p:sp>
      <p:sp>
        <p:nvSpPr>
          <p:cNvPr id="14" name="TextBox 13"/>
          <p:cNvSpPr txBox="1"/>
          <p:nvPr/>
        </p:nvSpPr>
        <p:spPr>
          <a:xfrm>
            <a:off x="640080" y="3182112"/>
            <a:ext cx="5440680" cy="603504"/>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Agent registry  </a:t>
            </a:r>
            <a:r>
              <a:rPr sz="1100" b="0" i="0">
                <a:solidFill>
                  <a:srgbClr val="3C4654"/>
                </a:solidFill>
                <a:latin typeface="Calibri"/>
              </a:rPr>
              <a:t>A managed, versioned catalog of agents, governed like code.</a:t>
            </a:r>
          </a:p>
        </p:txBody>
      </p:sp>
      <p:sp>
        <p:nvSpPr>
          <p:cNvPr id="15" name="TextBox 14"/>
          <p:cNvSpPr txBox="1"/>
          <p:nvPr/>
        </p:nvSpPr>
        <p:spPr>
          <a:xfrm>
            <a:off x="6309360" y="3182112"/>
            <a:ext cx="5440680" cy="603504"/>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Durable execution  </a:t>
            </a:r>
            <a:r>
              <a:rPr sz="1100" b="0" i="0">
                <a:solidFill>
                  <a:srgbClr val="3C4654"/>
                </a:solidFill>
                <a:latin typeface="Calibri"/>
              </a:rPr>
              <a:t>Long jobs that can pause, resume, and recover from failures.</a:t>
            </a:r>
          </a:p>
        </p:txBody>
      </p:sp>
      <p:sp>
        <p:nvSpPr>
          <p:cNvPr id="16" name="TextBox 15"/>
          <p:cNvSpPr txBox="1"/>
          <p:nvPr/>
        </p:nvSpPr>
        <p:spPr>
          <a:xfrm>
            <a:off x="640080" y="3785616"/>
            <a:ext cx="5440680" cy="603504"/>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RAG  </a:t>
            </a:r>
            <a:r>
              <a:rPr sz="1100" b="0" i="0">
                <a:solidFill>
                  <a:srgbClr val="3C4654"/>
                </a:solidFill>
                <a:latin typeface="Calibri"/>
              </a:rPr>
              <a:t>Retrieval-Augmented Generation — the model answers using our own documents.</a:t>
            </a:r>
          </a:p>
        </p:txBody>
      </p:sp>
      <p:sp>
        <p:nvSpPr>
          <p:cNvPr id="17" name="TextBox 16"/>
          <p:cNvSpPr txBox="1"/>
          <p:nvPr/>
        </p:nvSpPr>
        <p:spPr>
          <a:xfrm>
            <a:off x="6309360" y="3785616"/>
            <a:ext cx="5440680" cy="603504"/>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Embeddings  </a:t>
            </a:r>
            <a:r>
              <a:rPr sz="1100" b="0" i="0">
                <a:solidFill>
                  <a:srgbClr val="3C4654"/>
                </a:solidFill>
                <a:latin typeface="Calibri"/>
              </a:rPr>
              <a:t>Text turned into numbers so we can search by meaning.</a:t>
            </a:r>
          </a:p>
        </p:txBody>
      </p:sp>
      <p:sp>
        <p:nvSpPr>
          <p:cNvPr id="18" name="TextBox 17"/>
          <p:cNvSpPr txBox="1"/>
          <p:nvPr/>
        </p:nvSpPr>
        <p:spPr>
          <a:xfrm>
            <a:off x="640080" y="4389120"/>
            <a:ext cx="5440680" cy="603504"/>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CI/CD  </a:t>
            </a:r>
            <a:r>
              <a:rPr sz="1100" b="0" i="0">
                <a:solidFill>
                  <a:srgbClr val="3C4654"/>
                </a:solidFill>
                <a:latin typeface="Calibri"/>
              </a:rPr>
              <a:t>Continuous Integration / Continuous Delivery — automated testing and release.</a:t>
            </a:r>
          </a:p>
        </p:txBody>
      </p:sp>
      <p:sp>
        <p:nvSpPr>
          <p:cNvPr id="19" name="TextBox 18"/>
          <p:cNvSpPr txBox="1"/>
          <p:nvPr/>
        </p:nvSpPr>
        <p:spPr>
          <a:xfrm>
            <a:off x="6309360" y="4389120"/>
            <a:ext cx="5440680" cy="603504"/>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Guardrails  </a:t>
            </a:r>
            <a:r>
              <a:rPr sz="1100" b="0" i="0">
                <a:solidFill>
                  <a:srgbClr val="3C4654"/>
                </a:solidFill>
                <a:latin typeface="Calibri"/>
              </a:rPr>
              <a:t>Automatic safety checks on what goes in and comes out.</a:t>
            </a:r>
          </a:p>
        </p:txBody>
      </p:sp>
      <p:sp>
        <p:nvSpPr>
          <p:cNvPr id="20" name="TextBox 19"/>
          <p:cNvSpPr txBox="1"/>
          <p:nvPr/>
        </p:nvSpPr>
        <p:spPr>
          <a:xfrm>
            <a:off x="640080" y="4992624"/>
            <a:ext cx="5440680" cy="603504"/>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PII  </a:t>
            </a:r>
            <a:r>
              <a:rPr sz="1100" b="0" i="0">
                <a:solidFill>
                  <a:srgbClr val="3C4654"/>
                </a:solidFill>
                <a:latin typeface="Calibri"/>
              </a:rPr>
              <a:t>Personally Identifiable Information — personal data like names, phone numbers.</a:t>
            </a:r>
          </a:p>
        </p:txBody>
      </p:sp>
      <p:sp>
        <p:nvSpPr>
          <p:cNvPr id="21" name="TextBox 20"/>
          <p:cNvSpPr txBox="1"/>
          <p:nvPr/>
        </p:nvSpPr>
        <p:spPr>
          <a:xfrm>
            <a:off x="6309360" y="4992624"/>
            <a:ext cx="5440680" cy="603504"/>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Token  </a:t>
            </a:r>
            <a:r>
              <a:rPr sz="1100" b="0" i="0">
                <a:solidFill>
                  <a:srgbClr val="3C4654"/>
                </a:solidFill>
                <a:latin typeface="Calibri"/>
              </a:rPr>
              <a:t>The small unit of text a model reads/writes; billing is per token.</a:t>
            </a:r>
          </a:p>
        </p:txBody>
      </p:sp>
      <p:sp>
        <p:nvSpPr>
          <p:cNvPr id="22" name="TextBox 21"/>
          <p:cNvSpPr txBox="1"/>
          <p:nvPr/>
        </p:nvSpPr>
        <p:spPr>
          <a:xfrm>
            <a:off x="640080" y="5596128"/>
            <a:ext cx="5440680" cy="603504"/>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Canary release  </a:t>
            </a:r>
            <a:r>
              <a:rPr sz="1100" b="0" i="0">
                <a:solidFill>
                  <a:srgbClr val="3C4654"/>
                </a:solidFill>
                <a:latin typeface="Calibri"/>
              </a:rPr>
              <a:t>Releasing to a small slice first to catch problems early.</a:t>
            </a:r>
          </a:p>
        </p:txBody>
      </p:sp>
      <p:sp>
        <p:nvSpPr>
          <p:cNvPr id="23" name="TextBox 22"/>
          <p:cNvSpPr txBox="1"/>
          <p:nvPr/>
        </p:nvSpPr>
        <p:spPr>
          <a:xfrm>
            <a:off x="6309360" y="5596128"/>
            <a:ext cx="5440680" cy="603504"/>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A9D8F"/>
                </a:solidFill>
                <a:latin typeface="Calibri"/>
              </a:rPr>
              <a:t>OpenTelemetry  </a:t>
            </a:r>
            <a:r>
              <a:rPr sz="1100" b="0" i="0">
                <a:solidFill>
                  <a:srgbClr val="3C4654"/>
                </a:solidFill>
                <a:latin typeface="Calibri"/>
              </a:rPr>
              <a:t>An open standard for collecting traces and metrics.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