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this is the technical view of the framework and, importantly, how we implement each part on Azure. I'll show the architecture, each component with its Azure service, how we build the base in about a month, and what it costs to 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it plain. One line: LLMOps is DevOps for language-model apps, with extra care because answers vary and each call costs money.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map for the whole talk. Read top to bottom: a request comes from an app, goes through the gateway, the orchestration layer decides what to do, calls the model and the knowledge search, which sit on our data. Security, monitoring and CI/CD apply across all of it. Every box names the Azure service that provides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'how in Azure' slide people will screenshot. Left is the capability, middle is the exact Azure service, right is a plain-English one-liner. RAG = Retrieval-Augmented Generation: the model answers using our documents.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five boxes left to right. The key message: RAG is how we ground answers in our own data and show sources. Name the Azure services as you go. 'Embeddings' just means text stored as numbers so we can search by meaning.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orchestrator as the 'brain' that coordinates. It calls knowledge, tools, and the model. On Azure this is the Foundry Agent Service, built with Semantic Kernel. Mention that steps are logged and sensitive actions need human approval.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Security folks care most here. Walk down the layers from outside in. The one line to land: we treat all model input and output as untrusted and check both. PII = Personally Identifiable Information, i.e. personal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test before release, and watch in production. The message: we do not hope the model is right, we measure it, and we block a release if quality drops. Then in production we watch speed, errors and cost, not just quality.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LLMOps. Nothing ships without passing the gates. Point at the amber 'test gates' box, then the four gates below. On Azure this runs in Azure DevOps or GitHub Actions, with gradual release and automatic rollback.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Simple left-to-right, then it loops back. Emphasize the loop: feedback from real use improves the system. That loop is why it's 'Ops' and not just 'build once'.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Concrete Azure build plan. Each week names the Azure services stood up. Be honest: one month is a solid base, not everything. By week 4 a sample app runs end to end, proving the base works. Adjust if the team is small.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framework is for. Notice most steps are configuration, not building. The framework did the shared, hard work once. Keep it generic; no specific project named.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They asked specifically about running costs, so slow down. Two messages: costs are ongoing, and the two biggest are model usage (variable, grows with traffic) and people (fixed). I can give a real monthly figure once we know expected volume. Mention the two cost levers.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short columns. Left: a small focused team can build the base in a month and support many projects. Right: the main risks and the one-line fix for each. The gateway point matters to leadership — we are not locked to one model provider.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 and make one clear ask: agreement on scope for the one-month Azure base build, and access to set up the environment. Keep it to a single decision.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Leave it up during questions for the acronyms. Skip in the main flow if short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56032" cy="6858000"/>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737360"/>
            <a:ext cx="10515600" cy="1280160"/>
          </a:xfrm>
          <a:prstGeom prst="rect">
            <a:avLst/>
          </a:prstGeom>
          <a:noFill/>
        </p:spPr>
        <p:txBody>
          <a:bodyPr wrap="square" anchor="t" lIns="0" rIns="0" tIns="0" bIns="0">
            <a:spAutoFit/>
          </a:bodyPr>
          <a:lstStyle/>
          <a:p>
            <a:pPr algn="l">
              <a:lnSpc>
                <a:spcPct val="105000"/>
              </a:lnSpc>
              <a:spcBef>
                <a:spcPts val="0"/>
              </a:spcBef>
              <a:spcAft>
                <a:spcPts val="600"/>
              </a:spcAft>
            </a:pPr>
            <a:r>
              <a:rPr sz="3200" b="1" i="0">
                <a:solidFill>
                  <a:srgbClr val="1F3A5F"/>
                </a:solidFill>
                <a:latin typeface="Calibri"/>
              </a:rPr>
              <a:t>Enterprise LLMOps Framework on Azure</a:t>
            </a:r>
          </a:p>
        </p:txBody>
      </p:sp>
      <p:sp>
        <p:nvSpPr>
          <p:cNvPr id="5" name="Rectangle 4"/>
          <p:cNvSpPr/>
          <p:nvPr/>
        </p:nvSpPr>
        <p:spPr>
          <a:xfrm>
            <a:off x="859536" y="2560320"/>
            <a:ext cx="18288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41248" y="2834640"/>
            <a:ext cx="10332720" cy="1280160"/>
          </a:xfrm>
          <a:prstGeom prst="rect">
            <a:avLst/>
          </a:prstGeom>
          <a:noFill/>
        </p:spPr>
        <p:txBody>
          <a:bodyPr wrap="square" anchor="t" lIns="0" rIns="0" tIns="0" bIns="0">
            <a:spAutoFit/>
          </a:bodyPr>
          <a:lstStyle/>
          <a:p>
            <a:pPr algn="l">
              <a:lnSpc>
                <a:spcPct val="105000"/>
              </a:lnSpc>
              <a:spcBef>
                <a:spcPts val="0"/>
              </a:spcBef>
              <a:spcAft>
                <a:spcPts val="1000"/>
              </a:spcAft>
            </a:pPr>
            <a:r>
              <a:rPr sz="1700" b="0" i="0">
                <a:solidFill>
                  <a:srgbClr val="3C4654"/>
                </a:solidFill>
                <a:latin typeface="Calibri"/>
              </a:rPr>
              <a:t>A reusable foundation for building, testing, shipping, and running large language model (LLM) applications — built on Microsoft Azure.</a:t>
            </a:r>
          </a:p>
          <a:p>
            <a:pPr algn="l">
              <a:lnSpc>
                <a:spcPct val="105000"/>
              </a:lnSpc>
              <a:spcBef>
                <a:spcPts val="0"/>
              </a:spcBef>
              <a:spcAft>
                <a:spcPts val="1000"/>
              </a:spcAft>
            </a:pPr>
            <a:r>
              <a:rPr sz="1300" b="0" i="1">
                <a:solidFill>
                  <a:srgbClr val="6B7480"/>
                </a:solidFill>
                <a:latin typeface="Calibri"/>
              </a:rPr>
              <a:t>LLMOps = Large Language Model Operations: the practices and tools that keep LLM apps reliable, safe, and affordable in production.</a:t>
            </a:r>
          </a:p>
        </p:txBody>
      </p:sp>
      <p:sp>
        <p:nvSpPr>
          <p:cNvPr id="7" name="TextBox 6"/>
          <p:cNvSpPr txBox="1"/>
          <p:nvPr/>
        </p:nvSpPr>
        <p:spPr>
          <a:xfrm>
            <a:off x="841248" y="5806440"/>
            <a:ext cx="10058400" cy="457200"/>
          </a:xfrm>
          <a:prstGeom prst="rect">
            <a:avLst/>
          </a:prstGeom>
          <a:noFill/>
        </p:spPr>
        <p:txBody>
          <a:bodyPr wrap="square" anchor="t" lIns="0" rIns="0" tIns="0" bIns="0">
            <a:spAutoFit/>
          </a:bodyPr>
          <a:lstStyle/>
          <a:p>
            <a:pPr algn="l">
              <a:lnSpc>
                <a:spcPct val="105000"/>
              </a:lnSpc>
              <a:spcBef>
                <a:spcPts val="0"/>
              </a:spcBef>
              <a:spcAft>
                <a:spcPts val="600"/>
              </a:spcAft>
            </a:pPr>
            <a:r>
              <a:rPr sz="1200" b="1" i="0">
                <a:solidFill>
                  <a:srgbClr val="1F3A5F"/>
                </a:solidFill>
                <a:latin typeface="Calibri"/>
              </a:rPr>
              <a:t>Technical overview  ·  presenter working copy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BASICS</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What LLMOps means</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2</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417320"/>
            <a:ext cx="10789920" cy="4754880"/>
          </a:xfrm>
          <a:prstGeom prst="rect">
            <a:avLst/>
          </a:prstGeom>
          <a:noFill/>
        </p:spPr>
        <p:txBody>
          <a:bodyPr wrap="square" lIns="0" tIns="0">
            <a:spAutoFit/>
          </a:bodyPr>
          <a:lstStyle/>
          <a:p>
            <a:pPr>
              <a:lnSpc>
                <a:spcPct val="106000"/>
              </a:lnSpc>
              <a:spcBef>
                <a:spcPts val="0"/>
              </a:spcBef>
              <a:spcAft>
                <a:spcPts val="1200"/>
              </a:spcAft>
            </a:pPr>
            <a:r>
              <a:rPr sz="1600" b="0">
                <a:solidFill>
                  <a:srgbClr val="3C4654"/>
                </a:solidFill>
                <a:latin typeface="Calibri"/>
              </a:rPr>
              <a:t>•  LLM (Large Language Model): the AI model that reads and writes text, like the model behind a chat assistant.</a:t>
            </a:r>
          </a:p>
          <a:p>
            <a:pPr>
              <a:lnSpc>
                <a:spcPct val="106000"/>
              </a:lnSpc>
              <a:spcBef>
                <a:spcPts val="0"/>
              </a:spcBef>
              <a:spcAft>
                <a:spcPts val="1200"/>
              </a:spcAft>
            </a:pPr>
            <a:r>
              <a:rPr sz="1600" b="0">
                <a:solidFill>
                  <a:srgbClr val="3C4654"/>
                </a:solidFill>
                <a:latin typeface="Calibri"/>
              </a:rPr>
              <a:t>•  LLMOps (Large Language Model Operations): the way we build, test, release, and run LLM apps safely and the same way every time.</a:t>
            </a:r>
          </a:p>
          <a:p>
            <a:pPr>
              <a:lnSpc>
                <a:spcPct val="106000"/>
              </a:lnSpc>
              <a:spcBef>
                <a:spcPts val="0"/>
              </a:spcBef>
              <a:spcAft>
                <a:spcPts val="1200"/>
              </a:spcAft>
            </a:pPr>
            <a:r>
              <a:rPr sz="1600" b="0">
                <a:solidFill>
                  <a:srgbClr val="3C4654"/>
                </a:solidFill>
                <a:latin typeface="Calibri"/>
              </a:rPr>
              <a:t>•  It is DevOps for LLM apps. DevOps (Development + Operations) is the normal way teams ship software; LLMOps adapts it for language models.</a:t>
            </a:r>
          </a:p>
          <a:p>
            <a:pPr>
              <a:lnSpc>
                <a:spcPct val="106000"/>
              </a:lnSpc>
              <a:spcBef>
                <a:spcPts val="0"/>
              </a:spcBef>
              <a:spcAft>
                <a:spcPts val="1200"/>
              </a:spcAft>
            </a:pPr>
            <a:r>
              <a:rPr sz="1600" b="0">
                <a:solidFill>
                  <a:srgbClr val="3C4654"/>
                </a:solidFill>
                <a:latin typeface="Calibri"/>
              </a:rPr>
              <a:t>•  The difference: an LLM's answers are not fixed. So we must test answer quality, watch for wrong answers, and control the cost of every request.</a:t>
            </a:r>
          </a:p>
        </p:txBody>
      </p:sp>
      <p:sp>
        <p:nvSpPr>
          <p:cNvPr id="9" name="Rounded Rectangle 8"/>
          <p:cNvSpPr/>
          <p:nvPr/>
        </p:nvSpPr>
        <p:spPr>
          <a:xfrm>
            <a:off x="822960" y="4297680"/>
            <a:ext cx="301752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DevOps</a:t>
            </a:r>
          </a:p>
          <a:p>
            <a:pPr algn="ctr">
              <a:lnSpc>
                <a:spcPct val="100000"/>
              </a:lnSpc>
              <a:spcAft>
                <a:spcPts val="100"/>
              </a:spcAft>
            </a:pPr>
            <a:r>
              <a:rPr sz="1000" b="0">
                <a:solidFill>
                  <a:srgbClr val="3C4654"/>
                </a:solidFill>
                <a:latin typeface="Calibri"/>
              </a:rPr>
              <a:t>Test &amp; ship software safely</a:t>
            </a:r>
          </a:p>
        </p:txBody>
      </p:sp>
      <p:sp>
        <p:nvSpPr>
          <p:cNvPr id="10" name="Rounded Rectangle 9"/>
          <p:cNvSpPr/>
          <p:nvPr/>
        </p:nvSpPr>
        <p:spPr>
          <a:xfrm>
            <a:off x="4480560" y="4297680"/>
            <a:ext cx="301752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 Language models</a:t>
            </a:r>
          </a:p>
          <a:p>
            <a:pPr algn="ctr">
              <a:lnSpc>
                <a:spcPct val="100000"/>
              </a:lnSpc>
              <a:spcAft>
                <a:spcPts val="100"/>
              </a:spcAft>
            </a:pPr>
            <a:r>
              <a:rPr sz="1000" b="0">
                <a:solidFill>
                  <a:srgbClr val="3C4654"/>
                </a:solidFill>
                <a:latin typeface="Calibri"/>
              </a:rPr>
              <a:t>Answers vary; cost per use</a:t>
            </a:r>
          </a:p>
        </p:txBody>
      </p:sp>
      <p:sp>
        <p:nvSpPr>
          <p:cNvPr id="11" name="Plus 10"/>
          <p:cNvSpPr/>
          <p:nvPr/>
        </p:nvSpPr>
        <p:spPr>
          <a:xfrm>
            <a:off x="3913632" y="4800600"/>
            <a:ext cx="274320" cy="274320"/>
          </a:xfrm>
          <a:prstGeom prst="mathPlus">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ight Arrow 11"/>
          <p:cNvSpPr/>
          <p:nvPr/>
        </p:nvSpPr>
        <p:spPr>
          <a:xfrm>
            <a:off x="7571231" y="48006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138160" y="4297680"/>
            <a:ext cx="3017520" cy="1280160"/>
          </a:xfrm>
          <a:prstGeom prst="roundRect">
            <a:avLst>
              <a:gd name="adj" fmla="val 8000"/>
            </a:avLst>
          </a:prstGeom>
          <a:solidFill>
            <a:srgbClr val="E9F3F0"/>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2A9D8F"/>
                </a:solidFill>
                <a:latin typeface="Calibri"/>
              </a:rPr>
              <a:t>= LLMOps</a:t>
            </a:r>
          </a:p>
          <a:p>
            <a:pPr algn="ctr">
              <a:lnSpc>
                <a:spcPct val="100000"/>
              </a:lnSpc>
              <a:spcAft>
                <a:spcPts val="100"/>
              </a:spcAft>
            </a:pPr>
            <a:r>
              <a:rPr sz="1000" b="0">
                <a:solidFill>
                  <a:srgbClr val="3C4654"/>
                </a:solidFill>
                <a:latin typeface="Calibri"/>
              </a:rPr>
              <a:t>Reliable LLM apps in production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ARCHITECTURE</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The framework, as layers</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3</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548640" y="1371600"/>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8640" y="1371600"/>
            <a:ext cx="2743200" cy="548640"/>
          </a:xfrm>
          <a:prstGeom prst="roundRect">
            <a:avLst>
              <a:gd name="adj" fmla="val 8000"/>
            </a:avLst>
          </a:prstGeom>
          <a:solidFill>
            <a:srgbClr val="516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FFFFFF"/>
                </a:solidFill>
                <a:latin typeface="Calibri"/>
              </a:rPr>
              <a:t>Apps &amp; channels</a:t>
            </a:r>
          </a:p>
        </p:txBody>
      </p:sp>
      <p:sp>
        <p:nvSpPr>
          <p:cNvPr id="10" name="TextBox 9"/>
          <p:cNvSpPr txBox="1"/>
          <p:nvPr/>
        </p:nvSpPr>
        <p:spPr>
          <a:xfrm>
            <a:off x="3474720" y="1371600"/>
            <a:ext cx="7982712" cy="548640"/>
          </a:xfrm>
          <a:prstGeom prst="rect">
            <a:avLst/>
          </a:prstGeom>
          <a:noFill/>
        </p:spPr>
        <p:txBody>
          <a:bodyPr wrap="square" anchor="ctr" lIns="0" rIns="0" tIns="0" bIns="0">
            <a:spAutoFit/>
          </a:bodyPr>
          <a:lstStyle/>
          <a:p>
            <a:pPr algn="l">
              <a:lnSpc>
                <a:spcPct val="105000"/>
              </a:lnSpc>
              <a:spcBef>
                <a:spcPts val="0"/>
              </a:spcBef>
              <a:spcAft>
                <a:spcPts val="600"/>
              </a:spcAft>
            </a:pPr>
            <a:r>
              <a:rPr sz="1100" b="0" i="0">
                <a:solidFill>
                  <a:srgbClr val="3C4654"/>
                </a:solidFill>
                <a:latin typeface="Calibri"/>
              </a:rPr>
              <a:t>Web app, chat, voice, and internal tools where people ask questions</a:t>
            </a:r>
          </a:p>
        </p:txBody>
      </p:sp>
      <p:sp>
        <p:nvSpPr>
          <p:cNvPr id="11" name="Rounded Rectangle 10"/>
          <p:cNvSpPr/>
          <p:nvPr/>
        </p:nvSpPr>
        <p:spPr>
          <a:xfrm>
            <a:off x="548640" y="1993392"/>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48640" y="1993392"/>
            <a:ext cx="2743200" cy="548640"/>
          </a:xfrm>
          <a:prstGeom prst="roundRect">
            <a:avLst>
              <a:gd name="adj" fmla="val 8000"/>
            </a:avLst>
          </a:prstGeom>
          <a:solidFill>
            <a:srgbClr val="3E6FB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FFFFFF"/>
                </a:solidFill>
                <a:latin typeface="Calibri"/>
              </a:rPr>
              <a:t>API gateway</a:t>
            </a:r>
          </a:p>
        </p:txBody>
      </p:sp>
      <p:sp>
        <p:nvSpPr>
          <p:cNvPr id="13" name="TextBox 12"/>
          <p:cNvSpPr txBox="1"/>
          <p:nvPr/>
        </p:nvSpPr>
        <p:spPr>
          <a:xfrm>
            <a:off x="3474720" y="1993392"/>
            <a:ext cx="7982712" cy="548640"/>
          </a:xfrm>
          <a:prstGeom prst="rect">
            <a:avLst/>
          </a:prstGeom>
          <a:noFill/>
        </p:spPr>
        <p:txBody>
          <a:bodyPr wrap="square" anchor="ctr" lIns="0" rIns="0" tIns="0" bIns="0">
            <a:spAutoFit/>
          </a:bodyPr>
          <a:lstStyle/>
          <a:p>
            <a:pPr algn="l">
              <a:lnSpc>
                <a:spcPct val="105000"/>
              </a:lnSpc>
              <a:spcBef>
                <a:spcPts val="0"/>
              </a:spcBef>
              <a:spcAft>
                <a:spcPts val="600"/>
              </a:spcAft>
            </a:pPr>
            <a:r>
              <a:rPr sz="1100" b="0" i="0">
                <a:solidFill>
                  <a:srgbClr val="3C4654"/>
                </a:solidFill>
                <a:latin typeface="Calibri"/>
              </a:rPr>
              <a:t>Azure API Management — one secure entry point, usage limits, keys, logging</a:t>
            </a:r>
          </a:p>
        </p:txBody>
      </p:sp>
      <p:sp>
        <p:nvSpPr>
          <p:cNvPr id="14" name="Rounded Rectangle 13"/>
          <p:cNvSpPr/>
          <p:nvPr/>
        </p:nvSpPr>
        <p:spPr>
          <a:xfrm>
            <a:off x="548640" y="2615184"/>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2615184"/>
            <a:ext cx="2743200" cy="548640"/>
          </a:xfrm>
          <a:prstGeom prst="roundRect">
            <a:avLst>
              <a:gd name="adj" fmla="val 8000"/>
            </a:avLst>
          </a:prstGeom>
          <a:solidFill>
            <a:srgbClr val="2F5C9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FFFFFF"/>
                </a:solidFill>
                <a:latin typeface="Calibri"/>
              </a:rPr>
              <a:t>Orchestration &amp; agents</a:t>
            </a:r>
          </a:p>
        </p:txBody>
      </p:sp>
      <p:sp>
        <p:nvSpPr>
          <p:cNvPr id="16" name="TextBox 15"/>
          <p:cNvSpPr txBox="1"/>
          <p:nvPr/>
        </p:nvSpPr>
        <p:spPr>
          <a:xfrm>
            <a:off x="3474720" y="2615184"/>
            <a:ext cx="7982712" cy="548640"/>
          </a:xfrm>
          <a:prstGeom prst="rect">
            <a:avLst/>
          </a:prstGeom>
          <a:noFill/>
        </p:spPr>
        <p:txBody>
          <a:bodyPr wrap="square" anchor="ctr" lIns="0" rIns="0" tIns="0" bIns="0">
            <a:spAutoFit/>
          </a:bodyPr>
          <a:lstStyle/>
          <a:p>
            <a:pPr algn="l">
              <a:lnSpc>
                <a:spcPct val="105000"/>
              </a:lnSpc>
              <a:spcBef>
                <a:spcPts val="0"/>
              </a:spcBef>
              <a:spcAft>
                <a:spcPts val="600"/>
              </a:spcAft>
            </a:pPr>
            <a:r>
              <a:rPr sz="1100" b="0" i="0">
                <a:solidFill>
                  <a:srgbClr val="3C4654"/>
                </a:solidFill>
                <a:latin typeface="Calibri"/>
              </a:rPr>
              <a:t>Azure AI Foundry Agent Service · Semantic Kernel — coordinate steps, tools, and models</a:t>
            </a:r>
          </a:p>
        </p:txBody>
      </p:sp>
      <p:sp>
        <p:nvSpPr>
          <p:cNvPr id="17" name="Rounded Rectangle 16"/>
          <p:cNvSpPr/>
          <p:nvPr/>
        </p:nvSpPr>
        <p:spPr>
          <a:xfrm>
            <a:off x="548640" y="3236976"/>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48640" y="3236976"/>
            <a:ext cx="2743200" cy="548640"/>
          </a:xfrm>
          <a:prstGeom prst="roundRect">
            <a:avLst>
              <a:gd name="adj" fmla="val 8000"/>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FFFFFF"/>
                </a:solidFill>
                <a:latin typeface="Calibri"/>
              </a:rPr>
              <a:t>Models</a:t>
            </a:r>
          </a:p>
        </p:txBody>
      </p:sp>
      <p:sp>
        <p:nvSpPr>
          <p:cNvPr id="19" name="TextBox 18"/>
          <p:cNvSpPr txBox="1"/>
          <p:nvPr/>
        </p:nvSpPr>
        <p:spPr>
          <a:xfrm>
            <a:off x="3474720" y="3236976"/>
            <a:ext cx="7982712" cy="548640"/>
          </a:xfrm>
          <a:prstGeom prst="rect">
            <a:avLst/>
          </a:prstGeom>
          <a:noFill/>
        </p:spPr>
        <p:txBody>
          <a:bodyPr wrap="square" anchor="ctr" lIns="0" rIns="0" tIns="0" bIns="0">
            <a:spAutoFit/>
          </a:bodyPr>
          <a:lstStyle/>
          <a:p>
            <a:pPr algn="l">
              <a:lnSpc>
                <a:spcPct val="105000"/>
              </a:lnSpc>
              <a:spcBef>
                <a:spcPts val="0"/>
              </a:spcBef>
              <a:spcAft>
                <a:spcPts val="600"/>
              </a:spcAft>
            </a:pPr>
            <a:r>
              <a:rPr sz="1100" b="0" i="0">
                <a:solidFill>
                  <a:srgbClr val="3C4654"/>
                </a:solidFill>
                <a:latin typeface="Calibri"/>
              </a:rPr>
              <a:t>Azure OpenAI (GPT models) · Model Router · text embeddings</a:t>
            </a:r>
          </a:p>
        </p:txBody>
      </p:sp>
      <p:sp>
        <p:nvSpPr>
          <p:cNvPr id="20" name="Rounded Rectangle 19"/>
          <p:cNvSpPr/>
          <p:nvPr/>
        </p:nvSpPr>
        <p:spPr>
          <a:xfrm>
            <a:off x="548640" y="3858768"/>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48640" y="3858768"/>
            <a:ext cx="2743200" cy="548640"/>
          </a:xfrm>
          <a:prstGeom prst="roundRect">
            <a:avLst>
              <a:gd name="adj" fmla="val 8000"/>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FFFFFF"/>
                </a:solidFill>
                <a:latin typeface="Calibri"/>
              </a:rPr>
              <a:t>Knowledge / RAG</a:t>
            </a:r>
          </a:p>
        </p:txBody>
      </p:sp>
      <p:sp>
        <p:nvSpPr>
          <p:cNvPr id="22" name="TextBox 21"/>
          <p:cNvSpPr txBox="1"/>
          <p:nvPr/>
        </p:nvSpPr>
        <p:spPr>
          <a:xfrm>
            <a:off x="3474720" y="3858768"/>
            <a:ext cx="7982712" cy="548640"/>
          </a:xfrm>
          <a:prstGeom prst="rect">
            <a:avLst/>
          </a:prstGeom>
          <a:noFill/>
        </p:spPr>
        <p:txBody>
          <a:bodyPr wrap="square" anchor="ctr" lIns="0" rIns="0" tIns="0" bIns="0">
            <a:spAutoFit/>
          </a:bodyPr>
          <a:lstStyle/>
          <a:p>
            <a:pPr algn="l">
              <a:lnSpc>
                <a:spcPct val="105000"/>
              </a:lnSpc>
              <a:spcBef>
                <a:spcPts val="0"/>
              </a:spcBef>
              <a:spcAft>
                <a:spcPts val="600"/>
              </a:spcAft>
            </a:pPr>
            <a:r>
              <a:rPr sz="1100" b="0" i="0">
                <a:solidFill>
                  <a:srgbClr val="3C4654"/>
                </a:solidFill>
                <a:latin typeface="Calibri"/>
              </a:rPr>
              <a:t>Azure AI Search · Azure AI Document Intelligence — answer from our own documents</a:t>
            </a:r>
          </a:p>
        </p:txBody>
      </p:sp>
      <p:sp>
        <p:nvSpPr>
          <p:cNvPr id="23" name="Rounded Rectangle 22"/>
          <p:cNvSpPr/>
          <p:nvPr/>
        </p:nvSpPr>
        <p:spPr>
          <a:xfrm>
            <a:off x="548640" y="4480560"/>
            <a:ext cx="11091672" cy="5486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8640" y="4480560"/>
            <a:ext cx="2743200" cy="548640"/>
          </a:xfrm>
          <a:prstGeom prst="roundRect">
            <a:avLst>
              <a:gd name="adj" fmla="val 8000"/>
            </a:avLst>
          </a:prstGeom>
          <a:solidFill>
            <a:srgbClr val="2E7D7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FFFFFF"/>
                </a:solidFill>
                <a:latin typeface="Calibri"/>
              </a:rPr>
              <a:t>Data</a:t>
            </a:r>
          </a:p>
        </p:txBody>
      </p:sp>
      <p:sp>
        <p:nvSpPr>
          <p:cNvPr id="25" name="TextBox 24"/>
          <p:cNvSpPr txBox="1"/>
          <p:nvPr/>
        </p:nvSpPr>
        <p:spPr>
          <a:xfrm>
            <a:off x="3474720" y="4480560"/>
            <a:ext cx="7982712" cy="548640"/>
          </a:xfrm>
          <a:prstGeom prst="rect">
            <a:avLst/>
          </a:prstGeom>
          <a:noFill/>
        </p:spPr>
        <p:txBody>
          <a:bodyPr wrap="square" anchor="ctr" lIns="0" rIns="0" tIns="0" bIns="0">
            <a:spAutoFit/>
          </a:bodyPr>
          <a:lstStyle/>
          <a:p>
            <a:pPr algn="l">
              <a:lnSpc>
                <a:spcPct val="105000"/>
              </a:lnSpc>
              <a:spcBef>
                <a:spcPts val="0"/>
              </a:spcBef>
              <a:spcAft>
                <a:spcPts val="600"/>
              </a:spcAft>
            </a:pPr>
            <a:r>
              <a:rPr sz="1100" b="0" i="0">
                <a:solidFill>
                  <a:srgbClr val="3C4654"/>
                </a:solidFill>
                <a:latin typeface="Calibri"/>
              </a:rPr>
              <a:t>Microsoft Fabric / OneLake · Azure Cosmos DB · Blob Storage</a:t>
            </a:r>
          </a:p>
        </p:txBody>
      </p:sp>
      <p:sp>
        <p:nvSpPr>
          <p:cNvPr id="26" name="Rounded Rectangle 25"/>
          <p:cNvSpPr/>
          <p:nvPr/>
        </p:nvSpPr>
        <p:spPr>
          <a:xfrm>
            <a:off x="548640" y="5138928"/>
            <a:ext cx="11091672" cy="566928"/>
          </a:xfrm>
          <a:prstGeom prst="roundRect">
            <a:avLst>
              <a:gd name="adj" fmla="val 8000"/>
            </a:avLst>
          </a:prstGeom>
          <a:solidFill>
            <a:srgbClr val="222E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5138928"/>
            <a:ext cx="10789920" cy="566928"/>
          </a:xfrm>
          <a:prstGeom prst="rect">
            <a:avLst/>
          </a:prstGeom>
          <a:noFill/>
        </p:spPr>
        <p:txBody>
          <a:bodyPr wrap="square" anchor="ctr" lIns="0" rIns="0" tIns="0" bIns="0">
            <a:spAutoFit/>
          </a:bodyPr>
          <a:lstStyle/>
          <a:p>
            <a:pPr algn="l">
              <a:lnSpc>
                <a:spcPct val="105000"/>
              </a:lnSpc>
              <a:spcBef>
                <a:spcPts val="0"/>
              </a:spcBef>
              <a:spcAft>
                <a:spcPts val="600"/>
              </a:spcAft>
            </a:pPr>
            <a:r>
              <a:rPr sz="1150" b="1" i="0">
                <a:solidFill>
                  <a:srgbClr val="8FD3CC"/>
                </a:solidFill>
                <a:latin typeface="Calibri"/>
              </a:rPr>
              <a:t>Across everything:  </a:t>
            </a:r>
            <a:r>
              <a:rPr sz="1100" b="0" i="0">
                <a:solidFill>
                  <a:srgbClr val="FFFFFF"/>
                </a:solidFill>
                <a:latin typeface="Calibri"/>
              </a:rPr>
              <a:t>Security &amp; governance (Entra ID · Key Vault · Content Safety · Purview · Defender for Cloud)   ·   Observability (Azure Monitor · Application Insights)   ·   CI/CD (Azure DevOps / GitHub Actions)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AZURE MAPPING</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Each component and the Azure service that runs it</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4</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graphicFrame>
        <p:nvGraphicFramePr>
          <p:cNvPr id="8" name="Table 7"/>
          <p:cNvGraphicFramePr>
            <a:graphicFrameLocks noGrp="1"/>
          </p:cNvGraphicFramePr>
          <p:nvPr/>
        </p:nvGraphicFramePr>
        <p:xfrm>
          <a:off x="548640" y="1371600"/>
          <a:ext cx="11091672" cy="4937760"/>
        </p:xfrm>
        <a:graphic>
          <a:graphicData uri="http://schemas.openxmlformats.org/drawingml/2006/table">
            <a:tbl>
              <a:tblPr firstRow="1" bandRow="1">
                <a:tableStyleId>{5C22544A-7EE6-4342-B048-85BDC9FD1C3A}</a:tableStyleId>
              </a:tblPr>
              <a:tblGrid>
                <a:gridCol w="2651760"/>
                <a:gridCol w="3931920"/>
                <a:gridCol w="4507992"/>
              </a:tblGrid>
              <a:tr h="548640">
                <a:tc>
                  <a:txBody>
                    <a:bodyPr/>
                    <a:lstStyle/>
                    <a:p>
                      <a:r>
                        <a:rPr sz="1150" b="1">
                          <a:solidFill>
                            <a:srgbClr val="FFFFFF"/>
                          </a:solidFill>
                          <a:latin typeface="Calibri"/>
                        </a:rPr>
                        <a:t>Component</a:t>
                      </a:r>
                    </a:p>
                  </a:txBody>
                  <a:tcPr anchor="ctr" marL="91440" marT="18288" marB="18288">
                    <a:solidFill>
                      <a:srgbClr val="1F3A5F"/>
                    </a:solidFill>
                  </a:tcPr>
                </a:tc>
                <a:tc>
                  <a:txBody>
                    <a:bodyPr/>
                    <a:lstStyle/>
                    <a:p>
                      <a:r>
                        <a:rPr sz="1150" b="1">
                          <a:solidFill>
                            <a:srgbClr val="FFFFFF"/>
                          </a:solidFill>
                          <a:latin typeface="Calibri"/>
                        </a:rPr>
                        <a:t>Azure service</a:t>
                      </a:r>
                    </a:p>
                  </a:txBody>
                  <a:tcPr anchor="ctr" marL="91440" marT="18288" marB="18288">
                    <a:solidFill>
                      <a:srgbClr val="1F3A5F"/>
                    </a:solidFill>
                  </a:tcPr>
                </a:tc>
                <a:tc>
                  <a:txBody>
                    <a:bodyPr/>
                    <a:lstStyle/>
                    <a:p>
                      <a:r>
                        <a:rPr sz="1150" b="1">
                          <a:solidFill>
                            <a:srgbClr val="FFFFFF"/>
                          </a:solidFill>
                          <a:latin typeface="Calibri"/>
                        </a:rPr>
                        <a:t>What it does</a:t>
                      </a:r>
                    </a:p>
                  </a:txBody>
                  <a:tcPr anchor="ctr" marL="91440" marT="18288" marB="18288">
                    <a:solidFill>
                      <a:srgbClr val="1F3A5F"/>
                    </a:solidFill>
                  </a:tcPr>
                </a:tc>
              </a:tr>
              <a:tr h="548640">
                <a:tc>
                  <a:txBody>
                    <a:bodyPr/>
                    <a:lstStyle/>
                    <a:p>
                      <a:r>
                        <a:rPr sz="1100" b="1">
                          <a:solidFill>
                            <a:srgbClr val="1F3A5F"/>
                          </a:solidFill>
                          <a:latin typeface="Calibri"/>
                        </a:rPr>
                        <a:t>Model access &amp; gateway</a:t>
                      </a:r>
                    </a:p>
                  </a:txBody>
                  <a:tcPr anchor="ctr" marL="91440" marT="18288" marB="18288">
                    <a:solidFill>
                      <a:srgbClr val="FFFFFF"/>
                    </a:solidFill>
                  </a:tcPr>
                </a:tc>
                <a:tc>
                  <a:txBody>
                    <a:bodyPr/>
                    <a:lstStyle/>
                    <a:p>
                      <a:r>
                        <a:rPr sz="1100">
                          <a:solidFill>
                            <a:srgbClr val="3C4654"/>
                          </a:solidFill>
                          <a:latin typeface="Calibri"/>
                        </a:rPr>
                        <a:t>Azure API Management + Azure OpenAI</a:t>
                      </a:r>
                    </a:p>
                  </a:txBody>
                  <a:tcPr anchor="ctr" marL="91440" marT="18288" marB="18288">
                    <a:solidFill>
                      <a:srgbClr val="FFFFFF"/>
                    </a:solidFill>
                  </a:tcPr>
                </a:tc>
                <a:tc>
                  <a:txBody>
                    <a:bodyPr/>
                    <a:lstStyle/>
                    <a:p>
                      <a:r>
                        <a:rPr sz="1100">
                          <a:solidFill>
                            <a:srgbClr val="3C4654"/>
                          </a:solidFill>
                          <a:latin typeface="Calibri"/>
                        </a:rPr>
                        <a:t>One secure door to the models, with limits and logging</a:t>
                      </a:r>
                    </a:p>
                  </a:txBody>
                  <a:tcPr anchor="ctr" marL="91440" marT="18288" marB="18288">
                    <a:solidFill>
                      <a:srgbClr val="FFFFFF"/>
                    </a:solidFill>
                  </a:tcPr>
                </a:tc>
              </a:tr>
              <a:tr h="548640">
                <a:tc>
                  <a:txBody>
                    <a:bodyPr/>
                    <a:lstStyle/>
                    <a:p>
                      <a:r>
                        <a:rPr sz="1100" b="1">
                          <a:solidFill>
                            <a:srgbClr val="1F3A5F"/>
                          </a:solidFill>
                          <a:latin typeface="Calibri"/>
                        </a:rPr>
                        <a:t>Orchestration / agents</a:t>
                      </a:r>
                    </a:p>
                  </a:txBody>
                  <a:tcPr anchor="ctr" marL="91440" marT="18288" marB="18288">
                    <a:solidFill>
                      <a:srgbClr val="EEF1F5"/>
                    </a:solidFill>
                  </a:tcPr>
                </a:tc>
                <a:tc>
                  <a:txBody>
                    <a:bodyPr/>
                    <a:lstStyle/>
                    <a:p>
                      <a:r>
                        <a:rPr sz="1100">
                          <a:solidFill>
                            <a:srgbClr val="3C4654"/>
                          </a:solidFill>
                          <a:latin typeface="Calibri"/>
                        </a:rPr>
                        <a:t>Azure AI Foundry Agent Service, Semantic Kernel</a:t>
                      </a:r>
                    </a:p>
                  </a:txBody>
                  <a:tcPr anchor="ctr" marL="91440" marT="18288" marB="18288">
                    <a:solidFill>
                      <a:srgbClr val="EEF1F5"/>
                    </a:solidFill>
                  </a:tcPr>
                </a:tc>
                <a:tc>
                  <a:txBody>
                    <a:bodyPr/>
                    <a:lstStyle/>
                    <a:p>
                      <a:r>
                        <a:rPr sz="1100">
                          <a:solidFill>
                            <a:srgbClr val="3C4654"/>
                          </a:solidFill>
                          <a:latin typeface="Calibri"/>
                        </a:rPr>
                        <a:t>Coordinates steps, tools, and models</a:t>
                      </a:r>
                    </a:p>
                  </a:txBody>
                  <a:tcPr anchor="ctr" marL="91440" marT="18288" marB="18288">
                    <a:solidFill>
                      <a:srgbClr val="EEF1F5"/>
                    </a:solidFill>
                  </a:tcPr>
                </a:tc>
              </a:tr>
              <a:tr h="548640">
                <a:tc>
                  <a:txBody>
                    <a:bodyPr/>
                    <a:lstStyle/>
                    <a:p>
                      <a:r>
                        <a:rPr sz="1100" b="1">
                          <a:solidFill>
                            <a:srgbClr val="1F3A5F"/>
                          </a:solidFill>
                          <a:latin typeface="Calibri"/>
                        </a:rPr>
                        <a:t>Knowledge / RAG</a:t>
                      </a:r>
                    </a:p>
                  </a:txBody>
                  <a:tcPr anchor="ctr" marL="91440" marT="18288" marB="18288">
                    <a:solidFill>
                      <a:srgbClr val="FFFFFF"/>
                    </a:solidFill>
                  </a:tcPr>
                </a:tc>
                <a:tc>
                  <a:txBody>
                    <a:bodyPr/>
                    <a:lstStyle/>
                    <a:p>
                      <a:r>
                        <a:rPr sz="1100">
                          <a:solidFill>
                            <a:srgbClr val="3C4654"/>
                          </a:solidFill>
                          <a:latin typeface="Calibri"/>
                        </a:rPr>
                        <a:t>Azure AI Search + AI Document Intelligence</a:t>
                      </a:r>
                    </a:p>
                  </a:txBody>
                  <a:tcPr anchor="ctr" marL="91440" marT="18288" marB="18288">
                    <a:solidFill>
                      <a:srgbClr val="FFFFFF"/>
                    </a:solidFill>
                  </a:tcPr>
                </a:tc>
                <a:tc>
                  <a:txBody>
                    <a:bodyPr/>
                    <a:lstStyle/>
                    <a:p>
                      <a:r>
                        <a:rPr sz="1100">
                          <a:solidFill>
                            <a:srgbClr val="3C4654"/>
                          </a:solidFill>
                          <a:latin typeface="Calibri"/>
                        </a:rPr>
                        <a:t>Finds and feeds in our own documents</a:t>
                      </a:r>
                    </a:p>
                  </a:txBody>
                  <a:tcPr anchor="ctr" marL="91440" marT="18288" marB="18288">
                    <a:solidFill>
                      <a:srgbClr val="FFFFFF"/>
                    </a:solidFill>
                  </a:tcPr>
                </a:tc>
              </a:tr>
              <a:tr h="548640">
                <a:tc>
                  <a:txBody>
                    <a:bodyPr/>
                    <a:lstStyle/>
                    <a:p>
                      <a:r>
                        <a:rPr sz="1100" b="1">
                          <a:solidFill>
                            <a:srgbClr val="1F3A5F"/>
                          </a:solidFill>
                          <a:latin typeface="Calibri"/>
                        </a:rPr>
                        <a:t>Guardrails / safety</a:t>
                      </a:r>
                    </a:p>
                  </a:txBody>
                  <a:tcPr anchor="ctr" marL="91440" marT="18288" marB="18288">
                    <a:solidFill>
                      <a:srgbClr val="EEF1F5"/>
                    </a:solidFill>
                  </a:tcPr>
                </a:tc>
                <a:tc>
                  <a:txBody>
                    <a:bodyPr/>
                    <a:lstStyle/>
                    <a:p>
                      <a:r>
                        <a:rPr sz="1100">
                          <a:solidFill>
                            <a:srgbClr val="3C4654"/>
                          </a:solidFill>
                          <a:latin typeface="Calibri"/>
                        </a:rPr>
                        <a:t>Azure AI Content Safety</a:t>
                      </a:r>
                    </a:p>
                  </a:txBody>
                  <a:tcPr anchor="ctr" marL="91440" marT="18288" marB="18288">
                    <a:solidFill>
                      <a:srgbClr val="EEF1F5"/>
                    </a:solidFill>
                  </a:tcPr>
                </a:tc>
                <a:tc>
                  <a:txBody>
                    <a:bodyPr/>
                    <a:lstStyle/>
                    <a:p>
                      <a:r>
                        <a:rPr sz="1100">
                          <a:solidFill>
                            <a:srgbClr val="3C4654"/>
                          </a:solidFill>
                          <a:latin typeface="Calibri"/>
                        </a:rPr>
                        <a:t>Blocks unsafe content, helps hide personal data</a:t>
                      </a:r>
                    </a:p>
                  </a:txBody>
                  <a:tcPr anchor="ctr" marL="91440" marT="18288" marB="18288">
                    <a:solidFill>
                      <a:srgbClr val="EEF1F5"/>
                    </a:solidFill>
                  </a:tcPr>
                </a:tc>
              </a:tr>
              <a:tr h="548640">
                <a:tc>
                  <a:txBody>
                    <a:bodyPr/>
                    <a:lstStyle/>
                    <a:p>
                      <a:r>
                        <a:rPr sz="1100" b="1">
                          <a:solidFill>
                            <a:srgbClr val="1F3A5F"/>
                          </a:solidFill>
                          <a:latin typeface="Calibri"/>
                        </a:rPr>
                        <a:t>Evaluation</a:t>
                      </a:r>
                    </a:p>
                  </a:txBody>
                  <a:tcPr anchor="ctr" marL="91440" marT="18288" marB="18288">
                    <a:solidFill>
                      <a:srgbClr val="FFFFFF"/>
                    </a:solidFill>
                  </a:tcPr>
                </a:tc>
                <a:tc>
                  <a:txBody>
                    <a:bodyPr/>
                    <a:lstStyle/>
                    <a:p>
                      <a:r>
                        <a:rPr sz="1100">
                          <a:solidFill>
                            <a:srgbClr val="3C4654"/>
                          </a:solidFill>
                          <a:latin typeface="Calibri"/>
                        </a:rPr>
                        <a:t>Azure AI Foundry evaluations</a:t>
                      </a:r>
                    </a:p>
                  </a:txBody>
                  <a:tcPr anchor="ctr" marL="91440" marT="18288" marB="18288">
                    <a:solidFill>
                      <a:srgbClr val="FFFFFF"/>
                    </a:solidFill>
                  </a:tcPr>
                </a:tc>
                <a:tc>
                  <a:txBody>
                    <a:bodyPr/>
                    <a:lstStyle/>
                    <a:p>
                      <a:r>
                        <a:rPr sz="1100">
                          <a:solidFill>
                            <a:srgbClr val="3C4654"/>
                          </a:solidFill>
                          <a:latin typeface="Calibri"/>
                        </a:rPr>
                        <a:t>Scores answer quality before release</a:t>
                      </a:r>
                    </a:p>
                  </a:txBody>
                  <a:tcPr anchor="ctr" marL="91440" marT="18288" marB="18288">
                    <a:solidFill>
                      <a:srgbClr val="FFFFFF"/>
                    </a:solidFill>
                  </a:tcPr>
                </a:tc>
              </a:tr>
              <a:tr h="548640">
                <a:tc>
                  <a:txBody>
                    <a:bodyPr/>
                    <a:lstStyle/>
                    <a:p>
                      <a:r>
                        <a:rPr sz="1100" b="1">
                          <a:solidFill>
                            <a:srgbClr val="1F3A5F"/>
                          </a:solidFill>
                          <a:latin typeface="Calibri"/>
                        </a:rPr>
                        <a:t>Observability</a:t>
                      </a:r>
                    </a:p>
                  </a:txBody>
                  <a:tcPr anchor="ctr" marL="91440" marT="18288" marB="18288">
                    <a:solidFill>
                      <a:srgbClr val="EEF1F5"/>
                    </a:solidFill>
                  </a:tcPr>
                </a:tc>
                <a:tc>
                  <a:txBody>
                    <a:bodyPr/>
                    <a:lstStyle/>
                    <a:p>
                      <a:r>
                        <a:rPr sz="1100">
                          <a:solidFill>
                            <a:srgbClr val="3C4654"/>
                          </a:solidFill>
                          <a:latin typeface="Calibri"/>
                        </a:rPr>
                        <a:t>Azure Monitor + Application Insights</a:t>
                      </a:r>
                    </a:p>
                  </a:txBody>
                  <a:tcPr anchor="ctr" marL="91440" marT="18288" marB="18288">
                    <a:solidFill>
                      <a:srgbClr val="EEF1F5"/>
                    </a:solidFill>
                  </a:tcPr>
                </a:tc>
                <a:tc>
                  <a:txBody>
                    <a:bodyPr/>
                    <a:lstStyle/>
                    <a:p>
                      <a:r>
                        <a:rPr sz="1100">
                          <a:solidFill>
                            <a:srgbClr val="3C4654"/>
                          </a:solidFill>
                          <a:latin typeface="Calibri"/>
                        </a:rPr>
                        <a:t>Logs, traces, dashboards, and alerts</a:t>
                      </a:r>
                    </a:p>
                  </a:txBody>
                  <a:tcPr anchor="ctr" marL="91440" marT="18288" marB="18288">
                    <a:solidFill>
                      <a:srgbClr val="EEF1F5"/>
                    </a:solidFill>
                  </a:tcPr>
                </a:tc>
              </a:tr>
              <a:tr h="548640">
                <a:tc>
                  <a:txBody>
                    <a:bodyPr/>
                    <a:lstStyle/>
                    <a:p>
                      <a:r>
                        <a:rPr sz="1100" b="1">
                          <a:solidFill>
                            <a:srgbClr val="1F3A5F"/>
                          </a:solidFill>
                          <a:latin typeface="Calibri"/>
                        </a:rPr>
                        <a:t>Security &amp; access</a:t>
                      </a:r>
                    </a:p>
                  </a:txBody>
                  <a:tcPr anchor="ctr" marL="91440" marT="18288" marB="18288">
                    <a:solidFill>
                      <a:srgbClr val="FFFFFF"/>
                    </a:solidFill>
                  </a:tcPr>
                </a:tc>
                <a:tc>
                  <a:txBody>
                    <a:bodyPr/>
                    <a:lstStyle/>
                    <a:p>
                      <a:r>
                        <a:rPr sz="1100">
                          <a:solidFill>
                            <a:srgbClr val="3C4654"/>
                          </a:solidFill>
                          <a:latin typeface="Calibri"/>
                        </a:rPr>
                        <a:t>Entra ID, Key Vault, Private Endpoints, Purview</a:t>
                      </a:r>
                    </a:p>
                  </a:txBody>
                  <a:tcPr anchor="ctr" marL="91440" marT="18288" marB="18288">
                    <a:solidFill>
                      <a:srgbClr val="FFFFFF"/>
                    </a:solidFill>
                  </a:tcPr>
                </a:tc>
                <a:tc>
                  <a:txBody>
                    <a:bodyPr/>
                    <a:lstStyle/>
                    <a:p>
                      <a:r>
                        <a:rPr sz="1100">
                          <a:solidFill>
                            <a:srgbClr val="3C4654"/>
                          </a:solidFill>
                          <a:latin typeface="Calibri"/>
                        </a:rPr>
                        <a:t>Identity, secrets, private network, data governance</a:t>
                      </a:r>
                    </a:p>
                  </a:txBody>
                  <a:tcPr anchor="ctr" marL="91440" marT="18288" marB="18288">
                    <a:solidFill>
                      <a:srgbClr val="FFFFFF"/>
                    </a:solidFill>
                  </a:tcPr>
                </a:tc>
              </a:tr>
              <a:tr h="548640">
                <a:tc>
                  <a:txBody>
                    <a:bodyPr/>
                    <a:lstStyle/>
                    <a:p>
                      <a:r>
                        <a:rPr sz="1100" b="1">
                          <a:solidFill>
                            <a:srgbClr val="1F3A5F"/>
                          </a:solidFill>
                          <a:latin typeface="Calibri"/>
                        </a:rPr>
                        <a:t>CI/CD &amp; environments</a:t>
                      </a:r>
                    </a:p>
                  </a:txBody>
                  <a:tcPr anchor="ctr" marL="91440" marT="18288" marB="18288">
                    <a:solidFill>
                      <a:srgbClr val="EEF1F5"/>
                    </a:solidFill>
                  </a:tcPr>
                </a:tc>
                <a:tc>
                  <a:txBody>
                    <a:bodyPr/>
                    <a:lstStyle/>
                    <a:p>
                      <a:r>
                        <a:rPr sz="1100">
                          <a:solidFill>
                            <a:srgbClr val="3C4654"/>
                          </a:solidFill>
                          <a:latin typeface="Calibri"/>
                        </a:rPr>
                        <a:t>Azure DevOps / GitHub Actions</a:t>
                      </a:r>
                    </a:p>
                  </a:txBody>
                  <a:tcPr anchor="ctr" marL="91440" marT="18288" marB="18288">
                    <a:solidFill>
                      <a:srgbClr val="EEF1F5"/>
                    </a:solidFill>
                  </a:tcPr>
                </a:tc>
                <a:tc>
                  <a:txBody>
                    <a:bodyPr/>
                    <a:lstStyle/>
                    <a:p>
                      <a:r>
                        <a:rPr sz="1100">
                          <a:solidFill>
                            <a:srgbClr val="3C4654"/>
                          </a:solidFill>
                          <a:latin typeface="Calibri"/>
                        </a:rPr>
                        <a:t>Tests and ships changes across dev, test, production</a:t>
                      </a:r>
                    </a:p>
                  </a:txBody>
                  <a:tcPr anchor="ctr" marL="91440" marT="18288" marB="18288">
                    <a:solidFill>
                      <a:srgbClr val="EEF1F5"/>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COMPONENT DEEP-DIVE</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Knowledge / RAG on Azure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5</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280160"/>
            <a:ext cx="10789920" cy="457200"/>
          </a:xfrm>
          <a:prstGeom prst="rect">
            <a:avLst/>
          </a:prstGeom>
          <a:noFill/>
        </p:spPr>
        <p:txBody>
          <a:bodyPr wrap="square" anchor="t" lIns="0" rIns="0" tIns="0" bIns="0">
            <a:spAutoFit/>
          </a:bodyPr>
          <a:lstStyle/>
          <a:p>
            <a:pPr algn="l">
              <a:lnSpc>
                <a:spcPct val="105000"/>
              </a:lnSpc>
              <a:spcBef>
                <a:spcPts val="0"/>
              </a:spcBef>
              <a:spcAft>
                <a:spcPts val="600"/>
              </a:spcAft>
            </a:pPr>
            <a:r>
              <a:rPr sz="1300" b="0" i="1">
                <a:solidFill>
                  <a:srgbClr val="3C4654"/>
                </a:solidFill>
                <a:latin typeface="Calibri"/>
              </a:rPr>
              <a:t>RAG (Retrieval-Augmented Generation): before answering, we search our own documents and give the model the relevant pieces, so it answers from our data instead of guessing.</a:t>
            </a:r>
          </a:p>
        </p:txBody>
      </p:sp>
      <p:sp>
        <p:nvSpPr>
          <p:cNvPr id="9" name="Rounded Rectangle 8"/>
          <p:cNvSpPr/>
          <p:nvPr/>
        </p:nvSpPr>
        <p:spPr>
          <a:xfrm>
            <a:off x="640080"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Documents</a:t>
            </a:r>
          </a:p>
          <a:p>
            <a:pPr algn="ctr">
              <a:lnSpc>
                <a:spcPct val="100000"/>
              </a:lnSpc>
              <a:spcAft>
                <a:spcPts val="100"/>
              </a:spcAft>
            </a:pPr>
            <a:r>
              <a:rPr sz="1000" b="0">
                <a:solidFill>
                  <a:srgbClr val="3C4654"/>
                </a:solidFill>
                <a:latin typeface="Calibri"/>
              </a:rPr>
              <a:t>policies, PDFs, records</a:t>
            </a:r>
          </a:p>
        </p:txBody>
      </p:sp>
      <p:sp>
        <p:nvSpPr>
          <p:cNvPr id="10" name="Right Arrow 9"/>
          <p:cNvSpPr/>
          <p:nvPr/>
        </p:nvSpPr>
        <p:spPr>
          <a:xfrm>
            <a:off x="2596896" y="288036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62072"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Document Intelligence</a:t>
            </a:r>
          </a:p>
          <a:p>
            <a:pPr algn="ctr">
              <a:lnSpc>
                <a:spcPct val="100000"/>
              </a:lnSpc>
              <a:spcAft>
                <a:spcPts val="100"/>
              </a:spcAft>
            </a:pPr>
            <a:r>
              <a:rPr sz="1000" b="0">
                <a:solidFill>
                  <a:srgbClr val="3C4654"/>
                </a:solidFill>
                <a:latin typeface="Calibri"/>
              </a:rPr>
              <a:t>read &amp; split text</a:t>
            </a:r>
          </a:p>
        </p:txBody>
      </p:sp>
      <p:sp>
        <p:nvSpPr>
          <p:cNvPr id="12" name="Right Arrow 11"/>
          <p:cNvSpPr/>
          <p:nvPr/>
        </p:nvSpPr>
        <p:spPr>
          <a:xfrm>
            <a:off x="4818888" y="288036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84064"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Embeddings + AI Search</a:t>
            </a:r>
          </a:p>
          <a:p>
            <a:pPr algn="ctr">
              <a:lnSpc>
                <a:spcPct val="100000"/>
              </a:lnSpc>
              <a:spcAft>
                <a:spcPts val="100"/>
              </a:spcAft>
            </a:pPr>
            <a:r>
              <a:rPr sz="1000" b="0">
                <a:solidFill>
                  <a:srgbClr val="3C4654"/>
                </a:solidFill>
                <a:latin typeface="Calibri"/>
              </a:rPr>
              <a:t>store as searchable index</a:t>
            </a:r>
          </a:p>
        </p:txBody>
      </p:sp>
      <p:sp>
        <p:nvSpPr>
          <p:cNvPr id="14" name="Right Arrow 13"/>
          <p:cNvSpPr/>
          <p:nvPr/>
        </p:nvSpPr>
        <p:spPr>
          <a:xfrm>
            <a:off x="7040880" y="288036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06056"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Retrieve</a:t>
            </a:r>
          </a:p>
          <a:p>
            <a:pPr algn="ctr">
              <a:lnSpc>
                <a:spcPct val="100000"/>
              </a:lnSpc>
              <a:spcAft>
                <a:spcPts val="100"/>
              </a:spcAft>
            </a:pPr>
            <a:r>
              <a:rPr sz="1000" b="0">
                <a:solidFill>
                  <a:srgbClr val="3C4654"/>
                </a:solidFill>
                <a:latin typeface="Calibri"/>
              </a:rPr>
              <a:t>find relevant pieces</a:t>
            </a:r>
          </a:p>
        </p:txBody>
      </p:sp>
      <p:sp>
        <p:nvSpPr>
          <p:cNvPr id="16" name="Right Arrow 15"/>
          <p:cNvSpPr/>
          <p:nvPr/>
        </p:nvSpPr>
        <p:spPr>
          <a:xfrm>
            <a:off x="9262872" y="288036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528048" y="2377440"/>
            <a:ext cx="1965960" cy="128016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Model answers</a:t>
            </a:r>
          </a:p>
          <a:p>
            <a:pPr algn="ctr">
              <a:lnSpc>
                <a:spcPct val="100000"/>
              </a:lnSpc>
              <a:spcAft>
                <a:spcPts val="100"/>
              </a:spcAft>
            </a:pPr>
            <a:r>
              <a:rPr sz="1000" b="0">
                <a:solidFill>
                  <a:srgbClr val="3C4654"/>
                </a:solidFill>
                <a:latin typeface="Calibri"/>
              </a:rPr>
              <a:t>grounded, with sources</a:t>
            </a:r>
          </a:p>
        </p:txBody>
      </p:sp>
      <p:sp>
        <p:nvSpPr>
          <p:cNvPr id="18" name="TextBox 17"/>
          <p:cNvSpPr txBox="1"/>
          <p:nvPr/>
        </p:nvSpPr>
        <p:spPr>
          <a:xfrm>
            <a:off x="685800" y="4114800"/>
            <a:ext cx="10789920" cy="1463040"/>
          </a:xfrm>
          <a:prstGeom prst="rect">
            <a:avLst/>
          </a:prstGeom>
          <a:noFill/>
        </p:spPr>
        <p:txBody>
          <a:bodyPr wrap="square" anchor="t" lIns="0" rIns="0" tIns="0" bIns="0">
            <a:spAutoFit/>
          </a:bodyPr>
          <a:lstStyle/>
          <a:p>
            <a:pPr algn="l">
              <a:lnSpc>
                <a:spcPct val="105000"/>
              </a:lnSpc>
              <a:spcBef>
                <a:spcPts val="0"/>
              </a:spcBef>
              <a:spcAft>
                <a:spcPts val="1000"/>
              </a:spcAft>
            </a:pPr>
            <a:r>
              <a:rPr sz="1300" b="1" i="0">
                <a:solidFill>
                  <a:srgbClr val="1F3A5F"/>
                </a:solidFill>
                <a:latin typeface="Calibri"/>
              </a:rPr>
              <a:t>Azure services: </a:t>
            </a:r>
            <a:r>
              <a:rPr sz="1300" b="0" i="0">
                <a:solidFill>
                  <a:srgbClr val="3C4654"/>
                </a:solidFill>
                <a:latin typeface="Calibri"/>
              </a:rPr>
              <a:t>Azure AI Document Intelligence reads and splits files; Azure OpenAI creates embeddings (text turned into numbers); Azure AI Search stores them and finds matches by meaning; the model then answers using only those matches.</a:t>
            </a:r>
          </a:p>
          <a:p>
            <a:pPr algn="l">
              <a:lnSpc>
                <a:spcPct val="105000"/>
              </a:lnSpc>
              <a:spcBef>
                <a:spcPts val="0"/>
              </a:spcBef>
              <a:spcAft>
                <a:spcPts val="1000"/>
              </a:spcAft>
            </a:pPr>
            <a:r>
              <a:rPr sz="1300" b="0" i="1">
                <a:solidFill>
                  <a:srgbClr val="3C4654"/>
                </a:solidFill>
                <a:latin typeface="Calibri"/>
              </a:rPr>
              <a:t>Why it matters: this is how we keep answers accurate and traceable to a source, instead of the model making things up.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COMPONENT DEEP-DIVE</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Orchestration &amp; agents on Azure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6</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280160"/>
            <a:ext cx="10789920" cy="457200"/>
          </a:xfrm>
          <a:prstGeom prst="rect">
            <a:avLst/>
          </a:prstGeom>
          <a:noFill/>
        </p:spPr>
        <p:txBody>
          <a:bodyPr wrap="square" anchor="t" lIns="0" rIns="0" tIns="0" bIns="0">
            <a:spAutoFit/>
          </a:bodyPr>
          <a:lstStyle/>
          <a:p>
            <a:pPr algn="l">
              <a:lnSpc>
                <a:spcPct val="105000"/>
              </a:lnSpc>
              <a:spcBef>
                <a:spcPts val="0"/>
              </a:spcBef>
              <a:spcAft>
                <a:spcPts val="600"/>
              </a:spcAft>
            </a:pPr>
            <a:r>
              <a:rPr sz="1300" b="0" i="1">
                <a:solidFill>
                  <a:srgbClr val="3C4654"/>
                </a:solidFill>
                <a:latin typeface="Calibri"/>
              </a:rPr>
              <a:t>The orchestrator is the logic that decides the steps: understand the request, fetch knowledge, call tools, and produce an answer. An 'agent' is an LLM that can take steps and use tools, not just chat.</a:t>
            </a:r>
          </a:p>
        </p:txBody>
      </p:sp>
      <p:sp>
        <p:nvSpPr>
          <p:cNvPr id="9" name="Rounded Rectangle 8"/>
          <p:cNvSpPr/>
          <p:nvPr/>
        </p:nvSpPr>
        <p:spPr>
          <a:xfrm>
            <a:off x="4892040" y="2286000"/>
            <a:ext cx="2377440" cy="868680"/>
          </a:xfrm>
          <a:prstGeom prst="roundRect">
            <a:avLst>
              <a:gd name="adj" fmla="val 8000"/>
            </a:avLst>
          </a:prstGeom>
          <a:solidFill>
            <a:srgbClr val="1F3A5F"/>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FFFFFF"/>
                </a:solidFill>
                <a:latin typeface="Calibri"/>
              </a:rPr>
              <a:t>Orchestrator</a:t>
            </a:r>
          </a:p>
          <a:p>
            <a:pPr algn="ctr">
              <a:lnSpc>
                <a:spcPct val="100000"/>
              </a:lnSpc>
              <a:spcAft>
                <a:spcPts val="100"/>
              </a:spcAft>
            </a:pPr>
            <a:r>
              <a:rPr sz="1000" b="0">
                <a:solidFill>
                  <a:srgbClr val="AEC6DE"/>
                </a:solidFill>
                <a:latin typeface="Calibri"/>
              </a:rPr>
              <a:t>Azure AI Foundry Agent Service</a:t>
            </a:r>
          </a:p>
        </p:txBody>
      </p:sp>
      <p:sp>
        <p:nvSpPr>
          <p:cNvPr id="10" name="Rounded Rectangle 9"/>
          <p:cNvSpPr/>
          <p:nvPr/>
        </p:nvSpPr>
        <p:spPr>
          <a:xfrm>
            <a:off x="640080" y="3977639"/>
            <a:ext cx="2377440" cy="86868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Understand request</a:t>
            </a:r>
          </a:p>
          <a:p>
            <a:pPr algn="ctr">
              <a:lnSpc>
                <a:spcPct val="100000"/>
              </a:lnSpc>
              <a:spcAft>
                <a:spcPts val="100"/>
              </a:spcAft>
            </a:pPr>
            <a:r>
              <a:rPr sz="1000" b="0">
                <a:solidFill>
                  <a:srgbClr val="3C4654"/>
                </a:solidFill>
                <a:latin typeface="Calibri"/>
              </a:rPr>
              <a:t>route the task</a:t>
            </a:r>
          </a:p>
        </p:txBody>
      </p:sp>
      <p:cxnSp>
        <p:nvCxnSpPr>
          <p:cNvPr id="11" name="Connector 10"/>
          <p:cNvCxnSpPr/>
          <p:nvPr/>
        </p:nvCxnSpPr>
        <p:spPr>
          <a:xfrm flipV="1">
            <a:off x="1828800" y="3154680"/>
            <a:ext cx="4251960" cy="822959"/>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3566160" y="3977639"/>
            <a:ext cx="2377440" cy="86868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Knowledge / RAG</a:t>
            </a:r>
          </a:p>
          <a:p>
            <a:pPr algn="ctr">
              <a:lnSpc>
                <a:spcPct val="100000"/>
              </a:lnSpc>
              <a:spcAft>
                <a:spcPts val="100"/>
              </a:spcAft>
            </a:pPr>
            <a:r>
              <a:rPr sz="1000" b="0">
                <a:solidFill>
                  <a:srgbClr val="3C4654"/>
                </a:solidFill>
                <a:latin typeface="Calibri"/>
              </a:rPr>
              <a:t>get documents</a:t>
            </a:r>
          </a:p>
        </p:txBody>
      </p:sp>
      <p:cxnSp>
        <p:nvCxnSpPr>
          <p:cNvPr id="13" name="Connector 12"/>
          <p:cNvCxnSpPr/>
          <p:nvPr/>
        </p:nvCxnSpPr>
        <p:spPr>
          <a:xfrm flipV="1">
            <a:off x="4754880" y="3154680"/>
            <a:ext cx="1325880" cy="822959"/>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492240" y="3977639"/>
            <a:ext cx="2377440" cy="86868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Tools / systems</a:t>
            </a:r>
          </a:p>
          <a:p>
            <a:pPr algn="ctr">
              <a:lnSpc>
                <a:spcPct val="100000"/>
              </a:lnSpc>
              <a:spcAft>
                <a:spcPts val="100"/>
              </a:spcAft>
            </a:pPr>
            <a:r>
              <a:rPr sz="1000" b="0">
                <a:solidFill>
                  <a:srgbClr val="3C4654"/>
                </a:solidFill>
                <a:latin typeface="Calibri"/>
              </a:rPr>
              <a:t>APIs, databases</a:t>
            </a:r>
          </a:p>
        </p:txBody>
      </p:sp>
      <p:cxnSp>
        <p:nvCxnSpPr>
          <p:cNvPr id="15" name="Connector 14"/>
          <p:cNvCxnSpPr/>
          <p:nvPr/>
        </p:nvCxnSpPr>
        <p:spPr>
          <a:xfrm flipH="1" flipV="1">
            <a:off x="6080760" y="3154680"/>
            <a:ext cx="1600200" cy="822959"/>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9418320" y="3977639"/>
            <a:ext cx="2377440" cy="86868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Model</a:t>
            </a:r>
          </a:p>
          <a:p>
            <a:pPr algn="ctr">
              <a:lnSpc>
                <a:spcPct val="100000"/>
              </a:lnSpc>
              <a:spcAft>
                <a:spcPts val="100"/>
              </a:spcAft>
            </a:pPr>
            <a:r>
              <a:rPr sz="1000" b="0">
                <a:solidFill>
                  <a:srgbClr val="3C4654"/>
                </a:solidFill>
                <a:latin typeface="Calibri"/>
              </a:rPr>
              <a:t>write the answer</a:t>
            </a:r>
          </a:p>
        </p:txBody>
      </p:sp>
      <p:cxnSp>
        <p:nvCxnSpPr>
          <p:cNvPr id="17" name="Connector 16"/>
          <p:cNvCxnSpPr/>
          <p:nvPr/>
        </p:nvCxnSpPr>
        <p:spPr>
          <a:xfrm flipH="1" flipV="1">
            <a:off x="6080760" y="3154680"/>
            <a:ext cx="4526280" cy="822959"/>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5120640"/>
            <a:ext cx="10789920" cy="1005840"/>
          </a:xfrm>
          <a:prstGeom prst="rect">
            <a:avLst/>
          </a:prstGeom>
          <a:noFill/>
        </p:spPr>
        <p:txBody>
          <a:bodyPr wrap="square" anchor="t" lIns="0" rIns="0" tIns="0" bIns="0">
            <a:spAutoFit/>
          </a:bodyPr>
          <a:lstStyle/>
          <a:p>
            <a:pPr algn="l">
              <a:lnSpc>
                <a:spcPct val="105000"/>
              </a:lnSpc>
              <a:spcBef>
                <a:spcPts val="0"/>
              </a:spcBef>
              <a:spcAft>
                <a:spcPts val="800"/>
              </a:spcAft>
            </a:pPr>
            <a:r>
              <a:rPr sz="1300" b="1" i="0">
                <a:solidFill>
                  <a:srgbClr val="1F3A5F"/>
                </a:solidFill>
                <a:latin typeface="Calibri"/>
              </a:rPr>
              <a:t>On Azure: </a:t>
            </a:r>
            <a:r>
              <a:rPr sz="1300" b="0" i="0">
                <a:solidFill>
                  <a:srgbClr val="3C4654"/>
                </a:solidFill>
                <a:latin typeface="Calibri"/>
              </a:rPr>
              <a:t>the Agent Service hosts the orchestrator and keeps its state; Semantic Kernel is the toolkit used to build it. Long jobs can pause and resume, and every step is logged for review.</a:t>
            </a:r>
          </a:p>
          <a:p>
            <a:pPr algn="l">
              <a:lnSpc>
                <a:spcPct val="105000"/>
              </a:lnSpc>
              <a:spcBef>
                <a:spcPts val="0"/>
              </a:spcBef>
              <a:spcAft>
                <a:spcPts val="800"/>
              </a:spcAft>
            </a:pPr>
            <a:r>
              <a:rPr sz="1300" b="0" i="1">
                <a:solidFill>
                  <a:srgbClr val="3C4654"/>
                </a:solidFill>
                <a:latin typeface="Calibri"/>
              </a:rPr>
              <a:t>Guardrails wrap each step, and a person can approve anything sensitive before it happens.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SECURITY</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Keeping it safe — layers of defense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7</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2011680" y="1417320"/>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240280" y="1417320"/>
            <a:ext cx="2651760" cy="585216"/>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1F3A5F"/>
                </a:solidFill>
                <a:latin typeface="Calibri"/>
              </a:rPr>
              <a:t>Identity &amp; network</a:t>
            </a:r>
          </a:p>
        </p:txBody>
      </p:sp>
      <p:sp>
        <p:nvSpPr>
          <p:cNvPr id="10" name="TextBox 9"/>
          <p:cNvSpPr txBox="1"/>
          <p:nvPr/>
        </p:nvSpPr>
        <p:spPr>
          <a:xfrm>
            <a:off x="5029200" y="1417320"/>
            <a:ext cx="5029200" cy="585216"/>
          </a:xfrm>
          <a:prstGeom prst="rect">
            <a:avLst/>
          </a:prstGeom>
          <a:noFill/>
        </p:spPr>
        <p:txBody>
          <a:bodyPr wrap="square" anchor="ctr" lIns="0" rIns="0" tIns="0" bIns="0">
            <a:spAutoFit/>
          </a:bodyPr>
          <a:lstStyle/>
          <a:p>
            <a:pPr algn="l">
              <a:lnSpc>
                <a:spcPct val="105000"/>
              </a:lnSpc>
              <a:spcBef>
                <a:spcPts val="0"/>
              </a:spcBef>
              <a:spcAft>
                <a:spcPts val="600"/>
              </a:spcAft>
            </a:pPr>
            <a:r>
              <a:rPr sz="1150" b="0" i="0">
                <a:solidFill>
                  <a:srgbClr val="3C4654"/>
                </a:solidFill>
                <a:latin typeface="Calibri"/>
              </a:rPr>
              <a:t>Entra ID sign-in, private network, no public exposure</a:t>
            </a:r>
          </a:p>
        </p:txBody>
      </p:sp>
      <p:sp>
        <p:nvSpPr>
          <p:cNvPr id="11" name="Rectangle 10"/>
          <p:cNvSpPr/>
          <p:nvPr/>
        </p:nvSpPr>
        <p:spPr>
          <a:xfrm>
            <a:off x="1737360" y="1417320"/>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011680" y="2075688"/>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240280" y="2075688"/>
            <a:ext cx="2651760" cy="585216"/>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1F3A5F"/>
                </a:solidFill>
                <a:latin typeface="Calibri"/>
              </a:rPr>
              <a:t>Gateway limits</a:t>
            </a:r>
          </a:p>
        </p:txBody>
      </p:sp>
      <p:sp>
        <p:nvSpPr>
          <p:cNvPr id="14" name="TextBox 13"/>
          <p:cNvSpPr txBox="1"/>
          <p:nvPr/>
        </p:nvSpPr>
        <p:spPr>
          <a:xfrm>
            <a:off x="5029200" y="2075688"/>
            <a:ext cx="5029200" cy="585216"/>
          </a:xfrm>
          <a:prstGeom prst="rect">
            <a:avLst/>
          </a:prstGeom>
          <a:noFill/>
        </p:spPr>
        <p:txBody>
          <a:bodyPr wrap="square" anchor="ctr" lIns="0" rIns="0" tIns="0" bIns="0">
            <a:spAutoFit/>
          </a:bodyPr>
          <a:lstStyle/>
          <a:p>
            <a:pPr algn="l">
              <a:lnSpc>
                <a:spcPct val="105000"/>
              </a:lnSpc>
              <a:spcBef>
                <a:spcPts val="0"/>
              </a:spcBef>
              <a:spcAft>
                <a:spcPts val="600"/>
              </a:spcAft>
            </a:pPr>
            <a:r>
              <a:rPr sz="1150" b="0" i="0">
                <a:solidFill>
                  <a:srgbClr val="3C4654"/>
                </a:solidFill>
                <a:latin typeface="Calibri"/>
              </a:rPr>
              <a:t>Azure API Management — keys, rate limits, quotas</a:t>
            </a:r>
          </a:p>
        </p:txBody>
      </p:sp>
      <p:sp>
        <p:nvSpPr>
          <p:cNvPr id="15" name="Rectangle 14"/>
          <p:cNvSpPr/>
          <p:nvPr/>
        </p:nvSpPr>
        <p:spPr>
          <a:xfrm>
            <a:off x="1737360" y="2075688"/>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2011680" y="2734056"/>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40280" y="2734056"/>
            <a:ext cx="2651760" cy="585216"/>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1F3A5F"/>
                </a:solidFill>
                <a:latin typeface="Calibri"/>
              </a:rPr>
              <a:t>Input checks</a:t>
            </a:r>
          </a:p>
        </p:txBody>
      </p:sp>
      <p:sp>
        <p:nvSpPr>
          <p:cNvPr id="18" name="TextBox 17"/>
          <p:cNvSpPr txBox="1"/>
          <p:nvPr/>
        </p:nvSpPr>
        <p:spPr>
          <a:xfrm>
            <a:off x="5029200" y="2734056"/>
            <a:ext cx="5029200" cy="585216"/>
          </a:xfrm>
          <a:prstGeom prst="rect">
            <a:avLst/>
          </a:prstGeom>
          <a:noFill/>
        </p:spPr>
        <p:txBody>
          <a:bodyPr wrap="square" anchor="ctr" lIns="0" rIns="0" tIns="0" bIns="0">
            <a:spAutoFit/>
          </a:bodyPr>
          <a:lstStyle/>
          <a:p>
            <a:pPr algn="l">
              <a:lnSpc>
                <a:spcPct val="105000"/>
              </a:lnSpc>
              <a:spcBef>
                <a:spcPts val="0"/>
              </a:spcBef>
              <a:spcAft>
                <a:spcPts val="600"/>
              </a:spcAft>
            </a:pPr>
            <a:r>
              <a:rPr sz="1150" b="0" i="0">
                <a:solidFill>
                  <a:srgbClr val="3C4654"/>
                </a:solidFill>
                <a:latin typeface="Calibri"/>
              </a:rPr>
              <a:t>Azure AI Content Safety — block unsafe or malicious prompts</a:t>
            </a:r>
          </a:p>
        </p:txBody>
      </p:sp>
      <p:sp>
        <p:nvSpPr>
          <p:cNvPr id="19" name="Rectangle 18"/>
          <p:cNvSpPr/>
          <p:nvPr/>
        </p:nvSpPr>
        <p:spPr>
          <a:xfrm>
            <a:off x="1737360" y="2734056"/>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011680" y="3392424"/>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240280" y="3392424"/>
            <a:ext cx="2651760" cy="585216"/>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1F3A5F"/>
                </a:solidFill>
                <a:latin typeface="Calibri"/>
              </a:rPr>
              <a:t>Least access</a:t>
            </a:r>
          </a:p>
        </p:txBody>
      </p:sp>
      <p:sp>
        <p:nvSpPr>
          <p:cNvPr id="22" name="TextBox 21"/>
          <p:cNvSpPr txBox="1"/>
          <p:nvPr/>
        </p:nvSpPr>
        <p:spPr>
          <a:xfrm>
            <a:off x="5029200" y="3392424"/>
            <a:ext cx="5029200" cy="585216"/>
          </a:xfrm>
          <a:prstGeom prst="rect">
            <a:avLst/>
          </a:prstGeom>
          <a:noFill/>
        </p:spPr>
        <p:txBody>
          <a:bodyPr wrap="square" anchor="ctr" lIns="0" rIns="0" tIns="0" bIns="0">
            <a:spAutoFit/>
          </a:bodyPr>
          <a:lstStyle/>
          <a:p>
            <a:pPr algn="l">
              <a:lnSpc>
                <a:spcPct val="105000"/>
              </a:lnSpc>
              <a:spcBef>
                <a:spcPts val="0"/>
              </a:spcBef>
              <a:spcAft>
                <a:spcPts val="600"/>
              </a:spcAft>
            </a:pPr>
            <a:r>
              <a:rPr sz="1150" b="0" i="0">
                <a:solidFill>
                  <a:srgbClr val="3C4654"/>
                </a:solidFill>
                <a:latin typeface="Calibri"/>
              </a:rPr>
              <a:t>tools and data limited to only what is needed; human approval for sensitive actions</a:t>
            </a:r>
          </a:p>
        </p:txBody>
      </p:sp>
      <p:sp>
        <p:nvSpPr>
          <p:cNvPr id="23" name="Rectangle 22"/>
          <p:cNvSpPr/>
          <p:nvPr/>
        </p:nvSpPr>
        <p:spPr>
          <a:xfrm>
            <a:off x="1737360" y="3392424"/>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2011680" y="4050792"/>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40280" y="4050792"/>
            <a:ext cx="2651760" cy="585216"/>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1F3A5F"/>
                </a:solidFill>
                <a:latin typeface="Calibri"/>
              </a:rPr>
              <a:t>Output checks</a:t>
            </a:r>
          </a:p>
        </p:txBody>
      </p:sp>
      <p:sp>
        <p:nvSpPr>
          <p:cNvPr id="26" name="TextBox 25"/>
          <p:cNvSpPr txBox="1"/>
          <p:nvPr/>
        </p:nvSpPr>
        <p:spPr>
          <a:xfrm>
            <a:off x="5029200" y="4050792"/>
            <a:ext cx="5029200" cy="585216"/>
          </a:xfrm>
          <a:prstGeom prst="rect">
            <a:avLst/>
          </a:prstGeom>
          <a:noFill/>
        </p:spPr>
        <p:txBody>
          <a:bodyPr wrap="square" anchor="ctr" lIns="0" rIns="0" tIns="0" bIns="0">
            <a:spAutoFit/>
          </a:bodyPr>
          <a:lstStyle/>
          <a:p>
            <a:pPr algn="l">
              <a:lnSpc>
                <a:spcPct val="105000"/>
              </a:lnSpc>
              <a:spcBef>
                <a:spcPts val="0"/>
              </a:spcBef>
              <a:spcAft>
                <a:spcPts val="600"/>
              </a:spcAft>
            </a:pPr>
            <a:r>
              <a:rPr sz="1150" b="0" i="0">
                <a:solidFill>
                  <a:srgbClr val="3C4654"/>
                </a:solidFill>
                <a:latin typeface="Calibri"/>
              </a:rPr>
              <a:t>filter unsafe content, hide personal data (PII) before it leaves</a:t>
            </a:r>
          </a:p>
        </p:txBody>
      </p:sp>
      <p:sp>
        <p:nvSpPr>
          <p:cNvPr id="27" name="Rectangle 26"/>
          <p:cNvSpPr/>
          <p:nvPr/>
        </p:nvSpPr>
        <p:spPr>
          <a:xfrm>
            <a:off x="1737360" y="4050792"/>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2011680" y="4709160"/>
            <a:ext cx="8229600" cy="585216"/>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40280" y="4709160"/>
            <a:ext cx="2651760" cy="585216"/>
          </a:xfrm>
          <a:prstGeom prst="rect">
            <a:avLst/>
          </a:prstGeom>
          <a:noFill/>
        </p:spPr>
        <p:txBody>
          <a:bodyPr wrap="square" anchor="ctr" lIns="0" rIns="0" tIns="0" bIns="0">
            <a:spAutoFit/>
          </a:bodyPr>
          <a:lstStyle/>
          <a:p>
            <a:pPr algn="l">
              <a:lnSpc>
                <a:spcPct val="105000"/>
              </a:lnSpc>
              <a:spcBef>
                <a:spcPts val="0"/>
              </a:spcBef>
              <a:spcAft>
                <a:spcPts val="600"/>
              </a:spcAft>
            </a:pPr>
            <a:r>
              <a:rPr sz="1300" b="1" i="0">
                <a:solidFill>
                  <a:srgbClr val="1F3A5F"/>
                </a:solidFill>
                <a:latin typeface="Calibri"/>
              </a:rPr>
              <a:t>Monitor &amp; respond</a:t>
            </a:r>
          </a:p>
        </p:txBody>
      </p:sp>
      <p:sp>
        <p:nvSpPr>
          <p:cNvPr id="30" name="TextBox 29"/>
          <p:cNvSpPr txBox="1"/>
          <p:nvPr/>
        </p:nvSpPr>
        <p:spPr>
          <a:xfrm>
            <a:off x="5029200" y="4709160"/>
            <a:ext cx="5029200" cy="585216"/>
          </a:xfrm>
          <a:prstGeom prst="rect">
            <a:avLst/>
          </a:prstGeom>
          <a:noFill/>
        </p:spPr>
        <p:txBody>
          <a:bodyPr wrap="square" anchor="ctr" lIns="0" rIns="0" tIns="0" bIns="0">
            <a:spAutoFit/>
          </a:bodyPr>
          <a:lstStyle/>
          <a:p>
            <a:pPr algn="l">
              <a:lnSpc>
                <a:spcPct val="105000"/>
              </a:lnSpc>
              <a:spcBef>
                <a:spcPts val="0"/>
              </a:spcBef>
              <a:spcAft>
                <a:spcPts val="600"/>
              </a:spcAft>
            </a:pPr>
            <a:r>
              <a:rPr sz="1150" b="0" i="0">
                <a:solidFill>
                  <a:srgbClr val="3C4654"/>
                </a:solidFill>
                <a:latin typeface="Calibri"/>
              </a:rPr>
              <a:t>Microsoft Defender for Cloud, alerts, and an audit trail</a:t>
            </a:r>
          </a:p>
        </p:txBody>
      </p:sp>
      <p:sp>
        <p:nvSpPr>
          <p:cNvPr id="31" name="Rectangle 30"/>
          <p:cNvSpPr/>
          <p:nvPr/>
        </p:nvSpPr>
        <p:spPr>
          <a:xfrm>
            <a:off x="1737360" y="4709160"/>
            <a:ext cx="128016" cy="585216"/>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737360" y="5385816"/>
            <a:ext cx="8503920" cy="457200"/>
          </a:xfrm>
          <a:prstGeom prst="rect">
            <a:avLst/>
          </a:prstGeom>
          <a:noFill/>
        </p:spPr>
        <p:txBody>
          <a:bodyPr wrap="square" anchor="t" lIns="0" rIns="0" tIns="0" bIns="0">
            <a:spAutoFit/>
          </a:bodyPr>
          <a:lstStyle/>
          <a:p>
            <a:pPr algn="l">
              <a:lnSpc>
                <a:spcPct val="105000"/>
              </a:lnSpc>
              <a:spcBef>
                <a:spcPts val="0"/>
              </a:spcBef>
              <a:spcAft>
                <a:spcPts val="600"/>
              </a:spcAft>
            </a:pPr>
            <a:r>
              <a:rPr sz="1250" b="1" i="1">
                <a:solidFill>
                  <a:srgbClr val="1F3A5F"/>
                </a:solidFill>
                <a:latin typeface="Calibri"/>
              </a:rPr>
              <a:t>Rule of thumb: treat everything going in and coming out of the model as untrusted, and check both.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QUALITY &amp; MONITORING</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Making sure answers stay good, and watching them run</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8</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640080" y="1463040"/>
            <a:ext cx="5394960" cy="42062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Evaluation (before release)</a:t>
            </a:r>
          </a:p>
        </p:txBody>
      </p:sp>
      <p:sp>
        <p:nvSpPr>
          <p:cNvPr id="9" name="TextBox 8"/>
          <p:cNvSpPr txBox="1"/>
          <p:nvPr/>
        </p:nvSpPr>
        <p:spPr>
          <a:xfrm>
            <a:off x="868680" y="1965960"/>
            <a:ext cx="4983480" cy="3657600"/>
          </a:xfrm>
          <a:prstGeom prst="rect">
            <a:avLst/>
          </a:prstGeom>
          <a:noFill/>
        </p:spPr>
        <p:txBody>
          <a:bodyPr wrap="square" lIns="0" tIns="0">
            <a:spAutoFit/>
          </a:bodyPr>
          <a:lstStyle/>
          <a:p>
            <a:pPr>
              <a:lnSpc>
                <a:spcPct val="106000"/>
              </a:lnSpc>
              <a:spcBef>
                <a:spcPts val="0"/>
              </a:spcBef>
              <a:spcAft>
                <a:spcPts val="1200"/>
              </a:spcAft>
            </a:pPr>
            <a:r>
              <a:rPr sz="1350" b="0">
                <a:solidFill>
                  <a:srgbClr val="3C4654"/>
                </a:solidFill>
                <a:latin typeface="Calibri"/>
              </a:rPr>
              <a:t>•  Test answers with example questions and expected results.</a:t>
            </a:r>
          </a:p>
          <a:p>
            <a:pPr>
              <a:lnSpc>
                <a:spcPct val="106000"/>
              </a:lnSpc>
              <a:spcBef>
                <a:spcPts val="0"/>
              </a:spcBef>
              <a:spcAft>
                <a:spcPts val="1200"/>
              </a:spcAft>
            </a:pPr>
            <a:r>
              <a:rPr sz="1350" b="0">
                <a:solidFill>
                  <a:srgbClr val="3C4654"/>
                </a:solidFill>
                <a:latin typeface="Calibri"/>
              </a:rPr>
              <a:t>•  Score for: correct, on-topic, and answered from our data.</a:t>
            </a:r>
          </a:p>
          <a:p>
            <a:pPr>
              <a:lnSpc>
                <a:spcPct val="106000"/>
              </a:lnSpc>
              <a:spcBef>
                <a:spcPts val="0"/>
              </a:spcBef>
              <a:spcAft>
                <a:spcPts val="1200"/>
              </a:spcAft>
            </a:pPr>
            <a:r>
              <a:rPr sz="1350" b="0">
                <a:solidFill>
                  <a:srgbClr val="3C4654"/>
                </a:solidFill>
                <a:latin typeface="Calibri"/>
              </a:rPr>
              <a:t>•  Every release is checked against a saved test set, so quality does not slip.</a:t>
            </a:r>
          </a:p>
          <a:p>
            <a:pPr>
              <a:lnSpc>
                <a:spcPct val="106000"/>
              </a:lnSpc>
              <a:spcBef>
                <a:spcPts val="0"/>
              </a:spcBef>
              <a:spcAft>
                <a:spcPts val="1200"/>
              </a:spcAft>
            </a:pPr>
            <a:r>
              <a:rPr sz="1350" b="1">
                <a:solidFill>
                  <a:srgbClr val="1F3A5F"/>
                </a:solidFill>
                <a:latin typeface="Calibri"/>
              </a:rPr>
              <a:t>•  Azure: Azure AI Foundry evaluations run these checks in the pipeline.</a:t>
            </a:r>
          </a:p>
        </p:txBody>
      </p:sp>
      <p:sp>
        <p:nvSpPr>
          <p:cNvPr id="10" name="Rounded Rectangle 9"/>
          <p:cNvSpPr/>
          <p:nvPr/>
        </p:nvSpPr>
        <p:spPr>
          <a:xfrm>
            <a:off x="6309360" y="1463040"/>
            <a:ext cx="5330952" cy="42062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Observability (in production)</a:t>
            </a:r>
          </a:p>
        </p:txBody>
      </p:sp>
      <p:sp>
        <p:nvSpPr>
          <p:cNvPr id="11" name="TextBox 10"/>
          <p:cNvSpPr txBox="1"/>
          <p:nvPr/>
        </p:nvSpPr>
        <p:spPr>
          <a:xfrm>
            <a:off x="6537960" y="1965960"/>
            <a:ext cx="4937760" cy="3657600"/>
          </a:xfrm>
          <a:prstGeom prst="rect">
            <a:avLst/>
          </a:prstGeom>
          <a:noFill/>
        </p:spPr>
        <p:txBody>
          <a:bodyPr wrap="square" lIns="0" tIns="0">
            <a:spAutoFit/>
          </a:bodyPr>
          <a:lstStyle/>
          <a:p>
            <a:pPr>
              <a:lnSpc>
                <a:spcPct val="106000"/>
              </a:lnSpc>
              <a:spcBef>
                <a:spcPts val="0"/>
              </a:spcBef>
              <a:spcAft>
                <a:spcPts val="1200"/>
              </a:spcAft>
            </a:pPr>
            <a:r>
              <a:rPr sz="1350" b="0">
                <a:solidFill>
                  <a:srgbClr val="3C4654"/>
                </a:solidFill>
                <a:latin typeface="Calibri"/>
              </a:rPr>
              <a:t>•  Watch quality, speed, errors, and cost of every request.</a:t>
            </a:r>
          </a:p>
          <a:p>
            <a:pPr>
              <a:lnSpc>
                <a:spcPct val="106000"/>
              </a:lnSpc>
              <a:spcBef>
                <a:spcPts val="0"/>
              </a:spcBef>
              <a:spcAft>
                <a:spcPts val="1200"/>
              </a:spcAft>
            </a:pPr>
            <a:r>
              <a:rPr sz="1350" b="0">
                <a:solidFill>
                  <a:srgbClr val="3C4654"/>
                </a:solidFill>
                <a:latin typeface="Calibri"/>
              </a:rPr>
              <a:t>•  Traces show each step the system took, for troubleshooting.</a:t>
            </a:r>
          </a:p>
          <a:p>
            <a:pPr>
              <a:lnSpc>
                <a:spcPct val="106000"/>
              </a:lnSpc>
              <a:spcBef>
                <a:spcPts val="0"/>
              </a:spcBef>
              <a:spcAft>
                <a:spcPts val="1200"/>
              </a:spcAft>
            </a:pPr>
            <a:r>
              <a:rPr sz="1350" b="0">
                <a:solidFill>
                  <a:srgbClr val="3C4654"/>
                </a:solidFill>
                <a:latin typeface="Calibri"/>
              </a:rPr>
              <a:t>•  Alerts fire when something drifts or breaks.</a:t>
            </a:r>
          </a:p>
          <a:p>
            <a:pPr>
              <a:lnSpc>
                <a:spcPct val="106000"/>
              </a:lnSpc>
              <a:spcBef>
                <a:spcPts val="0"/>
              </a:spcBef>
              <a:spcAft>
                <a:spcPts val="1200"/>
              </a:spcAft>
            </a:pPr>
            <a:r>
              <a:rPr sz="1350" b="1">
                <a:solidFill>
                  <a:srgbClr val="1F3A5F"/>
                </a:solidFill>
                <a:latin typeface="Calibri"/>
              </a:rPr>
              <a:t>•  Azure: Azure Monitor + Application Insights, using OpenTelemetry (an open standard for traces).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DELIVERY</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How changes are tested and shipped (CI/CD)</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9</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234440"/>
            <a:ext cx="10789920" cy="457200"/>
          </a:xfrm>
          <a:prstGeom prst="rect">
            <a:avLst/>
          </a:prstGeom>
          <a:noFill/>
        </p:spPr>
        <p:txBody>
          <a:bodyPr wrap="square" anchor="t" lIns="0" rIns="0" tIns="0" bIns="0">
            <a:spAutoFit/>
          </a:bodyPr>
          <a:lstStyle/>
          <a:p>
            <a:pPr algn="l">
              <a:lnSpc>
                <a:spcPct val="105000"/>
              </a:lnSpc>
              <a:spcBef>
                <a:spcPts val="0"/>
              </a:spcBef>
              <a:spcAft>
                <a:spcPts val="600"/>
              </a:spcAft>
            </a:pPr>
            <a:r>
              <a:rPr sz="1300" b="0" i="1">
                <a:solidFill>
                  <a:srgbClr val="3C4654"/>
                </a:solidFill>
                <a:latin typeface="Calibri"/>
              </a:rPr>
              <a:t>CI/CD = Continuous Integration / Continuous Delivery: an automated pipeline that tests every change and releases it safely.</a:t>
            </a:r>
          </a:p>
        </p:txBody>
      </p:sp>
      <p:sp>
        <p:nvSpPr>
          <p:cNvPr id="9" name="Rounded Rectangle 8"/>
          <p:cNvSpPr/>
          <p:nvPr/>
        </p:nvSpPr>
        <p:spPr>
          <a:xfrm>
            <a:off x="640080" y="2286000"/>
            <a:ext cx="1965960" cy="118872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Change</a:t>
            </a:r>
          </a:p>
          <a:p>
            <a:pPr algn="ctr">
              <a:lnSpc>
                <a:spcPct val="100000"/>
              </a:lnSpc>
              <a:spcAft>
                <a:spcPts val="100"/>
              </a:spcAft>
            </a:pPr>
            <a:r>
              <a:rPr sz="1000" b="0">
                <a:solidFill>
                  <a:srgbClr val="3C4654"/>
                </a:solidFill>
                <a:latin typeface="Calibri"/>
              </a:rPr>
              <a:t>edit prompt/agent</a:t>
            </a:r>
          </a:p>
        </p:txBody>
      </p:sp>
      <p:sp>
        <p:nvSpPr>
          <p:cNvPr id="10" name="Right Arrow 9"/>
          <p:cNvSpPr/>
          <p:nvPr/>
        </p:nvSpPr>
        <p:spPr>
          <a:xfrm>
            <a:off x="2596896" y="27432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862072" y="2286000"/>
            <a:ext cx="1965960" cy="118872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Build</a:t>
            </a:r>
          </a:p>
          <a:p>
            <a:pPr algn="ctr">
              <a:lnSpc>
                <a:spcPct val="100000"/>
              </a:lnSpc>
              <a:spcAft>
                <a:spcPts val="100"/>
              </a:spcAft>
            </a:pPr>
            <a:r>
              <a:rPr sz="1000" b="0">
                <a:solidFill>
                  <a:srgbClr val="3C4654"/>
                </a:solidFill>
                <a:latin typeface="Calibri"/>
              </a:rPr>
              <a:t>package</a:t>
            </a:r>
          </a:p>
        </p:txBody>
      </p:sp>
      <p:sp>
        <p:nvSpPr>
          <p:cNvPr id="12" name="Right Arrow 11"/>
          <p:cNvSpPr/>
          <p:nvPr/>
        </p:nvSpPr>
        <p:spPr>
          <a:xfrm>
            <a:off x="4818888" y="27432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84064" y="2286000"/>
            <a:ext cx="1965960" cy="1188720"/>
          </a:xfrm>
          <a:prstGeom prst="roundRect">
            <a:avLst>
              <a:gd name="adj" fmla="val 8000"/>
            </a:avLst>
          </a:prstGeom>
          <a:solidFill>
            <a:srgbClr val="F6E9E0"/>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C87B1E"/>
                </a:solidFill>
                <a:latin typeface="Calibri"/>
              </a:rPr>
              <a:t>Test gates</a:t>
            </a:r>
          </a:p>
          <a:p>
            <a:pPr algn="ctr">
              <a:lnSpc>
                <a:spcPct val="100000"/>
              </a:lnSpc>
              <a:spcAft>
                <a:spcPts val="100"/>
              </a:spcAft>
            </a:pPr>
            <a:r>
              <a:rPr sz="1000" b="0">
                <a:solidFill>
                  <a:srgbClr val="3C4654"/>
                </a:solidFill>
                <a:latin typeface="Calibri"/>
              </a:rPr>
              <a:t>quality · safety · cost</a:t>
            </a:r>
          </a:p>
        </p:txBody>
      </p:sp>
      <p:sp>
        <p:nvSpPr>
          <p:cNvPr id="14" name="Right Arrow 13"/>
          <p:cNvSpPr/>
          <p:nvPr/>
        </p:nvSpPr>
        <p:spPr>
          <a:xfrm>
            <a:off x="7040880" y="27432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306056" y="2286000"/>
            <a:ext cx="1965960" cy="118872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Release</a:t>
            </a:r>
          </a:p>
          <a:p>
            <a:pPr algn="ctr">
              <a:lnSpc>
                <a:spcPct val="100000"/>
              </a:lnSpc>
              <a:spcAft>
                <a:spcPts val="100"/>
              </a:spcAft>
            </a:pPr>
            <a:r>
              <a:rPr sz="1000" b="0">
                <a:solidFill>
                  <a:srgbClr val="3C4654"/>
                </a:solidFill>
                <a:latin typeface="Calibri"/>
              </a:rPr>
              <a:t>start small (canary)</a:t>
            </a:r>
          </a:p>
        </p:txBody>
      </p:sp>
      <p:sp>
        <p:nvSpPr>
          <p:cNvPr id="16" name="Right Arrow 15"/>
          <p:cNvSpPr/>
          <p:nvPr/>
        </p:nvSpPr>
        <p:spPr>
          <a:xfrm>
            <a:off x="9262872" y="2743200"/>
            <a:ext cx="31089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528048" y="2286000"/>
            <a:ext cx="1965960" cy="118872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Production</a:t>
            </a:r>
          </a:p>
          <a:p>
            <a:pPr algn="ctr">
              <a:lnSpc>
                <a:spcPct val="100000"/>
              </a:lnSpc>
              <a:spcAft>
                <a:spcPts val="100"/>
              </a:spcAft>
            </a:pPr>
            <a:r>
              <a:rPr sz="1000" b="0">
                <a:solidFill>
                  <a:srgbClr val="3C4654"/>
                </a:solidFill>
                <a:latin typeface="Calibri"/>
              </a:rPr>
              <a:t>watch &amp; improve</a:t>
            </a:r>
          </a:p>
        </p:txBody>
      </p:sp>
      <p:sp>
        <p:nvSpPr>
          <p:cNvPr id="18" name="TextBox 17"/>
          <p:cNvSpPr txBox="1"/>
          <p:nvPr/>
        </p:nvSpPr>
        <p:spPr>
          <a:xfrm>
            <a:off x="640080" y="3794760"/>
            <a:ext cx="10881360" cy="365760"/>
          </a:xfrm>
          <a:prstGeom prst="rect">
            <a:avLst/>
          </a:prstGeom>
          <a:noFill/>
        </p:spPr>
        <p:txBody>
          <a:bodyPr wrap="square" anchor="t" lIns="0" rIns="0" tIns="0" bIns="0">
            <a:spAutoFit/>
          </a:bodyPr>
          <a:lstStyle/>
          <a:p>
            <a:pPr algn="l">
              <a:lnSpc>
                <a:spcPct val="105000"/>
              </a:lnSpc>
              <a:spcBef>
                <a:spcPts val="0"/>
              </a:spcBef>
              <a:spcAft>
                <a:spcPts val="600"/>
              </a:spcAft>
            </a:pPr>
            <a:r>
              <a:rPr sz="1300" b="1" i="0">
                <a:solidFill>
                  <a:srgbClr val="C87B1E"/>
                </a:solidFill>
                <a:latin typeface="Calibri"/>
              </a:rPr>
              <a:t>The test gates block a release if it fails any of:</a:t>
            </a:r>
          </a:p>
        </p:txBody>
      </p:sp>
      <p:sp>
        <p:nvSpPr>
          <p:cNvPr id="19" name="Rounded Rectangle 18"/>
          <p:cNvSpPr/>
          <p:nvPr/>
        </p:nvSpPr>
        <p:spPr>
          <a:xfrm>
            <a:off x="640080" y="4206240"/>
            <a:ext cx="2670048" cy="91440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Quality</a:t>
            </a:r>
          </a:p>
          <a:p>
            <a:pPr algn="ctr">
              <a:lnSpc>
                <a:spcPct val="100000"/>
              </a:lnSpc>
              <a:spcAft>
                <a:spcPts val="100"/>
              </a:spcAft>
            </a:pPr>
            <a:r>
              <a:rPr sz="1000" b="0">
                <a:solidFill>
                  <a:srgbClr val="3C4654"/>
                </a:solidFill>
                <a:latin typeface="Calibri"/>
              </a:rPr>
              <a:t>answers still correct &amp; on-topic</a:t>
            </a:r>
          </a:p>
        </p:txBody>
      </p:sp>
      <p:sp>
        <p:nvSpPr>
          <p:cNvPr id="20" name="Rounded Rectangle 19"/>
          <p:cNvSpPr/>
          <p:nvPr/>
        </p:nvSpPr>
        <p:spPr>
          <a:xfrm>
            <a:off x="3429000" y="4206240"/>
            <a:ext cx="2670048" cy="91440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Groundedness</a:t>
            </a:r>
          </a:p>
          <a:p>
            <a:pPr algn="ctr">
              <a:lnSpc>
                <a:spcPct val="100000"/>
              </a:lnSpc>
              <a:spcAft>
                <a:spcPts val="100"/>
              </a:spcAft>
            </a:pPr>
            <a:r>
              <a:rPr sz="1000" b="0">
                <a:solidFill>
                  <a:srgbClr val="3C4654"/>
                </a:solidFill>
                <a:latin typeface="Calibri"/>
              </a:rPr>
              <a:t>answers from our data, with sources</a:t>
            </a:r>
          </a:p>
        </p:txBody>
      </p:sp>
      <p:sp>
        <p:nvSpPr>
          <p:cNvPr id="21" name="Rounded Rectangle 20"/>
          <p:cNvSpPr/>
          <p:nvPr/>
        </p:nvSpPr>
        <p:spPr>
          <a:xfrm>
            <a:off x="6217920" y="4206240"/>
            <a:ext cx="2670048" cy="91440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Safety</a:t>
            </a:r>
          </a:p>
          <a:p>
            <a:pPr algn="ctr">
              <a:lnSpc>
                <a:spcPct val="100000"/>
              </a:lnSpc>
              <a:spcAft>
                <a:spcPts val="100"/>
              </a:spcAft>
            </a:pPr>
            <a:r>
              <a:rPr sz="1000" b="0">
                <a:solidFill>
                  <a:srgbClr val="3C4654"/>
                </a:solidFill>
                <a:latin typeface="Calibri"/>
              </a:rPr>
              <a:t>no unsafe content; red-team checks</a:t>
            </a:r>
          </a:p>
        </p:txBody>
      </p:sp>
      <p:sp>
        <p:nvSpPr>
          <p:cNvPr id="22" name="Rounded Rectangle 21"/>
          <p:cNvSpPr/>
          <p:nvPr/>
        </p:nvSpPr>
        <p:spPr>
          <a:xfrm>
            <a:off x="9006840" y="4206240"/>
            <a:ext cx="2670048" cy="91440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Cost &amp; speed</a:t>
            </a:r>
          </a:p>
          <a:p>
            <a:pPr algn="ctr">
              <a:lnSpc>
                <a:spcPct val="100000"/>
              </a:lnSpc>
              <a:spcAft>
                <a:spcPts val="100"/>
              </a:spcAft>
            </a:pPr>
            <a:r>
              <a:rPr sz="1000" b="0">
                <a:solidFill>
                  <a:srgbClr val="3C4654"/>
                </a:solidFill>
                <a:latin typeface="Calibri"/>
              </a:rPr>
              <a:t>within budget and time limits</a:t>
            </a:r>
          </a:p>
        </p:txBody>
      </p:sp>
      <p:sp>
        <p:nvSpPr>
          <p:cNvPr id="23" name="TextBox 22"/>
          <p:cNvSpPr txBox="1"/>
          <p:nvPr/>
        </p:nvSpPr>
        <p:spPr>
          <a:xfrm>
            <a:off x="685800" y="5349240"/>
            <a:ext cx="10789920" cy="548640"/>
          </a:xfrm>
          <a:prstGeom prst="rect">
            <a:avLst/>
          </a:prstGeom>
          <a:noFill/>
        </p:spPr>
        <p:txBody>
          <a:bodyPr wrap="square" anchor="t" lIns="0" rIns="0" tIns="0" bIns="0">
            <a:spAutoFit/>
          </a:bodyPr>
          <a:lstStyle/>
          <a:p>
            <a:pPr algn="l">
              <a:lnSpc>
                <a:spcPct val="105000"/>
              </a:lnSpc>
              <a:spcBef>
                <a:spcPts val="0"/>
              </a:spcBef>
              <a:spcAft>
                <a:spcPts val="600"/>
              </a:spcAft>
            </a:pPr>
            <a:r>
              <a:rPr sz="1300" b="1" i="0">
                <a:solidFill>
                  <a:srgbClr val="1F3A5F"/>
                </a:solidFill>
                <a:latin typeface="Calibri"/>
              </a:rPr>
              <a:t>Azure: </a:t>
            </a:r>
            <a:r>
              <a:rPr sz="1300" b="0" i="0">
                <a:solidFill>
                  <a:srgbClr val="3C4654"/>
                </a:solidFill>
                <a:latin typeface="Calibri"/>
              </a:rPr>
              <a:t>Azure DevOps or GitHub Actions runs the pipeline; releases go out gradually and roll back automatically if a problem shows 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HOW IT ALL FLOWS</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The LLMOps lifecycle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10</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685800"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Prepare</a:t>
            </a:r>
          </a:p>
          <a:p>
            <a:pPr algn="ctr">
              <a:lnSpc>
                <a:spcPct val="100000"/>
              </a:lnSpc>
              <a:spcAft>
                <a:spcPts val="100"/>
              </a:spcAft>
            </a:pPr>
            <a:r>
              <a:rPr sz="1000" b="0">
                <a:solidFill>
                  <a:srgbClr val="3C4654"/>
                </a:solidFill>
                <a:latin typeface="Calibri"/>
              </a:rPr>
              <a:t>data &amp; prompts</a:t>
            </a:r>
          </a:p>
        </p:txBody>
      </p:sp>
      <p:sp>
        <p:nvSpPr>
          <p:cNvPr id="9" name="Right Arrow 8"/>
          <p:cNvSpPr/>
          <p:nvPr/>
        </p:nvSpPr>
        <p:spPr>
          <a:xfrm>
            <a:off x="2359152"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05456"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Build</a:t>
            </a:r>
          </a:p>
        </p:txBody>
      </p:sp>
      <p:sp>
        <p:nvSpPr>
          <p:cNvPr id="11" name="Right Arrow 10"/>
          <p:cNvSpPr/>
          <p:nvPr/>
        </p:nvSpPr>
        <p:spPr>
          <a:xfrm>
            <a:off x="4178808"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325112"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Test</a:t>
            </a:r>
          </a:p>
          <a:p>
            <a:pPr algn="ctr">
              <a:lnSpc>
                <a:spcPct val="100000"/>
              </a:lnSpc>
              <a:spcAft>
                <a:spcPts val="100"/>
              </a:spcAft>
            </a:pPr>
            <a:r>
              <a:rPr sz="1000" b="0">
                <a:solidFill>
                  <a:srgbClr val="3C4654"/>
                </a:solidFill>
                <a:latin typeface="Calibri"/>
              </a:rPr>
              <a:t>(evaluate)</a:t>
            </a:r>
          </a:p>
        </p:txBody>
      </p:sp>
      <p:sp>
        <p:nvSpPr>
          <p:cNvPr id="13" name="Right Arrow 12"/>
          <p:cNvSpPr/>
          <p:nvPr/>
        </p:nvSpPr>
        <p:spPr>
          <a:xfrm>
            <a:off x="5998464"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144768"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Release</a:t>
            </a:r>
          </a:p>
          <a:p>
            <a:pPr algn="ctr">
              <a:lnSpc>
                <a:spcPct val="100000"/>
              </a:lnSpc>
              <a:spcAft>
                <a:spcPts val="100"/>
              </a:spcAft>
            </a:pPr>
            <a:r>
              <a:rPr sz="1000" b="0">
                <a:solidFill>
                  <a:srgbClr val="3C4654"/>
                </a:solidFill>
                <a:latin typeface="Calibri"/>
              </a:rPr>
              <a:t>(CI/CD)</a:t>
            </a:r>
          </a:p>
        </p:txBody>
      </p:sp>
      <p:sp>
        <p:nvSpPr>
          <p:cNvPr id="15" name="Right Arrow 14"/>
          <p:cNvSpPr/>
          <p:nvPr/>
        </p:nvSpPr>
        <p:spPr>
          <a:xfrm>
            <a:off x="7818120"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64424"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Run &amp; monitor</a:t>
            </a:r>
          </a:p>
        </p:txBody>
      </p:sp>
      <p:sp>
        <p:nvSpPr>
          <p:cNvPr id="17" name="Right Arrow 16"/>
          <p:cNvSpPr/>
          <p:nvPr/>
        </p:nvSpPr>
        <p:spPr>
          <a:xfrm>
            <a:off x="9637776" y="267462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784080" y="219456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Improve</a:t>
            </a:r>
          </a:p>
        </p:txBody>
      </p:sp>
      <p:sp>
        <p:nvSpPr>
          <p:cNvPr id="19" name="Left Arrow 18"/>
          <p:cNvSpPr/>
          <p:nvPr/>
        </p:nvSpPr>
        <p:spPr>
          <a:xfrm>
            <a:off x="822960" y="3794760"/>
            <a:ext cx="9875520" cy="201168"/>
          </a:xfrm>
          <a:prstGeom prst="leftArrow">
            <a:avLst/>
          </a:prstGeom>
          <a:solidFill>
            <a:srgbClr val="BFD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114800"/>
            <a:ext cx="10607040" cy="1280160"/>
          </a:xfrm>
          <a:prstGeom prst="rect">
            <a:avLst/>
          </a:prstGeom>
          <a:noFill/>
        </p:spPr>
        <p:txBody>
          <a:bodyPr wrap="square" anchor="t" lIns="0" rIns="0" tIns="0" bIns="0">
            <a:spAutoFit/>
          </a:bodyPr>
          <a:lstStyle/>
          <a:p>
            <a:pPr algn="l">
              <a:lnSpc>
                <a:spcPct val="105000"/>
              </a:lnSpc>
              <a:spcBef>
                <a:spcPts val="0"/>
              </a:spcBef>
              <a:spcAft>
                <a:spcPts val="1000"/>
              </a:spcAft>
            </a:pPr>
            <a:r>
              <a:rPr sz="1400" b="1" i="0">
                <a:solidFill>
                  <a:srgbClr val="1F3A5F"/>
                </a:solidFill>
                <a:latin typeface="Calibri"/>
              </a:rPr>
              <a:t>The loop matters most: </a:t>
            </a:r>
            <a:r>
              <a:rPr sz="1400" b="0" i="0">
                <a:solidFill>
                  <a:srgbClr val="3C4654"/>
                </a:solidFill>
                <a:latin typeface="Calibri"/>
              </a:rPr>
              <a:t>real use produces feedback — wrong answers, new questions, cost data — which flows back to improve prompts, data, and tests.</a:t>
            </a:r>
          </a:p>
          <a:p>
            <a:pPr algn="l">
              <a:lnSpc>
                <a:spcPct val="105000"/>
              </a:lnSpc>
              <a:spcBef>
                <a:spcPts val="0"/>
              </a:spcBef>
              <a:spcAft>
                <a:spcPts val="1000"/>
              </a:spcAft>
            </a:pPr>
            <a:r>
              <a:rPr sz="1400" b="0" i="1">
                <a:solidFill>
                  <a:srgbClr val="3C4654"/>
                </a:solidFill>
                <a:latin typeface="Calibri"/>
              </a:rPr>
              <a:t>This is what turns a one-time build into an operation that keeps getting better.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PLAN</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Building the base framework on Azure — about one month</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11</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graphicFrame>
        <p:nvGraphicFramePr>
          <p:cNvPr id="8" name="Table 7"/>
          <p:cNvGraphicFramePr>
            <a:graphicFrameLocks noGrp="1"/>
          </p:cNvGraphicFramePr>
          <p:nvPr/>
        </p:nvGraphicFramePr>
        <p:xfrm>
          <a:off x="548640" y="1371600"/>
          <a:ext cx="11091672" cy="4480560"/>
        </p:xfrm>
        <a:graphic>
          <a:graphicData uri="http://schemas.openxmlformats.org/drawingml/2006/table">
            <a:tbl>
              <a:tblPr firstRow="1" bandRow="1">
                <a:tableStyleId>{5C22544A-7EE6-4342-B048-85BDC9FD1C3A}</a:tableStyleId>
              </a:tblPr>
              <a:tblGrid>
                <a:gridCol w="1097280"/>
                <a:gridCol w="2286000"/>
                <a:gridCol w="7708392"/>
              </a:tblGrid>
              <a:tr h="896112">
                <a:tc>
                  <a:txBody>
                    <a:bodyPr/>
                    <a:lstStyle/>
                    <a:p>
                      <a:r>
                        <a:rPr sz="1150" b="1">
                          <a:solidFill>
                            <a:srgbClr val="FFFFFF"/>
                          </a:solidFill>
                          <a:latin typeface="Calibri"/>
                        </a:rPr>
                        <a:t>Week</a:t>
                      </a:r>
                    </a:p>
                  </a:txBody>
                  <a:tcPr anchor="ctr" marL="91440" marT="18288" marB="18288">
                    <a:solidFill>
                      <a:srgbClr val="1F3A5F"/>
                    </a:solidFill>
                  </a:tcPr>
                </a:tc>
                <a:tc>
                  <a:txBody>
                    <a:bodyPr/>
                    <a:lstStyle/>
                    <a:p>
                      <a:r>
                        <a:rPr sz="1150" b="1">
                          <a:solidFill>
                            <a:srgbClr val="FFFFFF"/>
                          </a:solidFill>
                          <a:latin typeface="Calibri"/>
                        </a:rPr>
                        <a:t>Focus</a:t>
                      </a:r>
                    </a:p>
                  </a:txBody>
                  <a:tcPr anchor="ctr" marL="91440" marT="18288" marB="18288">
                    <a:solidFill>
                      <a:srgbClr val="1F3A5F"/>
                    </a:solidFill>
                  </a:tcPr>
                </a:tc>
                <a:tc>
                  <a:txBody>
                    <a:bodyPr/>
                    <a:lstStyle/>
                    <a:p>
                      <a:r>
                        <a:rPr sz="1150" b="1">
                          <a:solidFill>
                            <a:srgbClr val="FFFFFF"/>
                          </a:solidFill>
                          <a:latin typeface="Calibri"/>
                        </a:rPr>
                        <a:t>What we set up on Azure</a:t>
                      </a:r>
                    </a:p>
                  </a:txBody>
                  <a:tcPr anchor="ctr" marL="91440" marT="18288" marB="18288">
                    <a:solidFill>
                      <a:srgbClr val="1F3A5F"/>
                    </a:solidFill>
                  </a:tcPr>
                </a:tc>
              </a:tr>
              <a:tr h="896112">
                <a:tc>
                  <a:txBody>
                    <a:bodyPr/>
                    <a:lstStyle/>
                    <a:p>
                      <a:r>
                        <a:rPr sz="1200" b="1">
                          <a:solidFill>
                            <a:srgbClr val="1F3A5F"/>
                          </a:solidFill>
                          <a:latin typeface="Calibri"/>
                        </a:rPr>
                        <a:t>Week 1</a:t>
                      </a:r>
                    </a:p>
                  </a:txBody>
                  <a:tcPr anchor="ctr" marL="91440" marT="18288" marB="18288">
                    <a:solidFill>
                      <a:srgbClr val="FFFFFF"/>
                    </a:solidFill>
                  </a:tcPr>
                </a:tc>
                <a:tc>
                  <a:txBody>
                    <a:bodyPr/>
                    <a:lstStyle/>
                    <a:p>
                      <a:r>
                        <a:rPr sz="1200">
                          <a:solidFill>
                            <a:srgbClr val="3C4654"/>
                          </a:solidFill>
                          <a:latin typeface="Calibri"/>
                        </a:rPr>
                        <a:t>Set up &amp; secure</a:t>
                      </a:r>
                    </a:p>
                  </a:txBody>
                  <a:tcPr anchor="ctr" marL="91440" marT="18288" marB="18288">
                    <a:solidFill>
                      <a:srgbClr val="FFFFFF"/>
                    </a:solidFill>
                  </a:tcPr>
                </a:tc>
                <a:tc>
                  <a:txBody>
                    <a:bodyPr/>
                    <a:lstStyle/>
                    <a:p>
                      <a:r>
                        <a:rPr sz="1200">
                          <a:solidFill>
                            <a:srgbClr val="3C4654"/>
                          </a:solidFill>
                          <a:latin typeface="Calibri"/>
                        </a:rPr>
                        <a:t>Azure subscription &amp; resource groups, Entra ID access, Key Vault, private network, API Management gateway, Azure OpenAI, basic logging.</a:t>
                      </a:r>
                    </a:p>
                  </a:txBody>
                  <a:tcPr anchor="ctr" marL="91440" marT="18288" marB="18288">
                    <a:solidFill>
                      <a:srgbClr val="FFFFFF"/>
                    </a:solidFill>
                  </a:tcPr>
                </a:tc>
              </a:tr>
              <a:tr h="896112">
                <a:tc>
                  <a:txBody>
                    <a:bodyPr/>
                    <a:lstStyle/>
                    <a:p>
                      <a:r>
                        <a:rPr sz="1200" b="1">
                          <a:solidFill>
                            <a:srgbClr val="1F3A5F"/>
                          </a:solidFill>
                          <a:latin typeface="Calibri"/>
                        </a:rPr>
                        <a:t>Week 2</a:t>
                      </a:r>
                    </a:p>
                  </a:txBody>
                  <a:tcPr anchor="ctr" marL="91440" marT="18288" marB="18288">
                    <a:solidFill>
                      <a:srgbClr val="EEF1F5"/>
                    </a:solidFill>
                  </a:tcPr>
                </a:tc>
                <a:tc>
                  <a:txBody>
                    <a:bodyPr/>
                    <a:lstStyle/>
                    <a:p>
                      <a:r>
                        <a:rPr sz="1200">
                          <a:solidFill>
                            <a:srgbClr val="3C4654"/>
                          </a:solidFill>
                          <a:latin typeface="Calibri"/>
                        </a:rPr>
                        <a:t>Core services</a:t>
                      </a:r>
                    </a:p>
                  </a:txBody>
                  <a:tcPr anchor="ctr" marL="91440" marT="18288" marB="18288">
                    <a:solidFill>
                      <a:srgbClr val="EEF1F5"/>
                    </a:solidFill>
                  </a:tcPr>
                </a:tc>
                <a:tc>
                  <a:txBody>
                    <a:bodyPr/>
                    <a:lstStyle/>
                    <a:p>
                      <a:r>
                        <a:rPr sz="1200">
                          <a:solidFill>
                            <a:srgbClr val="3C4654"/>
                          </a:solidFill>
                          <a:latin typeface="Calibri"/>
                        </a:rPr>
                        <a:t>Azure AI Search (RAG), Foundry Agent Service orchestration, Content Safety guardrails.</a:t>
                      </a:r>
                    </a:p>
                  </a:txBody>
                  <a:tcPr anchor="ctr" marL="91440" marT="18288" marB="18288">
                    <a:solidFill>
                      <a:srgbClr val="EEF1F5"/>
                    </a:solidFill>
                  </a:tcPr>
                </a:tc>
              </a:tr>
              <a:tr h="896112">
                <a:tc>
                  <a:txBody>
                    <a:bodyPr/>
                    <a:lstStyle/>
                    <a:p>
                      <a:r>
                        <a:rPr sz="1200" b="1">
                          <a:solidFill>
                            <a:srgbClr val="1F3A5F"/>
                          </a:solidFill>
                          <a:latin typeface="Calibri"/>
                        </a:rPr>
                        <a:t>Week 3</a:t>
                      </a:r>
                    </a:p>
                  </a:txBody>
                  <a:tcPr anchor="ctr" marL="91440" marT="18288" marB="18288">
                    <a:solidFill>
                      <a:srgbClr val="FFFFFF"/>
                    </a:solidFill>
                  </a:tcPr>
                </a:tc>
                <a:tc>
                  <a:txBody>
                    <a:bodyPr/>
                    <a:lstStyle/>
                    <a:p>
                      <a:r>
                        <a:rPr sz="1200">
                          <a:solidFill>
                            <a:srgbClr val="3C4654"/>
                          </a:solidFill>
                          <a:latin typeface="Calibri"/>
                        </a:rPr>
                        <a:t>Quality &amp; pipeline</a:t>
                      </a:r>
                    </a:p>
                  </a:txBody>
                  <a:tcPr anchor="ctr" marL="91440" marT="18288" marB="18288">
                    <a:solidFill>
                      <a:srgbClr val="FFFFFF"/>
                    </a:solidFill>
                  </a:tcPr>
                </a:tc>
                <a:tc>
                  <a:txBody>
                    <a:bodyPr/>
                    <a:lstStyle/>
                    <a:p>
                      <a:r>
                        <a:rPr sz="1200">
                          <a:solidFill>
                            <a:srgbClr val="3C4654"/>
                          </a:solidFill>
                          <a:latin typeface="Calibri"/>
                        </a:rPr>
                        <a:t>Azure AI Foundry evaluations, Azure DevOps/GitHub CI/CD pipeline, separate dev / test / production.</a:t>
                      </a:r>
                    </a:p>
                  </a:txBody>
                  <a:tcPr anchor="ctr" marL="91440" marT="18288" marB="18288">
                    <a:solidFill>
                      <a:srgbClr val="FFFFFF"/>
                    </a:solidFill>
                  </a:tcPr>
                </a:tc>
              </a:tr>
              <a:tr h="896112">
                <a:tc>
                  <a:txBody>
                    <a:bodyPr/>
                    <a:lstStyle/>
                    <a:p>
                      <a:r>
                        <a:rPr sz="1200" b="1">
                          <a:solidFill>
                            <a:srgbClr val="1F3A5F"/>
                          </a:solidFill>
                          <a:latin typeface="Calibri"/>
                        </a:rPr>
                        <a:t>Week 4</a:t>
                      </a:r>
                    </a:p>
                  </a:txBody>
                  <a:tcPr anchor="ctr" marL="91440" marT="18288" marB="18288">
                    <a:solidFill>
                      <a:srgbClr val="EEF1F5"/>
                    </a:solidFill>
                  </a:tcPr>
                </a:tc>
                <a:tc>
                  <a:txBody>
                    <a:bodyPr/>
                    <a:lstStyle/>
                    <a:p>
                      <a:r>
                        <a:rPr sz="1200">
                          <a:solidFill>
                            <a:srgbClr val="3C4654"/>
                          </a:solidFill>
                          <a:latin typeface="Calibri"/>
                        </a:rPr>
                        <a:t>Monitor &amp; harden</a:t>
                      </a:r>
                    </a:p>
                  </a:txBody>
                  <a:tcPr anchor="ctr" marL="91440" marT="18288" marB="18288">
                    <a:solidFill>
                      <a:srgbClr val="EEF1F5"/>
                    </a:solidFill>
                  </a:tcPr>
                </a:tc>
                <a:tc>
                  <a:txBody>
                    <a:bodyPr/>
                    <a:lstStyle/>
                    <a:p>
                      <a:r>
                        <a:rPr sz="1200">
                          <a:solidFill>
                            <a:srgbClr val="3C4654"/>
                          </a:solidFill>
                          <a:latin typeface="Calibri"/>
                        </a:rPr>
                        <a:t>Azure Monitor + App Insights dashboards, cost tracking, security review, docs, and a small sample app to prove it works.</a:t>
                      </a:r>
                    </a:p>
                  </a:txBody>
                  <a:tcPr anchor="ctr" marL="91440" marT="18288" marB="18288">
                    <a:solidFill>
                      <a:srgbClr val="EEF1F5"/>
                    </a:solidFill>
                  </a:tcPr>
                </a:tc>
              </a:tr>
            </a:tbl>
          </a:graphicData>
        </a:graphic>
      </p:graphicFrame>
      <p:sp>
        <p:nvSpPr>
          <p:cNvPr id="9" name="TextBox 8"/>
          <p:cNvSpPr txBox="1"/>
          <p:nvPr/>
        </p:nvSpPr>
        <p:spPr>
          <a:xfrm>
            <a:off x="548640" y="5440680"/>
            <a:ext cx="11091672" cy="822960"/>
          </a:xfrm>
          <a:prstGeom prst="rect">
            <a:avLst/>
          </a:prstGeom>
          <a:noFill/>
        </p:spPr>
        <p:txBody>
          <a:bodyPr wrap="square" anchor="t" lIns="0" rIns="0" tIns="0" bIns="0">
            <a:spAutoFit/>
          </a:bodyPr>
          <a:lstStyle/>
          <a:p>
            <a:pPr algn="l">
              <a:lnSpc>
                <a:spcPct val="105000"/>
              </a:lnSpc>
              <a:spcBef>
                <a:spcPts val="0"/>
              </a:spcBef>
              <a:spcAft>
                <a:spcPts val="600"/>
              </a:spcAft>
            </a:pPr>
            <a:r>
              <a:rPr sz="1300" b="1" i="0">
                <a:solidFill>
                  <a:srgbClr val="1F3A5F"/>
                </a:solidFill>
                <a:latin typeface="Calibri"/>
              </a:rPr>
              <a:t>Honest scope: </a:t>
            </a:r>
            <a:r>
              <a:rPr sz="1300" b="0" i="0">
                <a:solidFill>
                  <a:srgbClr val="3C4654"/>
                </a:solidFill>
                <a:latin typeface="Calibri"/>
              </a:rPr>
              <a:t>one month gives a working, reusable base on Azure — not a finished product. It is enough to onboard the first real project safely, and we harden it further over time.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ONBOARDING</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Using the framework for a new project</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12</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640080"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Define need</a:t>
            </a:r>
          </a:p>
          <a:p>
            <a:pPr algn="ctr">
              <a:lnSpc>
                <a:spcPct val="100000"/>
              </a:lnSpc>
              <a:spcAft>
                <a:spcPts val="100"/>
              </a:spcAft>
            </a:pPr>
            <a:r>
              <a:rPr sz="1000" b="0">
                <a:solidFill>
                  <a:srgbClr val="3C4654"/>
                </a:solidFill>
                <a:latin typeface="Calibri"/>
              </a:rPr>
              <a:t>and success measures</a:t>
            </a:r>
          </a:p>
        </p:txBody>
      </p:sp>
      <p:sp>
        <p:nvSpPr>
          <p:cNvPr id="9" name="Right Arrow 8"/>
          <p:cNvSpPr/>
          <p:nvPr/>
        </p:nvSpPr>
        <p:spPr>
          <a:xfrm>
            <a:off x="2313432"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459736"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Pick pattern</a:t>
            </a:r>
          </a:p>
          <a:p>
            <a:pPr algn="ctr">
              <a:lnSpc>
                <a:spcPct val="100000"/>
              </a:lnSpc>
              <a:spcAft>
                <a:spcPts val="100"/>
              </a:spcAft>
            </a:pPr>
            <a:r>
              <a:rPr sz="1000" b="0">
                <a:solidFill>
                  <a:srgbClr val="3C4654"/>
                </a:solidFill>
                <a:latin typeface="Calibri"/>
              </a:rPr>
              <a:t>reuse building blocks</a:t>
            </a:r>
          </a:p>
        </p:txBody>
      </p:sp>
      <p:sp>
        <p:nvSpPr>
          <p:cNvPr id="11" name="Right Arrow 10"/>
          <p:cNvSpPr/>
          <p:nvPr/>
        </p:nvSpPr>
        <p:spPr>
          <a:xfrm>
            <a:off x="4133088"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79392"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Connect data</a:t>
            </a:r>
          </a:p>
          <a:p>
            <a:pPr algn="ctr">
              <a:lnSpc>
                <a:spcPct val="100000"/>
              </a:lnSpc>
              <a:spcAft>
                <a:spcPts val="100"/>
              </a:spcAft>
            </a:pPr>
            <a:r>
              <a:rPr sz="1000" b="0">
                <a:solidFill>
                  <a:srgbClr val="3C4654"/>
                </a:solidFill>
                <a:latin typeface="Calibri"/>
              </a:rPr>
              <a:t>specific to the project</a:t>
            </a:r>
          </a:p>
        </p:txBody>
      </p:sp>
      <p:sp>
        <p:nvSpPr>
          <p:cNvPr id="13" name="Right Arrow 12"/>
          <p:cNvSpPr/>
          <p:nvPr/>
        </p:nvSpPr>
        <p:spPr>
          <a:xfrm>
            <a:off x="5952744"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099048"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Test quality</a:t>
            </a:r>
          </a:p>
          <a:p>
            <a:pPr algn="ctr">
              <a:lnSpc>
                <a:spcPct val="100000"/>
              </a:lnSpc>
              <a:spcAft>
                <a:spcPts val="100"/>
              </a:spcAft>
            </a:pPr>
            <a:r>
              <a:rPr sz="1000" b="0">
                <a:solidFill>
                  <a:srgbClr val="3C4654"/>
                </a:solidFill>
                <a:latin typeface="Calibri"/>
              </a:rPr>
              <a:t>fix prompts until it passes</a:t>
            </a:r>
          </a:p>
        </p:txBody>
      </p:sp>
      <p:sp>
        <p:nvSpPr>
          <p:cNvPr id="15" name="Right Arrow 14"/>
          <p:cNvSpPr/>
          <p:nvPr/>
        </p:nvSpPr>
        <p:spPr>
          <a:xfrm>
            <a:off x="7772400"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918704"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Release small</a:t>
            </a:r>
          </a:p>
          <a:p>
            <a:pPr algn="ctr">
              <a:lnSpc>
                <a:spcPct val="100000"/>
              </a:lnSpc>
              <a:spcAft>
                <a:spcPts val="100"/>
              </a:spcAft>
            </a:pPr>
            <a:r>
              <a:rPr sz="1000" b="0">
                <a:solidFill>
                  <a:srgbClr val="3C4654"/>
                </a:solidFill>
                <a:latin typeface="Calibri"/>
              </a:rPr>
              <a:t>watch closely</a:t>
            </a:r>
          </a:p>
        </p:txBody>
      </p:sp>
      <p:sp>
        <p:nvSpPr>
          <p:cNvPr id="17" name="Right Arrow 16"/>
          <p:cNvSpPr/>
          <p:nvPr/>
        </p:nvSpPr>
        <p:spPr>
          <a:xfrm>
            <a:off x="9592056" y="2583180"/>
            <a:ext cx="219456" cy="274320"/>
          </a:xfrm>
          <a:prstGeom prst="rightArrow">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738360" y="2103120"/>
            <a:ext cx="1691640" cy="12344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Improve</a:t>
            </a:r>
          </a:p>
          <a:p>
            <a:pPr algn="ctr">
              <a:lnSpc>
                <a:spcPct val="100000"/>
              </a:lnSpc>
              <a:spcAft>
                <a:spcPts val="100"/>
              </a:spcAft>
            </a:pPr>
            <a:r>
              <a:rPr sz="1000" b="0">
                <a:solidFill>
                  <a:srgbClr val="3C4654"/>
                </a:solidFill>
                <a:latin typeface="Calibri"/>
              </a:rPr>
              <a:t>from real feedback</a:t>
            </a:r>
          </a:p>
        </p:txBody>
      </p:sp>
      <p:sp>
        <p:nvSpPr>
          <p:cNvPr id="19" name="TextBox 18"/>
          <p:cNvSpPr txBox="1"/>
          <p:nvPr/>
        </p:nvSpPr>
        <p:spPr>
          <a:xfrm>
            <a:off x="640080" y="3977639"/>
            <a:ext cx="10881360" cy="1371600"/>
          </a:xfrm>
          <a:prstGeom prst="rect">
            <a:avLst/>
          </a:prstGeom>
          <a:noFill/>
        </p:spPr>
        <p:txBody>
          <a:bodyPr wrap="square" anchor="t" lIns="0" rIns="0" tIns="0" bIns="0">
            <a:spAutoFit/>
          </a:bodyPr>
          <a:lstStyle/>
          <a:p>
            <a:pPr algn="l">
              <a:lnSpc>
                <a:spcPct val="105000"/>
              </a:lnSpc>
              <a:spcBef>
                <a:spcPts val="0"/>
              </a:spcBef>
              <a:spcAft>
                <a:spcPts val="1000"/>
              </a:spcAft>
            </a:pPr>
            <a:r>
              <a:rPr sz="1500" b="1" i="0">
                <a:solidFill>
                  <a:srgbClr val="1F3A5F"/>
                </a:solidFill>
                <a:latin typeface="Calibri"/>
              </a:rPr>
              <a:t>Because the base already exists, most of this is configuration and testing — not new engineering.</a:t>
            </a:r>
          </a:p>
          <a:p>
            <a:pPr algn="l">
              <a:lnSpc>
                <a:spcPct val="105000"/>
              </a:lnSpc>
              <a:spcBef>
                <a:spcPts val="0"/>
              </a:spcBef>
              <a:spcAft>
                <a:spcPts val="1000"/>
              </a:spcAft>
            </a:pPr>
            <a:r>
              <a:rPr sz="1400" b="0" i="1">
                <a:solidFill>
                  <a:srgbClr val="3C4654"/>
                </a:solidFill>
                <a:latin typeface="Calibri"/>
              </a:rPr>
              <a:t>That is why the first project takes the longest, and every one after it is faster and cheaper.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RUNNING COST</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What it costs to keep running on Azure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13</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548640" y="1298448"/>
            <a:ext cx="11091672" cy="365760"/>
          </a:xfrm>
          <a:prstGeom prst="rect">
            <a:avLst/>
          </a:prstGeom>
          <a:noFill/>
        </p:spPr>
        <p:txBody>
          <a:bodyPr wrap="square" anchor="t" lIns="0" rIns="0" tIns="0" bIns="0">
            <a:spAutoFit/>
          </a:bodyPr>
          <a:lstStyle/>
          <a:p>
            <a:pPr algn="l">
              <a:lnSpc>
                <a:spcPct val="105000"/>
              </a:lnSpc>
              <a:spcBef>
                <a:spcPts val="0"/>
              </a:spcBef>
              <a:spcAft>
                <a:spcPts val="600"/>
              </a:spcAft>
            </a:pPr>
            <a:r>
              <a:rPr sz="1250" b="0" i="1">
                <a:solidFill>
                  <a:srgbClr val="3C4654"/>
                </a:solidFill>
                <a:latin typeface="Calibri"/>
              </a:rPr>
              <a:t>These are ongoing costs, not a one-time build. Most go up as the system is used more.</a:t>
            </a:r>
          </a:p>
        </p:txBody>
      </p:sp>
      <p:graphicFrame>
        <p:nvGraphicFramePr>
          <p:cNvPr id="9" name="Table 8"/>
          <p:cNvGraphicFramePr>
            <a:graphicFrameLocks noGrp="1"/>
          </p:cNvGraphicFramePr>
          <p:nvPr/>
        </p:nvGraphicFramePr>
        <p:xfrm>
          <a:off x="548640" y="1737360"/>
          <a:ext cx="11091672" cy="3584448"/>
        </p:xfrm>
        <a:graphic>
          <a:graphicData uri="http://schemas.openxmlformats.org/drawingml/2006/table">
            <a:tbl>
              <a:tblPr firstRow="1" bandRow="1">
                <a:tableStyleId>{5C22544A-7EE6-4342-B048-85BDC9FD1C3A}</a:tableStyleId>
              </a:tblPr>
              <a:tblGrid>
                <a:gridCol w="2194560"/>
                <a:gridCol w="2743200"/>
                <a:gridCol w="4325112"/>
                <a:gridCol w="1828800"/>
              </a:tblGrid>
              <a:tr h="512064">
                <a:tc>
                  <a:txBody>
                    <a:bodyPr/>
                    <a:lstStyle/>
                    <a:p>
                      <a:r>
                        <a:rPr sz="1150" b="1">
                          <a:solidFill>
                            <a:srgbClr val="FFFFFF"/>
                          </a:solidFill>
                          <a:latin typeface="Calibri"/>
                        </a:rPr>
                        <a:t>Cost area</a:t>
                      </a:r>
                    </a:p>
                  </a:txBody>
                  <a:tcPr anchor="ctr" marL="91440" marT="18288" marB="18288">
                    <a:solidFill>
                      <a:srgbClr val="1F3A5F"/>
                    </a:solidFill>
                  </a:tcPr>
                </a:tc>
                <a:tc>
                  <a:txBody>
                    <a:bodyPr/>
                    <a:lstStyle/>
                    <a:p>
                      <a:r>
                        <a:rPr sz="1150" b="1">
                          <a:solidFill>
                            <a:srgbClr val="FFFFFF"/>
                          </a:solidFill>
                          <a:latin typeface="Calibri"/>
                        </a:rPr>
                        <a:t>Azure service</a:t>
                      </a:r>
                    </a:p>
                  </a:txBody>
                  <a:tcPr anchor="ctr" marL="91440" marT="18288" marB="18288">
                    <a:solidFill>
                      <a:srgbClr val="1F3A5F"/>
                    </a:solidFill>
                  </a:tcPr>
                </a:tc>
                <a:tc>
                  <a:txBody>
                    <a:bodyPr/>
                    <a:lstStyle/>
                    <a:p>
                      <a:r>
                        <a:rPr sz="1150" b="1">
                          <a:solidFill>
                            <a:srgbClr val="FFFFFF"/>
                          </a:solidFill>
                          <a:latin typeface="Calibri"/>
                        </a:rPr>
                        <a:t>What drives it</a:t>
                      </a:r>
                    </a:p>
                  </a:txBody>
                  <a:tcPr anchor="ctr" marL="91440" marT="18288" marB="18288">
                    <a:solidFill>
                      <a:srgbClr val="1F3A5F"/>
                    </a:solidFill>
                  </a:tcPr>
                </a:tc>
                <a:tc>
                  <a:txBody>
                    <a:bodyPr/>
                    <a:lstStyle/>
                    <a:p>
                      <a:r>
                        <a:rPr sz="1150" b="1">
                          <a:solidFill>
                            <a:srgbClr val="FFFFFF"/>
                          </a:solidFill>
                          <a:latin typeface="Calibri"/>
                        </a:rPr>
                        <a:t>Size</a:t>
                      </a:r>
                    </a:p>
                  </a:txBody>
                  <a:tcPr anchor="ctr" marL="91440" marT="18288" marB="18288">
                    <a:solidFill>
                      <a:srgbClr val="1F3A5F"/>
                    </a:solidFill>
                  </a:tcPr>
                </a:tc>
              </a:tr>
              <a:tr h="512064">
                <a:tc>
                  <a:txBody>
                    <a:bodyPr/>
                    <a:lstStyle/>
                    <a:p>
                      <a:r>
                        <a:rPr sz="1050" b="1">
                          <a:solidFill>
                            <a:srgbClr val="1F3A5F"/>
                          </a:solidFill>
                          <a:latin typeface="Calibri"/>
                        </a:rPr>
                        <a:t>Model usage</a:t>
                      </a:r>
                    </a:p>
                  </a:txBody>
                  <a:tcPr anchor="ctr" marL="91440" marT="18288" marB="18288">
                    <a:solidFill>
                      <a:srgbClr val="FFFFFF"/>
                    </a:solidFill>
                  </a:tcPr>
                </a:tc>
                <a:tc>
                  <a:txBody>
                    <a:bodyPr/>
                    <a:lstStyle/>
                    <a:p>
                      <a:r>
                        <a:rPr sz="1050">
                          <a:solidFill>
                            <a:srgbClr val="3C4654"/>
                          </a:solidFill>
                          <a:latin typeface="Calibri"/>
                        </a:rPr>
                        <a:t>Azure OpenAI</a:t>
                      </a:r>
                    </a:p>
                  </a:txBody>
                  <a:tcPr anchor="ctr" marL="91440" marT="18288" marB="18288">
                    <a:solidFill>
                      <a:srgbClr val="FFFFFF"/>
                    </a:solidFill>
                  </a:tcPr>
                </a:tc>
                <a:tc>
                  <a:txBody>
                    <a:bodyPr/>
                    <a:lstStyle/>
                    <a:p>
                      <a:r>
                        <a:rPr sz="1050">
                          <a:solidFill>
                            <a:srgbClr val="3C4654"/>
                          </a:solidFill>
                          <a:latin typeface="Calibri"/>
                        </a:rPr>
                        <a:t>Paid per token (a few characters); more traffic = more cost</a:t>
                      </a:r>
                    </a:p>
                  </a:txBody>
                  <a:tcPr anchor="ctr" marL="91440" marT="18288" marB="18288">
                    <a:solidFill>
                      <a:srgbClr val="FFFFFF"/>
                    </a:solidFill>
                  </a:tcPr>
                </a:tc>
                <a:tc>
                  <a:txBody>
                    <a:bodyPr/>
                    <a:lstStyle/>
                    <a:p>
                      <a:r>
                        <a:rPr sz="1050">
                          <a:solidFill>
                            <a:srgbClr val="3C4654"/>
                          </a:solidFill>
                          <a:latin typeface="Calibri"/>
                        </a:rPr>
                        <a:t>Largest, variable</a:t>
                      </a:r>
                    </a:p>
                  </a:txBody>
                  <a:tcPr anchor="ctr" marL="91440" marT="18288" marB="18288">
                    <a:solidFill>
                      <a:srgbClr val="FFFFFF"/>
                    </a:solidFill>
                  </a:tcPr>
                </a:tc>
              </a:tr>
              <a:tr h="512064">
                <a:tc>
                  <a:txBody>
                    <a:bodyPr/>
                    <a:lstStyle/>
                    <a:p>
                      <a:r>
                        <a:rPr sz="1050" b="1">
                          <a:solidFill>
                            <a:srgbClr val="1F3A5F"/>
                          </a:solidFill>
                          <a:latin typeface="Calibri"/>
                        </a:rPr>
                        <a:t>Compute / hosting</a:t>
                      </a:r>
                    </a:p>
                  </a:txBody>
                  <a:tcPr anchor="ctr" marL="91440" marT="18288" marB="18288">
                    <a:solidFill>
                      <a:srgbClr val="EEF1F5"/>
                    </a:solidFill>
                  </a:tcPr>
                </a:tc>
                <a:tc>
                  <a:txBody>
                    <a:bodyPr/>
                    <a:lstStyle/>
                    <a:p>
                      <a:r>
                        <a:rPr sz="1050">
                          <a:solidFill>
                            <a:srgbClr val="3C4654"/>
                          </a:solidFill>
                          <a:latin typeface="Calibri"/>
                        </a:rPr>
                        <a:t>Container Apps / App Service</a:t>
                      </a:r>
                    </a:p>
                  </a:txBody>
                  <a:tcPr anchor="ctr" marL="91440" marT="18288" marB="18288">
                    <a:solidFill>
                      <a:srgbClr val="EEF1F5"/>
                    </a:solidFill>
                  </a:tcPr>
                </a:tc>
                <a:tc>
                  <a:txBody>
                    <a:bodyPr/>
                    <a:lstStyle/>
                    <a:p>
                      <a:r>
                        <a:rPr sz="1050">
                          <a:solidFill>
                            <a:srgbClr val="3C4654"/>
                          </a:solidFill>
                          <a:latin typeface="Calibri"/>
                        </a:rPr>
                        <a:t>Always-on services</a:t>
                      </a:r>
                    </a:p>
                  </a:txBody>
                  <a:tcPr anchor="ctr" marL="91440" marT="18288" marB="18288">
                    <a:solidFill>
                      <a:srgbClr val="EEF1F5"/>
                    </a:solidFill>
                  </a:tcPr>
                </a:tc>
                <a:tc>
                  <a:txBody>
                    <a:bodyPr/>
                    <a:lstStyle/>
                    <a:p>
                      <a:r>
                        <a:rPr sz="1050">
                          <a:solidFill>
                            <a:srgbClr val="3C4654"/>
                          </a:solidFill>
                          <a:latin typeface="Calibri"/>
                        </a:rPr>
                        <a:t>Medium, steady</a:t>
                      </a:r>
                    </a:p>
                  </a:txBody>
                  <a:tcPr anchor="ctr" marL="91440" marT="18288" marB="18288">
                    <a:solidFill>
                      <a:srgbClr val="EEF1F5"/>
                    </a:solidFill>
                  </a:tcPr>
                </a:tc>
              </a:tr>
              <a:tr h="512064">
                <a:tc>
                  <a:txBody>
                    <a:bodyPr/>
                    <a:lstStyle/>
                    <a:p>
                      <a:r>
                        <a:rPr sz="1050" b="1">
                          <a:solidFill>
                            <a:srgbClr val="1F3A5F"/>
                          </a:solidFill>
                          <a:latin typeface="Calibri"/>
                        </a:rPr>
                        <a:t>Search index</a:t>
                      </a:r>
                    </a:p>
                  </a:txBody>
                  <a:tcPr anchor="ctr" marL="91440" marT="18288" marB="18288">
                    <a:solidFill>
                      <a:srgbClr val="FFFFFF"/>
                    </a:solidFill>
                  </a:tcPr>
                </a:tc>
                <a:tc>
                  <a:txBody>
                    <a:bodyPr/>
                    <a:lstStyle/>
                    <a:p>
                      <a:r>
                        <a:rPr sz="1050">
                          <a:solidFill>
                            <a:srgbClr val="3C4654"/>
                          </a:solidFill>
                          <a:latin typeface="Calibri"/>
                        </a:rPr>
                        <a:t>Azure AI Search</a:t>
                      </a:r>
                    </a:p>
                  </a:txBody>
                  <a:tcPr anchor="ctr" marL="91440" marT="18288" marB="18288">
                    <a:solidFill>
                      <a:srgbClr val="FFFFFF"/>
                    </a:solidFill>
                  </a:tcPr>
                </a:tc>
                <a:tc>
                  <a:txBody>
                    <a:bodyPr/>
                    <a:lstStyle/>
                    <a:p>
                      <a:r>
                        <a:rPr sz="1050">
                          <a:solidFill>
                            <a:srgbClr val="3C4654"/>
                          </a:solidFill>
                          <a:latin typeface="Calibri"/>
                        </a:rPr>
                        <a:t>Storage + number of lookups</a:t>
                      </a:r>
                    </a:p>
                  </a:txBody>
                  <a:tcPr anchor="ctr" marL="91440" marT="18288" marB="18288">
                    <a:solidFill>
                      <a:srgbClr val="FFFFFF"/>
                    </a:solidFill>
                  </a:tcPr>
                </a:tc>
                <a:tc>
                  <a:txBody>
                    <a:bodyPr/>
                    <a:lstStyle/>
                    <a:p>
                      <a:r>
                        <a:rPr sz="1050">
                          <a:solidFill>
                            <a:srgbClr val="3C4654"/>
                          </a:solidFill>
                          <a:latin typeface="Calibri"/>
                        </a:rPr>
                        <a:t>Medium</a:t>
                      </a:r>
                    </a:p>
                  </a:txBody>
                  <a:tcPr anchor="ctr" marL="91440" marT="18288" marB="18288">
                    <a:solidFill>
                      <a:srgbClr val="FFFFFF"/>
                    </a:solidFill>
                  </a:tcPr>
                </a:tc>
              </a:tr>
              <a:tr h="512064">
                <a:tc>
                  <a:txBody>
                    <a:bodyPr/>
                    <a:lstStyle/>
                    <a:p>
                      <a:r>
                        <a:rPr sz="1050" b="1">
                          <a:solidFill>
                            <a:srgbClr val="1F3A5F"/>
                          </a:solidFill>
                          <a:latin typeface="Calibri"/>
                        </a:rPr>
                        <a:t>Data storage</a:t>
                      </a:r>
                    </a:p>
                  </a:txBody>
                  <a:tcPr anchor="ctr" marL="91440" marT="18288" marB="18288">
                    <a:solidFill>
                      <a:srgbClr val="EEF1F5"/>
                    </a:solidFill>
                  </a:tcPr>
                </a:tc>
                <a:tc>
                  <a:txBody>
                    <a:bodyPr/>
                    <a:lstStyle/>
                    <a:p>
                      <a:r>
                        <a:rPr sz="1050">
                          <a:solidFill>
                            <a:srgbClr val="3C4654"/>
                          </a:solidFill>
                          <a:latin typeface="Calibri"/>
                        </a:rPr>
                        <a:t>Blob / Fabric / Cosmos DB</a:t>
                      </a:r>
                    </a:p>
                  </a:txBody>
                  <a:tcPr anchor="ctr" marL="91440" marT="18288" marB="18288">
                    <a:solidFill>
                      <a:srgbClr val="EEF1F5"/>
                    </a:solidFill>
                  </a:tcPr>
                </a:tc>
                <a:tc>
                  <a:txBody>
                    <a:bodyPr/>
                    <a:lstStyle/>
                    <a:p>
                      <a:r>
                        <a:rPr sz="1050">
                          <a:solidFill>
                            <a:srgbClr val="3C4654"/>
                          </a:solidFill>
                          <a:latin typeface="Calibri"/>
                        </a:rPr>
                        <a:t>Volume of data kept</a:t>
                      </a:r>
                    </a:p>
                  </a:txBody>
                  <a:tcPr anchor="ctr" marL="91440" marT="18288" marB="18288">
                    <a:solidFill>
                      <a:srgbClr val="EEF1F5"/>
                    </a:solidFill>
                  </a:tcPr>
                </a:tc>
                <a:tc>
                  <a:txBody>
                    <a:bodyPr/>
                    <a:lstStyle/>
                    <a:p>
                      <a:r>
                        <a:rPr sz="1050">
                          <a:solidFill>
                            <a:srgbClr val="3C4654"/>
                          </a:solidFill>
                          <a:latin typeface="Calibri"/>
                        </a:rPr>
                        <a:t>Low–Medium</a:t>
                      </a:r>
                    </a:p>
                  </a:txBody>
                  <a:tcPr anchor="ctr" marL="91440" marT="18288" marB="18288">
                    <a:solidFill>
                      <a:srgbClr val="EEF1F5"/>
                    </a:solidFill>
                  </a:tcPr>
                </a:tc>
              </a:tr>
              <a:tr h="512064">
                <a:tc>
                  <a:txBody>
                    <a:bodyPr/>
                    <a:lstStyle/>
                    <a:p>
                      <a:r>
                        <a:rPr sz="1050" b="1">
                          <a:solidFill>
                            <a:srgbClr val="1F3A5F"/>
                          </a:solidFill>
                          <a:latin typeface="Calibri"/>
                        </a:rPr>
                        <a:t>Monitoring</a:t>
                      </a:r>
                    </a:p>
                  </a:txBody>
                  <a:tcPr anchor="ctr" marL="91440" marT="18288" marB="18288">
                    <a:solidFill>
                      <a:srgbClr val="FFFFFF"/>
                    </a:solidFill>
                  </a:tcPr>
                </a:tc>
                <a:tc>
                  <a:txBody>
                    <a:bodyPr/>
                    <a:lstStyle/>
                    <a:p>
                      <a:r>
                        <a:rPr sz="1050">
                          <a:solidFill>
                            <a:srgbClr val="3C4654"/>
                          </a:solidFill>
                          <a:latin typeface="Calibri"/>
                        </a:rPr>
                        <a:t>Azure Monitor / App Insights</a:t>
                      </a:r>
                    </a:p>
                  </a:txBody>
                  <a:tcPr anchor="ctr" marL="91440" marT="18288" marB="18288">
                    <a:solidFill>
                      <a:srgbClr val="FFFFFF"/>
                    </a:solidFill>
                  </a:tcPr>
                </a:tc>
                <a:tc>
                  <a:txBody>
                    <a:bodyPr/>
                    <a:lstStyle/>
                    <a:p>
                      <a:r>
                        <a:rPr sz="1050">
                          <a:solidFill>
                            <a:srgbClr val="3C4654"/>
                          </a:solidFill>
                          <a:latin typeface="Calibri"/>
                        </a:rPr>
                        <a:t>Volume of logs and traces</a:t>
                      </a:r>
                    </a:p>
                  </a:txBody>
                  <a:tcPr anchor="ctr" marL="91440" marT="18288" marB="18288">
                    <a:solidFill>
                      <a:srgbClr val="FFFFFF"/>
                    </a:solidFill>
                  </a:tcPr>
                </a:tc>
                <a:tc>
                  <a:txBody>
                    <a:bodyPr/>
                    <a:lstStyle/>
                    <a:p>
                      <a:r>
                        <a:rPr sz="1050">
                          <a:solidFill>
                            <a:srgbClr val="3C4654"/>
                          </a:solidFill>
                          <a:latin typeface="Calibri"/>
                        </a:rPr>
                        <a:t>Low–Medium</a:t>
                      </a:r>
                    </a:p>
                  </a:txBody>
                  <a:tcPr anchor="ctr" marL="91440" marT="18288" marB="18288">
                    <a:solidFill>
                      <a:srgbClr val="FFFFFF"/>
                    </a:solidFill>
                  </a:tcPr>
                </a:tc>
              </a:tr>
              <a:tr h="512064">
                <a:tc>
                  <a:txBody>
                    <a:bodyPr/>
                    <a:lstStyle/>
                    <a:p>
                      <a:r>
                        <a:rPr sz="1050" b="1">
                          <a:solidFill>
                            <a:srgbClr val="1F3A5F"/>
                          </a:solidFill>
                          <a:latin typeface="Calibri"/>
                        </a:rPr>
                        <a:t>People</a:t>
                      </a:r>
                    </a:p>
                  </a:txBody>
                  <a:tcPr anchor="ctr" marL="91440" marT="18288" marB="18288">
                    <a:solidFill>
                      <a:srgbClr val="EEF1F5"/>
                    </a:solidFill>
                  </a:tcPr>
                </a:tc>
                <a:tc>
                  <a:txBody>
                    <a:bodyPr/>
                    <a:lstStyle/>
                    <a:p>
                      <a:r>
                        <a:rPr sz="1050">
                          <a:solidFill>
                            <a:srgbClr val="3C4654"/>
                          </a:solidFill>
                          <a:latin typeface="Calibri"/>
                        </a:rPr>
                        <a:t>—</a:t>
                      </a:r>
                    </a:p>
                  </a:txBody>
                  <a:tcPr anchor="ctr" marL="91440" marT="18288" marB="18288">
                    <a:solidFill>
                      <a:srgbClr val="EEF1F5"/>
                    </a:solidFill>
                  </a:tcPr>
                </a:tc>
                <a:tc>
                  <a:txBody>
                    <a:bodyPr/>
                    <a:lstStyle/>
                    <a:p>
                      <a:r>
                        <a:rPr sz="1050">
                          <a:solidFill>
                            <a:srgbClr val="3C4654"/>
                          </a:solidFill>
                          <a:latin typeface="Calibri"/>
                        </a:rPr>
                        <a:t>Small team to maintain &amp; support</a:t>
                      </a:r>
                    </a:p>
                  </a:txBody>
                  <a:tcPr anchor="ctr" marL="91440" marT="18288" marB="18288">
                    <a:solidFill>
                      <a:srgbClr val="EEF1F5"/>
                    </a:solidFill>
                  </a:tcPr>
                </a:tc>
                <a:tc>
                  <a:txBody>
                    <a:bodyPr/>
                    <a:lstStyle/>
                    <a:p>
                      <a:r>
                        <a:rPr sz="1050">
                          <a:solidFill>
                            <a:srgbClr val="3C4654"/>
                          </a:solidFill>
                          <a:latin typeface="Calibri"/>
                        </a:rPr>
                        <a:t>Biggest overall</a:t>
                      </a:r>
                    </a:p>
                  </a:txBody>
                  <a:tcPr anchor="ctr" marL="91440" marT="18288" marB="18288">
                    <a:solidFill>
                      <a:srgbClr val="EEF1F5"/>
                    </a:solidFill>
                  </a:tcPr>
                </a:tc>
              </a:tr>
            </a:tbl>
          </a:graphicData>
        </a:graphic>
      </p:graphicFrame>
      <p:sp>
        <p:nvSpPr>
          <p:cNvPr id="10" name="TextBox 9"/>
          <p:cNvSpPr txBox="1"/>
          <p:nvPr/>
        </p:nvSpPr>
        <p:spPr>
          <a:xfrm>
            <a:off x="548640" y="5715000"/>
            <a:ext cx="11091672" cy="640080"/>
          </a:xfrm>
          <a:prstGeom prst="rect">
            <a:avLst/>
          </a:prstGeom>
          <a:noFill/>
        </p:spPr>
        <p:txBody>
          <a:bodyPr wrap="square" anchor="t" lIns="0" rIns="0" tIns="0" bIns="0">
            <a:spAutoFit/>
          </a:bodyPr>
          <a:lstStyle/>
          <a:p>
            <a:pPr algn="l">
              <a:lnSpc>
                <a:spcPct val="105000"/>
              </a:lnSpc>
              <a:spcBef>
                <a:spcPts val="0"/>
              </a:spcBef>
              <a:spcAft>
                <a:spcPts val="600"/>
              </a:spcAft>
            </a:pPr>
            <a:r>
              <a:rPr sz="1250" b="1" i="0">
                <a:solidFill>
                  <a:srgbClr val="1F3A5F"/>
                </a:solidFill>
                <a:latin typeface="Calibri"/>
              </a:rPr>
              <a:t>Two big levers: </a:t>
            </a:r>
            <a:r>
              <a:rPr sz="1250" b="0" i="0">
                <a:solidFill>
                  <a:srgbClr val="3C4654"/>
                </a:solidFill>
                <a:latin typeface="Calibri"/>
              </a:rPr>
              <a:t>use the Model Router to pick a smaller, cheaper model when a task allows it, and cache repeated answers so we do not pay twice.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PEOPLE &amp; RISK</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Who runs it, and what to watch</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14</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Rounded Rectangle 7"/>
          <p:cNvSpPr/>
          <p:nvPr/>
        </p:nvSpPr>
        <p:spPr>
          <a:xfrm>
            <a:off x="640080" y="1463040"/>
            <a:ext cx="5394960" cy="42062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Team &amp; roles</a:t>
            </a:r>
          </a:p>
        </p:txBody>
      </p:sp>
      <p:sp>
        <p:nvSpPr>
          <p:cNvPr id="9" name="TextBox 8"/>
          <p:cNvSpPr txBox="1"/>
          <p:nvPr/>
        </p:nvSpPr>
        <p:spPr>
          <a:xfrm>
            <a:off x="868680" y="1965960"/>
            <a:ext cx="4983480" cy="3657600"/>
          </a:xfrm>
          <a:prstGeom prst="rect">
            <a:avLst/>
          </a:prstGeom>
          <a:noFill/>
        </p:spPr>
        <p:txBody>
          <a:bodyPr wrap="square" lIns="0" tIns="0">
            <a:spAutoFit/>
          </a:bodyPr>
          <a:lstStyle/>
          <a:p>
            <a:pPr>
              <a:lnSpc>
                <a:spcPct val="106000"/>
              </a:lnSpc>
              <a:spcBef>
                <a:spcPts val="0"/>
              </a:spcBef>
              <a:spcAft>
                <a:spcPts val="1100"/>
              </a:spcAft>
            </a:pPr>
            <a:r>
              <a:rPr sz="1300" b="0">
                <a:solidFill>
                  <a:srgbClr val="3C4654"/>
                </a:solidFill>
                <a:latin typeface="Calibri"/>
              </a:rPr>
              <a:t>•  Platform lead / architect — owns design &amp; standards.</a:t>
            </a:r>
          </a:p>
          <a:p>
            <a:pPr>
              <a:lnSpc>
                <a:spcPct val="106000"/>
              </a:lnSpc>
              <a:spcBef>
                <a:spcPts val="0"/>
              </a:spcBef>
              <a:spcAft>
                <a:spcPts val="1100"/>
              </a:spcAft>
            </a:pPr>
            <a:r>
              <a:rPr sz="1300" b="0">
                <a:solidFill>
                  <a:srgbClr val="3C4654"/>
                </a:solidFill>
                <a:latin typeface="Calibri"/>
              </a:rPr>
              <a:t>•  Engineers — build the framework &amp; pipeline.</a:t>
            </a:r>
          </a:p>
          <a:p>
            <a:pPr>
              <a:lnSpc>
                <a:spcPct val="106000"/>
              </a:lnSpc>
              <a:spcBef>
                <a:spcPts val="0"/>
              </a:spcBef>
              <a:spcAft>
                <a:spcPts val="1100"/>
              </a:spcAft>
            </a:pPr>
            <a:r>
              <a:rPr sz="1300" b="0">
                <a:solidFill>
                  <a:srgbClr val="3C4654"/>
                </a:solidFill>
                <a:latin typeface="Calibri"/>
              </a:rPr>
              <a:t>•  Data engineer — prepares and connects data.</a:t>
            </a:r>
          </a:p>
          <a:p>
            <a:pPr>
              <a:lnSpc>
                <a:spcPct val="106000"/>
              </a:lnSpc>
              <a:spcBef>
                <a:spcPts val="0"/>
              </a:spcBef>
              <a:spcAft>
                <a:spcPts val="1100"/>
              </a:spcAft>
            </a:pPr>
            <a:r>
              <a:rPr sz="1300" b="0">
                <a:solidFill>
                  <a:srgbClr val="3C4654"/>
                </a:solidFill>
                <a:latin typeface="Calibri"/>
              </a:rPr>
              <a:t>•  Security &amp; governance — access, privacy, compliance.</a:t>
            </a:r>
          </a:p>
          <a:p>
            <a:pPr>
              <a:lnSpc>
                <a:spcPct val="106000"/>
              </a:lnSpc>
              <a:spcBef>
                <a:spcPts val="0"/>
              </a:spcBef>
              <a:spcAft>
                <a:spcPts val="1100"/>
              </a:spcAft>
            </a:pPr>
            <a:r>
              <a:rPr sz="1300" b="0">
                <a:solidFill>
                  <a:srgbClr val="3C4654"/>
                </a:solidFill>
                <a:latin typeface="Calibri"/>
              </a:rPr>
              <a:t>•  Support / operations — keeps it running.</a:t>
            </a:r>
          </a:p>
        </p:txBody>
      </p:sp>
      <p:sp>
        <p:nvSpPr>
          <p:cNvPr id="10" name="Rounded Rectangle 9"/>
          <p:cNvSpPr/>
          <p:nvPr/>
        </p:nvSpPr>
        <p:spPr>
          <a:xfrm>
            <a:off x="6309360" y="1463040"/>
            <a:ext cx="5330952" cy="4206240"/>
          </a:xfrm>
          <a:prstGeom prst="roundRect">
            <a:avLst>
              <a:gd name="adj" fmla="val 8000"/>
            </a:avLst>
          </a:prstGeom>
          <a:solidFill>
            <a:srgbClr val="EEF1F5"/>
          </a:solidFill>
          <a:ln w="12700">
            <a:solidFill>
              <a:srgbClr val="C9D2DD"/>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lnSpc>
                <a:spcPct val="100000"/>
              </a:lnSpc>
              <a:spcAft>
                <a:spcPts val="100"/>
              </a:spcAft>
            </a:pPr>
            <a:r>
              <a:rPr sz="1250" b="1">
                <a:solidFill>
                  <a:srgbClr val="1F3A5F"/>
                </a:solidFill>
                <a:latin typeface="Calibri"/>
              </a:rPr>
              <a:t>Risks to watch</a:t>
            </a:r>
          </a:p>
        </p:txBody>
      </p:sp>
      <p:sp>
        <p:nvSpPr>
          <p:cNvPr id="11" name="TextBox 10"/>
          <p:cNvSpPr txBox="1"/>
          <p:nvPr/>
        </p:nvSpPr>
        <p:spPr>
          <a:xfrm>
            <a:off x="6537960" y="1965960"/>
            <a:ext cx="4937760" cy="3657600"/>
          </a:xfrm>
          <a:prstGeom prst="rect">
            <a:avLst/>
          </a:prstGeom>
          <a:noFill/>
        </p:spPr>
        <p:txBody>
          <a:bodyPr wrap="square" lIns="0" tIns="0">
            <a:spAutoFit/>
          </a:bodyPr>
          <a:lstStyle/>
          <a:p>
            <a:pPr>
              <a:lnSpc>
                <a:spcPct val="106000"/>
              </a:lnSpc>
              <a:spcBef>
                <a:spcPts val="0"/>
              </a:spcBef>
              <a:spcAft>
                <a:spcPts val="1100"/>
              </a:spcAft>
            </a:pPr>
            <a:r>
              <a:rPr sz="1300" b="0">
                <a:solidFill>
                  <a:srgbClr val="3C4654"/>
                </a:solidFill>
                <a:latin typeface="Calibri"/>
              </a:rPr>
              <a:t>•  Wrong or made-up answers → grounding + testing.</a:t>
            </a:r>
          </a:p>
          <a:p>
            <a:pPr>
              <a:lnSpc>
                <a:spcPct val="106000"/>
              </a:lnSpc>
              <a:spcBef>
                <a:spcPts val="0"/>
              </a:spcBef>
              <a:spcAft>
                <a:spcPts val="1100"/>
              </a:spcAft>
            </a:pPr>
            <a:r>
              <a:rPr sz="1300" b="0">
                <a:solidFill>
                  <a:srgbClr val="3C4654"/>
                </a:solidFill>
                <a:latin typeface="Calibri"/>
              </a:rPr>
              <a:t>•  Cost surprises → usage limits, budgets, alerts.</a:t>
            </a:r>
          </a:p>
          <a:p>
            <a:pPr>
              <a:lnSpc>
                <a:spcPct val="106000"/>
              </a:lnSpc>
              <a:spcBef>
                <a:spcPts val="0"/>
              </a:spcBef>
              <a:spcAft>
                <a:spcPts val="1100"/>
              </a:spcAft>
            </a:pPr>
            <a:r>
              <a:rPr sz="1300" b="0">
                <a:solidFill>
                  <a:srgbClr val="3C4654"/>
                </a:solidFill>
                <a:latin typeface="Calibri"/>
              </a:rPr>
              <a:t>•  Too much automation → keep humans in the loop.</a:t>
            </a:r>
          </a:p>
          <a:p>
            <a:pPr>
              <a:lnSpc>
                <a:spcPct val="106000"/>
              </a:lnSpc>
              <a:spcBef>
                <a:spcPts val="0"/>
              </a:spcBef>
              <a:spcAft>
                <a:spcPts val="1100"/>
              </a:spcAft>
            </a:pPr>
            <a:r>
              <a:rPr sz="1300" b="0">
                <a:solidFill>
                  <a:srgbClr val="3C4654"/>
                </a:solidFill>
                <a:latin typeface="Calibri"/>
              </a:rPr>
              <a:t>•  Locked to one model → the gateway lets us switch.</a:t>
            </a:r>
          </a:p>
          <a:p>
            <a:pPr>
              <a:lnSpc>
                <a:spcPct val="106000"/>
              </a:lnSpc>
              <a:spcBef>
                <a:spcPts val="0"/>
              </a:spcBef>
              <a:spcAft>
                <a:spcPts val="1100"/>
              </a:spcAft>
            </a:pPr>
            <a:r>
              <a:rPr sz="1300" b="0">
                <a:solidFill>
                  <a:srgbClr val="3C4654"/>
                </a:solidFill>
                <a:latin typeface="Calibri"/>
              </a:rPr>
              <a:t>•  Security gaps → treat all input/output as untrusted.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WRAP-UP</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Summary and next steps</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15</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85800" y="1554480"/>
            <a:ext cx="10789920" cy="4754880"/>
          </a:xfrm>
          <a:prstGeom prst="rect">
            <a:avLst/>
          </a:prstGeom>
          <a:noFill/>
        </p:spPr>
        <p:txBody>
          <a:bodyPr wrap="square" lIns="0" tIns="0">
            <a:spAutoFit/>
          </a:bodyPr>
          <a:lstStyle/>
          <a:p>
            <a:pPr>
              <a:lnSpc>
                <a:spcPct val="106000"/>
              </a:lnSpc>
              <a:spcBef>
                <a:spcPts val="0"/>
              </a:spcBef>
              <a:spcAft>
                <a:spcPts val="1300"/>
              </a:spcAft>
            </a:pPr>
            <a:r>
              <a:rPr sz="1600" b="0">
                <a:solidFill>
                  <a:srgbClr val="3C4654"/>
                </a:solidFill>
                <a:latin typeface="Calibri"/>
              </a:rPr>
              <a:t>•  LLMOps is how we run LLM apps reliably, not just build a demo.</a:t>
            </a:r>
          </a:p>
          <a:p>
            <a:pPr>
              <a:lnSpc>
                <a:spcPct val="106000"/>
              </a:lnSpc>
              <a:spcBef>
                <a:spcPts val="0"/>
              </a:spcBef>
              <a:spcAft>
                <a:spcPts val="1300"/>
              </a:spcAft>
            </a:pPr>
            <a:r>
              <a:rPr sz="1600" b="1">
                <a:solidFill>
                  <a:srgbClr val="1F3A5F"/>
                </a:solidFill>
                <a:latin typeface="Calibri"/>
              </a:rPr>
              <a:t>•  Build the reusable framework on Azure first — about one month for a solid base.</a:t>
            </a:r>
          </a:p>
          <a:p>
            <a:pPr>
              <a:lnSpc>
                <a:spcPct val="106000"/>
              </a:lnSpc>
              <a:spcBef>
                <a:spcPts val="0"/>
              </a:spcBef>
              <a:spcAft>
                <a:spcPts val="1300"/>
              </a:spcAft>
            </a:pPr>
            <a:r>
              <a:rPr sz="1600" b="0">
                <a:solidFill>
                  <a:srgbClr val="3C4654"/>
                </a:solidFill>
                <a:latin typeface="Calibri"/>
              </a:rPr>
              <a:t>•  Each component maps to a specific Azure service, so the build is concrete.</a:t>
            </a:r>
          </a:p>
          <a:p>
            <a:pPr>
              <a:lnSpc>
                <a:spcPct val="106000"/>
              </a:lnSpc>
              <a:spcBef>
                <a:spcPts val="0"/>
              </a:spcBef>
              <a:spcAft>
                <a:spcPts val="1300"/>
              </a:spcAft>
            </a:pPr>
            <a:r>
              <a:rPr sz="1600" b="0">
                <a:solidFill>
                  <a:srgbClr val="3C4654"/>
                </a:solidFill>
                <a:latin typeface="Calibri"/>
              </a:rPr>
              <a:t>•  Then onboard projects quickly on top of it — mostly configuration, not new engineering.</a:t>
            </a:r>
          </a:p>
          <a:p>
            <a:pPr>
              <a:lnSpc>
                <a:spcPct val="106000"/>
              </a:lnSpc>
              <a:spcBef>
                <a:spcPts val="0"/>
              </a:spcBef>
              <a:spcAft>
                <a:spcPts val="1300"/>
              </a:spcAft>
            </a:pPr>
            <a:r>
              <a:rPr sz="1600" b="0">
                <a:solidFill>
                  <a:srgbClr val="3C4654"/>
                </a:solidFill>
                <a:latin typeface="Calibri"/>
              </a:rPr>
              <a:t>•  Plan for ongoing running costs — mainly model usage and people.</a:t>
            </a:r>
          </a:p>
          <a:p>
            <a:pPr>
              <a:lnSpc>
                <a:spcPct val="106000"/>
              </a:lnSpc>
              <a:spcBef>
                <a:spcPts val="0"/>
              </a:spcBef>
              <a:spcAft>
                <a:spcPts val="1300"/>
              </a:spcAft>
            </a:pPr>
            <a:r>
              <a:rPr sz="1600" b="1">
                <a:solidFill>
                  <a:srgbClr val="1F3A5F"/>
                </a:solidFill>
                <a:latin typeface="Calibri"/>
              </a:rPr>
              <a:t>•  Next step: agree the scope for the one-month base build and set up the Azure environment.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10896"/>
            <a:ext cx="10881360" cy="274320"/>
          </a:xfrm>
          <a:prstGeom prst="rect">
            <a:avLst/>
          </a:prstGeom>
          <a:noFill/>
        </p:spPr>
        <p:txBody>
          <a:bodyPr wrap="square" anchor="t" lIns="0" rIns="0" tIns="0" bIns="0">
            <a:spAutoFit/>
          </a:bodyPr>
          <a:lstStyle/>
          <a:p>
            <a:pPr algn="l">
              <a:lnSpc>
                <a:spcPct val="105000"/>
              </a:lnSpc>
              <a:spcBef>
                <a:spcPts val="0"/>
              </a:spcBef>
              <a:spcAft>
                <a:spcPts val="600"/>
              </a:spcAft>
            </a:pPr>
            <a:r>
              <a:rPr sz="1100" b="1" i="0">
                <a:solidFill>
                  <a:srgbClr val="2A9D8F"/>
                </a:solidFill>
                <a:latin typeface="Calibri"/>
              </a:rPr>
              <a:t>APPENDIX</a:t>
            </a:r>
          </a:p>
        </p:txBody>
      </p:sp>
      <p:sp>
        <p:nvSpPr>
          <p:cNvPr id="4" name="TextBox 3"/>
          <p:cNvSpPr txBox="1"/>
          <p:nvPr/>
        </p:nvSpPr>
        <p:spPr>
          <a:xfrm>
            <a:off x="640080" y="530352"/>
            <a:ext cx="10881360" cy="640080"/>
          </a:xfrm>
          <a:prstGeom prst="rect">
            <a:avLst/>
          </a:prstGeom>
          <a:noFill/>
        </p:spPr>
        <p:txBody>
          <a:bodyPr wrap="square" anchor="t" lIns="0" rIns="0" tIns="0" bIns="0">
            <a:spAutoFit/>
          </a:bodyPr>
          <a:lstStyle/>
          <a:p>
            <a:pPr algn="l">
              <a:lnSpc>
                <a:spcPct val="105000"/>
              </a:lnSpc>
              <a:spcBef>
                <a:spcPts val="0"/>
              </a:spcBef>
              <a:spcAft>
                <a:spcPts val="600"/>
              </a:spcAft>
            </a:pPr>
            <a:r>
              <a:rPr sz="2600" b="1" i="0">
                <a:solidFill>
                  <a:srgbClr val="1F3A5F"/>
                </a:solidFill>
                <a:latin typeface="Calibri"/>
              </a:rPr>
              <a:t>Terms in plain English (quick reference)</a:t>
            </a:r>
          </a:p>
        </p:txBody>
      </p:sp>
      <p:sp>
        <p:nvSpPr>
          <p:cNvPr id="5" name="Rectangle 4"/>
          <p:cNvSpPr/>
          <p:nvPr/>
        </p:nvSpPr>
        <p:spPr>
          <a:xfrm>
            <a:off x="658368" y="1133856"/>
            <a:ext cx="1371600" cy="38100"/>
          </a:xfrm>
          <a:prstGeom prst="rect">
            <a:avLst/>
          </a:prstGeom>
          <a:solidFill>
            <a:srgbClr val="2A9D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185855" y="6437376"/>
            <a:ext cx="640080" cy="274320"/>
          </a:xfrm>
          <a:prstGeom prst="rect">
            <a:avLst/>
          </a:prstGeom>
          <a:noFill/>
        </p:spPr>
        <p:txBody>
          <a:bodyPr wrap="square" anchor="t" lIns="0" rIns="0" tIns="0" bIns="0">
            <a:spAutoFit/>
          </a:bodyPr>
          <a:lstStyle/>
          <a:p>
            <a:pPr algn="r">
              <a:lnSpc>
                <a:spcPct val="105000"/>
              </a:lnSpc>
              <a:spcBef>
                <a:spcPts val="0"/>
              </a:spcBef>
              <a:spcAft>
                <a:spcPts val="600"/>
              </a:spcAft>
            </a:pPr>
            <a:r>
              <a:rPr sz="1000" b="0" i="0">
                <a:solidFill>
                  <a:srgbClr val="6B7480"/>
                </a:solidFill>
                <a:latin typeface="Calibri"/>
              </a:rPr>
              <a:t>16</a:t>
            </a:r>
          </a:p>
        </p:txBody>
      </p:sp>
      <p:sp>
        <p:nvSpPr>
          <p:cNvPr id="7" name="TextBox 6"/>
          <p:cNvSpPr txBox="1"/>
          <p:nvPr/>
        </p:nvSpPr>
        <p:spPr>
          <a:xfrm>
            <a:off x="640080" y="6437376"/>
            <a:ext cx="8229600" cy="274320"/>
          </a:xfrm>
          <a:prstGeom prst="rect">
            <a:avLst/>
          </a:prstGeom>
          <a:noFill/>
        </p:spPr>
        <p:txBody>
          <a:bodyPr wrap="square" anchor="t" lIns="0" rIns="0" tIns="0" bIns="0">
            <a:spAutoFit/>
          </a:bodyPr>
          <a:lstStyle/>
          <a:p>
            <a:pPr algn="l">
              <a:lnSpc>
                <a:spcPct val="105000"/>
              </a:lnSpc>
              <a:spcBef>
                <a:spcPts val="0"/>
              </a:spcBef>
              <a:spcAft>
                <a:spcPts val="600"/>
              </a:spcAft>
            </a:pPr>
            <a:r>
              <a:rPr sz="900" b="0" i="0">
                <a:solidFill>
                  <a:srgbClr val="6B7480"/>
                </a:solidFill>
                <a:latin typeface="Calibri"/>
              </a:rPr>
              <a:t>Enterprise LLMOps on Azure — technical overview</a:t>
            </a:r>
          </a:p>
        </p:txBody>
      </p:sp>
      <p:sp>
        <p:nvSpPr>
          <p:cNvPr id="8" name="TextBox 7"/>
          <p:cNvSpPr txBox="1"/>
          <p:nvPr/>
        </p:nvSpPr>
        <p:spPr>
          <a:xfrm>
            <a:off x="640080" y="141732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LLM  </a:t>
            </a:r>
            <a:r>
              <a:rPr sz="1200" b="0" i="0">
                <a:solidFill>
                  <a:srgbClr val="3C4654"/>
                </a:solidFill>
                <a:latin typeface="Calibri"/>
              </a:rPr>
              <a:t>Large Language Model — AI that reads and writes text.</a:t>
            </a:r>
          </a:p>
        </p:txBody>
      </p:sp>
      <p:sp>
        <p:nvSpPr>
          <p:cNvPr id="9" name="TextBox 8"/>
          <p:cNvSpPr txBox="1"/>
          <p:nvPr/>
        </p:nvSpPr>
        <p:spPr>
          <a:xfrm>
            <a:off x="6309360" y="141732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LLMOps  </a:t>
            </a:r>
            <a:r>
              <a:rPr sz="1200" b="0" i="0">
                <a:solidFill>
                  <a:srgbClr val="3C4654"/>
                </a:solidFill>
                <a:latin typeface="Calibri"/>
              </a:rPr>
              <a:t>Large Language Model Operations — building, testing, shipping, running LLM apps.</a:t>
            </a:r>
          </a:p>
        </p:txBody>
      </p:sp>
      <p:sp>
        <p:nvSpPr>
          <p:cNvPr id="10" name="TextBox 9"/>
          <p:cNvSpPr txBox="1"/>
          <p:nvPr/>
        </p:nvSpPr>
        <p:spPr>
          <a:xfrm>
            <a:off x="640080" y="214884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RAG  </a:t>
            </a:r>
            <a:r>
              <a:rPr sz="1200" b="0" i="0">
                <a:solidFill>
                  <a:srgbClr val="3C4654"/>
                </a:solidFill>
                <a:latin typeface="Calibri"/>
              </a:rPr>
              <a:t>Retrieval-Augmented Generation — the model answers using our own documents.</a:t>
            </a:r>
          </a:p>
        </p:txBody>
      </p:sp>
      <p:sp>
        <p:nvSpPr>
          <p:cNvPr id="11" name="TextBox 10"/>
          <p:cNvSpPr txBox="1"/>
          <p:nvPr/>
        </p:nvSpPr>
        <p:spPr>
          <a:xfrm>
            <a:off x="6309360" y="214884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CI/CD  </a:t>
            </a:r>
            <a:r>
              <a:rPr sz="1200" b="0" i="0">
                <a:solidFill>
                  <a:srgbClr val="3C4654"/>
                </a:solidFill>
                <a:latin typeface="Calibri"/>
              </a:rPr>
              <a:t>Continuous Integration / Continuous Delivery — automated testing and release.</a:t>
            </a:r>
          </a:p>
        </p:txBody>
      </p:sp>
      <p:sp>
        <p:nvSpPr>
          <p:cNvPr id="12" name="TextBox 11"/>
          <p:cNvSpPr txBox="1"/>
          <p:nvPr/>
        </p:nvSpPr>
        <p:spPr>
          <a:xfrm>
            <a:off x="640080" y="288036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Embeddings  </a:t>
            </a:r>
            <a:r>
              <a:rPr sz="1200" b="0" i="0">
                <a:solidFill>
                  <a:srgbClr val="3C4654"/>
                </a:solidFill>
                <a:latin typeface="Calibri"/>
              </a:rPr>
              <a:t>Text turned into numbers so we can search by meaning.</a:t>
            </a:r>
          </a:p>
        </p:txBody>
      </p:sp>
      <p:sp>
        <p:nvSpPr>
          <p:cNvPr id="13" name="TextBox 12"/>
          <p:cNvSpPr txBox="1"/>
          <p:nvPr/>
        </p:nvSpPr>
        <p:spPr>
          <a:xfrm>
            <a:off x="6309360" y="288036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Token  </a:t>
            </a:r>
            <a:r>
              <a:rPr sz="1200" b="0" i="0">
                <a:solidFill>
                  <a:srgbClr val="3C4654"/>
                </a:solidFill>
                <a:latin typeface="Calibri"/>
              </a:rPr>
              <a:t>The small unit of text a model reads/writes; billing is per token.</a:t>
            </a:r>
          </a:p>
        </p:txBody>
      </p:sp>
      <p:sp>
        <p:nvSpPr>
          <p:cNvPr id="14" name="TextBox 13"/>
          <p:cNvSpPr txBox="1"/>
          <p:nvPr/>
        </p:nvSpPr>
        <p:spPr>
          <a:xfrm>
            <a:off x="640080" y="361188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Guardrails  </a:t>
            </a:r>
            <a:r>
              <a:rPr sz="1200" b="0" i="0">
                <a:solidFill>
                  <a:srgbClr val="3C4654"/>
                </a:solidFill>
                <a:latin typeface="Calibri"/>
              </a:rPr>
              <a:t>Automatic safety checks on what goes in and comes out.</a:t>
            </a:r>
          </a:p>
        </p:txBody>
      </p:sp>
      <p:sp>
        <p:nvSpPr>
          <p:cNvPr id="15" name="TextBox 14"/>
          <p:cNvSpPr txBox="1"/>
          <p:nvPr/>
        </p:nvSpPr>
        <p:spPr>
          <a:xfrm>
            <a:off x="6309360" y="361188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PII  </a:t>
            </a:r>
            <a:r>
              <a:rPr sz="1200" b="0" i="0">
                <a:solidFill>
                  <a:srgbClr val="3C4654"/>
                </a:solidFill>
                <a:latin typeface="Calibri"/>
              </a:rPr>
              <a:t>Personally Identifiable Information — personal data like names, phone numbers.</a:t>
            </a:r>
          </a:p>
        </p:txBody>
      </p:sp>
      <p:sp>
        <p:nvSpPr>
          <p:cNvPr id="16" name="TextBox 15"/>
          <p:cNvSpPr txBox="1"/>
          <p:nvPr/>
        </p:nvSpPr>
        <p:spPr>
          <a:xfrm>
            <a:off x="640080" y="434340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Agent  </a:t>
            </a:r>
            <a:r>
              <a:rPr sz="1200" b="0" i="0">
                <a:solidFill>
                  <a:srgbClr val="3C4654"/>
                </a:solidFill>
                <a:latin typeface="Calibri"/>
              </a:rPr>
              <a:t>An LLM that can use tools and take steps, not just chat.</a:t>
            </a:r>
          </a:p>
        </p:txBody>
      </p:sp>
      <p:sp>
        <p:nvSpPr>
          <p:cNvPr id="17" name="TextBox 16"/>
          <p:cNvSpPr txBox="1"/>
          <p:nvPr/>
        </p:nvSpPr>
        <p:spPr>
          <a:xfrm>
            <a:off x="6309360" y="434340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Canary release  </a:t>
            </a:r>
            <a:r>
              <a:rPr sz="1200" b="0" i="0">
                <a:solidFill>
                  <a:srgbClr val="3C4654"/>
                </a:solidFill>
                <a:latin typeface="Calibri"/>
              </a:rPr>
              <a:t>Releasing to a small slice first to catch problems early.</a:t>
            </a:r>
          </a:p>
        </p:txBody>
      </p:sp>
      <p:sp>
        <p:nvSpPr>
          <p:cNvPr id="18" name="TextBox 17"/>
          <p:cNvSpPr txBox="1"/>
          <p:nvPr/>
        </p:nvSpPr>
        <p:spPr>
          <a:xfrm>
            <a:off x="640080" y="507492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OpenTelemetry  </a:t>
            </a:r>
            <a:r>
              <a:rPr sz="1200" b="0" i="0">
                <a:solidFill>
                  <a:srgbClr val="3C4654"/>
                </a:solidFill>
                <a:latin typeface="Calibri"/>
              </a:rPr>
              <a:t>An open standard for collecting traces and metrics.</a:t>
            </a:r>
          </a:p>
        </p:txBody>
      </p:sp>
      <p:sp>
        <p:nvSpPr>
          <p:cNvPr id="19" name="TextBox 18"/>
          <p:cNvSpPr txBox="1"/>
          <p:nvPr/>
        </p:nvSpPr>
        <p:spPr>
          <a:xfrm>
            <a:off x="6309360" y="5074920"/>
            <a:ext cx="5440680" cy="731520"/>
          </a:xfrm>
          <a:prstGeom prst="rect">
            <a:avLst/>
          </a:prstGeom>
          <a:noFill/>
        </p:spPr>
        <p:txBody>
          <a:bodyPr wrap="square" anchor="t" lIns="0" rIns="0" tIns="0" bIns="0">
            <a:spAutoFit/>
          </a:bodyPr>
          <a:lstStyle/>
          <a:p>
            <a:pPr algn="l">
              <a:lnSpc>
                <a:spcPct val="100000"/>
              </a:lnSpc>
              <a:spcBef>
                <a:spcPts val="0"/>
              </a:spcBef>
              <a:spcAft>
                <a:spcPts val="600"/>
              </a:spcAft>
            </a:pPr>
            <a:r>
              <a:rPr sz="1250" b="1" i="0">
                <a:solidFill>
                  <a:srgbClr val="2A9D8F"/>
                </a:solidFill>
                <a:latin typeface="Calibri"/>
              </a:rPr>
              <a:t>Content Safety  </a:t>
            </a:r>
            <a:r>
              <a:rPr sz="1200" b="0" i="0">
                <a:solidFill>
                  <a:srgbClr val="3C4654"/>
                </a:solidFill>
                <a:latin typeface="Calibri"/>
              </a:rPr>
              <a:t>Azure service that detects unsafe content and personal data.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