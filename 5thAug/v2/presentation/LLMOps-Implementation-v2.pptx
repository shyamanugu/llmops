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version answers the real question from last time: not 'what are the options' but 'how exactly do we implement each component, and how is it different from what we already do'. Every component slide has a Today / Our setup / What changes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three-column strip once here; it repeats on every component slide. And the build order: CI/CD first, then onboard the rest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CODEOWNERS = required reviewers on prompts/agents. OIDC = the pipeline signs in to Azure with a short-lived token, no stored secret. The point vs plain DevOps is the evaluation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amber box is the gate. This is the mechanism behind 'a prompt change must pass the golden dataset before it ships'. Show the real workflow: it fails the PR if a metric drops below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from the feedback. Say it plainly: they already keep prompts in Git, so that is not new. The new things are the YAML-per-prompt artifact, the evaluation gate on every change, and the registry for rollback/compare. Kiran himself said 'we don't have a YAML file now — that's a good one.'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a registry IS (Kiran asked). Recommendation is decisive: start with Git + in-app cache, add Langfuse or Foundry later. Langfuse is an open-source product we self-host in our own network; Foundry is Azure-native. I'll bring the cost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smaller delta here. They already choose models by complexity. What we add is the config-alias pattern, the eval gate on a swap, and reuse across use cases under one Foundry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Kiran asked 'how is golden data different from normal ground truth?' — answer: it IS normal ground truth, but we run it as an automatic gate on every change. And it grows from real traffic, not just SME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answers 'it doesn't say HOW we evaluate'. Each metric group maps to a concrete mechanism. Say plainly: Ragas/DeepEval for RAG+writing; custom Python for tool selection and task path; LangSmith is an option but licensed.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Kiran's MCP point. The harness reads the chosen tool from the trace and compares to the expected tool. Ragas/DeepEval don't do this — it's a small custom check. Note the link to observability: we can only score this because the tool call is traced.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Kiran's exact three questions: model calls, tool calls, agent sessions. Every box is a span with its own recorded fields, tied by one trace id. The 'was it the correct tool' field is what powers the tool-selection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actual span code and the exact attributes. Two-layer stack: Azure-native for the record of truth, Langfuse for the LLM view. Note PII redaction in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Guardrails wrap each step: check input, redact personal data, check output. Content Safety is the Azure service. For anything consequential, a human still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= Retrieval-Augmented Generation. The pipeline is standard but made repeatable and refreshed. Index aliases let us rebuild without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Container Apps for the pipeline steps, Functions for triggers, APIM as the gateway. Environments are gated; prod uses canary + auto-rollback.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that makes it an operation. Real feedback becomes golden-dataset cases, which raises the bar. Fine-tuning is a later step, not the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hosting plan Kiran asked for. Everything here is the shared platform; a new use case only adds its own prompts, agents, tools and golden data. No timelines.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single-picture summary. Four flows: gated change, live request, telemetry, feedback loop. This is 'how we set up LLMOps here',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table Kiran wanted: for each component, what exists today and exactly what we add. This is the 'what do we have and what needs to change'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The ask is to align on this approach and start with the backbone. No dates — we agreed to leave timelines out for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— leave up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LLMOps: how we implement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542032"/>
            <a:ext cx="18288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816352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3C4654"/>
                </a:solidFill>
                <a:latin typeface="Calibri"/>
              </a:rPr>
              <a:t>Component by component — the actual setup on Azure + GitHub, and what changes from how we work today.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1">
                <a:solidFill>
                  <a:srgbClr val="6B7480"/>
                </a:solidFill>
                <a:latin typeface="Calibri"/>
              </a:rPr>
              <a:t>Version 2. Grounded in APIX and Hiring Intelligence; reusable for any use case. No timelines.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Working draft for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How to read this, and the order we build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Every component below is shown three ways: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04A5A"/>
                </a:solidFill>
                <a:latin typeface="Calibri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3300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how the team works now (assumption, to confirm)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73736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OUR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029968"/>
            <a:ext cx="3300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the concrete setup we put in place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45920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73736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3A5F"/>
                </a:solidFill>
                <a:latin typeface="Calibri"/>
              </a:rPr>
              <a:t>WHAT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029968"/>
            <a:ext cx="3300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the specific difference — nothing generic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34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1F3A5F"/>
                </a:solidFill>
                <a:latin typeface="Calibri"/>
              </a:rPr>
              <a:t>We onboard components one at a time. Source control + CI/CD comes first — it is the backbone the rest plug into.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83280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1 Source control + CI/CD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the backbone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3383280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2 Prompt management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versioned + gated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3383280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3 Model management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config + 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79392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4 Evaluation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the gate itself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4279392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5 Observability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trace everything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4279392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6 Guardrails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safety + PII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75504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7 Data / RAG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feed from our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5175504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8 Serving / deploy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host + release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5175504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9 Feedback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improve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Source control &amp; CI/CD — the backbone (built first)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577840" cy="310896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303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FD0C8"/>
                </a:solidFill>
                <a:latin typeface="Calibri"/>
              </a:rPr>
              <a:t>the monorepo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82496"/>
            <a:ext cx="5577840" cy="3986784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73936"/>
            <a:ext cx="5303520" cy="38039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llmops-platform/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├─ prompts/apix/*.prompt.yaml   # one YAML per prompt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├─ agents/apix/pipeline.agent.yaml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├─ evals/apix/golden.*.jsonl    # golden datasets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│  └─ tool_selection.py         # custom evaluator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├─ src/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│  ├─ pipelines/apix/run.py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│  └─ common/  prompt_loader.py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│               model_router.py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│               tracing.py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├─ models.yaml                  # task alias -&gt; model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├─ .github/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│  ├─ CODEOWNERS  (/prompts, /agents)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│  └─ workflows/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│     ├─ pr-checks.yml   # eval GATE on PR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│     ├─ eval-full.yml   # full golden run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│     └─ deploy.yml      # OIDC, canary, rollback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├─ infra/   (Bicep)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└─ dashboards/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What makes it LLMOps (not just DevOps):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530352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prompts, agents and golden datasets are versioned like code, reviewed by pull request.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every change runs an evaluation GATE before it can merge or deploy.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login to Azure uses GitHub OIDC (federated) — no stored cloud keys.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deploys are gated per environment, released gradually (canary), and auto-roll 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09160"/>
            <a:ext cx="1655063" cy="960120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800600"/>
            <a:ext cx="1380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04A5A"/>
                </a:solidFill>
                <a:latin typeface="Calibri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093208"/>
            <a:ext cx="1380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prompts/agents live inside code files; no eval before 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4709160"/>
            <a:ext cx="1655063" cy="96012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4800600"/>
            <a:ext cx="1380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OUR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5093208"/>
            <a:ext cx="1380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monorepo + reviewed changes + an automated evaluation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85246" y="4709160"/>
            <a:ext cx="1655063" cy="960120"/>
          </a:xfrm>
          <a:prstGeom prst="roundRect">
            <a:avLst>
              <a:gd name="adj" fmla="val 6000"/>
            </a:avLst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2406" y="4800600"/>
            <a:ext cx="1380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3A5F"/>
                </a:solidFill>
                <a:latin typeface="Calibri"/>
              </a:rPr>
              <a:t>WHAT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22406" y="5093208"/>
            <a:ext cx="13807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a quality gate + structure, not just a repo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Every change flows through the evaluation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783080" cy="10972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Pull request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edit prompt/agent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13432" y="2167128"/>
            <a:ext cx="201168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783080" cy="10972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pr-checks.yml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unit + eval subset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33672" y="2167128"/>
            <a:ext cx="201168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1783080" cy="1097280"/>
          </a:xfrm>
          <a:prstGeom prst="roundRect">
            <a:avLst>
              <a:gd name="adj" fmla="val 6000"/>
            </a:avLst>
          </a:prstGeom>
          <a:solidFill>
            <a:srgbClr val="F6E9E0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C87B1E"/>
                </a:solidFill>
                <a:latin typeface="Calibri"/>
              </a:rPr>
              <a:t>Eval GATE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pass thresholds?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53912" y="2167128"/>
            <a:ext cx="201168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737360"/>
            <a:ext cx="1783080" cy="10972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Registry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versioned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74152" y="2167128"/>
            <a:ext cx="201168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737360"/>
            <a:ext cx="1783080" cy="10972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Canary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small % of traffic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994392" y="2167128"/>
            <a:ext cx="201168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49840" y="1737360"/>
            <a:ext cx="1783080" cy="10972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Prod / rollback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promote or revert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11091672" cy="310896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10817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FD0C8"/>
                </a:solidFill>
                <a:latin typeface="Calibri"/>
              </a:rPr>
              <a:t>the gate, in the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11296"/>
            <a:ext cx="11091672" cy="1975104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02736"/>
            <a:ext cx="10817352" cy="17922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# .github/workflows/pr-checks.yml  (abbreviated)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on: { pull_request: { paths: ["prompts/**","agents/**","src/**","evals/**"] }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permissions: { id-token: write }          # OIDC -&gt; Azure, no stored keys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steps: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- uses: azure/login@v2                    # federated login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- run: pytest tests/                      # unit / contract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- run: python evals/run.py --subset changed --fail-under baseline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    #  runs Ragas + DeepEval + tool_selection; exits non-zero (blocks merge) if a metric drops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Prompt management — what's actually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91672" cy="658368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99032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04A5A"/>
                </a:solidFill>
                <a:latin typeface="Calibri"/>
              </a:rPr>
              <a:t>The prompts are already in Git, inside the code files. So "store prompts in Git" is NOT the change. </a:t>
            </a:r>
            <a:r>
              <a:rPr sz="1250" b="1" i="0">
                <a:solidFill>
                  <a:srgbClr val="1F3A5F"/>
                </a:solidFill>
                <a:latin typeface="Calibri"/>
              </a:rPr>
              <a:t>Three things are: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548640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•  One YAML file PER prompt — id, version, template, variables, eval_refs, changelog. (We have no YAML-per-prompt today.)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•  Every prompt change runs the pipeline and must PASS the golden-dataset thresholds (eval_refs) before it deploys.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•  A registry that holds prompts so we can roll back / swap / compare versions on their evaluation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48840"/>
            <a:ext cx="5257800" cy="310896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983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FD0C8"/>
                </a:solidFill>
                <a:latin typeface="Calibri"/>
              </a:rPr>
              <a:t>one YAML per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459736"/>
            <a:ext cx="5257800" cy="3255264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51176"/>
            <a:ext cx="4983480" cy="30723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# prompts/apix/coaching-report.prompt.yaml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id: apix.coaching_report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version: 3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labels: [prod]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model_alias: reason        # via models.yaml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temperature: 0.2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inputs: [agent_name, program, scores, evidence]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template: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Using ONLY the evidence below, write 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coaching note. Cite evidence. Do not invent.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eval_refs: [evals/apix/golden.telesales.jsonl]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changelog: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- v3: require evidence citation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Where prompts are held: the registry (start simple)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9167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035040"/>
                <a:gridCol w="2679192"/>
              </a:tblGrid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Git + in-app cache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prompts stay in our repo; app caches them; no extra service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Start here — simplest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Langfuse prompt management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open-source product (Lang family); we self-host it in our own network; also gives token/cost dashboards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Add as we scale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Foundry prompt assets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native to the Azure AI platform; managed, more secure; cost to confirm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Option as we scale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977639"/>
            <a:ext cx="6766560" cy="310896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6492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FD0C8"/>
                </a:solidFill>
                <a:latin typeface="Calibri"/>
              </a:rPr>
              <a:t>how the app loads a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88535"/>
            <a:ext cx="6766560" cy="1426464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79975"/>
            <a:ext cx="6492240" cy="12435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# src/common/prompt_loader.py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def load_prompt(prompt_id, label='prod'):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p = registry.get(prompt_id, label=label)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return p.template, p.config['model_alias'], p.version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# the app asks for 'this prompt, prod label' — never hard-codes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023360"/>
            <a:ext cx="4114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3C4654"/>
                </a:solidFill>
                <a:latin typeface="Calibri"/>
              </a:rPr>
              <a:t>A registry just holds the prompts so we can fall back to a previous version if a new one fails the gate.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Cost: minor, to be confirmed for the Foundry / Langfuse options.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Model management — config-driven, gated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3C4654"/>
                </a:solidFill>
                <a:latin typeface="Calibri"/>
              </a:rPr>
              <a:t>We likely already pick a bigger model for complex agents and a cheaper one for simple ones. What we add is structure: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577840" cy="310896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5303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FD0C8"/>
                </a:solidFill>
                <a:latin typeface="Calibri"/>
              </a:rPr>
              <a:t>models.yaml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5577840" cy="2340864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85416"/>
            <a:ext cx="5303520" cy="21579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# models.yaml — the ONLY place a task maps to a model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environments: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prod: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aliases: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  reason: gpt-5.2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  bulk:   gpt-5-mini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  voice:  gpt-realtime-1.5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  embed:  text-embedding-3-large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# app code says resolve('reason') — never 'gpt-5.2'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5303520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app code asks for a task alias (reason / bulk / voice); the deployment is resolved from config.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swapping a model = a config change, reviewed like code, that must pass the evaluation gate.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one shared config reused by every agent and use case under one hub (Azure AI Foundry).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3575304" cy="1051560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0916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04A5A"/>
                </a:solidFill>
                <a:latin typeface="Calibri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01768"/>
            <a:ext cx="33009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model names chosen in code, per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4617720"/>
            <a:ext cx="3575304" cy="105156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470916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OUR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5001768"/>
            <a:ext cx="33009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task-aliases in one config; swap via reviewed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4617720"/>
            <a:ext cx="3575304" cy="1051560"/>
          </a:xfrm>
          <a:prstGeom prst="roundRect">
            <a:avLst>
              <a:gd name="adj" fmla="val 6000"/>
            </a:avLst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470916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3A5F"/>
                </a:solidFill>
                <a:latin typeface="Calibri"/>
              </a:rPr>
              <a:t>WHAT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5001768"/>
            <a:ext cx="33009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a shared, gated, config-driven choice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Evaluation: the golden dataset is the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48640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3C4654"/>
                </a:solidFill>
                <a:latin typeface="Calibri"/>
              </a:rPr>
              <a:t>•  A golden dataset is the ground-truth set of test cases for a use case — the first thing we build.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•  Same idea as normal ground truth, but in LLMOps it runs as a GATE at every change / pipeline run.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3C4654"/>
                </a:solidFill>
                <a:latin typeface="Calibri"/>
              </a:rPr>
              <a:t>•  Sources (three-step): SME-authored first -&gt; real traffic over time -&gt; reviewed again by SMEs &amp; business.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3C4654"/>
                </a:solidFill>
                <a:latin typeface="Calibri"/>
              </a:rPr>
              <a:t>•  Per use case AND per program (APIX: Telesales and WCC score differently). Start ~50-200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257800" cy="310896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983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FD0C8"/>
                </a:solidFill>
                <a:latin typeface="Calibri"/>
              </a:rPr>
              <a:t>golden dataset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82496"/>
            <a:ext cx="5257800" cy="2340864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73936"/>
            <a:ext cx="4983480" cy="21579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// evals/apix/golden.telesales.jsonl  (one line)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"id": "apix-telesales-014",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"input": {"transcript_id":"c-88421",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        "program":"telesales"},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"grading": {"must_cite_evidence": true,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"expected_score_band": [70,85],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"must_flag": ["missed_upsell"]},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"meta": {"source": "sme_authored"}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3575304" cy="1051560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04A5A"/>
                </a:solidFill>
                <a:latin typeface="Calibri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18888"/>
            <a:ext cx="33009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quality checked manually / by spot-checking a few calls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4434840"/>
            <a:ext cx="3575304" cy="105156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52628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OUR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818888"/>
            <a:ext cx="33009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a versioned golden dataset run automatically on every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4434840"/>
            <a:ext cx="3575304" cy="1051560"/>
          </a:xfrm>
          <a:prstGeom prst="roundRect">
            <a:avLst>
              <a:gd name="adj" fmla="val 6000"/>
            </a:avLst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452628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3A5F"/>
                </a:solidFill>
                <a:latin typeface="Calibri"/>
              </a:rPr>
              <a:t>WHAT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4818888"/>
            <a:ext cx="33009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evaluation becomes a release gate, not a manual look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Evaluation: how we actually score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9167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6062472"/>
              </a:tblGrid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 group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Judges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we score it (the mechanism)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RAG / retrieval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backed by our data?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Ragas (groundedness, context relevance)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Writing quality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how it reads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DeepEval / LLM-as-judge with a rubric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Execution / task path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did it do the right thing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custom Python checks on the pipeline path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Agent behavior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correct tool usage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custom Python (Ragas/DeepEval don't cover this)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Safety / fairness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safe and unbiased?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Content Safety + custom checks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480560"/>
            <a:ext cx="110916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Options, in one line: </a:t>
            </a:r>
            <a:r>
              <a:rPr sz="1250" b="0" i="0">
                <a:solidFill>
                  <a:srgbClr val="3C4654"/>
                </a:solidFill>
                <a:latin typeface="Calibri"/>
              </a:rPr>
              <a:t>Ragas and DeepEval (code frameworks) cover RAG and writing quality; agent behavior / tool usage needs custom Python; LangSmith does evaluation + observability too but is licensed (not open source). We use a mix, and the thresholds live in evaluators.yaml, enforced by the CI gate.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Evaluation: checking the agent picked the right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3C4654"/>
                </a:solidFill>
                <a:latin typeface="Calibri"/>
              </a:rPr>
              <a:t>When an MCP tool server exposes several tools, a wrong tool that still answers is unreliable. We test it in code: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6949440" cy="310896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6675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FD0C8"/>
                </a:solidFill>
                <a:latin typeface="Calibri"/>
              </a:rPr>
              <a:t>custom Python (not Ragas/DeepEval)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6949440" cy="2889504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85416"/>
            <a:ext cx="6675120" cy="2706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# evals/tool_selection.py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def evaluate_tool_selection(cases, run_agent):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for c in cases:            # input + expected_tool (+ args)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trace  = run_agent(c['input'])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chosen = trace.tool_calls[0].name if trace.tool_calls else None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args_ok = compare_args(trace.tool_calls[0].args, c['expected_args'])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record(correct = chosen == c['expected_tool'], args_ok = args_ok)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return dict(accuracy=..., wrong_tool_rate=...,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            missing_tool_rate=..., arg_correctness=...)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74519"/>
            <a:ext cx="393192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we know the right tool for each test case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run the agent; read the tool it chose from the trace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score: accuracy, per-tool precision/recall, wrong-tool, missing-tool, argument correctness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•  this is why observability records the tool call (see next section)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Observability: what gets tracked on every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943600" cy="54864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Request (trace)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AEC6DE"/>
                </a:solidFill>
                <a:latin typeface="Calibri"/>
              </a:rPr>
              <a:t>one call analysed / one candidate screened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1920240"/>
            <a:ext cx="0" cy="2606040"/>
          </a:xfrm>
          <a:prstGeom prst="line">
            <a:avLst/>
          </a:prstGeom>
          <a:ln w="2032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2423160"/>
            <a:ext cx="274320" cy="0"/>
          </a:xfrm>
          <a:prstGeom prst="line">
            <a:avLst/>
          </a:prstGeom>
          <a:ln w="2032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88720" y="2176272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2F5C9E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Agent step (span)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CFDCF0"/>
                </a:solidFill>
                <a:latin typeface="Calibri"/>
              </a:rPr>
              <a:t>dimension analysis / résumé rank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679192"/>
            <a:ext cx="0" cy="210312"/>
          </a:xfrm>
          <a:prstGeom prst="line">
            <a:avLst/>
          </a:prstGeom>
          <a:ln w="1778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74920" y="2679192"/>
            <a:ext cx="0" cy="210312"/>
          </a:xfrm>
          <a:prstGeom prst="line">
            <a:avLst/>
          </a:prstGeom>
          <a:ln w="1778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17320" y="2889504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Model call (span)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889504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2E7D7D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Tool call (span)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3611880"/>
            <a:ext cx="274320" cy="0"/>
          </a:xfrm>
          <a:prstGeom prst="line">
            <a:avLst/>
          </a:prstGeom>
          <a:ln w="2032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88720" y="3364992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516B8A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Agent session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D5DDE8"/>
                </a:solidFill>
                <a:latin typeface="Calibri"/>
              </a:rPr>
              <a:t>links multi-turn / the whole pipeline run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4434840"/>
            <a:ext cx="274320" cy="0"/>
          </a:xfrm>
          <a:prstGeom prst="line">
            <a:avLst/>
          </a:prstGeom>
          <a:ln w="2032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88720" y="4187952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Feedback event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thumbs / edit / override — same trace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176272"/>
            <a:ext cx="4709160" cy="246888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B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28600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9D8F"/>
                </a:solidFill>
                <a:latin typeface="Calibri"/>
              </a:rPr>
              <a:t>Answers the three questions directly: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743200"/>
            <a:ext cx="43434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model calls → tracked (model+version, prompt+version, tokens, cost, latency)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tool calls → tracked (tool, args, result, and was-it-the-correct-tool)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agent sessions → tracked (one trace id links every step and turn)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Observability: the fields, and 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943600" cy="310896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669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FD0C8"/>
                </a:solidFill>
                <a:latin typeface="Calibri"/>
              </a:rPr>
              <a:t>OpenTelemetry spans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82496"/>
            <a:ext cx="5943600" cy="2798064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73936"/>
            <a:ext cx="5669280" cy="2615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# src/common/tracing.py  (model call span)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with tracer.start_as_current_span('gen_ai.chat') as sp: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sp.set_attribute('gen_ai.request.model', deployment)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sp.set_attribute('app.prompt_id', prompt_id)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sp.set_attribute('app.prompt_version', version)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sp.set_attribute('gen_ai.usage.input_tokens', u.prompt_tokens)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sp.set_attribute('gen_ai.usage.output_tokens', u.completion_tokens)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  sp.set_attribute('app.cost_usd', cost(deployment, u))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# tool span also sets: tool.name, tool.args,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#   eval.expected_tool, eval.was_correct_tool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371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The stack: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828800"/>
            <a:ext cx="493776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OpenTelemetry (open standard) to instrument every call.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Azure Application Insights + Log Analytics = system of record (data stays in our tenant).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self-hosted Langfuse = the LLM-specific view: token/cost per model, prompt versions, per-trace scores.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traces link to cost (FinOps) and to evaluation scores.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personal data (PII) is hashed / redacted before it is stored.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09160"/>
            <a:ext cx="3575304" cy="1005840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0060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04A5A"/>
                </a:solidFill>
                <a:latin typeface="Calibri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93208"/>
            <a:ext cx="3300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application logs only; no per-step model/tool detail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480060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OUR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5093208"/>
            <a:ext cx="3300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full trace tree via OpenTelemetry -&gt; App Insights + Langfuse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4709160"/>
            <a:ext cx="3575304" cy="1005840"/>
          </a:xfrm>
          <a:prstGeom prst="roundRect">
            <a:avLst>
              <a:gd name="adj" fmla="val 6000"/>
            </a:avLst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480060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3A5F"/>
                </a:solidFill>
                <a:latin typeface="Calibri"/>
              </a:rPr>
              <a:t>WHAT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5093208"/>
            <a:ext cx="3300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step-level visibility + cost + quality per request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Guardrails &amp; safety — where they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Input check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Content Safety on the prompt / transcript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210312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2642616" y="2212848"/>
            <a:ext cx="164592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0632" y="17373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Model call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the pipeline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737360"/>
            <a:ext cx="210312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864608" y="2212848"/>
            <a:ext cx="164592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2624" y="17373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PII redaction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hide personal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737360"/>
            <a:ext cx="2103120" cy="73152"/>
          </a:xfrm>
          <a:prstGeom prst="rect">
            <a:avLst/>
          </a:prstGeom>
          <a:solidFill>
            <a:srgbClr val="C8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086600" y="2212848"/>
            <a:ext cx="164592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4616" y="17373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Output check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Content Safety on the 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14616" y="1737360"/>
            <a:ext cx="210312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308592" y="2212848"/>
            <a:ext cx="164592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36608" y="17373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Return / store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or hand to a human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6608" y="1737360"/>
            <a:ext cx="2103120" cy="73152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200400"/>
            <a:ext cx="7498079" cy="310896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200400"/>
            <a:ext cx="7223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FD0C8"/>
                </a:solidFill>
                <a:latin typeface="Calibri"/>
              </a:rPr>
              <a:t>guardrails in the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11296"/>
            <a:ext cx="7498079" cy="1243584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02736"/>
            <a:ext cx="7223759" cy="10607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safe_in  = content_safety.analyze_text(input_text)   # block/flag categories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answer   = call_model(...)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answer   = pii_redact(answer)                        # hide personal data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DDE4EC"/>
                </a:solidFill>
                <a:latin typeface="Consolas"/>
              </a:rPr>
              <a:t>safe_out = content_safety.analyze_text(answer)       # before returning/storing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24612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3C4654"/>
                </a:solidFill>
                <a:latin typeface="Calibri"/>
              </a:rPr>
              <a:t>Human-in-the-loop for consequential outputs (APIX coaching, hiring decisions): the AI assists, a person decides.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3776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2920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04A5A"/>
                </a:solidFill>
                <a:latin typeface="Calibri"/>
              </a:rPr>
              <a:t>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21808"/>
            <a:ext cx="33009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minimal / ad-hoc checks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93776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3984" y="502920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OUR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4" y="5321808"/>
            <a:ext cx="33009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Content Safety + PII redaction on input and output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493776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502920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3A5F"/>
                </a:solidFill>
                <a:latin typeface="Calibri"/>
              </a:rPr>
              <a:t>WHAT CHANGES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5321808"/>
            <a:ext cx="33009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safety built into every step, not optional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Data &amp; RAG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Sources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transcripts, JDs, records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42616" y="2327148"/>
            <a:ext cx="18288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8288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Ingest + clean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+ remove personal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82896" y="2327148"/>
            <a:ext cx="18288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Chunk + embed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text-embedding-3-large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23176" y="2327148"/>
            <a:ext cx="18288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69480" y="18288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AI Search index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search by meaning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63456" y="2327148"/>
            <a:ext cx="18288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9760" y="18288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Retrieve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at answer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3C4654"/>
                </a:solidFill>
                <a:latin typeface="Calibri"/>
              </a:rPr>
              <a:t>Refresh: on a schedule or when a source changes (change-data-capture). Index aliases allow blue-green re-index.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575304" cy="1005840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04A5A"/>
                </a:solidFill>
                <a:latin typeface="Calibri"/>
              </a:rPr>
              <a:t>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98848"/>
            <a:ext cx="3300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ad-hoc / one-off ingestion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4114800"/>
            <a:ext cx="3575304" cy="100584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420624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OUR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4498848"/>
            <a:ext cx="3300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managed ingest -&gt; chunk -&gt; embed -&gt; Azure AI Search, with refresh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4114800"/>
            <a:ext cx="3575304" cy="1005840"/>
          </a:xfrm>
          <a:prstGeom prst="roundRect">
            <a:avLst>
              <a:gd name="adj" fmla="val 6000"/>
            </a:avLst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8" y="420624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3A5F"/>
                </a:solidFill>
                <a:latin typeface="Calibri"/>
              </a:rPr>
              <a:t>WHAT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4498848"/>
            <a:ext cx="3300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a repeatable, refreshed pipeline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Serving, gateway &amp; hosting on Azure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API Management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one entry point, quotas, metering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205740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645920"/>
            <a:ext cx="2743200" cy="100584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Container Apps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each pipeline step as a service; scale to zero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645920"/>
            <a:ext cx="2377440" cy="10058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Functions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event triggers (new transcript)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377440" cy="10058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Foundry Agent Svc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hosted agents (later)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0632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runs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Gate to promote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latest merged build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auto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release candidate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reviewer + eval-full passes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prod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canary 10% -&gt; 100%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reviewer + healthy + auto-rollback on alarm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4892040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98348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04A5A"/>
                </a:solidFill>
                <a:latin typeface="Calibri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76088"/>
            <a:ext cx="3300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deployed manually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4892040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498348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OUR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5276088"/>
            <a:ext cx="3300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Container Apps behind APIM; gated dev/test/prod; canary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4892040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4983480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3A5F"/>
                </a:solidFill>
                <a:latin typeface="Calibri"/>
              </a:rPr>
              <a:t>WHAT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5276088"/>
            <a:ext cx="3300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C4654"/>
                </a:solidFill>
                <a:latin typeface="Calibri"/>
              </a:rPr>
              <a:t>automated, gated, reversible releases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Feedback &amp; improvement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Capture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feedback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76856" y="2327148"/>
            <a:ext cx="164592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14016" y="182880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Land in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App Insights / Langfuse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42232" y="2327148"/>
            <a:ext cx="164592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79392" y="182880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Triage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negatives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7608" y="2327148"/>
            <a:ext cx="164592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82880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Add to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golden dataset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72984" y="2327148"/>
            <a:ext cx="164592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82880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Fix &amp;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re-evaluate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38360" y="2327148"/>
            <a:ext cx="164592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0" y="182880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Ship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731520" y="3291840"/>
            <a:ext cx="9966960" cy="182880"/>
          </a:xfrm>
          <a:prstGeom prst="leftArrow">
            <a:avLst/>
          </a:prstGeom>
          <a:solidFill>
            <a:srgbClr val="BF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109728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captured: thumbs + reason, coach edits to a report, recruiter overrides — all tied to the trace id.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weak results become new golden-dataset cases, so the gate gets stricter where it matters.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fine-tuning only later, once prompts + retrieval plateau — on human-approved, PII-scrubbed examples.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The Azure hosting plan (services)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023360"/>
                <a:gridCol w="5330952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Azure service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Models / AI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Azure OpenAI, Content Safety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the models; safety checks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Knowledge / RAG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Azure AI Search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retrieval index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Data / state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Cosmos DB / Azure SQL, Blob Storage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agent state, APIX scores, transcripts, datasets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Gateway / compute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API Management, Container Apps, Functions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entry point; run the pipeline steps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Azure Monitor, App Insights, self-hosted Langfuse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tracing, dashboards, LLM view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Web app (APIX)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App Service / Static Web Apps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the dashboard front end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Security / identity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Entra ID, Key Vault, Private Endpoints, Purview, Defender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identity, secrets, network, governance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CI/CD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GitHub + GitHub Actions (OIDC)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test &amp; release automatically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Shared once vs per use case: </a:t>
            </a:r>
            <a:r>
              <a:rPr sz="1200" b="0" i="0">
                <a:solidFill>
                  <a:srgbClr val="3C4654"/>
                </a:solidFill>
                <a:latin typeface="Calibri"/>
              </a:rPr>
              <a:t>everything above is shared; per use case we add only prompts, agents, tools, and golden datasets.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End to end: one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377440" cy="20116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GitHub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prompts, agents,
evals, infra as code
+ Actions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CI/CD gate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80360" y="246888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554480"/>
            <a:ext cx="2834640" cy="201168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Azure runtime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APIM -&gt; Container Apps:
orchestrator, agents,
OpenAI, AI Search,
Content Safety, Cosmos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72200" y="246888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155448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Telemetry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App Insights +
Langfuse:
traces, cost,
eval scores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15400" y="246888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155448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Fabric lakehouse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dashboards +
training 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69880" y="3566160"/>
            <a:ext cx="0" cy="411479"/>
          </a:xfrm>
          <a:prstGeom prst="line">
            <a:avLst/>
          </a:prstGeom>
          <a:ln w="25400">
            <a:solidFill>
              <a:srgbClr val="BF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645920" y="3977639"/>
            <a:ext cx="8823960" cy="0"/>
          </a:xfrm>
          <a:prstGeom prst="line">
            <a:avLst/>
          </a:prstGeom>
          <a:ln w="25400">
            <a:solidFill>
              <a:srgbClr val="BF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645920" y="3566160"/>
            <a:ext cx="0" cy="411479"/>
          </a:xfrm>
          <a:prstGeom prst="line">
            <a:avLst/>
          </a:prstGeom>
          <a:ln w="25400">
            <a:solidFill>
              <a:srgbClr val="BF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28800" y="379476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1">
                <a:solidFill>
                  <a:srgbClr val="2A9D8F"/>
                </a:solidFill>
                <a:latin typeface="Calibri"/>
              </a:rPr>
              <a:t>feedback + failures become new golden-dataset cases — the loop closes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C4654"/>
                </a:solidFill>
                <a:latin typeface="Calibri"/>
              </a:rPr>
              <a:t>A change is gated by evaluation before it ships; a live request runs through the gateway and pipeline; every step is traced with cost and quality; feedback flows back into the golden datasets. That closed loop is the LLMOps setup.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What changes, in one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9167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  <a:gridCol w="5605272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Today (to confirm)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add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Source control / CI-CD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repo, manual releases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evaluation gate on every change; gated, reversible deploys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Prompt management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prompts inside code files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YAML per prompt + eval gate + registry for rollback/compare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Model management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model names in code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task-aliases in config; swap must pass the gate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manual spot-checks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golden datasets + Ragas/DeepEval/custom Python, run as a gate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app logs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full trace tree: model calls, tool calls, agent sessions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Guardrails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Content Safety + PII redaction on input and output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Data / RAG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ad-hoc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managed, refreshed ingestion into Azure AI Search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Serving / deploy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Container Apps + APIM; canary + rollback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Summary and next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•  This is the implementation, component by component — the actual files, config, and gates on Azure + GitHub.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3C4654"/>
                </a:solidFill>
                <a:latin typeface="Calibri"/>
              </a:rPr>
              <a:t>•  For each component we showed what exists today and exactly what changes — prompt management is the clearest example.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3C4654"/>
                </a:solidFill>
                <a:latin typeface="Calibri"/>
              </a:rPr>
              <a:t>•  CI/CD + the evaluation gate is the backbone; we onboard the other components one by one.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3C4654"/>
                </a:solidFill>
                <a:latin typeface="Calibri"/>
              </a:rPr>
              <a:t>•  Observability tracks every request, model call, tool call, and agent session; evaluation runs as the gate.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3C4654"/>
                </a:solidFill>
                <a:latin typeface="Calibri"/>
              </a:rPr>
              <a:t>•  Hosting is a shared Azure platform; a new use case only adds its prompts, agents, tools, and golden data.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•  Next: confirm the current state with the team, then set up the backbone and onboard the first component.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Terms in plain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LLMOps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running LLM apps reliably — versioned, tested, released, monitored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25880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Golden dataset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saved test cases with expected answers/rules; the evaluation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Evaluation gate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an automatic check that blocks a change if quality drops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01952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Registry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where prompts are held so we can roll back / swap versions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78024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Ragas / DeepEval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open-source frameworks that score RAG &amp; writing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78024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LangSmith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a licensed platform for evaluation + observability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Langfuse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open-source, self-hosted prompt mgmt +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54096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OIDC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federated login to Azure with no stored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30168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Trace / span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a trace is one request; a span is one step inside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30168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MCP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Model Context Protocol — the standard way to give agents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RAG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Retrieval-Augmented Generation — answer from our own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206240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Canary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release to a small % of traffic first, then 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82312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PII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Personally Identifiable Information — personal data to protect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782312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Container Apps / Functions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Azure ways to run our services / triggers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58384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Foundry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the Azure AI platform (model catalog, agents, prompt assets)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358384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APIX / WCC / Telesales  </a:t>
            </a:r>
            <a:r>
              <a:rPr sz="1050" b="0" i="0">
                <a:solidFill>
                  <a:srgbClr val="3C4654"/>
                </a:solidFill>
                <a:latin typeface="Calibri"/>
              </a:rPr>
              <a:t>the use case and the two AFNI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