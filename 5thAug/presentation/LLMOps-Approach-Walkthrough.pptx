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it: this is the approach for discussion, not a finished plan, and deliberately no timelines yet — as agreed. We ground it in APIX and Hiring so it's concrete, but the approach applies to any future use case.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exactly the things asked for. Signal early that we'll spend the most time on evaluation and observability.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message. The pipelines exist. LLMOps is the operational layer we wrap around them. The eight tiles are the pieces of that layer — same layer serves both use cases and any future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pipeline left to right. WCC = the care program; Telesales = the sales program; they score differently, which matters for evaluation (separate golden sets per program). Then the three evaluation priorities — groundedness is the big one for a coaching tool.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Hiring is the one with tools, so it's where tool-selection evaluation lives. MCP is just the standard way an agent is given tools. Note the pairing point at the bottom: the two use cases together cover everything, which is why the framework generalises.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Nine workstreams. Foundational first (discovery, foundation, observability). Evaluation is called out as the priority that runs early and never really stops. The rest layer in. Stress: no dates — sequencing and dependencies only, as agreed.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careful and honest here: we haven't audited the pipelines yet, so as-is is written as 'to confirm'. The value is the target column and the gap it implies. We're adding an operational layer, not rebuilding.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mental model for the whole observability section. A request is a trace; each step is a span nested under its parent. Point at the model-call and tool-call spans under Agent 1. The trace id is the thread that lets us follow any answer back to its source.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directly answers the four questions asked: per request, per model call, per tool call, per agent session. Highlight the tool-call row — recording the correct-tool flag is what makes tool-selection evaluation possible. Tools: Azure-native App Insights for the record of truth, Langfuse for the LLM-specific lens.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Directly answers Kiran's question about the grouping. The point: writing quality and task execution are independent. Acknowledge the overlap he raised and say how we handle it — assign each metric to one group.</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Kiran will care about most. Simple idea: we know the right tool for each test case, we run the agent, we read what it actually chose from the trace, and we compare. The metrics catch every failure mode. Point out this needs custom Python — the RAG frameworks don't do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Honest options, not a single vendor. The recommendation is a mix. Flag LangSmith as licensed — it's good but not open source, so it's a cost decision, and we can do most of it with open tools.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modes: offline gate, online sampling, human review — they reinforce each other. The bottom box is an important nuance for pipelines: test each step and the whole thing, because one weak step can hide behind a decent final answer.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Recommend Container Apps for the pipeline services, plus Functions for triggers. The tiles are the shared platform every use case sits on. Reinforce: this is the target picture, and we deliberately keep dates out.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 the five threads. The ask is not a sign-off on a schedule — it's to align on the approach and set up the discovery of the current pipelines, per the agreed next step.</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 leave up for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783080"/>
            <a:ext cx="10515600" cy="1188720"/>
          </a:xfrm>
          <a:prstGeom prst="rect">
            <a:avLst/>
          </a:prstGeom>
          <a:noFill/>
        </p:spPr>
        <p:txBody>
          <a:bodyPr wrap="square" anchor="t" lIns="0" rIns="0" tIns="0" bIns="0">
            <a:spAutoFit/>
          </a:bodyPr>
          <a:lstStyle/>
          <a:p>
            <a:pPr algn="l">
              <a:lnSpc>
                <a:spcPct val="105000"/>
              </a:lnSpc>
              <a:spcBef>
                <a:spcPts val="0"/>
              </a:spcBef>
              <a:spcAft>
                <a:spcPts val="600"/>
              </a:spcAft>
            </a:pPr>
            <a:r>
              <a:rPr sz="3200" b="1" i="0">
                <a:solidFill>
                  <a:srgbClr val="1F3A5F"/>
                </a:solidFill>
                <a:latin typeface="Calibri"/>
              </a:rPr>
              <a:t>LLMOps: our approach</a:t>
            </a:r>
          </a:p>
        </p:txBody>
      </p:sp>
      <p:sp>
        <p:nvSpPr>
          <p:cNvPr id="5" name="Rectangle 4"/>
          <p:cNvSpPr/>
          <p:nvPr/>
        </p:nvSpPr>
        <p:spPr>
          <a:xfrm>
            <a:off x="859536" y="2560320"/>
            <a:ext cx="1828800" cy="3810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2834640"/>
            <a:ext cx="10332720" cy="1371600"/>
          </a:xfrm>
          <a:prstGeom prst="rect">
            <a:avLst/>
          </a:prstGeom>
          <a:noFill/>
        </p:spPr>
        <p:txBody>
          <a:bodyPr wrap="square" anchor="t" lIns="0" rIns="0" tIns="0" bIns="0">
            <a:spAutoFit/>
          </a:bodyPr>
          <a:lstStyle/>
          <a:p>
            <a:pPr algn="l">
              <a:lnSpc>
                <a:spcPct val="105000"/>
              </a:lnSpc>
              <a:spcBef>
                <a:spcPts val="0"/>
              </a:spcBef>
              <a:spcAft>
                <a:spcPts val="1000"/>
              </a:spcAft>
            </a:pPr>
            <a:r>
              <a:rPr sz="1700" b="0" i="0">
                <a:solidFill>
                  <a:srgbClr val="3C4654"/>
                </a:solidFill>
                <a:latin typeface="Calibri"/>
              </a:rPr>
              <a:t>Built around two live use cases — APIX and Hiring Intelligence — and reusable for any project that follows.</a:t>
            </a:r>
          </a:p>
          <a:p>
            <a:pPr algn="l">
              <a:lnSpc>
                <a:spcPct val="105000"/>
              </a:lnSpc>
              <a:spcBef>
                <a:spcPts val="0"/>
              </a:spcBef>
              <a:spcAft>
                <a:spcPts val="1000"/>
              </a:spcAft>
            </a:pPr>
            <a:r>
              <a:rPr sz="1300" b="0" i="1">
                <a:solidFill>
                  <a:srgbClr val="6B7480"/>
                </a:solidFill>
                <a:latin typeface="Calibri"/>
              </a:rPr>
              <a:t>LLMOps = Large Language Model Operations: how we run these apps reliably (tracking, testing, releasing, improving).</a:t>
            </a:r>
          </a:p>
        </p:txBody>
      </p:sp>
      <p:sp>
        <p:nvSpPr>
          <p:cNvPr id="7" name="TextBox 6"/>
          <p:cNvSpPr txBox="1"/>
          <p:nvPr/>
        </p:nvSpPr>
        <p:spPr>
          <a:xfrm>
            <a:off x="841248" y="5806440"/>
            <a:ext cx="10058400" cy="457200"/>
          </a:xfrm>
          <a:prstGeom prst="rect">
            <a:avLst/>
          </a:prstGeom>
          <a:noFill/>
        </p:spPr>
        <p:txBody>
          <a:bodyPr wrap="square" anchor="t" lIns="0" rIns="0" tIns="0" bIns="0">
            <a:spAutoFit/>
          </a:bodyPr>
          <a:lstStyle/>
          <a:p>
            <a:pPr algn="l">
              <a:lnSpc>
                <a:spcPct val="105000"/>
              </a:lnSpc>
              <a:spcBef>
                <a:spcPts val="0"/>
              </a:spcBef>
              <a:spcAft>
                <a:spcPts val="600"/>
              </a:spcAft>
            </a:pPr>
            <a:r>
              <a:rPr sz="1200" b="1" i="0">
                <a:solidFill>
                  <a:srgbClr val="1F3A5F"/>
                </a:solidFill>
                <a:latin typeface="Calibri"/>
              </a:rPr>
              <a:t>Working draft for review  ·  approach &amp; activities (no dates yet)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92608"/>
            <a:ext cx="10881360" cy="274320"/>
          </a:xfrm>
          <a:prstGeom prst="rect">
            <a:avLst/>
          </a:prstGeom>
          <a:noFill/>
        </p:spPr>
        <p:txBody>
          <a:bodyPr wrap="square" anchor="t" lIns="0" rIns="0" tIns="0" bIns="0">
            <a:spAutoFit/>
          </a:bodyPr>
          <a:lstStyle/>
          <a:p>
            <a:pPr algn="l">
              <a:lnSpc>
                <a:spcPct val="105000"/>
              </a:lnSpc>
              <a:spcBef>
                <a:spcPts val="0"/>
              </a:spcBef>
              <a:spcAft>
                <a:spcPts val="600"/>
              </a:spcAft>
            </a:pPr>
            <a:r>
              <a:rPr sz="1100" b="1" i="0">
                <a:solidFill>
                  <a:srgbClr val="2A9D8F"/>
                </a:solidFill>
                <a:latin typeface="Calibri"/>
              </a:rPr>
              <a:t>AGENDA</a:t>
            </a:r>
          </a:p>
        </p:txBody>
      </p:sp>
      <p:sp>
        <p:nvSpPr>
          <p:cNvPr id="4" name="TextBox 3"/>
          <p:cNvSpPr txBox="1"/>
          <p:nvPr/>
        </p:nvSpPr>
        <p:spPr>
          <a:xfrm>
            <a:off x="640080" y="512064"/>
            <a:ext cx="10972800" cy="640080"/>
          </a:xfrm>
          <a:prstGeom prst="rect">
            <a:avLst/>
          </a:prstGeom>
          <a:noFill/>
        </p:spPr>
        <p:txBody>
          <a:bodyPr wrap="square" anchor="t" lIns="0" rIns="0" tIns="0" bIns="0">
            <a:spAutoFit/>
          </a:bodyPr>
          <a:lstStyle/>
          <a:p>
            <a:pPr algn="l">
              <a:lnSpc>
                <a:spcPct val="105000"/>
              </a:lnSpc>
              <a:spcBef>
                <a:spcPts val="0"/>
              </a:spcBef>
              <a:spcAft>
                <a:spcPts val="600"/>
              </a:spcAft>
            </a:pPr>
            <a:r>
              <a:rPr sz="2300" b="1" i="0">
                <a:solidFill>
                  <a:srgbClr val="1F3A5F"/>
                </a:solidFill>
                <a:latin typeface="Calibri"/>
              </a:rPr>
              <a:t>What this covers</a:t>
            </a:r>
          </a:p>
        </p:txBody>
      </p:sp>
      <p:sp>
        <p:nvSpPr>
          <p:cNvPr id="5" name="Rectangle 4"/>
          <p:cNvSpPr/>
          <p:nvPr/>
        </p:nvSpPr>
        <p:spPr>
          <a:xfrm>
            <a:off x="658368" y="1078992"/>
            <a:ext cx="1371600" cy="3810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85855" y="6473952"/>
            <a:ext cx="640080" cy="274320"/>
          </a:xfrm>
          <a:prstGeom prst="rect">
            <a:avLst/>
          </a:prstGeom>
          <a:noFill/>
        </p:spPr>
        <p:txBody>
          <a:bodyPr wrap="square" anchor="t" lIns="0" rIns="0" tIns="0" bIns="0">
            <a:spAutoFit/>
          </a:bodyPr>
          <a:lstStyle/>
          <a:p>
            <a:pPr algn="r">
              <a:lnSpc>
                <a:spcPct val="105000"/>
              </a:lnSpc>
              <a:spcBef>
                <a:spcPts val="0"/>
              </a:spcBef>
              <a:spcAft>
                <a:spcPts val="600"/>
              </a:spcAft>
            </a:pPr>
            <a:r>
              <a:rPr sz="1000" b="0" i="0">
                <a:solidFill>
                  <a:srgbClr val="6B7480"/>
                </a:solidFill>
                <a:latin typeface="Calibri"/>
              </a:rPr>
              <a:t>2</a:t>
            </a:r>
          </a:p>
        </p:txBody>
      </p:sp>
      <p:sp>
        <p:nvSpPr>
          <p:cNvPr id="7" name="TextBox 6"/>
          <p:cNvSpPr txBox="1"/>
          <p:nvPr/>
        </p:nvSpPr>
        <p:spPr>
          <a:xfrm>
            <a:off x="640080" y="6473952"/>
            <a:ext cx="8229600" cy="274320"/>
          </a:xfrm>
          <a:prstGeom prst="rect">
            <a:avLst/>
          </a:prstGeom>
          <a:noFill/>
        </p:spPr>
        <p:txBody>
          <a:bodyPr wrap="square" anchor="t" lIns="0" rIns="0" tIns="0" bIns="0">
            <a:spAutoFit/>
          </a:bodyPr>
          <a:lstStyle/>
          <a:p>
            <a:pPr algn="l">
              <a:lnSpc>
                <a:spcPct val="105000"/>
              </a:lnSpc>
              <a:spcBef>
                <a:spcPts val="0"/>
              </a:spcBef>
              <a:spcAft>
                <a:spcPts val="600"/>
              </a:spcAft>
            </a:pPr>
            <a:r>
              <a:rPr sz="900" b="0" i="0">
                <a:solidFill>
                  <a:srgbClr val="6B7480"/>
                </a:solidFill>
                <a:latin typeface="Calibri"/>
              </a:rPr>
              <a:t>LLMOps approach — APIX &amp; Hiring Intelligence</a:t>
            </a:r>
          </a:p>
        </p:txBody>
      </p:sp>
      <p:sp>
        <p:nvSpPr>
          <p:cNvPr id="8" name="Rounded Rectangle 7"/>
          <p:cNvSpPr/>
          <p:nvPr/>
        </p:nvSpPr>
        <p:spPr>
          <a:xfrm>
            <a:off x="640080" y="1554480"/>
            <a:ext cx="3520440" cy="137160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50" b="1">
                <a:solidFill>
                  <a:srgbClr val="1F3A5F"/>
                </a:solidFill>
                <a:latin typeface="Calibri"/>
              </a:rPr>
              <a:t>The approach</a:t>
            </a:r>
          </a:p>
          <a:p>
            <a:pPr algn="ctr">
              <a:lnSpc>
                <a:spcPct val="100000"/>
              </a:lnSpc>
              <a:spcAft>
                <a:spcPts val="100"/>
              </a:spcAft>
            </a:pPr>
            <a:r>
              <a:rPr sz="1000" b="0">
                <a:solidFill>
                  <a:srgbClr val="3C4654"/>
                </a:solidFill>
                <a:latin typeface="Calibri"/>
              </a:rPr>
              <a:t>how we run LLMOps</a:t>
            </a:r>
          </a:p>
        </p:txBody>
      </p:sp>
      <p:sp>
        <p:nvSpPr>
          <p:cNvPr id="9" name="Rectangle 8"/>
          <p:cNvSpPr/>
          <p:nvPr/>
        </p:nvSpPr>
        <p:spPr>
          <a:xfrm>
            <a:off x="640080" y="1554480"/>
            <a:ext cx="91440" cy="137160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89120" y="1554480"/>
            <a:ext cx="3520440" cy="137160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50" b="1">
                <a:solidFill>
                  <a:srgbClr val="1F3A5F"/>
                </a:solidFill>
                <a:latin typeface="Calibri"/>
              </a:rPr>
              <a:t>The activities</a:t>
            </a:r>
          </a:p>
          <a:p>
            <a:pPr algn="ctr">
              <a:lnSpc>
                <a:spcPct val="100000"/>
              </a:lnSpc>
              <a:spcAft>
                <a:spcPts val="100"/>
              </a:spcAft>
            </a:pPr>
            <a:r>
              <a:rPr sz="1000" b="0">
                <a:solidFill>
                  <a:srgbClr val="3C4654"/>
                </a:solidFill>
                <a:latin typeface="Calibri"/>
              </a:rPr>
              <a:t>what work is involved</a:t>
            </a:r>
          </a:p>
        </p:txBody>
      </p:sp>
      <p:sp>
        <p:nvSpPr>
          <p:cNvPr id="11" name="Rectangle 10"/>
          <p:cNvSpPr/>
          <p:nvPr/>
        </p:nvSpPr>
        <p:spPr>
          <a:xfrm>
            <a:off x="4389120" y="1554480"/>
            <a:ext cx="91440" cy="1371600"/>
          </a:xfrm>
          <a:prstGeom prst="rect">
            <a:avLst/>
          </a:prstGeom>
          <a:solidFill>
            <a:srgbClr val="2F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138160" y="1554480"/>
            <a:ext cx="3520440" cy="137160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50" b="1">
                <a:solidFill>
                  <a:srgbClr val="1F3A5F"/>
                </a:solidFill>
                <a:latin typeface="Calibri"/>
              </a:rPr>
              <a:t>As-is vs to-be</a:t>
            </a:r>
          </a:p>
          <a:p>
            <a:pPr algn="ctr">
              <a:lnSpc>
                <a:spcPct val="100000"/>
              </a:lnSpc>
              <a:spcAft>
                <a:spcPts val="100"/>
              </a:spcAft>
            </a:pPr>
            <a:r>
              <a:rPr sz="1000" b="0">
                <a:solidFill>
                  <a:srgbClr val="3C4654"/>
                </a:solidFill>
                <a:latin typeface="Calibri"/>
              </a:rPr>
              <a:t>what exists, what changes</a:t>
            </a:r>
          </a:p>
        </p:txBody>
      </p:sp>
      <p:sp>
        <p:nvSpPr>
          <p:cNvPr id="13" name="Rectangle 12"/>
          <p:cNvSpPr/>
          <p:nvPr/>
        </p:nvSpPr>
        <p:spPr>
          <a:xfrm>
            <a:off x="8138160" y="1554480"/>
            <a:ext cx="91440" cy="1371600"/>
          </a:xfrm>
          <a:prstGeom prst="rect">
            <a:avLst/>
          </a:prstGeom>
          <a:solidFill>
            <a:srgbClr val="516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40080" y="3154680"/>
            <a:ext cx="3520440" cy="137160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50" b="1">
                <a:solidFill>
                  <a:srgbClr val="1F3A5F"/>
                </a:solidFill>
                <a:latin typeface="Calibri"/>
              </a:rPr>
              <a:t>Observability</a:t>
            </a:r>
          </a:p>
          <a:p>
            <a:pPr algn="ctr">
              <a:lnSpc>
                <a:spcPct val="100000"/>
              </a:lnSpc>
              <a:spcAft>
                <a:spcPts val="100"/>
              </a:spcAft>
            </a:pPr>
            <a:r>
              <a:rPr sz="1000" b="0">
                <a:solidFill>
                  <a:srgbClr val="3C4654"/>
                </a:solidFill>
                <a:latin typeface="Calibri"/>
              </a:rPr>
              <a:t>what we track on every request</a:t>
            </a:r>
          </a:p>
        </p:txBody>
      </p:sp>
      <p:sp>
        <p:nvSpPr>
          <p:cNvPr id="15" name="Rectangle 14"/>
          <p:cNvSpPr/>
          <p:nvPr/>
        </p:nvSpPr>
        <p:spPr>
          <a:xfrm>
            <a:off x="640080" y="3154680"/>
            <a:ext cx="91440" cy="1371600"/>
          </a:xfrm>
          <a:prstGeom prst="rect">
            <a:avLst/>
          </a:prstGeom>
          <a:solidFill>
            <a:srgbClr val="2E7D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389120" y="3154680"/>
            <a:ext cx="3520440" cy="137160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50" b="1">
                <a:solidFill>
                  <a:srgbClr val="1F3A5F"/>
                </a:solidFill>
                <a:latin typeface="Calibri"/>
              </a:rPr>
              <a:t>Evaluation</a:t>
            </a:r>
          </a:p>
          <a:p>
            <a:pPr algn="ctr">
              <a:lnSpc>
                <a:spcPct val="100000"/>
              </a:lnSpc>
              <a:spcAft>
                <a:spcPts val="100"/>
              </a:spcAft>
            </a:pPr>
            <a:r>
              <a:rPr sz="1000" b="0">
                <a:solidFill>
                  <a:srgbClr val="3C4654"/>
                </a:solidFill>
                <a:latin typeface="Calibri"/>
              </a:rPr>
              <a:t>how we measure quality</a:t>
            </a:r>
          </a:p>
        </p:txBody>
      </p:sp>
      <p:sp>
        <p:nvSpPr>
          <p:cNvPr id="17" name="Rectangle 16"/>
          <p:cNvSpPr/>
          <p:nvPr/>
        </p:nvSpPr>
        <p:spPr>
          <a:xfrm>
            <a:off x="4389120" y="3154680"/>
            <a:ext cx="91440" cy="1371600"/>
          </a:xfrm>
          <a:prstGeom prst="rect">
            <a:avLst/>
          </a:prstGeom>
          <a:solidFill>
            <a:srgbClr val="6A5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138160" y="3154680"/>
            <a:ext cx="3520440" cy="137160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50" b="1">
                <a:solidFill>
                  <a:srgbClr val="1F3A5F"/>
                </a:solidFill>
                <a:latin typeface="Calibri"/>
              </a:rPr>
              <a:t>Infrastructure</a:t>
            </a:r>
          </a:p>
          <a:p>
            <a:pPr algn="ctr">
              <a:lnSpc>
                <a:spcPct val="100000"/>
              </a:lnSpc>
              <a:spcAft>
                <a:spcPts val="100"/>
              </a:spcAft>
            </a:pPr>
            <a:r>
              <a:rPr sz="1000" b="0">
                <a:solidFill>
                  <a:srgbClr val="3C4654"/>
                </a:solidFill>
                <a:latin typeface="Calibri"/>
              </a:rPr>
              <a:t>Azure services &amp; hosting</a:t>
            </a:r>
          </a:p>
        </p:txBody>
      </p:sp>
      <p:sp>
        <p:nvSpPr>
          <p:cNvPr id="19" name="Rectangle 18"/>
          <p:cNvSpPr/>
          <p:nvPr/>
        </p:nvSpPr>
        <p:spPr>
          <a:xfrm>
            <a:off x="8138160" y="3154680"/>
            <a:ext cx="91440" cy="13716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4937760"/>
            <a:ext cx="10881360" cy="548640"/>
          </a:xfrm>
          <a:prstGeom prst="rect">
            <a:avLst/>
          </a:prstGeom>
          <a:noFill/>
        </p:spPr>
        <p:txBody>
          <a:bodyPr wrap="square" anchor="t" lIns="0" rIns="0" tIns="0" bIns="0">
            <a:spAutoFit/>
          </a:bodyPr>
          <a:lstStyle/>
          <a:p>
            <a:pPr algn="l">
              <a:lnSpc>
                <a:spcPct val="105000"/>
              </a:lnSpc>
              <a:spcBef>
                <a:spcPts val="0"/>
              </a:spcBef>
              <a:spcAft>
                <a:spcPts val="600"/>
              </a:spcAft>
            </a:pPr>
            <a:r>
              <a:rPr sz="1300" b="1" i="1">
                <a:solidFill>
                  <a:srgbClr val="1F3A5F"/>
                </a:solidFill>
                <a:latin typeface="Calibri"/>
              </a:rPr>
              <a:t>Evaluation and observability get the most detail — that is where the real work and the real questions are.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92608"/>
            <a:ext cx="10881360" cy="274320"/>
          </a:xfrm>
          <a:prstGeom prst="rect">
            <a:avLst/>
          </a:prstGeom>
          <a:noFill/>
        </p:spPr>
        <p:txBody>
          <a:bodyPr wrap="square" anchor="t" lIns="0" rIns="0" tIns="0" bIns="0">
            <a:spAutoFit/>
          </a:bodyPr>
          <a:lstStyle/>
          <a:p>
            <a:pPr algn="l">
              <a:lnSpc>
                <a:spcPct val="105000"/>
              </a:lnSpc>
              <a:spcBef>
                <a:spcPts val="0"/>
              </a:spcBef>
              <a:spcAft>
                <a:spcPts val="600"/>
              </a:spcAft>
            </a:pPr>
            <a:r>
              <a:rPr sz="1100" b="1" i="0">
                <a:solidFill>
                  <a:srgbClr val="2A9D8F"/>
                </a:solidFill>
                <a:latin typeface="Calibri"/>
              </a:rPr>
              <a:t>APPROACH</a:t>
            </a:r>
          </a:p>
        </p:txBody>
      </p:sp>
      <p:sp>
        <p:nvSpPr>
          <p:cNvPr id="4" name="TextBox 3"/>
          <p:cNvSpPr txBox="1"/>
          <p:nvPr/>
        </p:nvSpPr>
        <p:spPr>
          <a:xfrm>
            <a:off x="640080" y="512064"/>
            <a:ext cx="10972800" cy="640080"/>
          </a:xfrm>
          <a:prstGeom prst="rect">
            <a:avLst/>
          </a:prstGeom>
          <a:noFill/>
        </p:spPr>
        <p:txBody>
          <a:bodyPr wrap="square" anchor="t" lIns="0" rIns="0" tIns="0" bIns="0">
            <a:spAutoFit/>
          </a:bodyPr>
          <a:lstStyle/>
          <a:p>
            <a:pPr algn="l">
              <a:lnSpc>
                <a:spcPct val="105000"/>
              </a:lnSpc>
              <a:spcBef>
                <a:spcPts val="0"/>
              </a:spcBef>
              <a:spcAft>
                <a:spcPts val="600"/>
              </a:spcAft>
            </a:pPr>
            <a:r>
              <a:rPr sz="2300" b="1" i="0">
                <a:solidFill>
                  <a:srgbClr val="1F3A5F"/>
                </a:solidFill>
                <a:latin typeface="Calibri"/>
              </a:rPr>
              <a:t>The approach: wrap the pipelines with an operational layer</a:t>
            </a:r>
          </a:p>
        </p:txBody>
      </p:sp>
      <p:sp>
        <p:nvSpPr>
          <p:cNvPr id="5" name="Rectangle 4"/>
          <p:cNvSpPr/>
          <p:nvPr/>
        </p:nvSpPr>
        <p:spPr>
          <a:xfrm>
            <a:off x="658368" y="1078992"/>
            <a:ext cx="1371600" cy="3810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85855" y="6473952"/>
            <a:ext cx="640080" cy="274320"/>
          </a:xfrm>
          <a:prstGeom prst="rect">
            <a:avLst/>
          </a:prstGeom>
          <a:noFill/>
        </p:spPr>
        <p:txBody>
          <a:bodyPr wrap="square" anchor="t" lIns="0" rIns="0" tIns="0" bIns="0">
            <a:spAutoFit/>
          </a:bodyPr>
          <a:lstStyle/>
          <a:p>
            <a:pPr algn="r">
              <a:lnSpc>
                <a:spcPct val="105000"/>
              </a:lnSpc>
              <a:spcBef>
                <a:spcPts val="0"/>
              </a:spcBef>
              <a:spcAft>
                <a:spcPts val="600"/>
              </a:spcAft>
            </a:pPr>
            <a:r>
              <a:rPr sz="1000" b="0" i="0">
                <a:solidFill>
                  <a:srgbClr val="6B7480"/>
                </a:solidFill>
                <a:latin typeface="Calibri"/>
              </a:rPr>
              <a:t>3</a:t>
            </a:r>
          </a:p>
        </p:txBody>
      </p:sp>
      <p:sp>
        <p:nvSpPr>
          <p:cNvPr id="7" name="TextBox 6"/>
          <p:cNvSpPr txBox="1"/>
          <p:nvPr/>
        </p:nvSpPr>
        <p:spPr>
          <a:xfrm>
            <a:off x="640080" y="6473952"/>
            <a:ext cx="8229600" cy="274320"/>
          </a:xfrm>
          <a:prstGeom prst="rect">
            <a:avLst/>
          </a:prstGeom>
          <a:noFill/>
        </p:spPr>
        <p:txBody>
          <a:bodyPr wrap="square" anchor="t" lIns="0" rIns="0" tIns="0" bIns="0">
            <a:spAutoFit/>
          </a:bodyPr>
          <a:lstStyle/>
          <a:p>
            <a:pPr algn="l">
              <a:lnSpc>
                <a:spcPct val="105000"/>
              </a:lnSpc>
              <a:spcBef>
                <a:spcPts val="0"/>
              </a:spcBef>
              <a:spcAft>
                <a:spcPts val="600"/>
              </a:spcAft>
            </a:pPr>
            <a:r>
              <a:rPr sz="900" b="0" i="0">
                <a:solidFill>
                  <a:srgbClr val="6B7480"/>
                </a:solidFill>
                <a:latin typeface="Calibri"/>
              </a:rPr>
              <a:t>LLMOps approach — APIX &amp; Hiring Intelligence</a:t>
            </a:r>
          </a:p>
        </p:txBody>
      </p:sp>
      <p:sp>
        <p:nvSpPr>
          <p:cNvPr id="8" name="Rounded Rectangle 7"/>
          <p:cNvSpPr/>
          <p:nvPr/>
        </p:nvSpPr>
        <p:spPr>
          <a:xfrm>
            <a:off x="640080" y="1508760"/>
            <a:ext cx="5120640" cy="137160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400" b="1">
                <a:solidFill>
                  <a:srgbClr val="1F3A5F"/>
                </a:solidFill>
                <a:latin typeface="Calibri"/>
              </a:rPr>
              <a:t>What already exists</a:t>
            </a:r>
          </a:p>
          <a:p>
            <a:pPr algn="ctr">
              <a:lnSpc>
                <a:spcPct val="100000"/>
              </a:lnSpc>
              <a:spcAft>
                <a:spcPts val="100"/>
              </a:spcAft>
            </a:pPr>
            <a:r>
              <a:rPr sz="1000" b="0">
                <a:solidFill>
                  <a:srgbClr val="3C4654"/>
                </a:solidFill>
                <a:latin typeface="Calibri"/>
              </a:rPr>
              <a:t>APIX and Hiring run as agent pipelines (built by the product team)</a:t>
            </a:r>
          </a:p>
        </p:txBody>
      </p:sp>
      <p:sp>
        <p:nvSpPr>
          <p:cNvPr id="9" name="Right Arrow 8"/>
          <p:cNvSpPr/>
          <p:nvPr/>
        </p:nvSpPr>
        <p:spPr>
          <a:xfrm>
            <a:off x="5852160" y="2103120"/>
            <a:ext cx="411480" cy="274320"/>
          </a:xfrm>
          <a:prstGeom prst="rightArrow">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355080" y="1508760"/>
            <a:ext cx="5212080" cy="1371600"/>
          </a:xfrm>
          <a:prstGeom prst="roundRect">
            <a:avLst>
              <a:gd name="adj" fmla="val 8000"/>
            </a:avLst>
          </a:prstGeom>
          <a:solidFill>
            <a:srgbClr val="E9F3F0"/>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400" b="1">
                <a:solidFill>
                  <a:srgbClr val="2A9D8F"/>
                </a:solidFill>
                <a:latin typeface="Calibri"/>
              </a:rPr>
              <a:t>What we add: the LLMOps layer</a:t>
            </a:r>
          </a:p>
          <a:p>
            <a:pPr algn="ctr">
              <a:lnSpc>
                <a:spcPct val="100000"/>
              </a:lnSpc>
              <a:spcAft>
                <a:spcPts val="100"/>
              </a:spcAft>
            </a:pPr>
            <a:r>
              <a:rPr sz="1000" b="0">
                <a:solidFill>
                  <a:srgbClr val="3C4654"/>
                </a:solidFill>
                <a:latin typeface="Calibri"/>
              </a:rPr>
              <a:t>tracking, evaluation, prompt &amp; model control, safe releases, feedback</a:t>
            </a:r>
          </a:p>
        </p:txBody>
      </p:sp>
      <p:sp>
        <p:nvSpPr>
          <p:cNvPr id="11" name="TextBox 10"/>
          <p:cNvSpPr txBox="1"/>
          <p:nvPr/>
        </p:nvSpPr>
        <p:spPr>
          <a:xfrm>
            <a:off x="640080" y="3200400"/>
            <a:ext cx="10972800" cy="365760"/>
          </a:xfrm>
          <a:prstGeom prst="rect">
            <a:avLst/>
          </a:prstGeom>
          <a:noFill/>
        </p:spPr>
        <p:txBody>
          <a:bodyPr wrap="square" anchor="t" lIns="0" rIns="0" tIns="0" bIns="0">
            <a:spAutoFit/>
          </a:bodyPr>
          <a:lstStyle/>
          <a:p>
            <a:pPr algn="l">
              <a:lnSpc>
                <a:spcPct val="105000"/>
              </a:lnSpc>
              <a:spcBef>
                <a:spcPts val="0"/>
              </a:spcBef>
              <a:spcAft>
                <a:spcPts val="600"/>
              </a:spcAft>
            </a:pPr>
            <a:r>
              <a:rPr sz="1300" b="1" i="1">
                <a:solidFill>
                  <a:srgbClr val="1F3A5F"/>
                </a:solidFill>
                <a:latin typeface="Calibri"/>
              </a:rPr>
              <a:t>We are not rebuilding the use cases. We add the operational layer around them, standardise it, and make it reusable.</a:t>
            </a:r>
          </a:p>
        </p:txBody>
      </p:sp>
      <p:sp>
        <p:nvSpPr>
          <p:cNvPr id="12" name="Rounded Rectangle 11"/>
          <p:cNvSpPr/>
          <p:nvPr/>
        </p:nvSpPr>
        <p:spPr>
          <a:xfrm>
            <a:off x="640080" y="3749039"/>
            <a:ext cx="2651760" cy="77724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00" b="1">
                <a:solidFill>
                  <a:srgbClr val="1F3A5F"/>
                </a:solidFill>
                <a:latin typeface="Calibri"/>
              </a:rPr>
              <a:t>Observability</a:t>
            </a:r>
          </a:p>
          <a:p>
            <a:pPr algn="ctr">
              <a:lnSpc>
                <a:spcPct val="100000"/>
              </a:lnSpc>
              <a:spcAft>
                <a:spcPts val="100"/>
              </a:spcAft>
            </a:pPr>
            <a:r>
              <a:rPr sz="950" b="0">
                <a:solidFill>
                  <a:srgbClr val="3C4654"/>
                </a:solidFill>
                <a:latin typeface="Calibri"/>
              </a:rPr>
              <a:t>see every step</a:t>
            </a:r>
          </a:p>
        </p:txBody>
      </p:sp>
      <p:sp>
        <p:nvSpPr>
          <p:cNvPr id="13" name="Rounded Rectangle 12"/>
          <p:cNvSpPr/>
          <p:nvPr/>
        </p:nvSpPr>
        <p:spPr>
          <a:xfrm>
            <a:off x="3438144" y="3749039"/>
            <a:ext cx="2651760" cy="77724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00" b="1">
                <a:solidFill>
                  <a:srgbClr val="1F3A5F"/>
                </a:solidFill>
                <a:latin typeface="Calibri"/>
              </a:rPr>
              <a:t>Evaluation</a:t>
            </a:r>
          </a:p>
          <a:p>
            <a:pPr algn="ctr">
              <a:lnSpc>
                <a:spcPct val="100000"/>
              </a:lnSpc>
              <a:spcAft>
                <a:spcPts val="100"/>
              </a:spcAft>
            </a:pPr>
            <a:r>
              <a:rPr sz="950" b="0">
                <a:solidFill>
                  <a:srgbClr val="3C4654"/>
                </a:solidFill>
                <a:latin typeface="Calibri"/>
              </a:rPr>
              <a:t>measure quality</a:t>
            </a:r>
          </a:p>
        </p:txBody>
      </p:sp>
      <p:sp>
        <p:nvSpPr>
          <p:cNvPr id="14" name="Rounded Rectangle 13"/>
          <p:cNvSpPr/>
          <p:nvPr/>
        </p:nvSpPr>
        <p:spPr>
          <a:xfrm>
            <a:off x="6236208" y="3749039"/>
            <a:ext cx="2651760" cy="77724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00" b="1">
                <a:solidFill>
                  <a:srgbClr val="1F3A5F"/>
                </a:solidFill>
                <a:latin typeface="Calibri"/>
              </a:rPr>
              <a:t>Prompt mgmt</a:t>
            </a:r>
          </a:p>
          <a:p>
            <a:pPr algn="ctr">
              <a:lnSpc>
                <a:spcPct val="100000"/>
              </a:lnSpc>
              <a:spcAft>
                <a:spcPts val="100"/>
              </a:spcAft>
            </a:pPr>
            <a:r>
              <a:rPr sz="950" b="0">
                <a:solidFill>
                  <a:srgbClr val="3C4654"/>
                </a:solidFill>
                <a:latin typeface="Calibri"/>
              </a:rPr>
              <a:t>versioned, tested</a:t>
            </a:r>
          </a:p>
        </p:txBody>
      </p:sp>
      <p:sp>
        <p:nvSpPr>
          <p:cNvPr id="15" name="Rounded Rectangle 14"/>
          <p:cNvSpPr/>
          <p:nvPr/>
        </p:nvSpPr>
        <p:spPr>
          <a:xfrm>
            <a:off x="9034272" y="3749039"/>
            <a:ext cx="2651760" cy="77724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00" b="1">
                <a:solidFill>
                  <a:srgbClr val="1F3A5F"/>
                </a:solidFill>
                <a:latin typeface="Calibri"/>
              </a:rPr>
              <a:t>Model mgmt</a:t>
            </a:r>
          </a:p>
          <a:p>
            <a:pPr algn="ctr">
              <a:lnSpc>
                <a:spcPct val="100000"/>
              </a:lnSpc>
              <a:spcAft>
                <a:spcPts val="100"/>
              </a:spcAft>
            </a:pPr>
            <a:r>
              <a:rPr sz="950" b="0">
                <a:solidFill>
                  <a:srgbClr val="3C4654"/>
                </a:solidFill>
                <a:latin typeface="Calibri"/>
              </a:rPr>
              <a:t>catalog &amp; aliases</a:t>
            </a:r>
          </a:p>
        </p:txBody>
      </p:sp>
      <p:sp>
        <p:nvSpPr>
          <p:cNvPr id="16" name="Rounded Rectangle 15"/>
          <p:cNvSpPr/>
          <p:nvPr/>
        </p:nvSpPr>
        <p:spPr>
          <a:xfrm>
            <a:off x="640080" y="4672583"/>
            <a:ext cx="2651760" cy="77724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00" b="1">
                <a:solidFill>
                  <a:srgbClr val="1F3A5F"/>
                </a:solidFill>
                <a:latin typeface="Calibri"/>
              </a:rPr>
              <a:t>CI/CD</a:t>
            </a:r>
          </a:p>
          <a:p>
            <a:pPr algn="ctr">
              <a:lnSpc>
                <a:spcPct val="100000"/>
              </a:lnSpc>
              <a:spcAft>
                <a:spcPts val="100"/>
              </a:spcAft>
            </a:pPr>
            <a:r>
              <a:rPr sz="950" b="0">
                <a:solidFill>
                  <a:srgbClr val="3C4654"/>
                </a:solidFill>
                <a:latin typeface="Calibri"/>
              </a:rPr>
              <a:t>safe releases</a:t>
            </a:r>
          </a:p>
        </p:txBody>
      </p:sp>
      <p:sp>
        <p:nvSpPr>
          <p:cNvPr id="17" name="Rounded Rectangle 16"/>
          <p:cNvSpPr/>
          <p:nvPr/>
        </p:nvSpPr>
        <p:spPr>
          <a:xfrm>
            <a:off x="3438144" y="4672583"/>
            <a:ext cx="2651760" cy="77724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00" b="1">
                <a:solidFill>
                  <a:srgbClr val="1F3A5F"/>
                </a:solidFill>
                <a:latin typeface="Calibri"/>
              </a:rPr>
              <a:t>Guardrails</a:t>
            </a:r>
          </a:p>
          <a:p>
            <a:pPr algn="ctr">
              <a:lnSpc>
                <a:spcPct val="100000"/>
              </a:lnSpc>
              <a:spcAft>
                <a:spcPts val="100"/>
              </a:spcAft>
            </a:pPr>
            <a:r>
              <a:rPr sz="950" b="0">
                <a:solidFill>
                  <a:srgbClr val="3C4654"/>
                </a:solidFill>
                <a:latin typeface="Calibri"/>
              </a:rPr>
              <a:t>safety &amp; PII</a:t>
            </a:r>
          </a:p>
        </p:txBody>
      </p:sp>
      <p:sp>
        <p:nvSpPr>
          <p:cNvPr id="18" name="Rounded Rectangle 17"/>
          <p:cNvSpPr/>
          <p:nvPr/>
        </p:nvSpPr>
        <p:spPr>
          <a:xfrm>
            <a:off x="6236208" y="4672583"/>
            <a:ext cx="2651760" cy="77724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00" b="1">
                <a:solidFill>
                  <a:srgbClr val="1F3A5F"/>
                </a:solidFill>
                <a:latin typeface="Calibri"/>
              </a:rPr>
              <a:t>Data / RAG</a:t>
            </a:r>
          </a:p>
          <a:p>
            <a:pPr algn="ctr">
              <a:lnSpc>
                <a:spcPct val="100000"/>
              </a:lnSpc>
              <a:spcAft>
                <a:spcPts val="100"/>
              </a:spcAft>
            </a:pPr>
            <a:r>
              <a:rPr sz="950" b="0">
                <a:solidFill>
                  <a:srgbClr val="3C4654"/>
                </a:solidFill>
                <a:latin typeface="Calibri"/>
              </a:rPr>
              <a:t>feed from our data</a:t>
            </a:r>
          </a:p>
        </p:txBody>
      </p:sp>
      <p:sp>
        <p:nvSpPr>
          <p:cNvPr id="19" name="Rounded Rectangle 18"/>
          <p:cNvSpPr/>
          <p:nvPr/>
        </p:nvSpPr>
        <p:spPr>
          <a:xfrm>
            <a:off x="9034272" y="4672583"/>
            <a:ext cx="2651760" cy="77724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00" b="1">
                <a:solidFill>
                  <a:srgbClr val="1F3A5F"/>
                </a:solidFill>
                <a:latin typeface="Calibri"/>
              </a:rPr>
              <a:t>Feedback</a:t>
            </a:r>
          </a:p>
          <a:p>
            <a:pPr algn="ctr">
              <a:lnSpc>
                <a:spcPct val="100000"/>
              </a:lnSpc>
              <a:spcAft>
                <a:spcPts val="100"/>
              </a:spcAft>
            </a:pPr>
            <a:r>
              <a:rPr sz="950" b="0">
                <a:solidFill>
                  <a:srgbClr val="3C4654"/>
                </a:solidFill>
                <a:latin typeface="Calibri"/>
              </a:rPr>
              <a:t>improve over time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92608"/>
            <a:ext cx="10881360" cy="274320"/>
          </a:xfrm>
          <a:prstGeom prst="rect">
            <a:avLst/>
          </a:prstGeom>
          <a:noFill/>
        </p:spPr>
        <p:txBody>
          <a:bodyPr wrap="square" anchor="t" lIns="0" rIns="0" tIns="0" bIns="0">
            <a:spAutoFit/>
          </a:bodyPr>
          <a:lstStyle/>
          <a:p>
            <a:pPr algn="l">
              <a:lnSpc>
                <a:spcPct val="105000"/>
              </a:lnSpc>
              <a:spcBef>
                <a:spcPts val="0"/>
              </a:spcBef>
              <a:spcAft>
                <a:spcPts val="600"/>
              </a:spcAft>
            </a:pPr>
            <a:r>
              <a:rPr sz="1100" b="1" i="0">
                <a:solidFill>
                  <a:srgbClr val="2A9D8F"/>
                </a:solidFill>
                <a:latin typeface="Calibri"/>
              </a:rPr>
              <a:t>USE CASE 1</a:t>
            </a:r>
          </a:p>
        </p:txBody>
      </p:sp>
      <p:sp>
        <p:nvSpPr>
          <p:cNvPr id="4" name="TextBox 3"/>
          <p:cNvSpPr txBox="1"/>
          <p:nvPr/>
        </p:nvSpPr>
        <p:spPr>
          <a:xfrm>
            <a:off x="640080" y="512064"/>
            <a:ext cx="10972800" cy="640080"/>
          </a:xfrm>
          <a:prstGeom prst="rect">
            <a:avLst/>
          </a:prstGeom>
          <a:noFill/>
        </p:spPr>
        <p:txBody>
          <a:bodyPr wrap="square" anchor="t" lIns="0" rIns="0" tIns="0" bIns="0">
            <a:spAutoFit/>
          </a:bodyPr>
          <a:lstStyle/>
          <a:p>
            <a:pPr algn="l">
              <a:lnSpc>
                <a:spcPct val="105000"/>
              </a:lnSpc>
              <a:spcBef>
                <a:spcPts val="0"/>
              </a:spcBef>
              <a:spcAft>
                <a:spcPts val="600"/>
              </a:spcAft>
            </a:pPr>
            <a:r>
              <a:rPr sz="2300" b="1" i="0">
                <a:solidFill>
                  <a:srgbClr val="1F3A5F"/>
                </a:solidFill>
                <a:latin typeface="Calibri"/>
              </a:rPr>
              <a:t>APIX as an agent pipeline</a:t>
            </a:r>
          </a:p>
        </p:txBody>
      </p:sp>
      <p:sp>
        <p:nvSpPr>
          <p:cNvPr id="5" name="Rectangle 4"/>
          <p:cNvSpPr/>
          <p:nvPr/>
        </p:nvSpPr>
        <p:spPr>
          <a:xfrm>
            <a:off x="658368" y="1078992"/>
            <a:ext cx="1371600" cy="3810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85855" y="6473952"/>
            <a:ext cx="640080" cy="274320"/>
          </a:xfrm>
          <a:prstGeom prst="rect">
            <a:avLst/>
          </a:prstGeom>
          <a:noFill/>
        </p:spPr>
        <p:txBody>
          <a:bodyPr wrap="square" anchor="t" lIns="0" rIns="0" tIns="0" bIns="0">
            <a:spAutoFit/>
          </a:bodyPr>
          <a:lstStyle/>
          <a:p>
            <a:pPr algn="r">
              <a:lnSpc>
                <a:spcPct val="105000"/>
              </a:lnSpc>
              <a:spcBef>
                <a:spcPts val="0"/>
              </a:spcBef>
              <a:spcAft>
                <a:spcPts val="600"/>
              </a:spcAft>
            </a:pPr>
            <a:r>
              <a:rPr sz="1000" b="0" i="0">
                <a:solidFill>
                  <a:srgbClr val="6B7480"/>
                </a:solidFill>
                <a:latin typeface="Calibri"/>
              </a:rPr>
              <a:t>4</a:t>
            </a:r>
          </a:p>
        </p:txBody>
      </p:sp>
      <p:sp>
        <p:nvSpPr>
          <p:cNvPr id="7" name="TextBox 6"/>
          <p:cNvSpPr txBox="1"/>
          <p:nvPr/>
        </p:nvSpPr>
        <p:spPr>
          <a:xfrm>
            <a:off x="640080" y="6473952"/>
            <a:ext cx="8229600" cy="274320"/>
          </a:xfrm>
          <a:prstGeom prst="rect">
            <a:avLst/>
          </a:prstGeom>
          <a:noFill/>
        </p:spPr>
        <p:txBody>
          <a:bodyPr wrap="square" anchor="t" lIns="0" rIns="0" tIns="0" bIns="0">
            <a:spAutoFit/>
          </a:bodyPr>
          <a:lstStyle/>
          <a:p>
            <a:pPr algn="l">
              <a:lnSpc>
                <a:spcPct val="105000"/>
              </a:lnSpc>
              <a:spcBef>
                <a:spcPts val="0"/>
              </a:spcBef>
              <a:spcAft>
                <a:spcPts val="600"/>
              </a:spcAft>
            </a:pPr>
            <a:r>
              <a:rPr sz="900" b="0" i="0">
                <a:solidFill>
                  <a:srgbClr val="6B7480"/>
                </a:solidFill>
                <a:latin typeface="Calibri"/>
              </a:rPr>
              <a:t>LLMOps approach — APIX &amp; Hiring Intelligence</a:t>
            </a:r>
          </a:p>
        </p:txBody>
      </p:sp>
      <p:sp>
        <p:nvSpPr>
          <p:cNvPr id="8" name="TextBox 7"/>
          <p:cNvSpPr txBox="1"/>
          <p:nvPr/>
        </p:nvSpPr>
        <p:spPr>
          <a:xfrm>
            <a:off x="640080" y="1188720"/>
            <a:ext cx="10972800" cy="365760"/>
          </a:xfrm>
          <a:prstGeom prst="rect">
            <a:avLst/>
          </a:prstGeom>
          <a:noFill/>
        </p:spPr>
        <p:txBody>
          <a:bodyPr wrap="square" anchor="t" lIns="0" rIns="0" tIns="0" bIns="0">
            <a:spAutoFit/>
          </a:bodyPr>
          <a:lstStyle/>
          <a:p>
            <a:pPr algn="l">
              <a:lnSpc>
                <a:spcPct val="105000"/>
              </a:lnSpc>
              <a:spcBef>
                <a:spcPts val="0"/>
              </a:spcBef>
              <a:spcAft>
                <a:spcPts val="600"/>
              </a:spcAft>
            </a:pPr>
            <a:r>
              <a:rPr sz="1250" b="0" i="1">
                <a:solidFill>
                  <a:srgbClr val="3C4654"/>
                </a:solidFill>
                <a:latin typeface="Calibri"/>
              </a:rPr>
              <a:t>APIX turns AI-analysed call transcripts into a weekly performance report (score /100, KPIs, trend, coaching, risk flags).</a:t>
            </a:r>
          </a:p>
        </p:txBody>
      </p:sp>
      <p:sp>
        <p:nvSpPr>
          <p:cNvPr id="9" name="Rounded Rectangle 8"/>
          <p:cNvSpPr/>
          <p:nvPr/>
        </p:nvSpPr>
        <p:spPr>
          <a:xfrm>
            <a:off x="548640" y="1828800"/>
            <a:ext cx="1696212" cy="128016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00" b="1">
                <a:solidFill>
                  <a:srgbClr val="1F3A5F"/>
                </a:solidFill>
                <a:latin typeface="Calibri"/>
              </a:rPr>
              <a:t>Transcript</a:t>
            </a:r>
          </a:p>
          <a:p>
            <a:pPr algn="ctr">
              <a:lnSpc>
                <a:spcPct val="100000"/>
              </a:lnSpc>
              <a:spcAft>
                <a:spcPts val="100"/>
              </a:spcAft>
            </a:pPr>
            <a:r>
              <a:rPr sz="950" b="0">
                <a:solidFill>
                  <a:srgbClr val="3C4654"/>
                </a:solidFill>
                <a:latin typeface="Calibri"/>
              </a:rPr>
              <a:t>+ metadata</a:t>
            </a:r>
          </a:p>
        </p:txBody>
      </p:sp>
      <p:sp>
        <p:nvSpPr>
          <p:cNvPr id="10" name="Right Arrow 9"/>
          <p:cNvSpPr/>
          <p:nvPr/>
        </p:nvSpPr>
        <p:spPr>
          <a:xfrm>
            <a:off x="2226564" y="2350008"/>
            <a:ext cx="201168" cy="237744"/>
          </a:xfrm>
          <a:prstGeom prst="rightArrow">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427732" y="1828800"/>
            <a:ext cx="1696212" cy="1280160"/>
          </a:xfrm>
          <a:prstGeom prst="roundRect">
            <a:avLst>
              <a:gd name="adj" fmla="val 8000"/>
            </a:avLst>
          </a:prstGeom>
          <a:solidFill>
            <a:srgbClr val="2A9D8F"/>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00" b="1">
                <a:solidFill>
                  <a:srgbClr val="1F3A5F"/>
                </a:solidFill>
                <a:latin typeface="Calibri"/>
              </a:rPr>
              <a:t>Dimension agents</a:t>
            </a:r>
          </a:p>
          <a:p>
            <a:pPr algn="ctr">
              <a:lnSpc>
                <a:spcPct val="100000"/>
              </a:lnSpc>
              <a:spcAft>
                <a:spcPts val="100"/>
              </a:spcAft>
            </a:pPr>
            <a:r>
              <a:rPr sz="950" b="0">
                <a:solidFill>
                  <a:srgbClr val="3C4654"/>
                </a:solidFill>
                <a:latin typeface="Calibri"/>
              </a:rPr>
              <a:t>sales, CX, retention, compliance</a:t>
            </a:r>
          </a:p>
        </p:txBody>
      </p:sp>
      <p:sp>
        <p:nvSpPr>
          <p:cNvPr id="12" name="Right Arrow 11"/>
          <p:cNvSpPr/>
          <p:nvPr/>
        </p:nvSpPr>
        <p:spPr>
          <a:xfrm>
            <a:off x="4105656" y="2350008"/>
            <a:ext cx="201168" cy="237744"/>
          </a:xfrm>
          <a:prstGeom prst="rightArrow">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06824" y="1828800"/>
            <a:ext cx="1696212" cy="1280160"/>
          </a:xfrm>
          <a:prstGeom prst="roundRect">
            <a:avLst>
              <a:gd name="adj" fmla="val 8000"/>
            </a:avLst>
          </a:prstGeom>
          <a:solidFill>
            <a:srgbClr val="2F5C9E"/>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00" b="1">
                <a:solidFill>
                  <a:srgbClr val="1F3A5F"/>
                </a:solidFill>
                <a:latin typeface="Calibri"/>
              </a:rPr>
              <a:t>Extraction</a:t>
            </a:r>
          </a:p>
          <a:p>
            <a:pPr algn="ctr">
              <a:lnSpc>
                <a:spcPct val="100000"/>
              </a:lnSpc>
              <a:spcAft>
                <a:spcPts val="100"/>
              </a:spcAft>
            </a:pPr>
            <a:r>
              <a:rPr sz="950" b="0">
                <a:solidFill>
                  <a:srgbClr val="3C4654"/>
                </a:solidFill>
                <a:latin typeface="Calibri"/>
              </a:rPr>
              <a:t>escalations, sentiment, sales</a:t>
            </a:r>
          </a:p>
        </p:txBody>
      </p:sp>
      <p:sp>
        <p:nvSpPr>
          <p:cNvPr id="14" name="Right Arrow 13"/>
          <p:cNvSpPr/>
          <p:nvPr/>
        </p:nvSpPr>
        <p:spPr>
          <a:xfrm>
            <a:off x="5984748" y="2350008"/>
            <a:ext cx="201168" cy="237744"/>
          </a:xfrm>
          <a:prstGeom prst="rightArrow">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185916" y="1828800"/>
            <a:ext cx="1696212" cy="1280160"/>
          </a:xfrm>
          <a:prstGeom prst="roundRect">
            <a:avLst>
              <a:gd name="adj" fmla="val 8000"/>
            </a:avLst>
          </a:prstGeom>
          <a:solidFill>
            <a:srgbClr val="516B8A"/>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00" b="1">
                <a:solidFill>
                  <a:srgbClr val="1F3A5F"/>
                </a:solidFill>
                <a:latin typeface="Calibri"/>
              </a:rPr>
              <a:t>Scoring</a:t>
            </a:r>
          </a:p>
          <a:p>
            <a:pPr algn="ctr">
              <a:lnSpc>
                <a:spcPct val="100000"/>
              </a:lnSpc>
              <a:spcAft>
                <a:spcPts val="100"/>
              </a:spcAft>
            </a:pPr>
            <a:r>
              <a:rPr sz="950" b="0">
                <a:solidFill>
                  <a:srgbClr val="3C4654"/>
                </a:solidFill>
                <a:latin typeface="Calibri"/>
              </a:rPr>
              <a:t>composite /100 per program</a:t>
            </a:r>
          </a:p>
        </p:txBody>
      </p:sp>
      <p:sp>
        <p:nvSpPr>
          <p:cNvPr id="16" name="Right Arrow 15"/>
          <p:cNvSpPr/>
          <p:nvPr/>
        </p:nvSpPr>
        <p:spPr>
          <a:xfrm>
            <a:off x="7863840" y="2350008"/>
            <a:ext cx="201168" cy="237744"/>
          </a:xfrm>
          <a:prstGeom prst="rightArrow">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065008" y="1828800"/>
            <a:ext cx="1696212" cy="1280160"/>
          </a:xfrm>
          <a:prstGeom prst="roundRect">
            <a:avLst>
              <a:gd name="adj" fmla="val 8000"/>
            </a:avLst>
          </a:prstGeom>
          <a:solidFill>
            <a:srgbClr val="6A519E"/>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00" b="1">
                <a:solidFill>
                  <a:srgbClr val="1F3A5F"/>
                </a:solidFill>
                <a:latin typeface="Calibri"/>
              </a:rPr>
              <a:t>Coaching report</a:t>
            </a:r>
          </a:p>
          <a:p>
            <a:pPr algn="ctr">
              <a:lnSpc>
                <a:spcPct val="100000"/>
              </a:lnSpc>
              <a:spcAft>
                <a:spcPts val="100"/>
              </a:spcAft>
            </a:pPr>
            <a:r>
              <a:rPr sz="950" b="0">
                <a:solidFill>
                  <a:srgbClr val="3C4654"/>
                </a:solidFill>
                <a:latin typeface="Calibri"/>
              </a:rPr>
              <a:t>steps + risk flags</a:t>
            </a:r>
          </a:p>
        </p:txBody>
      </p:sp>
      <p:sp>
        <p:nvSpPr>
          <p:cNvPr id="18" name="Right Arrow 17"/>
          <p:cNvSpPr/>
          <p:nvPr/>
        </p:nvSpPr>
        <p:spPr>
          <a:xfrm>
            <a:off x="9742932" y="2350008"/>
            <a:ext cx="201168" cy="237744"/>
          </a:xfrm>
          <a:prstGeom prst="rightArrow">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944100" y="1828800"/>
            <a:ext cx="1696212" cy="1280160"/>
          </a:xfrm>
          <a:prstGeom prst="roundRect">
            <a:avLst>
              <a:gd name="adj" fmla="val 8000"/>
            </a:avLst>
          </a:prstGeom>
          <a:solidFill>
            <a:srgbClr val="2E7D7D"/>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00" b="1">
                <a:solidFill>
                  <a:srgbClr val="1F3A5F"/>
                </a:solidFill>
                <a:latin typeface="Calibri"/>
              </a:rPr>
              <a:t>Dashboard</a:t>
            </a:r>
          </a:p>
          <a:p>
            <a:pPr algn="ctr">
              <a:lnSpc>
                <a:spcPct val="100000"/>
              </a:lnSpc>
              <a:spcAft>
                <a:spcPts val="100"/>
              </a:spcAft>
            </a:pPr>
            <a:r>
              <a:rPr sz="950" b="0">
                <a:solidFill>
                  <a:srgbClr val="3C4654"/>
                </a:solidFill>
                <a:latin typeface="Calibri"/>
              </a:rPr>
              <a:t>managers &amp; coaches</a:t>
            </a:r>
          </a:p>
        </p:txBody>
      </p:sp>
      <p:sp>
        <p:nvSpPr>
          <p:cNvPr id="20" name="TextBox 19"/>
          <p:cNvSpPr txBox="1"/>
          <p:nvPr/>
        </p:nvSpPr>
        <p:spPr>
          <a:xfrm>
            <a:off x="640080" y="3383280"/>
            <a:ext cx="10972800" cy="457200"/>
          </a:xfrm>
          <a:prstGeom prst="rect">
            <a:avLst/>
          </a:prstGeom>
          <a:noFill/>
        </p:spPr>
        <p:txBody>
          <a:bodyPr wrap="square" anchor="t" lIns="0" rIns="0" tIns="0" bIns="0">
            <a:spAutoFit/>
          </a:bodyPr>
          <a:lstStyle/>
          <a:p>
            <a:pPr algn="l">
              <a:lnSpc>
                <a:spcPct val="105000"/>
              </a:lnSpc>
              <a:spcBef>
                <a:spcPts val="0"/>
              </a:spcBef>
              <a:spcAft>
                <a:spcPts val="600"/>
              </a:spcAft>
            </a:pPr>
            <a:r>
              <a:rPr sz="1250" b="0" i="1">
                <a:solidFill>
                  <a:srgbClr val="3C4654"/>
                </a:solidFill>
                <a:latin typeface="Calibri"/>
              </a:rPr>
              <a:t>Sequential pipeline (not agent-to-agent). Multi-program: Telesales and WCC use different scoring criteria.</a:t>
            </a:r>
          </a:p>
        </p:txBody>
      </p:sp>
      <p:sp>
        <p:nvSpPr>
          <p:cNvPr id="21" name="TextBox 20"/>
          <p:cNvSpPr txBox="1"/>
          <p:nvPr/>
        </p:nvSpPr>
        <p:spPr>
          <a:xfrm>
            <a:off x="640080" y="3977639"/>
            <a:ext cx="10972800" cy="365760"/>
          </a:xfrm>
          <a:prstGeom prst="rect">
            <a:avLst/>
          </a:prstGeom>
          <a:noFill/>
        </p:spPr>
        <p:txBody>
          <a:bodyPr wrap="square" anchor="t" lIns="0" rIns="0" tIns="0" bIns="0">
            <a:spAutoFit/>
          </a:bodyPr>
          <a:lstStyle/>
          <a:p>
            <a:pPr algn="l">
              <a:lnSpc>
                <a:spcPct val="105000"/>
              </a:lnSpc>
              <a:spcBef>
                <a:spcPts val="0"/>
              </a:spcBef>
              <a:spcAft>
                <a:spcPts val="600"/>
              </a:spcAft>
            </a:pPr>
            <a:r>
              <a:rPr sz="1300" b="1" i="0">
                <a:solidFill>
                  <a:srgbClr val="1F3A5F"/>
                </a:solidFill>
                <a:latin typeface="Calibri"/>
              </a:rPr>
              <a:t>Evaluation focus for APIX:</a:t>
            </a:r>
          </a:p>
        </p:txBody>
      </p:sp>
      <p:sp>
        <p:nvSpPr>
          <p:cNvPr id="22" name="TextBox 21"/>
          <p:cNvSpPr txBox="1"/>
          <p:nvPr/>
        </p:nvSpPr>
        <p:spPr>
          <a:xfrm>
            <a:off x="822960" y="4343400"/>
            <a:ext cx="10515600" cy="1645920"/>
          </a:xfrm>
          <a:prstGeom prst="rect">
            <a:avLst/>
          </a:prstGeom>
          <a:noFill/>
        </p:spPr>
        <p:txBody>
          <a:bodyPr wrap="square" lIns="0" tIns="0">
            <a:spAutoFit/>
          </a:bodyPr>
          <a:lstStyle/>
          <a:p>
            <a:pPr>
              <a:lnSpc>
                <a:spcPct val="105000"/>
              </a:lnSpc>
              <a:spcBef>
                <a:spcPts val="0"/>
              </a:spcBef>
              <a:spcAft>
                <a:spcPts val="800"/>
              </a:spcAft>
            </a:pPr>
            <a:r>
              <a:rPr sz="1300" b="0">
                <a:solidFill>
                  <a:srgbClr val="3C4654"/>
                </a:solidFill>
                <a:latin typeface="Calibri"/>
              </a:rPr>
              <a:t>•  Groundedness — coaching must cite what was actually said, not invent moments.</a:t>
            </a:r>
          </a:p>
          <a:p>
            <a:pPr>
              <a:lnSpc>
                <a:spcPct val="105000"/>
              </a:lnSpc>
              <a:spcBef>
                <a:spcPts val="0"/>
              </a:spcBef>
              <a:spcAft>
                <a:spcPts val="800"/>
              </a:spcAft>
            </a:pPr>
            <a:r>
              <a:rPr sz="1300" b="0">
                <a:solidFill>
                  <a:srgbClr val="3C4654"/>
                </a:solidFill>
                <a:latin typeface="Calibri"/>
              </a:rPr>
              <a:t>•  Scoring agreement — do the /100 dimension scores match a human QA reviewer?</a:t>
            </a:r>
          </a:p>
          <a:p>
            <a:pPr>
              <a:lnSpc>
                <a:spcPct val="105000"/>
              </a:lnSpc>
              <a:spcBef>
                <a:spcPts val="0"/>
              </a:spcBef>
              <a:spcAft>
                <a:spcPts val="800"/>
              </a:spcAft>
            </a:pPr>
            <a:r>
              <a:rPr sz="1300" b="0">
                <a:solidFill>
                  <a:srgbClr val="3C4654"/>
                </a:solidFill>
                <a:latin typeface="Calibri"/>
              </a:rPr>
              <a:t>•  Consistency &amp; fairness — same rubric applied the same way across all agents and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92608"/>
            <a:ext cx="10881360" cy="274320"/>
          </a:xfrm>
          <a:prstGeom prst="rect">
            <a:avLst/>
          </a:prstGeom>
          <a:noFill/>
        </p:spPr>
        <p:txBody>
          <a:bodyPr wrap="square" anchor="t" lIns="0" rIns="0" tIns="0" bIns="0">
            <a:spAutoFit/>
          </a:bodyPr>
          <a:lstStyle/>
          <a:p>
            <a:pPr algn="l">
              <a:lnSpc>
                <a:spcPct val="105000"/>
              </a:lnSpc>
              <a:spcBef>
                <a:spcPts val="0"/>
              </a:spcBef>
              <a:spcAft>
                <a:spcPts val="600"/>
              </a:spcAft>
            </a:pPr>
            <a:r>
              <a:rPr sz="1100" b="1" i="0">
                <a:solidFill>
                  <a:srgbClr val="2A9D8F"/>
                </a:solidFill>
                <a:latin typeface="Calibri"/>
              </a:rPr>
              <a:t>USE CASE 2</a:t>
            </a:r>
          </a:p>
        </p:txBody>
      </p:sp>
      <p:sp>
        <p:nvSpPr>
          <p:cNvPr id="4" name="TextBox 3"/>
          <p:cNvSpPr txBox="1"/>
          <p:nvPr/>
        </p:nvSpPr>
        <p:spPr>
          <a:xfrm>
            <a:off x="640080" y="512064"/>
            <a:ext cx="10972800" cy="640080"/>
          </a:xfrm>
          <a:prstGeom prst="rect">
            <a:avLst/>
          </a:prstGeom>
          <a:noFill/>
        </p:spPr>
        <p:txBody>
          <a:bodyPr wrap="square" anchor="t" lIns="0" rIns="0" tIns="0" bIns="0">
            <a:spAutoFit/>
          </a:bodyPr>
          <a:lstStyle/>
          <a:p>
            <a:pPr algn="l">
              <a:lnSpc>
                <a:spcPct val="105000"/>
              </a:lnSpc>
              <a:spcBef>
                <a:spcPts val="0"/>
              </a:spcBef>
              <a:spcAft>
                <a:spcPts val="600"/>
              </a:spcAft>
            </a:pPr>
            <a:r>
              <a:rPr sz="2300" b="1" i="0">
                <a:solidFill>
                  <a:srgbClr val="1F3A5F"/>
                </a:solidFill>
                <a:latin typeface="Calibri"/>
              </a:rPr>
              <a:t>Hiring Intelligence as an agent pipeline</a:t>
            </a:r>
          </a:p>
        </p:txBody>
      </p:sp>
      <p:sp>
        <p:nvSpPr>
          <p:cNvPr id="5" name="Rectangle 4"/>
          <p:cNvSpPr/>
          <p:nvPr/>
        </p:nvSpPr>
        <p:spPr>
          <a:xfrm>
            <a:off x="658368" y="1078992"/>
            <a:ext cx="1371600" cy="3810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85855" y="6473952"/>
            <a:ext cx="640080" cy="274320"/>
          </a:xfrm>
          <a:prstGeom prst="rect">
            <a:avLst/>
          </a:prstGeom>
          <a:noFill/>
        </p:spPr>
        <p:txBody>
          <a:bodyPr wrap="square" anchor="t" lIns="0" rIns="0" tIns="0" bIns="0">
            <a:spAutoFit/>
          </a:bodyPr>
          <a:lstStyle/>
          <a:p>
            <a:pPr algn="r">
              <a:lnSpc>
                <a:spcPct val="105000"/>
              </a:lnSpc>
              <a:spcBef>
                <a:spcPts val="0"/>
              </a:spcBef>
              <a:spcAft>
                <a:spcPts val="600"/>
              </a:spcAft>
            </a:pPr>
            <a:r>
              <a:rPr sz="1000" b="0" i="0">
                <a:solidFill>
                  <a:srgbClr val="6B7480"/>
                </a:solidFill>
                <a:latin typeface="Calibri"/>
              </a:rPr>
              <a:t>5</a:t>
            </a:r>
          </a:p>
        </p:txBody>
      </p:sp>
      <p:sp>
        <p:nvSpPr>
          <p:cNvPr id="7" name="TextBox 6"/>
          <p:cNvSpPr txBox="1"/>
          <p:nvPr/>
        </p:nvSpPr>
        <p:spPr>
          <a:xfrm>
            <a:off x="640080" y="6473952"/>
            <a:ext cx="8229600" cy="274320"/>
          </a:xfrm>
          <a:prstGeom prst="rect">
            <a:avLst/>
          </a:prstGeom>
          <a:noFill/>
        </p:spPr>
        <p:txBody>
          <a:bodyPr wrap="square" anchor="t" lIns="0" rIns="0" tIns="0" bIns="0">
            <a:spAutoFit/>
          </a:bodyPr>
          <a:lstStyle/>
          <a:p>
            <a:pPr algn="l">
              <a:lnSpc>
                <a:spcPct val="105000"/>
              </a:lnSpc>
              <a:spcBef>
                <a:spcPts val="0"/>
              </a:spcBef>
              <a:spcAft>
                <a:spcPts val="600"/>
              </a:spcAft>
            </a:pPr>
            <a:r>
              <a:rPr sz="900" b="0" i="0">
                <a:solidFill>
                  <a:srgbClr val="6B7480"/>
                </a:solidFill>
                <a:latin typeface="Calibri"/>
              </a:rPr>
              <a:t>LLMOps approach — APIX &amp; Hiring Intelligence</a:t>
            </a:r>
          </a:p>
        </p:txBody>
      </p:sp>
      <p:sp>
        <p:nvSpPr>
          <p:cNvPr id="8" name="Rounded Rectangle 7"/>
          <p:cNvSpPr/>
          <p:nvPr/>
        </p:nvSpPr>
        <p:spPr>
          <a:xfrm>
            <a:off x="548640" y="1600200"/>
            <a:ext cx="2072030" cy="128016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00" b="1">
                <a:solidFill>
                  <a:srgbClr val="1F3A5F"/>
                </a:solidFill>
                <a:latin typeface="Calibri"/>
              </a:rPr>
              <a:t>Intake / router</a:t>
            </a:r>
          </a:p>
          <a:p>
            <a:pPr algn="ctr">
              <a:lnSpc>
                <a:spcPct val="100000"/>
              </a:lnSpc>
              <a:spcAft>
                <a:spcPts val="100"/>
              </a:spcAft>
            </a:pPr>
            <a:r>
              <a:rPr sz="950" b="0">
                <a:solidFill>
                  <a:srgbClr val="3C4654"/>
                </a:solidFill>
                <a:latin typeface="Calibri"/>
              </a:rPr>
              <a:t>what's needed</a:t>
            </a:r>
          </a:p>
        </p:txBody>
      </p:sp>
      <p:sp>
        <p:nvSpPr>
          <p:cNvPr id="9" name="Right Arrow 8"/>
          <p:cNvSpPr/>
          <p:nvPr/>
        </p:nvSpPr>
        <p:spPr>
          <a:xfrm>
            <a:off x="2602382" y="2121408"/>
            <a:ext cx="201168" cy="237744"/>
          </a:xfrm>
          <a:prstGeom prst="rightArrow">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803550" y="1600200"/>
            <a:ext cx="2072030" cy="1280160"/>
          </a:xfrm>
          <a:prstGeom prst="roundRect">
            <a:avLst>
              <a:gd name="adj" fmla="val 8000"/>
            </a:avLst>
          </a:prstGeom>
          <a:solidFill>
            <a:srgbClr val="2A9D8F"/>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00" b="1">
                <a:solidFill>
                  <a:srgbClr val="1F3A5F"/>
                </a:solidFill>
                <a:latin typeface="Calibri"/>
              </a:rPr>
              <a:t>Resume rank</a:t>
            </a:r>
          </a:p>
          <a:p>
            <a:pPr algn="ctr">
              <a:lnSpc>
                <a:spcPct val="100000"/>
              </a:lnSpc>
              <a:spcAft>
                <a:spcPts val="100"/>
              </a:spcAft>
            </a:pPr>
            <a:r>
              <a:rPr sz="950" b="0">
                <a:solidFill>
                  <a:srgbClr val="3C4654"/>
                </a:solidFill>
                <a:latin typeface="Calibri"/>
              </a:rPr>
              <a:t>parse + rank vs role (RAG)</a:t>
            </a:r>
          </a:p>
        </p:txBody>
      </p:sp>
      <p:sp>
        <p:nvSpPr>
          <p:cNvPr id="11" name="Right Arrow 10"/>
          <p:cNvSpPr/>
          <p:nvPr/>
        </p:nvSpPr>
        <p:spPr>
          <a:xfrm>
            <a:off x="4857292" y="2121408"/>
            <a:ext cx="201168" cy="237744"/>
          </a:xfrm>
          <a:prstGeom prst="rightArrow">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058460" y="1600200"/>
            <a:ext cx="2072030" cy="1280160"/>
          </a:xfrm>
          <a:prstGeom prst="roundRect">
            <a:avLst>
              <a:gd name="adj" fmla="val 8000"/>
            </a:avLst>
          </a:prstGeom>
          <a:solidFill>
            <a:srgbClr val="2F5C9E"/>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00" b="1">
                <a:solidFill>
                  <a:srgbClr val="1F3A5F"/>
                </a:solidFill>
                <a:latin typeface="Calibri"/>
              </a:rPr>
              <a:t>Screening Q&amp;A</a:t>
            </a:r>
          </a:p>
          <a:p>
            <a:pPr algn="ctr">
              <a:lnSpc>
                <a:spcPct val="100000"/>
              </a:lnSpc>
              <a:spcAft>
                <a:spcPts val="100"/>
              </a:spcAft>
            </a:pPr>
            <a:r>
              <a:rPr sz="950" b="0">
                <a:solidFill>
                  <a:srgbClr val="3C4654"/>
                </a:solidFill>
                <a:latin typeface="Calibri"/>
              </a:rPr>
              <a:t>answer candidate (RAG)</a:t>
            </a:r>
          </a:p>
        </p:txBody>
      </p:sp>
      <p:sp>
        <p:nvSpPr>
          <p:cNvPr id="13" name="Right Arrow 12"/>
          <p:cNvSpPr/>
          <p:nvPr/>
        </p:nvSpPr>
        <p:spPr>
          <a:xfrm>
            <a:off x="7112202" y="2121408"/>
            <a:ext cx="201168" cy="237744"/>
          </a:xfrm>
          <a:prstGeom prst="rightArrow">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313370" y="1600200"/>
            <a:ext cx="2072030" cy="1280160"/>
          </a:xfrm>
          <a:prstGeom prst="roundRect">
            <a:avLst>
              <a:gd name="adj" fmla="val 8000"/>
            </a:avLst>
          </a:prstGeom>
          <a:solidFill>
            <a:srgbClr val="516B8A"/>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00" b="1">
                <a:solidFill>
                  <a:srgbClr val="1F3A5F"/>
                </a:solidFill>
                <a:latin typeface="Calibri"/>
              </a:rPr>
              <a:t>Scoring &amp; summary</a:t>
            </a:r>
          </a:p>
          <a:p>
            <a:pPr algn="ctr">
              <a:lnSpc>
                <a:spcPct val="100000"/>
              </a:lnSpc>
              <a:spcAft>
                <a:spcPts val="100"/>
              </a:spcAft>
            </a:pPr>
            <a:r>
              <a:rPr sz="950" b="0">
                <a:solidFill>
                  <a:srgbClr val="3C4654"/>
                </a:solidFill>
                <a:latin typeface="Calibri"/>
              </a:rPr>
              <a:t>fit score for recruiter</a:t>
            </a:r>
          </a:p>
        </p:txBody>
      </p:sp>
      <p:sp>
        <p:nvSpPr>
          <p:cNvPr id="15" name="Right Arrow 14"/>
          <p:cNvSpPr/>
          <p:nvPr/>
        </p:nvSpPr>
        <p:spPr>
          <a:xfrm>
            <a:off x="9367112" y="2121408"/>
            <a:ext cx="201168" cy="237744"/>
          </a:xfrm>
          <a:prstGeom prst="rightArrow">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568280" y="1600200"/>
            <a:ext cx="2072030" cy="1280160"/>
          </a:xfrm>
          <a:prstGeom prst="roundRect">
            <a:avLst>
              <a:gd name="adj" fmla="val 8000"/>
            </a:avLst>
          </a:prstGeom>
          <a:solidFill>
            <a:srgbClr val="3E8E5A"/>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00" b="1">
                <a:solidFill>
                  <a:srgbClr val="1F3A5F"/>
                </a:solidFill>
                <a:latin typeface="Calibri"/>
              </a:rPr>
              <a:t>Recruiter</a:t>
            </a:r>
          </a:p>
          <a:p>
            <a:pPr algn="ctr">
              <a:lnSpc>
                <a:spcPct val="100000"/>
              </a:lnSpc>
              <a:spcAft>
                <a:spcPts val="100"/>
              </a:spcAft>
            </a:pPr>
            <a:r>
              <a:rPr sz="950" b="0">
                <a:solidFill>
                  <a:srgbClr val="3C4654"/>
                </a:solidFill>
                <a:latin typeface="Calibri"/>
              </a:rPr>
              <a:t>human decides</a:t>
            </a:r>
          </a:p>
        </p:txBody>
      </p:sp>
      <p:sp>
        <p:nvSpPr>
          <p:cNvPr id="17" name="TextBox 16"/>
          <p:cNvSpPr txBox="1"/>
          <p:nvPr/>
        </p:nvSpPr>
        <p:spPr>
          <a:xfrm>
            <a:off x="640080" y="3154680"/>
            <a:ext cx="10972800" cy="457200"/>
          </a:xfrm>
          <a:prstGeom prst="rect">
            <a:avLst/>
          </a:prstGeom>
          <a:noFill/>
        </p:spPr>
        <p:txBody>
          <a:bodyPr wrap="square" anchor="t" lIns="0" rIns="0" tIns="0" bIns="0">
            <a:spAutoFit/>
          </a:bodyPr>
          <a:lstStyle/>
          <a:p>
            <a:pPr algn="l">
              <a:lnSpc>
                <a:spcPct val="105000"/>
              </a:lnSpc>
              <a:spcBef>
                <a:spcPts val="0"/>
              </a:spcBef>
              <a:spcAft>
                <a:spcPts val="600"/>
              </a:spcAft>
            </a:pPr>
            <a:r>
              <a:rPr sz="1250" b="0" i="1">
                <a:solidFill>
                  <a:srgbClr val="3C4654"/>
                </a:solidFill>
                <a:latin typeface="Calibri"/>
              </a:rPr>
              <a:t>Uses tools through MCP (Model Context Protocol): applicant tracking system (ATS), requisition database, scheduling.</a:t>
            </a:r>
          </a:p>
        </p:txBody>
      </p:sp>
      <p:sp>
        <p:nvSpPr>
          <p:cNvPr id="18" name="TextBox 17"/>
          <p:cNvSpPr txBox="1"/>
          <p:nvPr/>
        </p:nvSpPr>
        <p:spPr>
          <a:xfrm>
            <a:off x="640080" y="3749039"/>
            <a:ext cx="10972800" cy="365760"/>
          </a:xfrm>
          <a:prstGeom prst="rect">
            <a:avLst/>
          </a:prstGeom>
          <a:noFill/>
        </p:spPr>
        <p:txBody>
          <a:bodyPr wrap="square" anchor="t" lIns="0" rIns="0" tIns="0" bIns="0">
            <a:spAutoFit/>
          </a:bodyPr>
          <a:lstStyle/>
          <a:p>
            <a:pPr algn="l">
              <a:lnSpc>
                <a:spcPct val="105000"/>
              </a:lnSpc>
              <a:spcBef>
                <a:spcPts val="0"/>
              </a:spcBef>
              <a:spcAft>
                <a:spcPts val="600"/>
              </a:spcAft>
            </a:pPr>
            <a:r>
              <a:rPr sz="1300" b="1" i="0">
                <a:solidFill>
                  <a:srgbClr val="1F3A5F"/>
                </a:solidFill>
                <a:latin typeface="Calibri"/>
              </a:rPr>
              <a:t>Evaluation focus for Hiring:</a:t>
            </a:r>
          </a:p>
        </p:txBody>
      </p:sp>
      <p:sp>
        <p:nvSpPr>
          <p:cNvPr id="19" name="TextBox 18"/>
          <p:cNvSpPr txBox="1"/>
          <p:nvPr/>
        </p:nvSpPr>
        <p:spPr>
          <a:xfrm>
            <a:off x="822960" y="4114800"/>
            <a:ext cx="10515600" cy="1645920"/>
          </a:xfrm>
          <a:prstGeom prst="rect">
            <a:avLst/>
          </a:prstGeom>
          <a:noFill/>
        </p:spPr>
        <p:txBody>
          <a:bodyPr wrap="square" lIns="0" tIns="0">
            <a:spAutoFit/>
          </a:bodyPr>
          <a:lstStyle/>
          <a:p>
            <a:pPr>
              <a:lnSpc>
                <a:spcPct val="105000"/>
              </a:lnSpc>
              <a:spcBef>
                <a:spcPts val="0"/>
              </a:spcBef>
              <a:spcAft>
                <a:spcPts val="800"/>
              </a:spcAft>
            </a:pPr>
            <a:r>
              <a:rPr sz="1300" b="1">
                <a:solidFill>
                  <a:srgbClr val="1F3A5F"/>
                </a:solidFill>
                <a:latin typeface="Calibri"/>
              </a:rPr>
              <a:t>•  Tool selection — did the agent call the RIGHT tool, with the right inputs? (Kiran's point.)</a:t>
            </a:r>
          </a:p>
          <a:p>
            <a:pPr>
              <a:lnSpc>
                <a:spcPct val="105000"/>
              </a:lnSpc>
              <a:spcBef>
                <a:spcPts val="0"/>
              </a:spcBef>
              <a:spcAft>
                <a:spcPts val="800"/>
              </a:spcAft>
            </a:pPr>
            <a:r>
              <a:rPr sz="1300" b="0">
                <a:solidFill>
                  <a:srgbClr val="3C4654"/>
                </a:solidFill>
                <a:latin typeface="Calibri"/>
              </a:rPr>
              <a:t>•  RAG quality — is the ranking grounded in the job description and rubric?</a:t>
            </a:r>
          </a:p>
          <a:p>
            <a:pPr>
              <a:lnSpc>
                <a:spcPct val="105000"/>
              </a:lnSpc>
              <a:spcBef>
                <a:spcPts val="0"/>
              </a:spcBef>
              <a:spcAft>
                <a:spcPts val="800"/>
              </a:spcAft>
            </a:pPr>
            <a:r>
              <a:rPr sz="1300" b="0">
                <a:solidFill>
                  <a:srgbClr val="3C4654"/>
                </a:solidFill>
                <a:latin typeface="Calibri"/>
              </a:rPr>
              <a:t>•  Fairness — no bias in ranking or screening.</a:t>
            </a:r>
          </a:p>
        </p:txBody>
      </p:sp>
      <p:sp>
        <p:nvSpPr>
          <p:cNvPr id="20" name="TextBox 19"/>
          <p:cNvSpPr txBox="1"/>
          <p:nvPr/>
        </p:nvSpPr>
        <p:spPr>
          <a:xfrm>
            <a:off x="640080" y="5806440"/>
            <a:ext cx="10972800" cy="320040"/>
          </a:xfrm>
          <a:prstGeom prst="rect">
            <a:avLst/>
          </a:prstGeom>
          <a:noFill/>
        </p:spPr>
        <p:txBody>
          <a:bodyPr wrap="square" anchor="t" lIns="0" rIns="0" tIns="0" bIns="0">
            <a:spAutoFit/>
          </a:bodyPr>
          <a:lstStyle/>
          <a:p>
            <a:pPr algn="l">
              <a:lnSpc>
                <a:spcPct val="105000"/>
              </a:lnSpc>
              <a:spcBef>
                <a:spcPts val="0"/>
              </a:spcBef>
              <a:spcAft>
                <a:spcPts val="600"/>
              </a:spcAft>
            </a:pPr>
            <a:r>
              <a:rPr sz="1250" b="1" i="1">
                <a:solidFill>
                  <a:srgbClr val="2A9D8F"/>
                </a:solidFill>
                <a:latin typeface="Calibri"/>
              </a:rPr>
              <a:t>Together, APIX + Hiring exercise every evaluation metric group — so the approach generalises.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92608"/>
            <a:ext cx="10881360" cy="274320"/>
          </a:xfrm>
          <a:prstGeom prst="rect">
            <a:avLst/>
          </a:prstGeom>
          <a:noFill/>
        </p:spPr>
        <p:txBody>
          <a:bodyPr wrap="square" anchor="t" lIns="0" rIns="0" tIns="0" bIns="0">
            <a:spAutoFit/>
          </a:bodyPr>
          <a:lstStyle/>
          <a:p>
            <a:pPr algn="l">
              <a:lnSpc>
                <a:spcPct val="105000"/>
              </a:lnSpc>
              <a:spcBef>
                <a:spcPts val="0"/>
              </a:spcBef>
              <a:spcAft>
                <a:spcPts val="600"/>
              </a:spcAft>
            </a:pPr>
            <a:r>
              <a:rPr sz="1100" b="1" i="0">
                <a:solidFill>
                  <a:srgbClr val="2A9D8F"/>
                </a:solidFill>
                <a:latin typeface="Calibri"/>
              </a:rPr>
              <a:t>ACTIVITIES</a:t>
            </a:r>
          </a:p>
        </p:txBody>
      </p:sp>
      <p:sp>
        <p:nvSpPr>
          <p:cNvPr id="4" name="TextBox 3"/>
          <p:cNvSpPr txBox="1"/>
          <p:nvPr/>
        </p:nvSpPr>
        <p:spPr>
          <a:xfrm>
            <a:off x="640080" y="512064"/>
            <a:ext cx="10972800" cy="640080"/>
          </a:xfrm>
          <a:prstGeom prst="rect">
            <a:avLst/>
          </a:prstGeom>
          <a:noFill/>
        </p:spPr>
        <p:txBody>
          <a:bodyPr wrap="square" anchor="t" lIns="0" rIns="0" tIns="0" bIns="0">
            <a:spAutoFit/>
          </a:bodyPr>
          <a:lstStyle/>
          <a:p>
            <a:pPr algn="l">
              <a:lnSpc>
                <a:spcPct val="105000"/>
              </a:lnSpc>
              <a:spcBef>
                <a:spcPts val="0"/>
              </a:spcBef>
              <a:spcAft>
                <a:spcPts val="600"/>
              </a:spcAft>
            </a:pPr>
            <a:r>
              <a:rPr sz="2300" b="1" i="0">
                <a:solidFill>
                  <a:srgbClr val="1F3A5F"/>
                </a:solidFill>
                <a:latin typeface="Calibri"/>
              </a:rPr>
              <a:t>The activities involved (no dates — sequencing only)</a:t>
            </a:r>
          </a:p>
        </p:txBody>
      </p:sp>
      <p:sp>
        <p:nvSpPr>
          <p:cNvPr id="5" name="Rectangle 4"/>
          <p:cNvSpPr/>
          <p:nvPr/>
        </p:nvSpPr>
        <p:spPr>
          <a:xfrm>
            <a:off x="658368" y="1078992"/>
            <a:ext cx="1371600" cy="3810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85855" y="6473952"/>
            <a:ext cx="640080" cy="274320"/>
          </a:xfrm>
          <a:prstGeom prst="rect">
            <a:avLst/>
          </a:prstGeom>
          <a:noFill/>
        </p:spPr>
        <p:txBody>
          <a:bodyPr wrap="square" anchor="t" lIns="0" rIns="0" tIns="0" bIns="0">
            <a:spAutoFit/>
          </a:bodyPr>
          <a:lstStyle/>
          <a:p>
            <a:pPr algn="r">
              <a:lnSpc>
                <a:spcPct val="105000"/>
              </a:lnSpc>
              <a:spcBef>
                <a:spcPts val="0"/>
              </a:spcBef>
              <a:spcAft>
                <a:spcPts val="600"/>
              </a:spcAft>
            </a:pPr>
            <a:r>
              <a:rPr sz="1000" b="0" i="0">
                <a:solidFill>
                  <a:srgbClr val="6B7480"/>
                </a:solidFill>
                <a:latin typeface="Calibri"/>
              </a:rPr>
              <a:t>6</a:t>
            </a:r>
          </a:p>
        </p:txBody>
      </p:sp>
      <p:sp>
        <p:nvSpPr>
          <p:cNvPr id="7" name="TextBox 6"/>
          <p:cNvSpPr txBox="1"/>
          <p:nvPr/>
        </p:nvSpPr>
        <p:spPr>
          <a:xfrm>
            <a:off x="640080" y="6473952"/>
            <a:ext cx="8229600" cy="274320"/>
          </a:xfrm>
          <a:prstGeom prst="rect">
            <a:avLst/>
          </a:prstGeom>
          <a:noFill/>
        </p:spPr>
        <p:txBody>
          <a:bodyPr wrap="square" anchor="t" lIns="0" rIns="0" tIns="0" bIns="0">
            <a:spAutoFit/>
          </a:bodyPr>
          <a:lstStyle/>
          <a:p>
            <a:pPr algn="l">
              <a:lnSpc>
                <a:spcPct val="105000"/>
              </a:lnSpc>
              <a:spcBef>
                <a:spcPts val="0"/>
              </a:spcBef>
              <a:spcAft>
                <a:spcPts val="600"/>
              </a:spcAft>
            </a:pPr>
            <a:r>
              <a:rPr sz="900" b="0" i="0">
                <a:solidFill>
                  <a:srgbClr val="6B7480"/>
                </a:solidFill>
                <a:latin typeface="Calibri"/>
              </a:rPr>
              <a:t>LLMOps approach — APIX &amp; Hiring Intelligence</a:t>
            </a:r>
          </a:p>
        </p:txBody>
      </p:sp>
      <p:sp>
        <p:nvSpPr>
          <p:cNvPr id="8" name="TextBox 7"/>
          <p:cNvSpPr txBox="1"/>
          <p:nvPr/>
        </p:nvSpPr>
        <p:spPr>
          <a:xfrm>
            <a:off x="640080" y="1371600"/>
            <a:ext cx="10972800" cy="274320"/>
          </a:xfrm>
          <a:prstGeom prst="rect">
            <a:avLst/>
          </a:prstGeom>
          <a:noFill/>
        </p:spPr>
        <p:txBody>
          <a:bodyPr wrap="square" anchor="t" lIns="0" rIns="0" tIns="0" bIns="0">
            <a:spAutoFit/>
          </a:bodyPr>
          <a:lstStyle/>
          <a:p>
            <a:pPr algn="l">
              <a:lnSpc>
                <a:spcPct val="105000"/>
              </a:lnSpc>
              <a:spcBef>
                <a:spcPts val="0"/>
              </a:spcBef>
              <a:spcAft>
                <a:spcPts val="600"/>
              </a:spcAft>
            </a:pPr>
            <a:r>
              <a:rPr sz="1200" b="1" i="0">
                <a:solidFill>
                  <a:srgbClr val="516B8A"/>
                </a:solidFill>
                <a:latin typeface="Calibri"/>
              </a:rPr>
              <a:t>Foundational (do first)</a:t>
            </a:r>
          </a:p>
        </p:txBody>
      </p:sp>
      <p:sp>
        <p:nvSpPr>
          <p:cNvPr id="9" name="Rounded Rectangle 8"/>
          <p:cNvSpPr/>
          <p:nvPr/>
        </p:nvSpPr>
        <p:spPr>
          <a:xfrm>
            <a:off x="640080" y="1691640"/>
            <a:ext cx="3246120" cy="86868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00" b="1">
                <a:solidFill>
                  <a:srgbClr val="1F3A5F"/>
                </a:solidFill>
                <a:latin typeface="Calibri"/>
              </a:rPr>
              <a:t>A. Discovery</a:t>
            </a:r>
          </a:p>
          <a:p>
            <a:pPr algn="ctr">
              <a:lnSpc>
                <a:spcPct val="100000"/>
              </a:lnSpc>
              <a:spcAft>
                <a:spcPts val="100"/>
              </a:spcAft>
            </a:pPr>
            <a:r>
              <a:rPr sz="950" b="0">
                <a:solidFill>
                  <a:srgbClr val="3C4654"/>
                </a:solidFill>
                <a:latin typeface="Calibri"/>
              </a:rPr>
              <a:t>assess current pipelines</a:t>
            </a:r>
          </a:p>
        </p:txBody>
      </p:sp>
      <p:sp>
        <p:nvSpPr>
          <p:cNvPr id="10" name="Rounded Rectangle 9"/>
          <p:cNvSpPr/>
          <p:nvPr/>
        </p:nvSpPr>
        <p:spPr>
          <a:xfrm>
            <a:off x="4069080" y="1691640"/>
            <a:ext cx="3246120" cy="86868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00" b="1">
                <a:solidFill>
                  <a:srgbClr val="1F3A5F"/>
                </a:solidFill>
                <a:latin typeface="Calibri"/>
              </a:rPr>
              <a:t>B. Foundation</a:t>
            </a:r>
          </a:p>
          <a:p>
            <a:pPr algn="ctr">
              <a:lnSpc>
                <a:spcPct val="100000"/>
              </a:lnSpc>
              <a:spcAft>
                <a:spcPts val="100"/>
              </a:spcAft>
            </a:pPr>
            <a:r>
              <a:rPr sz="950" b="0">
                <a:solidFill>
                  <a:srgbClr val="3C4654"/>
                </a:solidFill>
                <a:latin typeface="Calibri"/>
              </a:rPr>
              <a:t>repo, Azure landing, gateway</a:t>
            </a:r>
          </a:p>
        </p:txBody>
      </p:sp>
      <p:sp>
        <p:nvSpPr>
          <p:cNvPr id="11" name="Rounded Rectangle 10"/>
          <p:cNvSpPr/>
          <p:nvPr/>
        </p:nvSpPr>
        <p:spPr>
          <a:xfrm>
            <a:off x="7498080" y="1691640"/>
            <a:ext cx="3246120" cy="86868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00" b="1">
                <a:solidFill>
                  <a:srgbClr val="1F3A5F"/>
                </a:solidFill>
                <a:latin typeface="Calibri"/>
              </a:rPr>
              <a:t>C. Observability</a:t>
            </a:r>
          </a:p>
          <a:p>
            <a:pPr algn="ctr">
              <a:lnSpc>
                <a:spcPct val="100000"/>
              </a:lnSpc>
              <a:spcAft>
                <a:spcPts val="100"/>
              </a:spcAft>
            </a:pPr>
            <a:r>
              <a:rPr sz="950" b="0">
                <a:solidFill>
                  <a:srgbClr val="3C4654"/>
                </a:solidFill>
                <a:latin typeface="Calibri"/>
              </a:rPr>
              <a:t>tracing on both pipelines</a:t>
            </a:r>
          </a:p>
        </p:txBody>
      </p:sp>
      <p:sp>
        <p:nvSpPr>
          <p:cNvPr id="12" name="TextBox 11"/>
          <p:cNvSpPr txBox="1"/>
          <p:nvPr/>
        </p:nvSpPr>
        <p:spPr>
          <a:xfrm>
            <a:off x="640080" y="2743200"/>
            <a:ext cx="10972800" cy="274320"/>
          </a:xfrm>
          <a:prstGeom prst="rect">
            <a:avLst/>
          </a:prstGeom>
          <a:noFill/>
        </p:spPr>
        <p:txBody>
          <a:bodyPr wrap="square" anchor="t" lIns="0" rIns="0" tIns="0" bIns="0">
            <a:spAutoFit/>
          </a:bodyPr>
          <a:lstStyle/>
          <a:p>
            <a:pPr algn="l">
              <a:lnSpc>
                <a:spcPct val="105000"/>
              </a:lnSpc>
              <a:spcBef>
                <a:spcPts val="0"/>
              </a:spcBef>
              <a:spcAft>
                <a:spcPts val="600"/>
              </a:spcAft>
            </a:pPr>
            <a:r>
              <a:rPr sz="1200" b="1" i="0">
                <a:solidFill>
                  <a:srgbClr val="2A9D8F"/>
                </a:solidFill>
                <a:latin typeface="Calibri"/>
              </a:rPr>
              <a:t>Priority — runs early and continuously</a:t>
            </a:r>
          </a:p>
        </p:txBody>
      </p:sp>
      <p:sp>
        <p:nvSpPr>
          <p:cNvPr id="13" name="Rounded Rectangle 12"/>
          <p:cNvSpPr/>
          <p:nvPr/>
        </p:nvSpPr>
        <p:spPr>
          <a:xfrm>
            <a:off x="640080" y="3063240"/>
            <a:ext cx="10881360" cy="822960"/>
          </a:xfrm>
          <a:prstGeom prst="roundRect">
            <a:avLst>
              <a:gd name="adj" fmla="val 8000"/>
            </a:avLst>
          </a:prstGeom>
          <a:solidFill>
            <a:srgbClr val="E9F3F0"/>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300" b="1">
                <a:solidFill>
                  <a:srgbClr val="2A9D8F"/>
                </a:solidFill>
                <a:latin typeface="Calibri"/>
              </a:rPr>
              <a:t>D. Evaluation framework</a:t>
            </a:r>
          </a:p>
          <a:p>
            <a:pPr algn="ctr">
              <a:lnSpc>
                <a:spcPct val="100000"/>
              </a:lnSpc>
              <a:spcAft>
                <a:spcPts val="100"/>
              </a:spcAft>
            </a:pPr>
            <a:r>
              <a:rPr sz="1100" b="0">
                <a:solidFill>
                  <a:srgbClr val="3C4654"/>
                </a:solidFill>
                <a:latin typeface="Calibri"/>
              </a:rPr>
              <a:t>golden datasets (per use case &amp; program) · evaluators (Ragas, DeepEval, custom Python) · CI gate · online sampling · human review</a:t>
            </a:r>
          </a:p>
        </p:txBody>
      </p:sp>
      <p:sp>
        <p:nvSpPr>
          <p:cNvPr id="14" name="TextBox 13"/>
          <p:cNvSpPr txBox="1"/>
          <p:nvPr/>
        </p:nvSpPr>
        <p:spPr>
          <a:xfrm>
            <a:off x="640080" y="4069080"/>
            <a:ext cx="10972800" cy="274320"/>
          </a:xfrm>
          <a:prstGeom prst="rect">
            <a:avLst/>
          </a:prstGeom>
          <a:noFill/>
        </p:spPr>
        <p:txBody>
          <a:bodyPr wrap="square" anchor="t" lIns="0" rIns="0" tIns="0" bIns="0">
            <a:spAutoFit/>
          </a:bodyPr>
          <a:lstStyle/>
          <a:p>
            <a:pPr algn="l">
              <a:lnSpc>
                <a:spcPct val="105000"/>
              </a:lnSpc>
              <a:spcBef>
                <a:spcPts val="0"/>
              </a:spcBef>
              <a:spcAft>
                <a:spcPts val="600"/>
              </a:spcAft>
            </a:pPr>
            <a:r>
              <a:rPr sz="1200" b="1" i="0">
                <a:solidFill>
                  <a:srgbClr val="6A519E"/>
                </a:solidFill>
                <a:latin typeface="Calibri"/>
              </a:rPr>
              <a:t>Layer in as we go</a:t>
            </a:r>
          </a:p>
        </p:txBody>
      </p:sp>
      <p:sp>
        <p:nvSpPr>
          <p:cNvPr id="15" name="Rounded Rectangle 14"/>
          <p:cNvSpPr/>
          <p:nvPr/>
        </p:nvSpPr>
        <p:spPr>
          <a:xfrm>
            <a:off x="640080" y="4389120"/>
            <a:ext cx="2084831" cy="82296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100" b="1">
                <a:solidFill>
                  <a:srgbClr val="1F3A5F"/>
                </a:solidFill>
                <a:latin typeface="Calibri"/>
              </a:rPr>
              <a:t>E. Prompt &amp; model mgmt</a:t>
            </a:r>
          </a:p>
        </p:txBody>
      </p:sp>
      <p:sp>
        <p:nvSpPr>
          <p:cNvPr id="16" name="Rounded Rectangle 15"/>
          <p:cNvSpPr/>
          <p:nvPr/>
        </p:nvSpPr>
        <p:spPr>
          <a:xfrm>
            <a:off x="2834640" y="4389120"/>
            <a:ext cx="2084831" cy="82296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100" b="1">
                <a:solidFill>
                  <a:srgbClr val="1F3A5F"/>
                </a:solidFill>
                <a:latin typeface="Calibri"/>
              </a:rPr>
              <a:t>F. CI/CD &amp; releases</a:t>
            </a:r>
          </a:p>
        </p:txBody>
      </p:sp>
      <p:sp>
        <p:nvSpPr>
          <p:cNvPr id="17" name="Rounded Rectangle 16"/>
          <p:cNvSpPr/>
          <p:nvPr/>
        </p:nvSpPr>
        <p:spPr>
          <a:xfrm>
            <a:off x="5029200" y="4389120"/>
            <a:ext cx="2084831" cy="82296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100" b="1">
                <a:solidFill>
                  <a:srgbClr val="1F3A5F"/>
                </a:solidFill>
                <a:latin typeface="Calibri"/>
              </a:rPr>
              <a:t>G. Data / RAG pipelines</a:t>
            </a:r>
          </a:p>
        </p:txBody>
      </p:sp>
      <p:sp>
        <p:nvSpPr>
          <p:cNvPr id="18" name="Rounded Rectangle 17"/>
          <p:cNvSpPr/>
          <p:nvPr/>
        </p:nvSpPr>
        <p:spPr>
          <a:xfrm>
            <a:off x="7223760" y="4389120"/>
            <a:ext cx="2084831" cy="82296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100" b="1">
                <a:solidFill>
                  <a:srgbClr val="1F3A5F"/>
                </a:solidFill>
                <a:latin typeface="Calibri"/>
              </a:rPr>
              <a:t>H. Guardrails &amp; governance</a:t>
            </a:r>
          </a:p>
        </p:txBody>
      </p:sp>
      <p:sp>
        <p:nvSpPr>
          <p:cNvPr id="19" name="Rounded Rectangle 18"/>
          <p:cNvSpPr/>
          <p:nvPr/>
        </p:nvSpPr>
        <p:spPr>
          <a:xfrm>
            <a:off x="9418320" y="4389120"/>
            <a:ext cx="2084831" cy="82296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100" b="1">
                <a:solidFill>
                  <a:srgbClr val="1F3A5F"/>
                </a:solidFill>
                <a:latin typeface="Calibri"/>
              </a:rPr>
              <a:t>I. Feedback loop</a:t>
            </a:r>
          </a:p>
        </p:txBody>
      </p:sp>
      <p:sp>
        <p:nvSpPr>
          <p:cNvPr id="20" name="TextBox 19"/>
          <p:cNvSpPr txBox="1"/>
          <p:nvPr/>
        </p:nvSpPr>
        <p:spPr>
          <a:xfrm>
            <a:off x="640080" y="5440680"/>
            <a:ext cx="10972800" cy="365760"/>
          </a:xfrm>
          <a:prstGeom prst="rect">
            <a:avLst/>
          </a:prstGeom>
          <a:noFill/>
        </p:spPr>
        <p:txBody>
          <a:bodyPr wrap="square" anchor="t" lIns="0" rIns="0" tIns="0" bIns="0">
            <a:spAutoFit/>
          </a:bodyPr>
          <a:lstStyle/>
          <a:p>
            <a:pPr algn="l">
              <a:lnSpc>
                <a:spcPct val="105000"/>
              </a:lnSpc>
              <a:spcBef>
                <a:spcPts val="0"/>
              </a:spcBef>
              <a:spcAft>
                <a:spcPts val="600"/>
              </a:spcAft>
            </a:pPr>
            <a:r>
              <a:rPr sz="1250" b="0" i="1">
                <a:solidFill>
                  <a:srgbClr val="6B7480"/>
                </a:solidFill>
                <a:latin typeface="Calibri"/>
              </a:rPr>
              <a:t>No timelines yet — this is the order of work and its dependencies, not a schedule.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92608"/>
            <a:ext cx="10881360" cy="274320"/>
          </a:xfrm>
          <a:prstGeom prst="rect">
            <a:avLst/>
          </a:prstGeom>
          <a:noFill/>
        </p:spPr>
        <p:txBody>
          <a:bodyPr wrap="square" anchor="t" lIns="0" rIns="0" tIns="0" bIns="0">
            <a:spAutoFit/>
          </a:bodyPr>
          <a:lstStyle/>
          <a:p>
            <a:pPr algn="l">
              <a:lnSpc>
                <a:spcPct val="105000"/>
              </a:lnSpc>
              <a:spcBef>
                <a:spcPts val="0"/>
              </a:spcBef>
              <a:spcAft>
                <a:spcPts val="600"/>
              </a:spcAft>
            </a:pPr>
            <a:r>
              <a:rPr sz="1100" b="1" i="0">
                <a:solidFill>
                  <a:srgbClr val="2A9D8F"/>
                </a:solidFill>
                <a:latin typeface="Calibri"/>
              </a:rPr>
              <a:t>GAP</a:t>
            </a:r>
          </a:p>
        </p:txBody>
      </p:sp>
      <p:sp>
        <p:nvSpPr>
          <p:cNvPr id="4" name="TextBox 3"/>
          <p:cNvSpPr txBox="1"/>
          <p:nvPr/>
        </p:nvSpPr>
        <p:spPr>
          <a:xfrm>
            <a:off x="640080" y="512064"/>
            <a:ext cx="10972800" cy="640080"/>
          </a:xfrm>
          <a:prstGeom prst="rect">
            <a:avLst/>
          </a:prstGeom>
          <a:noFill/>
        </p:spPr>
        <p:txBody>
          <a:bodyPr wrap="square" anchor="t" lIns="0" rIns="0" tIns="0" bIns="0">
            <a:spAutoFit/>
          </a:bodyPr>
          <a:lstStyle/>
          <a:p>
            <a:pPr algn="l">
              <a:lnSpc>
                <a:spcPct val="105000"/>
              </a:lnSpc>
              <a:spcBef>
                <a:spcPts val="0"/>
              </a:spcBef>
              <a:spcAft>
                <a:spcPts val="600"/>
              </a:spcAft>
            </a:pPr>
            <a:r>
              <a:rPr sz="2300" b="1" i="0">
                <a:solidFill>
                  <a:srgbClr val="1F3A5F"/>
                </a:solidFill>
                <a:latin typeface="Calibri"/>
              </a:rPr>
              <a:t>What exists vs what changes (as-is / to-be)</a:t>
            </a:r>
          </a:p>
        </p:txBody>
      </p:sp>
      <p:sp>
        <p:nvSpPr>
          <p:cNvPr id="5" name="Rectangle 4"/>
          <p:cNvSpPr/>
          <p:nvPr/>
        </p:nvSpPr>
        <p:spPr>
          <a:xfrm>
            <a:off x="658368" y="1078992"/>
            <a:ext cx="1371600" cy="3810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85855" y="6473952"/>
            <a:ext cx="640080" cy="274320"/>
          </a:xfrm>
          <a:prstGeom prst="rect">
            <a:avLst/>
          </a:prstGeom>
          <a:noFill/>
        </p:spPr>
        <p:txBody>
          <a:bodyPr wrap="square" anchor="t" lIns="0" rIns="0" tIns="0" bIns="0">
            <a:spAutoFit/>
          </a:bodyPr>
          <a:lstStyle/>
          <a:p>
            <a:pPr algn="r">
              <a:lnSpc>
                <a:spcPct val="105000"/>
              </a:lnSpc>
              <a:spcBef>
                <a:spcPts val="0"/>
              </a:spcBef>
              <a:spcAft>
                <a:spcPts val="600"/>
              </a:spcAft>
            </a:pPr>
            <a:r>
              <a:rPr sz="1000" b="0" i="0">
                <a:solidFill>
                  <a:srgbClr val="6B7480"/>
                </a:solidFill>
                <a:latin typeface="Calibri"/>
              </a:rPr>
              <a:t>7</a:t>
            </a:r>
          </a:p>
        </p:txBody>
      </p:sp>
      <p:sp>
        <p:nvSpPr>
          <p:cNvPr id="7" name="TextBox 6"/>
          <p:cNvSpPr txBox="1"/>
          <p:nvPr/>
        </p:nvSpPr>
        <p:spPr>
          <a:xfrm>
            <a:off x="640080" y="6473952"/>
            <a:ext cx="8229600" cy="274320"/>
          </a:xfrm>
          <a:prstGeom prst="rect">
            <a:avLst/>
          </a:prstGeom>
          <a:noFill/>
        </p:spPr>
        <p:txBody>
          <a:bodyPr wrap="square" anchor="t" lIns="0" rIns="0" tIns="0" bIns="0">
            <a:spAutoFit/>
          </a:bodyPr>
          <a:lstStyle/>
          <a:p>
            <a:pPr algn="l">
              <a:lnSpc>
                <a:spcPct val="105000"/>
              </a:lnSpc>
              <a:spcBef>
                <a:spcPts val="0"/>
              </a:spcBef>
              <a:spcAft>
                <a:spcPts val="600"/>
              </a:spcAft>
            </a:pPr>
            <a:r>
              <a:rPr sz="900" b="0" i="0">
                <a:solidFill>
                  <a:srgbClr val="6B7480"/>
                </a:solidFill>
                <a:latin typeface="Calibri"/>
              </a:rPr>
              <a:t>LLMOps approach — APIX &amp; Hiring Intelligence</a:t>
            </a:r>
          </a:p>
        </p:txBody>
      </p:sp>
      <p:graphicFrame>
        <p:nvGraphicFramePr>
          <p:cNvPr id="8" name="Table 7"/>
          <p:cNvGraphicFramePr>
            <a:graphicFrameLocks noGrp="1"/>
          </p:cNvGraphicFramePr>
          <p:nvPr/>
        </p:nvGraphicFramePr>
        <p:xfrm>
          <a:off x="548640" y="1325880"/>
          <a:ext cx="11091672" cy="4023360"/>
        </p:xfrm>
        <a:graphic>
          <a:graphicData uri="http://schemas.openxmlformats.org/drawingml/2006/table">
            <a:tbl>
              <a:tblPr firstRow="1" bandRow="1">
                <a:tableStyleId>{5C22544A-7EE6-4342-B048-85BDC9FD1C3A}</a:tableStyleId>
              </a:tblPr>
              <a:tblGrid>
                <a:gridCol w="2011680"/>
                <a:gridCol w="4572000"/>
                <a:gridCol w="4507992"/>
              </a:tblGrid>
              <a:tr h="502920">
                <a:tc>
                  <a:txBody>
                    <a:bodyPr/>
                    <a:lstStyle/>
                    <a:p>
                      <a:r>
                        <a:rPr sz="1100" b="1">
                          <a:solidFill>
                            <a:srgbClr val="FFFFFF"/>
                          </a:solidFill>
                          <a:latin typeface="Calibri"/>
                        </a:rPr>
                        <a:t>Area</a:t>
                      </a:r>
                    </a:p>
                  </a:txBody>
                  <a:tcPr anchor="ctr" marL="73152" marT="18288" marB="18288">
                    <a:solidFill>
                      <a:srgbClr val="1F3A5F"/>
                    </a:solidFill>
                  </a:tcPr>
                </a:tc>
                <a:tc>
                  <a:txBody>
                    <a:bodyPr/>
                    <a:lstStyle/>
                    <a:p>
                      <a:r>
                        <a:rPr sz="1100" b="1">
                          <a:solidFill>
                            <a:srgbClr val="FFFFFF"/>
                          </a:solidFill>
                          <a:latin typeface="Calibri"/>
                        </a:rPr>
                        <a:t>As-is (to confirm in discovery)</a:t>
                      </a:r>
                    </a:p>
                  </a:txBody>
                  <a:tcPr anchor="ctr" marL="73152" marT="18288" marB="18288">
                    <a:solidFill>
                      <a:srgbClr val="1F3A5F"/>
                    </a:solidFill>
                  </a:tcPr>
                </a:tc>
                <a:tc>
                  <a:txBody>
                    <a:bodyPr/>
                    <a:lstStyle/>
                    <a:p>
                      <a:r>
                        <a:rPr sz="1100" b="1">
                          <a:solidFill>
                            <a:srgbClr val="FFFFFF"/>
                          </a:solidFill>
                          <a:latin typeface="Calibri"/>
                        </a:rPr>
                        <a:t>Target (to-be)</a:t>
                      </a:r>
                    </a:p>
                  </a:txBody>
                  <a:tcPr anchor="ctr" marL="73152" marT="18288" marB="18288">
                    <a:solidFill>
                      <a:srgbClr val="1F3A5F"/>
                    </a:solidFill>
                  </a:tcPr>
                </a:tc>
              </a:tr>
              <a:tr h="502920">
                <a:tc>
                  <a:txBody>
                    <a:bodyPr/>
                    <a:lstStyle/>
                    <a:p>
                      <a:r>
                        <a:rPr sz="1100" b="1">
                          <a:solidFill>
                            <a:srgbClr val="1F3A5F"/>
                          </a:solidFill>
                          <a:latin typeface="Calibri"/>
                        </a:rPr>
                        <a:t>Prompts</a:t>
                      </a:r>
                    </a:p>
                  </a:txBody>
                  <a:tcPr anchor="ctr" marL="73152" marT="18288" marB="18288">
                    <a:solidFill>
                      <a:srgbClr val="FFFFFF"/>
                    </a:solidFill>
                  </a:tcPr>
                </a:tc>
                <a:tc>
                  <a:txBody>
                    <a:bodyPr/>
                    <a:lstStyle/>
                    <a:p>
                      <a:r>
                        <a:rPr sz="1100">
                          <a:solidFill>
                            <a:srgbClr val="3C4654"/>
                          </a:solidFill>
                          <a:latin typeface="Calibri"/>
                        </a:rPr>
                        <a:t>edited in code or portal, untracked</a:t>
                      </a:r>
                    </a:p>
                  </a:txBody>
                  <a:tcPr anchor="ctr" marL="73152" marT="18288" marB="18288">
                    <a:solidFill>
                      <a:srgbClr val="FFFFFF"/>
                    </a:solidFill>
                  </a:tcPr>
                </a:tc>
                <a:tc>
                  <a:txBody>
                    <a:bodyPr/>
                    <a:lstStyle/>
                    <a:p>
                      <a:r>
                        <a:rPr sz="1100">
                          <a:solidFill>
                            <a:srgbClr val="3C4654"/>
                          </a:solidFill>
                          <a:latin typeface="Calibri"/>
                        </a:rPr>
                        <a:t>versioned in Git + registry, reviewed, tested</a:t>
                      </a:r>
                    </a:p>
                  </a:txBody>
                  <a:tcPr anchor="ctr" marL="73152" marT="18288" marB="18288">
                    <a:solidFill>
                      <a:srgbClr val="FFFFFF"/>
                    </a:solidFill>
                  </a:tcPr>
                </a:tc>
              </a:tr>
              <a:tr h="502920">
                <a:tc>
                  <a:txBody>
                    <a:bodyPr/>
                    <a:lstStyle/>
                    <a:p>
                      <a:r>
                        <a:rPr sz="1100" b="1">
                          <a:solidFill>
                            <a:srgbClr val="1F3A5F"/>
                          </a:solidFill>
                          <a:latin typeface="Calibri"/>
                        </a:rPr>
                        <a:t>Models</a:t>
                      </a:r>
                    </a:p>
                  </a:txBody>
                  <a:tcPr anchor="ctr" marL="73152" marT="18288" marB="18288">
                    <a:solidFill>
                      <a:srgbClr val="EEF1F5"/>
                    </a:solidFill>
                  </a:tcPr>
                </a:tc>
                <a:tc>
                  <a:txBody>
                    <a:bodyPr/>
                    <a:lstStyle/>
                    <a:p>
                      <a:r>
                        <a:rPr sz="1100">
                          <a:solidFill>
                            <a:srgbClr val="3C4654"/>
                          </a:solidFill>
                          <a:latin typeface="Calibri"/>
                        </a:rPr>
                        <a:t>model names in code</a:t>
                      </a:r>
                    </a:p>
                  </a:txBody>
                  <a:tcPr anchor="ctr" marL="73152" marT="18288" marB="18288">
                    <a:solidFill>
                      <a:srgbClr val="EEF1F5"/>
                    </a:solidFill>
                  </a:tcPr>
                </a:tc>
                <a:tc>
                  <a:txBody>
                    <a:bodyPr/>
                    <a:lstStyle/>
                    <a:p>
                      <a:r>
                        <a:rPr sz="1100">
                          <a:solidFill>
                            <a:srgbClr val="3C4654"/>
                          </a:solidFill>
                          <a:latin typeface="Calibri"/>
                        </a:rPr>
                        <a:t>task-aliases in config; swap = reviewed change</a:t>
                      </a:r>
                    </a:p>
                  </a:txBody>
                  <a:tcPr anchor="ctr" marL="73152" marT="18288" marB="18288">
                    <a:solidFill>
                      <a:srgbClr val="EEF1F5"/>
                    </a:solidFill>
                  </a:tcPr>
                </a:tc>
              </a:tr>
              <a:tr h="502920">
                <a:tc>
                  <a:txBody>
                    <a:bodyPr/>
                    <a:lstStyle/>
                    <a:p>
                      <a:r>
                        <a:rPr sz="1100" b="1">
                          <a:solidFill>
                            <a:srgbClr val="1F3A5F"/>
                          </a:solidFill>
                          <a:latin typeface="Calibri"/>
                        </a:rPr>
                        <a:t>Tracing</a:t>
                      </a:r>
                    </a:p>
                  </a:txBody>
                  <a:tcPr anchor="ctr" marL="73152" marT="18288" marB="18288">
                    <a:solidFill>
                      <a:srgbClr val="FFFFFF"/>
                    </a:solidFill>
                  </a:tcPr>
                </a:tc>
                <a:tc>
                  <a:txBody>
                    <a:bodyPr/>
                    <a:lstStyle/>
                    <a:p>
                      <a:r>
                        <a:rPr sz="1100">
                          <a:solidFill>
                            <a:srgbClr val="3C4654"/>
                          </a:solidFill>
                          <a:latin typeface="Calibri"/>
                        </a:rPr>
                        <a:t>app logs; no per-step detail</a:t>
                      </a:r>
                    </a:p>
                  </a:txBody>
                  <a:tcPr anchor="ctr" marL="73152" marT="18288" marB="18288">
                    <a:solidFill>
                      <a:srgbClr val="FFFFFF"/>
                    </a:solidFill>
                  </a:tcPr>
                </a:tc>
                <a:tc>
                  <a:txBody>
                    <a:bodyPr/>
                    <a:lstStyle/>
                    <a:p>
                      <a:r>
                        <a:rPr sz="1100">
                          <a:solidFill>
                            <a:srgbClr val="3C4654"/>
                          </a:solidFill>
                          <a:latin typeface="Calibri"/>
                        </a:rPr>
                        <a:t>full trace tree: agent, model, tool spans</a:t>
                      </a:r>
                    </a:p>
                  </a:txBody>
                  <a:tcPr anchor="ctr" marL="73152" marT="18288" marB="18288">
                    <a:solidFill>
                      <a:srgbClr val="FFFFFF"/>
                    </a:solidFill>
                  </a:tcPr>
                </a:tc>
              </a:tr>
              <a:tr h="502920">
                <a:tc>
                  <a:txBody>
                    <a:bodyPr/>
                    <a:lstStyle/>
                    <a:p>
                      <a:r>
                        <a:rPr sz="1100" b="1">
                          <a:solidFill>
                            <a:srgbClr val="1F3A5F"/>
                          </a:solidFill>
                          <a:latin typeface="Calibri"/>
                        </a:rPr>
                        <a:t>Evaluation</a:t>
                      </a:r>
                    </a:p>
                  </a:txBody>
                  <a:tcPr anchor="ctr" marL="73152" marT="18288" marB="18288">
                    <a:solidFill>
                      <a:srgbClr val="EEF1F5"/>
                    </a:solidFill>
                  </a:tcPr>
                </a:tc>
                <a:tc>
                  <a:txBody>
                    <a:bodyPr/>
                    <a:lstStyle/>
                    <a:p>
                      <a:r>
                        <a:rPr sz="1100">
                          <a:solidFill>
                            <a:srgbClr val="3C4654"/>
                          </a:solidFill>
                          <a:latin typeface="Calibri"/>
                        </a:rPr>
                        <a:t>manual / spot-check; no gate</a:t>
                      </a:r>
                    </a:p>
                  </a:txBody>
                  <a:tcPr anchor="ctr" marL="73152" marT="18288" marB="18288">
                    <a:solidFill>
                      <a:srgbClr val="EEF1F5"/>
                    </a:solidFill>
                  </a:tcPr>
                </a:tc>
                <a:tc>
                  <a:txBody>
                    <a:bodyPr/>
                    <a:lstStyle/>
                    <a:p>
                      <a:r>
                        <a:rPr sz="1100">
                          <a:solidFill>
                            <a:srgbClr val="3C4654"/>
                          </a:solidFill>
                          <a:latin typeface="Calibri"/>
                        </a:rPr>
                        <a:t>golden datasets + automated scoring + CI gate</a:t>
                      </a:r>
                    </a:p>
                  </a:txBody>
                  <a:tcPr anchor="ctr" marL="73152" marT="18288" marB="18288">
                    <a:solidFill>
                      <a:srgbClr val="EEF1F5"/>
                    </a:solidFill>
                  </a:tcPr>
                </a:tc>
              </a:tr>
              <a:tr h="502920">
                <a:tc>
                  <a:txBody>
                    <a:bodyPr/>
                    <a:lstStyle/>
                    <a:p>
                      <a:r>
                        <a:rPr sz="1100" b="1">
                          <a:solidFill>
                            <a:srgbClr val="1F3A5F"/>
                          </a:solidFill>
                          <a:latin typeface="Calibri"/>
                        </a:rPr>
                        <a:t>Data / RAG</a:t>
                      </a:r>
                    </a:p>
                  </a:txBody>
                  <a:tcPr anchor="ctr" marL="73152" marT="18288" marB="18288">
                    <a:solidFill>
                      <a:srgbClr val="FFFFFF"/>
                    </a:solidFill>
                  </a:tcPr>
                </a:tc>
                <a:tc>
                  <a:txBody>
                    <a:bodyPr/>
                    <a:lstStyle/>
                    <a:p>
                      <a:r>
                        <a:rPr sz="1100">
                          <a:solidFill>
                            <a:srgbClr val="3C4654"/>
                          </a:solidFill>
                          <a:latin typeface="Calibri"/>
                        </a:rPr>
                        <a:t>ad-hoc</a:t>
                      </a:r>
                    </a:p>
                  </a:txBody>
                  <a:tcPr anchor="ctr" marL="73152" marT="18288" marB="18288">
                    <a:solidFill>
                      <a:srgbClr val="FFFFFF"/>
                    </a:solidFill>
                  </a:tcPr>
                </a:tc>
                <a:tc>
                  <a:txBody>
                    <a:bodyPr/>
                    <a:lstStyle/>
                    <a:p>
                      <a:r>
                        <a:rPr sz="1100">
                          <a:solidFill>
                            <a:srgbClr val="3C4654"/>
                          </a:solidFill>
                          <a:latin typeface="Calibri"/>
                        </a:rPr>
                        <a:t>managed ingestion + scheduled refresh</a:t>
                      </a:r>
                    </a:p>
                  </a:txBody>
                  <a:tcPr anchor="ctr" marL="73152" marT="18288" marB="18288">
                    <a:solidFill>
                      <a:srgbClr val="FFFFFF"/>
                    </a:solidFill>
                  </a:tcPr>
                </a:tc>
              </a:tr>
              <a:tr h="502920">
                <a:tc>
                  <a:txBody>
                    <a:bodyPr/>
                    <a:lstStyle/>
                    <a:p>
                      <a:r>
                        <a:rPr sz="1100" b="1">
                          <a:solidFill>
                            <a:srgbClr val="1F3A5F"/>
                          </a:solidFill>
                          <a:latin typeface="Calibri"/>
                        </a:rPr>
                        <a:t>Guardrails</a:t>
                      </a:r>
                    </a:p>
                  </a:txBody>
                  <a:tcPr anchor="ctr" marL="73152" marT="18288" marB="18288">
                    <a:solidFill>
                      <a:srgbClr val="EEF1F5"/>
                    </a:solidFill>
                  </a:tcPr>
                </a:tc>
                <a:tc>
                  <a:txBody>
                    <a:bodyPr/>
                    <a:lstStyle/>
                    <a:p>
                      <a:r>
                        <a:rPr sz="1100">
                          <a:solidFill>
                            <a:srgbClr val="3C4654"/>
                          </a:solidFill>
                          <a:latin typeface="Calibri"/>
                        </a:rPr>
                        <a:t>minimal</a:t>
                      </a:r>
                    </a:p>
                  </a:txBody>
                  <a:tcPr anchor="ctr" marL="73152" marT="18288" marB="18288">
                    <a:solidFill>
                      <a:srgbClr val="EEF1F5"/>
                    </a:solidFill>
                  </a:tcPr>
                </a:tc>
                <a:tc>
                  <a:txBody>
                    <a:bodyPr/>
                    <a:lstStyle/>
                    <a:p>
                      <a:r>
                        <a:rPr sz="1100">
                          <a:solidFill>
                            <a:srgbClr val="3C4654"/>
                          </a:solidFill>
                          <a:latin typeface="Calibri"/>
                        </a:rPr>
                        <a:t>safety + personal-data checks + human review</a:t>
                      </a:r>
                    </a:p>
                  </a:txBody>
                  <a:tcPr anchor="ctr" marL="73152" marT="18288" marB="18288">
                    <a:solidFill>
                      <a:srgbClr val="EEF1F5"/>
                    </a:solidFill>
                  </a:tcPr>
                </a:tc>
              </a:tr>
              <a:tr h="502920">
                <a:tc>
                  <a:txBody>
                    <a:bodyPr/>
                    <a:lstStyle/>
                    <a:p>
                      <a:r>
                        <a:rPr sz="1100" b="1">
                          <a:solidFill>
                            <a:srgbClr val="1F3A5F"/>
                          </a:solidFill>
                          <a:latin typeface="Calibri"/>
                        </a:rPr>
                        <a:t>Deploy</a:t>
                      </a:r>
                    </a:p>
                  </a:txBody>
                  <a:tcPr anchor="ctr" marL="73152" marT="18288" marB="18288">
                    <a:solidFill>
                      <a:srgbClr val="FFFFFF"/>
                    </a:solidFill>
                  </a:tcPr>
                </a:tc>
                <a:tc>
                  <a:txBody>
                    <a:bodyPr/>
                    <a:lstStyle/>
                    <a:p>
                      <a:r>
                        <a:rPr sz="1100">
                          <a:solidFill>
                            <a:srgbClr val="3C4654"/>
                          </a:solidFill>
                          <a:latin typeface="Calibri"/>
                        </a:rPr>
                        <a:t>manual</a:t>
                      </a:r>
                    </a:p>
                  </a:txBody>
                  <a:tcPr anchor="ctr" marL="73152" marT="18288" marB="18288">
                    <a:solidFill>
                      <a:srgbClr val="FFFFFF"/>
                    </a:solidFill>
                  </a:tcPr>
                </a:tc>
                <a:tc>
                  <a:txBody>
                    <a:bodyPr/>
                    <a:lstStyle/>
                    <a:p>
                      <a:r>
                        <a:rPr sz="1100">
                          <a:solidFill>
                            <a:srgbClr val="3C4654"/>
                          </a:solidFill>
                          <a:latin typeface="Calibri"/>
                        </a:rPr>
                        <a:t>automated, gated, gradual, reversible</a:t>
                      </a:r>
                    </a:p>
                  </a:txBody>
                  <a:tcPr anchor="ctr" marL="73152" marT="18288" marB="18288">
                    <a:solidFill>
                      <a:srgbClr val="FFFFFF"/>
                    </a:solidFill>
                  </a:tcPr>
                </a:tc>
              </a:tr>
            </a:tbl>
          </a:graphicData>
        </a:graphic>
      </p:graphicFrame>
      <p:sp>
        <p:nvSpPr>
          <p:cNvPr id="9" name="TextBox 8"/>
          <p:cNvSpPr txBox="1"/>
          <p:nvPr/>
        </p:nvSpPr>
        <p:spPr>
          <a:xfrm>
            <a:off x="548640" y="5669280"/>
            <a:ext cx="11091672" cy="457200"/>
          </a:xfrm>
          <a:prstGeom prst="rect">
            <a:avLst/>
          </a:prstGeom>
          <a:noFill/>
        </p:spPr>
        <p:txBody>
          <a:bodyPr wrap="square" anchor="t" lIns="0" rIns="0" tIns="0" bIns="0">
            <a:spAutoFit/>
          </a:bodyPr>
          <a:lstStyle/>
          <a:p>
            <a:pPr algn="l">
              <a:lnSpc>
                <a:spcPct val="105000"/>
              </a:lnSpc>
              <a:spcBef>
                <a:spcPts val="0"/>
              </a:spcBef>
              <a:spcAft>
                <a:spcPts val="600"/>
              </a:spcAft>
            </a:pPr>
            <a:r>
              <a:rPr sz="1200" b="0" i="1">
                <a:solidFill>
                  <a:srgbClr val="6B7480"/>
                </a:solidFill>
                <a:latin typeface="Calibri"/>
              </a:rPr>
              <a:t>As-is is our assumption until we audit the pipelines with the team — every row is a discovery question, not a claim.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92608"/>
            <a:ext cx="10881360" cy="274320"/>
          </a:xfrm>
          <a:prstGeom prst="rect">
            <a:avLst/>
          </a:prstGeom>
          <a:noFill/>
        </p:spPr>
        <p:txBody>
          <a:bodyPr wrap="square" anchor="t" lIns="0" rIns="0" tIns="0" bIns="0">
            <a:spAutoFit/>
          </a:bodyPr>
          <a:lstStyle/>
          <a:p>
            <a:pPr algn="l">
              <a:lnSpc>
                <a:spcPct val="105000"/>
              </a:lnSpc>
              <a:spcBef>
                <a:spcPts val="0"/>
              </a:spcBef>
              <a:spcAft>
                <a:spcPts val="600"/>
              </a:spcAft>
            </a:pPr>
            <a:r>
              <a:rPr sz="1100" b="1" i="0">
                <a:solidFill>
                  <a:srgbClr val="2A9D8F"/>
                </a:solidFill>
                <a:latin typeface="Calibri"/>
              </a:rPr>
              <a:t>OBSERVABILITY</a:t>
            </a:r>
          </a:p>
        </p:txBody>
      </p:sp>
      <p:sp>
        <p:nvSpPr>
          <p:cNvPr id="4" name="TextBox 3"/>
          <p:cNvSpPr txBox="1"/>
          <p:nvPr/>
        </p:nvSpPr>
        <p:spPr>
          <a:xfrm>
            <a:off x="640080" y="512064"/>
            <a:ext cx="10972800" cy="640080"/>
          </a:xfrm>
          <a:prstGeom prst="rect">
            <a:avLst/>
          </a:prstGeom>
          <a:noFill/>
        </p:spPr>
        <p:txBody>
          <a:bodyPr wrap="square" anchor="t" lIns="0" rIns="0" tIns="0" bIns="0">
            <a:spAutoFit/>
          </a:bodyPr>
          <a:lstStyle/>
          <a:p>
            <a:pPr algn="l">
              <a:lnSpc>
                <a:spcPct val="105000"/>
              </a:lnSpc>
              <a:spcBef>
                <a:spcPts val="0"/>
              </a:spcBef>
              <a:spcAft>
                <a:spcPts val="600"/>
              </a:spcAft>
            </a:pPr>
            <a:r>
              <a:rPr sz="2300" b="1" i="0">
                <a:solidFill>
                  <a:srgbClr val="1F3A5F"/>
                </a:solidFill>
                <a:latin typeface="Calibri"/>
              </a:rPr>
              <a:t>Observability: every request is a trace of nested steps</a:t>
            </a:r>
          </a:p>
        </p:txBody>
      </p:sp>
      <p:sp>
        <p:nvSpPr>
          <p:cNvPr id="5" name="Rectangle 4"/>
          <p:cNvSpPr/>
          <p:nvPr/>
        </p:nvSpPr>
        <p:spPr>
          <a:xfrm>
            <a:off x="658368" y="1078992"/>
            <a:ext cx="1371600" cy="3810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85855" y="6473952"/>
            <a:ext cx="640080" cy="274320"/>
          </a:xfrm>
          <a:prstGeom prst="rect">
            <a:avLst/>
          </a:prstGeom>
          <a:noFill/>
        </p:spPr>
        <p:txBody>
          <a:bodyPr wrap="square" anchor="t" lIns="0" rIns="0" tIns="0" bIns="0">
            <a:spAutoFit/>
          </a:bodyPr>
          <a:lstStyle/>
          <a:p>
            <a:pPr algn="r">
              <a:lnSpc>
                <a:spcPct val="105000"/>
              </a:lnSpc>
              <a:spcBef>
                <a:spcPts val="0"/>
              </a:spcBef>
              <a:spcAft>
                <a:spcPts val="600"/>
              </a:spcAft>
            </a:pPr>
            <a:r>
              <a:rPr sz="1000" b="0" i="0">
                <a:solidFill>
                  <a:srgbClr val="6B7480"/>
                </a:solidFill>
                <a:latin typeface="Calibri"/>
              </a:rPr>
              <a:t>8</a:t>
            </a:r>
          </a:p>
        </p:txBody>
      </p:sp>
      <p:sp>
        <p:nvSpPr>
          <p:cNvPr id="7" name="TextBox 6"/>
          <p:cNvSpPr txBox="1"/>
          <p:nvPr/>
        </p:nvSpPr>
        <p:spPr>
          <a:xfrm>
            <a:off x="640080" y="6473952"/>
            <a:ext cx="8229600" cy="274320"/>
          </a:xfrm>
          <a:prstGeom prst="rect">
            <a:avLst/>
          </a:prstGeom>
          <a:noFill/>
        </p:spPr>
        <p:txBody>
          <a:bodyPr wrap="square" anchor="t" lIns="0" rIns="0" tIns="0" bIns="0">
            <a:spAutoFit/>
          </a:bodyPr>
          <a:lstStyle/>
          <a:p>
            <a:pPr algn="l">
              <a:lnSpc>
                <a:spcPct val="105000"/>
              </a:lnSpc>
              <a:spcBef>
                <a:spcPts val="0"/>
              </a:spcBef>
              <a:spcAft>
                <a:spcPts val="600"/>
              </a:spcAft>
            </a:pPr>
            <a:r>
              <a:rPr sz="900" b="0" i="0">
                <a:solidFill>
                  <a:srgbClr val="6B7480"/>
                </a:solidFill>
                <a:latin typeface="Calibri"/>
              </a:rPr>
              <a:t>LLMOps approach — APIX &amp; Hiring Intelligence</a:t>
            </a:r>
          </a:p>
        </p:txBody>
      </p:sp>
      <p:sp>
        <p:nvSpPr>
          <p:cNvPr id="8" name="Rounded Rectangle 7"/>
          <p:cNvSpPr/>
          <p:nvPr/>
        </p:nvSpPr>
        <p:spPr>
          <a:xfrm>
            <a:off x="640080" y="1417320"/>
            <a:ext cx="6035040" cy="548640"/>
          </a:xfrm>
          <a:prstGeom prst="roundRect">
            <a:avLst>
              <a:gd name="adj" fmla="val 8000"/>
            </a:avLst>
          </a:prstGeom>
          <a:solidFill>
            <a:srgbClr val="1F3A5F"/>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50" b="1">
                <a:solidFill>
                  <a:srgbClr val="FFFFFF"/>
                </a:solidFill>
                <a:latin typeface="Calibri"/>
              </a:rPr>
              <a:t>Request (trace)</a:t>
            </a:r>
          </a:p>
          <a:p>
            <a:pPr algn="ctr">
              <a:lnSpc>
                <a:spcPct val="100000"/>
              </a:lnSpc>
              <a:spcAft>
                <a:spcPts val="100"/>
              </a:spcAft>
            </a:pPr>
            <a:r>
              <a:rPr sz="950" b="0">
                <a:solidFill>
                  <a:srgbClr val="AEC6DE"/>
                </a:solidFill>
                <a:latin typeface="Calibri"/>
              </a:rPr>
              <a:t>one call analysed / one candidate screened</a:t>
            </a:r>
          </a:p>
        </p:txBody>
      </p:sp>
      <p:cxnSp>
        <p:nvCxnSpPr>
          <p:cNvPr id="9" name="Connector 8"/>
          <p:cNvCxnSpPr/>
          <p:nvPr/>
        </p:nvCxnSpPr>
        <p:spPr>
          <a:xfrm>
            <a:off x="914400" y="1965960"/>
            <a:ext cx="0" cy="2624328"/>
          </a:xfrm>
          <a:prstGeom prst="line">
            <a:avLst/>
          </a:prstGeom>
          <a:ln w="20320">
            <a:solidFill>
              <a:srgbClr val="C9D2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914400" y="2487168"/>
            <a:ext cx="274320" cy="0"/>
          </a:xfrm>
          <a:prstGeom prst="line">
            <a:avLst/>
          </a:prstGeom>
          <a:ln w="20320">
            <a:solidFill>
              <a:srgbClr val="C9D2DD"/>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1188720" y="2231136"/>
            <a:ext cx="5486400" cy="512064"/>
          </a:xfrm>
          <a:prstGeom prst="roundRect">
            <a:avLst>
              <a:gd name="adj" fmla="val 8000"/>
            </a:avLst>
          </a:prstGeom>
          <a:solidFill>
            <a:srgbClr val="2F5C9E"/>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00" b="1">
                <a:solidFill>
                  <a:srgbClr val="FFFFFF"/>
                </a:solidFill>
                <a:latin typeface="Calibri"/>
              </a:rPr>
              <a:t>Agent 1 (span)</a:t>
            </a:r>
          </a:p>
          <a:p>
            <a:pPr algn="ctr">
              <a:lnSpc>
                <a:spcPct val="100000"/>
              </a:lnSpc>
              <a:spcAft>
                <a:spcPts val="100"/>
              </a:spcAft>
            </a:pPr>
            <a:r>
              <a:rPr sz="900" b="0">
                <a:solidFill>
                  <a:srgbClr val="CFDCF0"/>
                </a:solidFill>
                <a:latin typeface="Calibri"/>
              </a:rPr>
              <a:t>dimension analysis / resume rank</a:t>
            </a:r>
          </a:p>
        </p:txBody>
      </p:sp>
      <p:cxnSp>
        <p:nvCxnSpPr>
          <p:cNvPr id="12" name="Connector 11"/>
          <p:cNvCxnSpPr/>
          <p:nvPr/>
        </p:nvCxnSpPr>
        <p:spPr>
          <a:xfrm>
            <a:off x="2651760" y="2743200"/>
            <a:ext cx="0" cy="237744"/>
          </a:xfrm>
          <a:prstGeom prst="line">
            <a:avLst/>
          </a:prstGeom>
          <a:ln w="17780">
            <a:solidFill>
              <a:srgbClr val="C9D2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212080" y="2743200"/>
            <a:ext cx="0" cy="237744"/>
          </a:xfrm>
          <a:prstGeom prst="line">
            <a:avLst/>
          </a:prstGeom>
          <a:ln w="17780">
            <a:solidFill>
              <a:srgbClr val="C9D2DD"/>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1463040" y="2980944"/>
            <a:ext cx="2377440" cy="457200"/>
          </a:xfrm>
          <a:prstGeom prst="roundRect">
            <a:avLst>
              <a:gd name="adj" fmla="val 8000"/>
            </a:avLst>
          </a:prstGeom>
          <a:solidFill>
            <a:srgbClr val="2A9D8F"/>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050" b="1">
                <a:solidFill>
                  <a:srgbClr val="FFFFFF"/>
                </a:solidFill>
                <a:latin typeface="Calibri"/>
              </a:rPr>
              <a:t>Model call (span)</a:t>
            </a:r>
          </a:p>
        </p:txBody>
      </p:sp>
      <p:sp>
        <p:nvSpPr>
          <p:cNvPr id="15" name="Rounded Rectangle 14"/>
          <p:cNvSpPr/>
          <p:nvPr/>
        </p:nvSpPr>
        <p:spPr>
          <a:xfrm>
            <a:off x="4023360" y="2980944"/>
            <a:ext cx="2377440" cy="457200"/>
          </a:xfrm>
          <a:prstGeom prst="roundRect">
            <a:avLst>
              <a:gd name="adj" fmla="val 8000"/>
            </a:avLst>
          </a:prstGeom>
          <a:solidFill>
            <a:srgbClr val="2E7D7D"/>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050" b="1">
                <a:solidFill>
                  <a:srgbClr val="FFFFFF"/>
                </a:solidFill>
                <a:latin typeface="Calibri"/>
              </a:rPr>
              <a:t>Tool call (span)</a:t>
            </a:r>
          </a:p>
        </p:txBody>
      </p:sp>
      <p:cxnSp>
        <p:nvCxnSpPr>
          <p:cNvPr id="16" name="Connector 15"/>
          <p:cNvCxnSpPr/>
          <p:nvPr/>
        </p:nvCxnSpPr>
        <p:spPr>
          <a:xfrm>
            <a:off x="914400" y="3840480"/>
            <a:ext cx="274320" cy="0"/>
          </a:xfrm>
          <a:prstGeom prst="line">
            <a:avLst/>
          </a:prstGeom>
          <a:ln w="20320">
            <a:solidFill>
              <a:srgbClr val="C9D2DD"/>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188720" y="3584448"/>
            <a:ext cx="5486400" cy="512064"/>
          </a:xfrm>
          <a:prstGeom prst="roundRect">
            <a:avLst>
              <a:gd name="adj" fmla="val 8000"/>
            </a:avLst>
          </a:prstGeom>
          <a:solidFill>
            <a:srgbClr val="2F5C9E"/>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00" b="1">
                <a:solidFill>
                  <a:srgbClr val="FFFFFF"/>
                </a:solidFill>
                <a:latin typeface="Calibri"/>
              </a:rPr>
              <a:t>Agent 2 (span)</a:t>
            </a:r>
          </a:p>
          <a:p>
            <a:pPr algn="ctr">
              <a:lnSpc>
                <a:spcPct val="100000"/>
              </a:lnSpc>
              <a:spcAft>
                <a:spcPts val="100"/>
              </a:spcAft>
            </a:pPr>
            <a:r>
              <a:rPr sz="900" b="0">
                <a:solidFill>
                  <a:srgbClr val="CFDCF0"/>
                </a:solidFill>
                <a:latin typeface="Calibri"/>
              </a:rPr>
              <a:t>scoring / screening</a:t>
            </a:r>
          </a:p>
        </p:txBody>
      </p:sp>
      <p:cxnSp>
        <p:nvCxnSpPr>
          <p:cNvPr id="18" name="Connector 17"/>
          <p:cNvCxnSpPr/>
          <p:nvPr/>
        </p:nvCxnSpPr>
        <p:spPr>
          <a:xfrm>
            <a:off x="914400" y="4498848"/>
            <a:ext cx="274320" cy="0"/>
          </a:xfrm>
          <a:prstGeom prst="line">
            <a:avLst/>
          </a:prstGeom>
          <a:ln w="20320">
            <a:solidFill>
              <a:srgbClr val="C9D2DD"/>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1188720" y="4242816"/>
            <a:ext cx="5486400" cy="493776"/>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00" b="1">
                <a:solidFill>
                  <a:srgbClr val="1F3A5F"/>
                </a:solidFill>
                <a:latin typeface="Calibri"/>
              </a:rPr>
              <a:t>Final output</a:t>
            </a:r>
          </a:p>
          <a:p>
            <a:pPr algn="ctr">
              <a:lnSpc>
                <a:spcPct val="100000"/>
              </a:lnSpc>
              <a:spcAft>
                <a:spcPts val="100"/>
              </a:spcAft>
            </a:pPr>
            <a:r>
              <a:rPr sz="1000" b="0">
                <a:solidFill>
                  <a:srgbClr val="3C4654"/>
                </a:solidFill>
                <a:latin typeface="Calibri"/>
              </a:rPr>
              <a:t>report / candidate summary</a:t>
            </a:r>
          </a:p>
        </p:txBody>
      </p:sp>
      <p:sp>
        <p:nvSpPr>
          <p:cNvPr id="20" name="Rounded Rectangle 19"/>
          <p:cNvSpPr/>
          <p:nvPr/>
        </p:nvSpPr>
        <p:spPr>
          <a:xfrm>
            <a:off x="7086600" y="2240280"/>
            <a:ext cx="4526280" cy="2514600"/>
          </a:xfrm>
          <a:prstGeom prst="roundRect">
            <a:avLst>
              <a:gd name="adj" fmla="val 8000"/>
            </a:avLst>
          </a:prstGeom>
          <a:solidFill>
            <a:srgbClr val="E9F3F0"/>
          </a:solidFill>
          <a:ln w="12700">
            <a:solidFill>
              <a:srgbClr val="BFD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0" y="2395728"/>
            <a:ext cx="4114800" cy="365760"/>
          </a:xfrm>
          <a:prstGeom prst="rect">
            <a:avLst/>
          </a:prstGeom>
          <a:noFill/>
        </p:spPr>
        <p:txBody>
          <a:bodyPr wrap="square" anchor="t" lIns="0" rIns="0" tIns="0" bIns="0">
            <a:spAutoFit/>
          </a:bodyPr>
          <a:lstStyle/>
          <a:p>
            <a:pPr algn="l">
              <a:lnSpc>
                <a:spcPct val="105000"/>
              </a:lnSpc>
              <a:spcBef>
                <a:spcPts val="0"/>
              </a:spcBef>
              <a:spcAft>
                <a:spcPts val="600"/>
              </a:spcAft>
            </a:pPr>
            <a:r>
              <a:rPr sz="1400" b="1" i="0">
                <a:solidFill>
                  <a:srgbClr val="2A9D8F"/>
                </a:solidFill>
                <a:latin typeface="Calibri"/>
              </a:rPr>
              <a:t>Every box is a span</a:t>
            </a:r>
          </a:p>
        </p:txBody>
      </p:sp>
      <p:sp>
        <p:nvSpPr>
          <p:cNvPr id="22" name="TextBox 21"/>
          <p:cNvSpPr txBox="1"/>
          <p:nvPr/>
        </p:nvSpPr>
        <p:spPr>
          <a:xfrm>
            <a:off x="7315200" y="2880360"/>
            <a:ext cx="4069080" cy="1828800"/>
          </a:xfrm>
          <a:prstGeom prst="rect">
            <a:avLst/>
          </a:prstGeom>
          <a:noFill/>
        </p:spPr>
        <p:txBody>
          <a:bodyPr wrap="square" lIns="0" tIns="0">
            <a:spAutoFit/>
          </a:bodyPr>
          <a:lstStyle/>
          <a:p>
            <a:pPr>
              <a:lnSpc>
                <a:spcPct val="105000"/>
              </a:lnSpc>
              <a:spcBef>
                <a:spcPts val="0"/>
              </a:spcBef>
              <a:spcAft>
                <a:spcPts val="900"/>
              </a:spcAft>
            </a:pPr>
            <a:r>
              <a:rPr sz="1200" b="0">
                <a:solidFill>
                  <a:srgbClr val="3C4654"/>
                </a:solidFill>
                <a:latin typeface="Calibri"/>
              </a:rPr>
              <a:t>•  It records its own inputs, outputs, timing, and cost.</a:t>
            </a:r>
          </a:p>
          <a:p>
            <a:pPr>
              <a:lnSpc>
                <a:spcPct val="105000"/>
              </a:lnSpc>
              <a:spcBef>
                <a:spcPts val="0"/>
              </a:spcBef>
              <a:spcAft>
                <a:spcPts val="900"/>
              </a:spcAft>
            </a:pPr>
            <a:r>
              <a:rPr sz="1200" b="0">
                <a:solidFill>
                  <a:srgbClr val="3C4654"/>
                </a:solidFill>
                <a:latin typeface="Calibri"/>
              </a:rPr>
              <a:t>•  Child spans roll up to the parent — total cost and time for the whole request add up automatically.</a:t>
            </a:r>
          </a:p>
          <a:p>
            <a:pPr>
              <a:lnSpc>
                <a:spcPct val="105000"/>
              </a:lnSpc>
              <a:spcBef>
                <a:spcPts val="0"/>
              </a:spcBef>
              <a:spcAft>
                <a:spcPts val="900"/>
              </a:spcAft>
            </a:pPr>
            <a:r>
              <a:rPr sz="1200" b="0">
                <a:solidFill>
                  <a:srgbClr val="3C4654"/>
                </a:solidFill>
                <a:latin typeface="Calibri"/>
              </a:rPr>
              <a:t>•  One trace id ties everything together, so a bad answer can be followed back to the exact step.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92608"/>
            <a:ext cx="10881360" cy="274320"/>
          </a:xfrm>
          <a:prstGeom prst="rect">
            <a:avLst/>
          </a:prstGeom>
          <a:noFill/>
        </p:spPr>
        <p:txBody>
          <a:bodyPr wrap="square" anchor="t" lIns="0" rIns="0" tIns="0" bIns="0">
            <a:spAutoFit/>
          </a:bodyPr>
          <a:lstStyle/>
          <a:p>
            <a:pPr algn="l">
              <a:lnSpc>
                <a:spcPct val="105000"/>
              </a:lnSpc>
              <a:spcBef>
                <a:spcPts val="0"/>
              </a:spcBef>
              <a:spcAft>
                <a:spcPts val="600"/>
              </a:spcAft>
            </a:pPr>
            <a:r>
              <a:rPr sz="1100" b="1" i="0">
                <a:solidFill>
                  <a:srgbClr val="2A9D8F"/>
                </a:solidFill>
                <a:latin typeface="Calibri"/>
              </a:rPr>
              <a:t>OBSERVABILITY</a:t>
            </a:r>
          </a:p>
        </p:txBody>
      </p:sp>
      <p:sp>
        <p:nvSpPr>
          <p:cNvPr id="4" name="TextBox 3"/>
          <p:cNvSpPr txBox="1"/>
          <p:nvPr/>
        </p:nvSpPr>
        <p:spPr>
          <a:xfrm>
            <a:off x="640080" y="512064"/>
            <a:ext cx="10972800" cy="640080"/>
          </a:xfrm>
          <a:prstGeom prst="rect">
            <a:avLst/>
          </a:prstGeom>
          <a:noFill/>
        </p:spPr>
        <p:txBody>
          <a:bodyPr wrap="square" anchor="t" lIns="0" rIns="0" tIns="0" bIns="0">
            <a:spAutoFit/>
          </a:bodyPr>
          <a:lstStyle/>
          <a:p>
            <a:pPr algn="l">
              <a:lnSpc>
                <a:spcPct val="105000"/>
              </a:lnSpc>
              <a:spcBef>
                <a:spcPts val="0"/>
              </a:spcBef>
              <a:spcAft>
                <a:spcPts val="600"/>
              </a:spcAft>
            </a:pPr>
            <a:r>
              <a:rPr sz="2300" b="1" i="0">
                <a:solidFill>
                  <a:srgbClr val="1F3A5F"/>
                </a:solidFill>
                <a:latin typeface="Calibri"/>
              </a:rPr>
              <a:t>What we track at each level</a:t>
            </a:r>
          </a:p>
        </p:txBody>
      </p:sp>
      <p:sp>
        <p:nvSpPr>
          <p:cNvPr id="5" name="Rectangle 4"/>
          <p:cNvSpPr/>
          <p:nvPr/>
        </p:nvSpPr>
        <p:spPr>
          <a:xfrm>
            <a:off x="658368" y="1078992"/>
            <a:ext cx="1371600" cy="3810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85855" y="6473952"/>
            <a:ext cx="640080" cy="274320"/>
          </a:xfrm>
          <a:prstGeom prst="rect">
            <a:avLst/>
          </a:prstGeom>
          <a:noFill/>
        </p:spPr>
        <p:txBody>
          <a:bodyPr wrap="square" anchor="t" lIns="0" rIns="0" tIns="0" bIns="0">
            <a:spAutoFit/>
          </a:bodyPr>
          <a:lstStyle/>
          <a:p>
            <a:pPr algn="r">
              <a:lnSpc>
                <a:spcPct val="105000"/>
              </a:lnSpc>
              <a:spcBef>
                <a:spcPts val="0"/>
              </a:spcBef>
              <a:spcAft>
                <a:spcPts val="600"/>
              </a:spcAft>
            </a:pPr>
            <a:r>
              <a:rPr sz="1000" b="0" i="0">
                <a:solidFill>
                  <a:srgbClr val="6B7480"/>
                </a:solidFill>
                <a:latin typeface="Calibri"/>
              </a:rPr>
              <a:t>9</a:t>
            </a:r>
          </a:p>
        </p:txBody>
      </p:sp>
      <p:sp>
        <p:nvSpPr>
          <p:cNvPr id="7" name="TextBox 6"/>
          <p:cNvSpPr txBox="1"/>
          <p:nvPr/>
        </p:nvSpPr>
        <p:spPr>
          <a:xfrm>
            <a:off x="640080" y="6473952"/>
            <a:ext cx="8229600" cy="274320"/>
          </a:xfrm>
          <a:prstGeom prst="rect">
            <a:avLst/>
          </a:prstGeom>
          <a:noFill/>
        </p:spPr>
        <p:txBody>
          <a:bodyPr wrap="square" anchor="t" lIns="0" rIns="0" tIns="0" bIns="0">
            <a:spAutoFit/>
          </a:bodyPr>
          <a:lstStyle/>
          <a:p>
            <a:pPr algn="l">
              <a:lnSpc>
                <a:spcPct val="105000"/>
              </a:lnSpc>
              <a:spcBef>
                <a:spcPts val="0"/>
              </a:spcBef>
              <a:spcAft>
                <a:spcPts val="600"/>
              </a:spcAft>
            </a:pPr>
            <a:r>
              <a:rPr sz="900" b="0" i="0">
                <a:solidFill>
                  <a:srgbClr val="6B7480"/>
                </a:solidFill>
                <a:latin typeface="Calibri"/>
              </a:rPr>
              <a:t>LLMOps approach — APIX &amp; Hiring Intelligence</a:t>
            </a:r>
          </a:p>
        </p:txBody>
      </p:sp>
      <p:graphicFrame>
        <p:nvGraphicFramePr>
          <p:cNvPr id="8" name="Table 7"/>
          <p:cNvGraphicFramePr>
            <a:graphicFrameLocks noGrp="1"/>
          </p:cNvGraphicFramePr>
          <p:nvPr/>
        </p:nvGraphicFramePr>
        <p:xfrm>
          <a:off x="548640" y="1280160"/>
          <a:ext cx="11091672" cy="3968496"/>
        </p:xfrm>
        <a:graphic>
          <a:graphicData uri="http://schemas.openxmlformats.org/drawingml/2006/table">
            <a:tbl>
              <a:tblPr firstRow="1" bandRow="1">
                <a:tableStyleId>{5C22544A-7EE6-4342-B048-85BDC9FD1C3A}</a:tableStyleId>
              </a:tblPr>
              <a:tblGrid>
                <a:gridCol w="1737360"/>
                <a:gridCol w="9354312"/>
              </a:tblGrid>
              <a:tr h="566928">
                <a:tc>
                  <a:txBody>
                    <a:bodyPr/>
                    <a:lstStyle/>
                    <a:p>
                      <a:r>
                        <a:rPr sz="1100" b="1">
                          <a:solidFill>
                            <a:srgbClr val="FFFFFF"/>
                          </a:solidFill>
                          <a:latin typeface="Calibri"/>
                        </a:rPr>
                        <a:t>Level</a:t>
                      </a:r>
                    </a:p>
                  </a:txBody>
                  <a:tcPr anchor="ctr" marL="73152" marT="18288" marB="18288">
                    <a:solidFill>
                      <a:srgbClr val="1F3A5F"/>
                    </a:solidFill>
                  </a:tcPr>
                </a:tc>
                <a:tc>
                  <a:txBody>
                    <a:bodyPr/>
                    <a:lstStyle/>
                    <a:p>
                      <a:r>
                        <a:rPr sz="1100" b="1">
                          <a:solidFill>
                            <a:srgbClr val="FFFFFF"/>
                          </a:solidFill>
                          <a:latin typeface="Calibri"/>
                        </a:rPr>
                        <a:t>What we record</a:t>
                      </a:r>
                    </a:p>
                  </a:txBody>
                  <a:tcPr anchor="ctr" marL="73152" marT="18288" marB="18288">
                    <a:solidFill>
                      <a:srgbClr val="1F3A5F"/>
                    </a:solidFill>
                  </a:tcPr>
                </a:tc>
              </a:tr>
              <a:tr h="566928">
                <a:tc>
                  <a:txBody>
                    <a:bodyPr/>
                    <a:lstStyle/>
                    <a:p>
                      <a:r>
                        <a:rPr sz="1150" b="1">
                          <a:solidFill>
                            <a:srgbClr val="1F3A5F"/>
                          </a:solidFill>
                          <a:latin typeface="Calibri"/>
                        </a:rPr>
                        <a:t>Request</a:t>
                      </a:r>
                    </a:p>
                  </a:txBody>
                  <a:tcPr anchor="ctr" marL="73152" marT="18288" marB="18288">
                    <a:solidFill>
                      <a:srgbClr val="FFFFFF"/>
                    </a:solidFill>
                  </a:tcPr>
                </a:tc>
                <a:tc>
                  <a:txBody>
                    <a:bodyPr/>
                    <a:lstStyle/>
                    <a:p>
                      <a:r>
                        <a:rPr sz="1150">
                          <a:solidFill>
                            <a:srgbClr val="3C4654"/>
                          </a:solidFill>
                          <a:latin typeface="Calibri"/>
                        </a:rPr>
                        <a:t>use case, program, input id, final output, status, total time, total tokens, total cost</a:t>
                      </a:r>
                    </a:p>
                  </a:txBody>
                  <a:tcPr anchor="ctr" marL="73152" marT="18288" marB="18288">
                    <a:solidFill>
                      <a:srgbClr val="FFFFFF"/>
                    </a:solidFill>
                  </a:tcPr>
                </a:tc>
              </a:tr>
              <a:tr h="566928">
                <a:tc>
                  <a:txBody>
                    <a:bodyPr/>
                    <a:lstStyle/>
                    <a:p>
                      <a:r>
                        <a:rPr sz="1150" b="1">
                          <a:solidFill>
                            <a:srgbClr val="1F3A5F"/>
                          </a:solidFill>
                          <a:latin typeface="Calibri"/>
                        </a:rPr>
                        <a:t>Agent step</a:t>
                      </a:r>
                    </a:p>
                  </a:txBody>
                  <a:tcPr anchor="ctr" marL="73152" marT="18288" marB="18288">
                    <a:solidFill>
                      <a:srgbClr val="EEF1F5"/>
                    </a:solidFill>
                  </a:tcPr>
                </a:tc>
                <a:tc>
                  <a:txBody>
                    <a:bodyPr/>
                    <a:lstStyle/>
                    <a:p>
                      <a:r>
                        <a:rPr sz="1150">
                          <a:solidFill>
                            <a:srgbClr val="3C4654"/>
                          </a:solidFill>
                          <a:latin typeface="Calibri"/>
                        </a:rPr>
                        <a:t>agent name + version, its input/output, which model &amp; tools it used, time, tokens, cost</a:t>
                      </a:r>
                    </a:p>
                  </a:txBody>
                  <a:tcPr anchor="ctr" marL="73152" marT="18288" marB="18288">
                    <a:solidFill>
                      <a:srgbClr val="EEF1F5"/>
                    </a:solidFill>
                  </a:tcPr>
                </a:tc>
              </a:tr>
              <a:tr h="566928">
                <a:tc>
                  <a:txBody>
                    <a:bodyPr/>
                    <a:lstStyle/>
                    <a:p>
                      <a:r>
                        <a:rPr sz="1150" b="1">
                          <a:solidFill>
                            <a:srgbClr val="1F3A5F"/>
                          </a:solidFill>
                          <a:latin typeface="Calibri"/>
                        </a:rPr>
                        <a:t>Model call</a:t>
                      </a:r>
                    </a:p>
                  </a:txBody>
                  <a:tcPr anchor="ctr" marL="73152" marT="18288" marB="18288">
                    <a:solidFill>
                      <a:srgbClr val="FFFFFF"/>
                    </a:solidFill>
                  </a:tcPr>
                </a:tc>
                <a:tc>
                  <a:txBody>
                    <a:bodyPr/>
                    <a:lstStyle/>
                    <a:p>
                      <a:r>
                        <a:rPr sz="1150">
                          <a:solidFill>
                            <a:srgbClr val="3C4654"/>
                          </a:solidFill>
                          <a:latin typeface="Calibri"/>
                        </a:rPr>
                        <a:t>model name + version, prompt id + version, prompt, answer, tokens in/out, cost, latency</a:t>
                      </a:r>
                    </a:p>
                  </a:txBody>
                  <a:tcPr anchor="ctr" marL="73152" marT="18288" marB="18288">
                    <a:solidFill>
                      <a:srgbClr val="FFFFFF"/>
                    </a:solidFill>
                  </a:tcPr>
                </a:tc>
              </a:tr>
              <a:tr h="566928">
                <a:tc>
                  <a:txBody>
                    <a:bodyPr/>
                    <a:lstStyle/>
                    <a:p>
                      <a:r>
                        <a:rPr sz="1150" b="1">
                          <a:solidFill>
                            <a:srgbClr val="1F3A5F"/>
                          </a:solidFill>
                          <a:latin typeface="Calibri"/>
                        </a:rPr>
                        <a:t>Tool call</a:t>
                      </a:r>
                    </a:p>
                  </a:txBody>
                  <a:tcPr anchor="ctr" marL="73152" marT="18288" marB="18288">
                    <a:solidFill>
                      <a:srgbClr val="EEF1F5"/>
                    </a:solidFill>
                  </a:tcPr>
                </a:tc>
                <a:tc>
                  <a:txBody>
                    <a:bodyPr/>
                    <a:lstStyle/>
                    <a:p>
                      <a:r>
                        <a:rPr sz="1150">
                          <a:solidFill>
                            <a:srgbClr val="3C4654"/>
                          </a:solidFill>
                          <a:latin typeface="Calibri"/>
                        </a:rPr>
                        <a:t>tool name, inputs, result, success/failure, AND whether it was the correct tool (for evaluation)</a:t>
                      </a:r>
                    </a:p>
                  </a:txBody>
                  <a:tcPr anchor="ctr" marL="73152" marT="18288" marB="18288">
                    <a:solidFill>
                      <a:srgbClr val="EEF1F5"/>
                    </a:solidFill>
                  </a:tcPr>
                </a:tc>
              </a:tr>
              <a:tr h="566928">
                <a:tc>
                  <a:txBody>
                    <a:bodyPr/>
                    <a:lstStyle/>
                    <a:p>
                      <a:r>
                        <a:rPr sz="1150" b="1">
                          <a:solidFill>
                            <a:srgbClr val="1F3A5F"/>
                          </a:solidFill>
                          <a:latin typeface="Calibri"/>
                        </a:rPr>
                        <a:t>Session</a:t>
                      </a:r>
                    </a:p>
                  </a:txBody>
                  <a:tcPr anchor="ctr" marL="73152" marT="18288" marB="18288">
                    <a:solidFill>
                      <a:srgbClr val="FFFFFF"/>
                    </a:solidFill>
                  </a:tcPr>
                </a:tc>
                <a:tc>
                  <a:txBody>
                    <a:bodyPr/>
                    <a:lstStyle/>
                    <a:p>
                      <a:r>
                        <a:rPr sz="1150">
                          <a:solidFill>
                            <a:srgbClr val="3C4654"/>
                          </a:solidFill>
                          <a:latin typeface="Calibri"/>
                        </a:rPr>
                        <a:t>for multi-turn chats: links the turns, conversation id, user id (hashed)</a:t>
                      </a:r>
                    </a:p>
                  </a:txBody>
                  <a:tcPr anchor="ctr" marL="73152" marT="18288" marB="18288">
                    <a:solidFill>
                      <a:srgbClr val="FFFFFF"/>
                    </a:solidFill>
                  </a:tcPr>
                </a:tc>
              </a:tr>
              <a:tr h="566928">
                <a:tc>
                  <a:txBody>
                    <a:bodyPr/>
                    <a:lstStyle/>
                    <a:p>
                      <a:r>
                        <a:rPr sz="1150" b="1">
                          <a:solidFill>
                            <a:srgbClr val="1F3A5F"/>
                          </a:solidFill>
                          <a:latin typeface="Calibri"/>
                        </a:rPr>
                        <a:t>Feedback</a:t>
                      </a:r>
                    </a:p>
                  </a:txBody>
                  <a:tcPr anchor="ctr" marL="73152" marT="18288" marB="18288">
                    <a:solidFill>
                      <a:srgbClr val="EEF1F5"/>
                    </a:solidFill>
                  </a:tcPr>
                </a:tc>
                <a:tc>
                  <a:txBody>
                    <a:bodyPr/>
                    <a:lstStyle/>
                    <a:p>
                      <a:r>
                        <a:rPr sz="1150">
                          <a:solidFill>
                            <a:srgbClr val="3C4654"/>
                          </a:solidFill>
                          <a:latin typeface="Calibri"/>
                        </a:rPr>
                        <a:t>thumbs up/down + reason, coach edits, recruiter overrides — linked by trace id</a:t>
                      </a:r>
                    </a:p>
                  </a:txBody>
                  <a:tcPr anchor="ctr" marL="73152" marT="18288" marB="18288">
                    <a:solidFill>
                      <a:srgbClr val="EEF1F5"/>
                    </a:solidFill>
                  </a:tcPr>
                </a:tc>
              </a:tr>
            </a:tbl>
          </a:graphicData>
        </a:graphic>
      </p:graphicFrame>
      <p:sp>
        <p:nvSpPr>
          <p:cNvPr id="9" name="TextBox 8"/>
          <p:cNvSpPr txBox="1"/>
          <p:nvPr/>
        </p:nvSpPr>
        <p:spPr>
          <a:xfrm>
            <a:off x="548640" y="5760720"/>
            <a:ext cx="11091672" cy="457200"/>
          </a:xfrm>
          <a:prstGeom prst="rect">
            <a:avLst/>
          </a:prstGeom>
          <a:noFill/>
        </p:spPr>
        <p:txBody>
          <a:bodyPr wrap="square" anchor="t" lIns="0" rIns="0" tIns="0" bIns="0">
            <a:spAutoFit/>
          </a:bodyPr>
          <a:lstStyle/>
          <a:p>
            <a:pPr algn="l">
              <a:lnSpc>
                <a:spcPct val="105000"/>
              </a:lnSpc>
              <a:spcBef>
                <a:spcPts val="0"/>
              </a:spcBef>
              <a:spcAft>
                <a:spcPts val="600"/>
              </a:spcAft>
            </a:pPr>
            <a:r>
              <a:rPr sz="1200" b="1" i="1">
                <a:solidFill>
                  <a:srgbClr val="1F3A5F"/>
                </a:solidFill>
                <a:latin typeface="Calibri"/>
              </a:rPr>
              <a:t>Built on OpenTelemetry -&gt; Azure Application Insights (system of record) + self-hosted Langfuse (the LLM-specific view).</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92608"/>
            <a:ext cx="10881360" cy="274320"/>
          </a:xfrm>
          <a:prstGeom prst="rect">
            <a:avLst/>
          </a:prstGeom>
          <a:noFill/>
        </p:spPr>
        <p:txBody>
          <a:bodyPr wrap="square" anchor="t" lIns="0" rIns="0" tIns="0" bIns="0">
            <a:spAutoFit/>
          </a:bodyPr>
          <a:lstStyle/>
          <a:p>
            <a:pPr algn="l">
              <a:lnSpc>
                <a:spcPct val="105000"/>
              </a:lnSpc>
              <a:spcBef>
                <a:spcPts val="0"/>
              </a:spcBef>
              <a:spcAft>
                <a:spcPts val="600"/>
              </a:spcAft>
            </a:pPr>
            <a:r>
              <a:rPr sz="1100" b="1" i="0">
                <a:solidFill>
                  <a:srgbClr val="2A9D8F"/>
                </a:solidFill>
                <a:latin typeface="Calibri"/>
              </a:rPr>
              <a:t>EVALUATION</a:t>
            </a:r>
          </a:p>
        </p:txBody>
      </p:sp>
      <p:sp>
        <p:nvSpPr>
          <p:cNvPr id="4" name="TextBox 3"/>
          <p:cNvSpPr txBox="1"/>
          <p:nvPr/>
        </p:nvSpPr>
        <p:spPr>
          <a:xfrm>
            <a:off x="640080" y="512064"/>
            <a:ext cx="10972800" cy="640080"/>
          </a:xfrm>
          <a:prstGeom prst="rect">
            <a:avLst/>
          </a:prstGeom>
          <a:noFill/>
        </p:spPr>
        <p:txBody>
          <a:bodyPr wrap="square" anchor="t" lIns="0" rIns="0" tIns="0" bIns="0">
            <a:spAutoFit/>
          </a:bodyPr>
          <a:lstStyle/>
          <a:p>
            <a:pPr algn="l">
              <a:lnSpc>
                <a:spcPct val="105000"/>
              </a:lnSpc>
              <a:spcBef>
                <a:spcPts val="0"/>
              </a:spcBef>
              <a:spcAft>
                <a:spcPts val="600"/>
              </a:spcAft>
            </a:pPr>
            <a:r>
              <a:rPr sz="2300" b="1" i="0">
                <a:solidFill>
                  <a:srgbClr val="1F3A5F"/>
                </a:solidFill>
                <a:latin typeface="Calibri"/>
              </a:rPr>
              <a:t>Evaluation: the metric groups</a:t>
            </a:r>
          </a:p>
        </p:txBody>
      </p:sp>
      <p:sp>
        <p:nvSpPr>
          <p:cNvPr id="5" name="Rectangle 4"/>
          <p:cNvSpPr/>
          <p:nvPr/>
        </p:nvSpPr>
        <p:spPr>
          <a:xfrm>
            <a:off x="658368" y="1078992"/>
            <a:ext cx="1371600" cy="3810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85855" y="6473952"/>
            <a:ext cx="640080" cy="274320"/>
          </a:xfrm>
          <a:prstGeom prst="rect">
            <a:avLst/>
          </a:prstGeom>
          <a:noFill/>
        </p:spPr>
        <p:txBody>
          <a:bodyPr wrap="square" anchor="t" lIns="0" rIns="0" tIns="0" bIns="0">
            <a:spAutoFit/>
          </a:bodyPr>
          <a:lstStyle/>
          <a:p>
            <a:pPr algn="r">
              <a:lnSpc>
                <a:spcPct val="105000"/>
              </a:lnSpc>
              <a:spcBef>
                <a:spcPts val="0"/>
              </a:spcBef>
              <a:spcAft>
                <a:spcPts val="600"/>
              </a:spcAft>
            </a:pPr>
            <a:r>
              <a:rPr sz="1000" b="0" i="0">
                <a:solidFill>
                  <a:srgbClr val="6B7480"/>
                </a:solidFill>
                <a:latin typeface="Calibri"/>
              </a:rPr>
              <a:t>10</a:t>
            </a:r>
          </a:p>
        </p:txBody>
      </p:sp>
      <p:sp>
        <p:nvSpPr>
          <p:cNvPr id="7" name="TextBox 6"/>
          <p:cNvSpPr txBox="1"/>
          <p:nvPr/>
        </p:nvSpPr>
        <p:spPr>
          <a:xfrm>
            <a:off x="640080" y="6473952"/>
            <a:ext cx="8229600" cy="274320"/>
          </a:xfrm>
          <a:prstGeom prst="rect">
            <a:avLst/>
          </a:prstGeom>
          <a:noFill/>
        </p:spPr>
        <p:txBody>
          <a:bodyPr wrap="square" anchor="t" lIns="0" rIns="0" tIns="0" bIns="0">
            <a:spAutoFit/>
          </a:bodyPr>
          <a:lstStyle/>
          <a:p>
            <a:pPr algn="l">
              <a:lnSpc>
                <a:spcPct val="105000"/>
              </a:lnSpc>
              <a:spcBef>
                <a:spcPts val="0"/>
              </a:spcBef>
              <a:spcAft>
                <a:spcPts val="600"/>
              </a:spcAft>
            </a:pPr>
            <a:r>
              <a:rPr sz="900" b="0" i="0">
                <a:solidFill>
                  <a:srgbClr val="6B7480"/>
                </a:solidFill>
                <a:latin typeface="Calibri"/>
              </a:rPr>
              <a:t>LLMOps approach — APIX &amp; Hiring Intelligence</a:t>
            </a:r>
          </a:p>
        </p:txBody>
      </p:sp>
      <p:graphicFrame>
        <p:nvGraphicFramePr>
          <p:cNvPr id="8" name="Table 7"/>
          <p:cNvGraphicFramePr>
            <a:graphicFrameLocks noGrp="1"/>
          </p:cNvGraphicFramePr>
          <p:nvPr/>
        </p:nvGraphicFramePr>
        <p:xfrm>
          <a:off x="548640" y="1280160"/>
          <a:ext cx="11091672" cy="3291840"/>
        </p:xfrm>
        <a:graphic>
          <a:graphicData uri="http://schemas.openxmlformats.org/drawingml/2006/table">
            <a:tbl>
              <a:tblPr firstRow="1" bandRow="1">
                <a:tableStyleId>{5C22544A-7EE6-4342-B048-85BDC9FD1C3A}</a:tableStyleId>
              </a:tblPr>
              <a:tblGrid>
                <a:gridCol w="2468880"/>
                <a:gridCol w="4754880"/>
                <a:gridCol w="3867912"/>
              </a:tblGrid>
              <a:tr h="548640">
                <a:tc>
                  <a:txBody>
                    <a:bodyPr/>
                    <a:lstStyle/>
                    <a:p>
                      <a:r>
                        <a:rPr sz="1100" b="1">
                          <a:solidFill>
                            <a:srgbClr val="FFFFFF"/>
                          </a:solidFill>
                          <a:latin typeface="Calibri"/>
                        </a:rPr>
                        <a:t>Group</a:t>
                      </a:r>
                    </a:p>
                  </a:txBody>
                  <a:tcPr anchor="ctr" marL="73152" marT="18288" marB="18288">
                    <a:solidFill>
                      <a:srgbClr val="1F3A5F"/>
                    </a:solidFill>
                  </a:tcPr>
                </a:tc>
                <a:tc>
                  <a:txBody>
                    <a:bodyPr/>
                    <a:lstStyle/>
                    <a:p>
                      <a:r>
                        <a:rPr sz="1100" b="1">
                          <a:solidFill>
                            <a:srgbClr val="FFFFFF"/>
                          </a:solidFill>
                          <a:latin typeface="Calibri"/>
                        </a:rPr>
                        <a:t>Example metrics</a:t>
                      </a:r>
                    </a:p>
                  </a:txBody>
                  <a:tcPr anchor="ctr" marL="73152" marT="18288" marB="18288">
                    <a:solidFill>
                      <a:srgbClr val="1F3A5F"/>
                    </a:solidFill>
                  </a:tcPr>
                </a:tc>
                <a:tc>
                  <a:txBody>
                    <a:bodyPr/>
                    <a:lstStyle/>
                    <a:p>
                      <a:r>
                        <a:rPr sz="1100" b="1">
                          <a:solidFill>
                            <a:srgbClr val="FFFFFF"/>
                          </a:solidFill>
                          <a:latin typeface="Calibri"/>
                        </a:rPr>
                        <a:t>Judges...</a:t>
                      </a:r>
                    </a:p>
                  </a:txBody>
                  <a:tcPr anchor="ctr" marL="73152" marT="18288" marB="18288">
                    <a:solidFill>
                      <a:srgbClr val="1F3A5F"/>
                    </a:solidFill>
                  </a:tcPr>
                </a:tc>
              </a:tr>
              <a:tr h="548640">
                <a:tc>
                  <a:txBody>
                    <a:bodyPr/>
                    <a:lstStyle/>
                    <a:p>
                      <a:r>
                        <a:rPr sz="1150" b="1">
                          <a:solidFill>
                            <a:srgbClr val="1F3A5F"/>
                          </a:solidFill>
                          <a:latin typeface="Calibri"/>
                        </a:rPr>
                        <a:t>Retrieval / RAG</a:t>
                      </a:r>
                    </a:p>
                  </a:txBody>
                  <a:tcPr anchor="ctr" marL="73152" marT="18288" marB="18288">
                    <a:solidFill>
                      <a:srgbClr val="FFFFFF"/>
                    </a:solidFill>
                  </a:tcPr>
                </a:tc>
                <a:tc>
                  <a:txBody>
                    <a:bodyPr/>
                    <a:lstStyle/>
                    <a:p>
                      <a:r>
                        <a:rPr sz="1150">
                          <a:solidFill>
                            <a:srgbClr val="3C4654"/>
                          </a:solidFill>
                          <a:latin typeface="Calibri"/>
                        </a:rPr>
                        <a:t>groundedness, context relevance, precision/recall</a:t>
                      </a:r>
                    </a:p>
                  </a:txBody>
                  <a:tcPr anchor="ctr" marL="73152" marT="18288" marB="18288">
                    <a:solidFill>
                      <a:srgbClr val="FFFFFF"/>
                    </a:solidFill>
                  </a:tcPr>
                </a:tc>
                <a:tc>
                  <a:txBody>
                    <a:bodyPr/>
                    <a:lstStyle/>
                    <a:p>
                      <a:r>
                        <a:rPr sz="1150">
                          <a:solidFill>
                            <a:srgbClr val="3C4654"/>
                          </a:solidFill>
                          <a:latin typeface="Calibri"/>
                        </a:rPr>
                        <a:t>is it backed by our data?</a:t>
                      </a:r>
                    </a:p>
                  </a:txBody>
                  <a:tcPr anchor="ctr" marL="73152" marT="18288" marB="18288">
                    <a:solidFill>
                      <a:srgbClr val="FFFFFF"/>
                    </a:solidFill>
                  </a:tcPr>
                </a:tc>
              </a:tr>
              <a:tr h="548640">
                <a:tc>
                  <a:txBody>
                    <a:bodyPr/>
                    <a:lstStyle/>
                    <a:p>
                      <a:r>
                        <a:rPr sz="1150" b="1">
                          <a:solidFill>
                            <a:srgbClr val="1F3A5F"/>
                          </a:solidFill>
                          <a:latin typeface="Calibri"/>
                        </a:rPr>
                        <a:t>Writing quality</a:t>
                      </a:r>
                    </a:p>
                  </a:txBody>
                  <a:tcPr anchor="ctr" marL="73152" marT="18288" marB="18288">
                    <a:solidFill>
                      <a:srgbClr val="EEF1F5"/>
                    </a:solidFill>
                  </a:tcPr>
                </a:tc>
                <a:tc>
                  <a:txBody>
                    <a:bodyPr/>
                    <a:lstStyle/>
                    <a:p>
                      <a:r>
                        <a:rPr sz="1150">
                          <a:solidFill>
                            <a:srgbClr val="3C4654"/>
                          </a:solidFill>
                          <a:latin typeface="Calibri"/>
                        </a:rPr>
                        <a:t>coherence, tone, completeness</a:t>
                      </a:r>
                    </a:p>
                  </a:txBody>
                  <a:tcPr anchor="ctr" marL="73152" marT="18288" marB="18288">
                    <a:solidFill>
                      <a:srgbClr val="EEF1F5"/>
                    </a:solidFill>
                  </a:tcPr>
                </a:tc>
                <a:tc>
                  <a:txBody>
                    <a:bodyPr/>
                    <a:lstStyle/>
                    <a:p>
                      <a:r>
                        <a:rPr sz="1150">
                          <a:solidFill>
                            <a:srgbClr val="3C4654"/>
                          </a:solidFill>
                          <a:latin typeface="Calibri"/>
                        </a:rPr>
                        <a:t>how well it reads</a:t>
                      </a:r>
                    </a:p>
                  </a:txBody>
                  <a:tcPr anchor="ctr" marL="73152" marT="18288" marB="18288">
                    <a:solidFill>
                      <a:srgbClr val="EEF1F5"/>
                    </a:solidFill>
                  </a:tcPr>
                </a:tc>
              </a:tr>
              <a:tr h="548640">
                <a:tc>
                  <a:txBody>
                    <a:bodyPr/>
                    <a:lstStyle/>
                    <a:p>
                      <a:r>
                        <a:rPr sz="1150" b="1">
                          <a:solidFill>
                            <a:srgbClr val="1F3A5F"/>
                          </a:solidFill>
                          <a:latin typeface="Calibri"/>
                        </a:rPr>
                        <a:t>Task execution</a:t>
                      </a:r>
                    </a:p>
                  </a:txBody>
                  <a:tcPr anchor="ctr" marL="73152" marT="18288" marB="18288">
                    <a:solidFill>
                      <a:srgbClr val="FFFFFF"/>
                    </a:solidFill>
                  </a:tcPr>
                </a:tc>
                <a:tc>
                  <a:txBody>
                    <a:bodyPr/>
                    <a:lstStyle/>
                    <a:p>
                      <a:r>
                        <a:rPr sz="1150">
                          <a:solidFill>
                            <a:srgbClr val="3C4654"/>
                          </a:solidFill>
                          <a:latin typeface="Calibri"/>
                        </a:rPr>
                        <a:t>tool selection, correct action, steps taken</a:t>
                      </a:r>
                    </a:p>
                  </a:txBody>
                  <a:tcPr anchor="ctr" marL="73152" marT="18288" marB="18288">
                    <a:solidFill>
                      <a:srgbClr val="FFFFFF"/>
                    </a:solidFill>
                  </a:tcPr>
                </a:tc>
                <a:tc>
                  <a:txBody>
                    <a:bodyPr/>
                    <a:lstStyle/>
                    <a:p>
                      <a:r>
                        <a:rPr sz="1150">
                          <a:solidFill>
                            <a:srgbClr val="3C4654"/>
                          </a:solidFill>
                          <a:latin typeface="Calibri"/>
                        </a:rPr>
                        <a:t>whether it did the right thing</a:t>
                      </a:r>
                    </a:p>
                  </a:txBody>
                  <a:tcPr anchor="ctr" marL="73152" marT="18288" marB="18288">
                    <a:solidFill>
                      <a:srgbClr val="FFFFFF"/>
                    </a:solidFill>
                  </a:tcPr>
                </a:tc>
              </a:tr>
              <a:tr h="548640">
                <a:tc>
                  <a:txBody>
                    <a:bodyPr/>
                    <a:lstStyle/>
                    <a:p>
                      <a:r>
                        <a:rPr sz="1150" b="1">
                          <a:solidFill>
                            <a:srgbClr val="1F3A5F"/>
                          </a:solidFill>
                          <a:latin typeface="Calibri"/>
                        </a:rPr>
                        <a:t>Safety / fairness</a:t>
                      </a:r>
                    </a:p>
                  </a:txBody>
                  <a:tcPr anchor="ctr" marL="73152" marT="18288" marB="18288">
                    <a:solidFill>
                      <a:srgbClr val="EEF1F5"/>
                    </a:solidFill>
                  </a:tcPr>
                </a:tc>
                <a:tc>
                  <a:txBody>
                    <a:bodyPr/>
                    <a:lstStyle/>
                    <a:p>
                      <a:r>
                        <a:rPr sz="1150">
                          <a:solidFill>
                            <a:srgbClr val="3C4654"/>
                          </a:solidFill>
                          <a:latin typeface="Calibri"/>
                        </a:rPr>
                        <a:t>unsafe content, PII leak, bias</a:t>
                      </a:r>
                    </a:p>
                  </a:txBody>
                  <a:tcPr anchor="ctr" marL="73152" marT="18288" marB="18288">
                    <a:solidFill>
                      <a:srgbClr val="EEF1F5"/>
                    </a:solidFill>
                  </a:tcPr>
                </a:tc>
                <a:tc>
                  <a:txBody>
                    <a:bodyPr/>
                    <a:lstStyle/>
                    <a:p>
                      <a:r>
                        <a:rPr sz="1150">
                          <a:solidFill>
                            <a:srgbClr val="3C4654"/>
                          </a:solidFill>
                          <a:latin typeface="Calibri"/>
                        </a:rPr>
                        <a:t>is it safe and fair?</a:t>
                      </a:r>
                    </a:p>
                  </a:txBody>
                  <a:tcPr anchor="ctr" marL="73152" marT="18288" marB="18288">
                    <a:solidFill>
                      <a:srgbClr val="EEF1F5"/>
                    </a:solidFill>
                  </a:tcPr>
                </a:tc>
              </a:tr>
              <a:tr h="548640">
                <a:tc>
                  <a:txBody>
                    <a:bodyPr/>
                    <a:lstStyle/>
                    <a:p>
                      <a:r>
                        <a:rPr sz="1150" b="1">
                          <a:solidFill>
                            <a:srgbClr val="1F3A5F"/>
                          </a:solidFill>
                          <a:latin typeface="Calibri"/>
                        </a:rPr>
                        <a:t>Operational</a:t>
                      </a:r>
                    </a:p>
                  </a:txBody>
                  <a:tcPr anchor="ctr" marL="73152" marT="18288" marB="18288">
                    <a:solidFill>
                      <a:srgbClr val="FFFFFF"/>
                    </a:solidFill>
                  </a:tcPr>
                </a:tc>
                <a:tc>
                  <a:txBody>
                    <a:bodyPr/>
                    <a:lstStyle/>
                    <a:p>
                      <a:r>
                        <a:rPr sz="1150">
                          <a:solidFill>
                            <a:srgbClr val="3C4654"/>
                          </a:solidFill>
                          <a:latin typeface="Calibri"/>
                        </a:rPr>
                        <a:t>latency, cost, tokens</a:t>
                      </a:r>
                    </a:p>
                  </a:txBody>
                  <a:tcPr anchor="ctr" marL="73152" marT="18288" marB="18288">
                    <a:solidFill>
                      <a:srgbClr val="FFFFFF"/>
                    </a:solidFill>
                  </a:tcPr>
                </a:tc>
                <a:tc>
                  <a:txBody>
                    <a:bodyPr/>
                    <a:lstStyle/>
                    <a:p>
                      <a:r>
                        <a:rPr sz="1150">
                          <a:solidFill>
                            <a:srgbClr val="3C4654"/>
                          </a:solidFill>
                          <a:latin typeface="Calibri"/>
                        </a:rPr>
                        <a:t>is it fast and affordable?</a:t>
                      </a:r>
                    </a:p>
                  </a:txBody>
                  <a:tcPr anchor="ctr" marL="73152" marT="18288" marB="18288">
                    <a:solidFill>
                      <a:srgbClr val="FFFFFF"/>
                    </a:solidFill>
                  </a:tcPr>
                </a:tc>
              </a:tr>
            </a:tbl>
          </a:graphicData>
        </a:graphic>
      </p:graphicFrame>
      <p:sp>
        <p:nvSpPr>
          <p:cNvPr id="9" name="Rounded Rectangle 8"/>
          <p:cNvSpPr/>
          <p:nvPr/>
        </p:nvSpPr>
        <p:spPr>
          <a:xfrm>
            <a:off x="548640" y="4709160"/>
            <a:ext cx="11091672" cy="1234440"/>
          </a:xfrm>
          <a:prstGeom prst="roundRect">
            <a:avLst>
              <a:gd name="adj" fmla="val 8000"/>
            </a:avLst>
          </a:prstGeom>
          <a:solidFill>
            <a:srgbClr val="E9F3F0"/>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300" b="1">
                <a:solidFill>
                  <a:srgbClr val="2A9D8F"/>
                </a:solidFill>
                <a:latin typeface="Calibri"/>
              </a:rPr>
              <a:t>Why writing quality and task execution are separate</a:t>
            </a:r>
          </a:p>
          <a:p>
            <a:pPr algn="ctr">
              <a:lnSpc>
                <a:spcPct val="100000"/>
              </a:lnSpc>
              <a:spcAft>
                <a:spcPts val="100"/>
              </a:spcAft>
            </a:pPr>
            <a:r>
              <a:rPr sz="1150" b="0">
                <a:solidFill>
                  <a:srgbClr val="3C4654"/>
                </a:solidFill>
                <a:latin typeface="Calibri"/>
              </a:rPr>
              <a:t>A fluent, well-written answer can still be wrong — e.g. it called the wrong tool. "How it reads" and "did it do the right thing" are different questions, so we score them separately. Some metrics overlap (coherence can sit under RAG or writing); we assign each to one group to avoid double-counting.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92608"/>
            <a:ext cx="10881360" cy="274320"/>
          </a:xfrm>
          <a:prstGeom prst="rect">
            <a:avLst/>
          </a:prstGeom>
          <a:noFill/>
        </p:spPr>
        <p:txBody>
          <a:bodyPr wrap="square" anchor="t" lIns="0" rIns="0" tIns="0" bIns="0">
            <a:spAutoFit/>
          </a:bodyPr>
          <a:lstStyle/>
          <a:p>
            <a:pPr algn="l">
              <a:lnSpc>
                <a:spcPct val="105000"/>
              </a:lnSpc>
              <a:spcBef>
                <a:spcPts val="0"/>
              </a:spcBef>
              <a:spcAft>
                <a:spcPts val="600"/>
              </a:spcAft>
            </a:pPr>
            <a:r>
              <a:rPr sz="1100" b="1" i="0">
                <a:solidFill>
                  <a:srgbClr val="2A9D8F"/>
                </a:solidFill>
                <a:latin typeface="Calibri"/>
              </a:rPr>
              <a:t>EVALUATION</a:t>
            </a:r>
          </a:p>
        </p:txBody>
      </p:sp>
      <p:sp>
        <p:nvSpPr>
          <p:cNvPr id="4" name="TextBox 3"/>
          <p:cNvSpPr txBox="1"/>
          <p:nvPr/>
        </p:nvSpPr>
        <p:spPr>
          <a:xfrm>
            <a:off x="640080" y="512064"/>
            <a:ext cx="10972800" cy="640080"/>
          </a:xfrm>
          <a:prstGeom prst="rect">
            <a:avLst/>
          </a:prstGeom>
          <a:noFill/>
        </p:spPr>
        <p:txBody>
          <a:bodyPr wrap="square" anchor="t" lIns="0" rIns="0" tIns="0" bIns="0">
            <a:spAutoFit/>
          </a:bodyPr>
          <a:lstStyle/>
          <a:p>
            <a:pPr algn="l">
              <a:lnSpc>
                <a:spcPct val="105000"/>
              </a:lnSpc>
              <a:spcBef>
                <a:spcPts val="0"/>
              </a:spcBef>
              <a:spcAft>
                <a:spcPts val="600"/>
              </a:spcAft>
            </a:pPr>
            <a:r>
              <a:rPr sz="2300" b="1" i="0">
                <a:solidFill>
                  <a:srgbClr val="1F3A5F"/>
                </a:solidFill>
                <a:latin typeface="Calibri"/>
              </a:rPr>
              <a:t>Evaluation: did the agent pick the right tool?</a:t>
            </a:r>
          </a:p>
        </p:txBody>
      </p:sp>
      <p:sp>
        <p:nvSpPr>
          <p:cNvPr id="5" name="Rectangle 4"/>
          <p:cNvSpPr/>
          <p:nvPr/>
        </p:nvSpPr>
        <p:spPr>
          <a:xfrm>
            <a:off x="658368" y="1078992"/>
            <a:ext cx="1371600" cy="3810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85855" y="6473952"/>
            <a:ext cx="640080" cy="274320"/>
          </a:xfrm>
          <a:prstGeom prst="rect">
            <a:avLst/>
          </a:prstGeom>
          <a:noFill/>
        </p:spPr>
        <p:txBody>
          <a:bodyPr wrap="square" anchor="t" lIns="0" rIns="0" tIns="0" bIns="0">
            <a:spAutoFit/>
          </a:bodyPr>
          <a:lstStyle/>
          <a:p>
            <a:pPr algn="r">
              <a:lnSpc>
                <a:spcPct val="105000"/>
              </a:lnSpc>
              <a:spcBef>
                <a:spcPts val="0"/>
              </a:spcBef>
              <a:spcAft>
                <a:spcPts val="600"/>
              </a:spcAft>
            </a:pPr>
            <a:r>
              <a:rPr sz="1000" b="0" i="0">
                <a:solidFill>
                  <a:srgbClr val="6B7480"/>
                </a:solidFill>
                <a:latin typeface="Calibri"/>
              </a:rPr>
              <a:t>11</a:t>
            </a:r>
          </a:p>
        </p:txBody>
      </p:sp>
      <p:sp>
        <p:nvSpPr>
          <p:cNvPr id="7" name="TextBox 6"/>
          <p:cNvSpPr txBox="1"/>
          <p:nvPr/>
        </p:nvSpPr>
        <p:spPr>
          <a:xfrm>
            <a:off x="640080" y="6473952"/>
            <a:ext cx="8229600" cy="274320"/>
          </a:xfrm>
          <a:prstGeom prst="rect">
            <a:avLst/>
          </a:prstGeom>
          <a:noFill/>
        </p:spPr>
        <p:txBody>
          <a:bodyPr wrap="square" anchor="t" lIns="0" rIns="0" tIns="0" bIns="0">
            <a:spAutoFit/>
          </a:bodyPr>
          <a:lstStyle/>
          <a:p>
            <a:pPr algn="l">
              <a:lnSpc>
                <a:spcPct val="105000"/>
              </a:lnSpc>
              <a:spcBef>
                <a:spcPts val="0"/>
              </a:spcBef>
              <a:spcAft>
                <a:spcPts val="600"/>
              </a:spcAft>
            </a:pPr>
            <a:r>
              <a:rPr sz="900" b="0" i="0">
                <a:solidFill>
                  <a:srgbClr val="6B7480"/>
                </a:solidFill>
                <a:latin typeface="Calibri"/>
              </a:rPr>
              <a:t>LLMOps approach — APIX &amp; Hiring Intelligence</a:t>
            </a:r>
          </a:p>
        </p:txBody>
      </p:sp>
      <p:sp>
        <p:nvSpPr>
          <p:cNvPr id="8" name="TextBox 7"/>
          <p:cNvSpPr txBox="1"/>
          <p:nvPr/>
        </p:nvSpPr>
        <p:spPr>
          <a:xfrm>
            <a:off x="640080" y="1234440"/>
            <a:ext cx="10972800" cy="365760"/>
          </a:xfrm>
          <a:prstGeom prst="rect">
            <a:avLst/>
          </a:prstGeom>
          <a:noFill/>
        </p:spPr>
        <p:txBody>
          <a:bodyPr wrap="square" anchor="t" lIns="0" rIns="0" tIns="0" bIns="0">
            <a:spAutoFit/>
          </a:bodyPr>
          <a:lstStyle/>
          <a:p>
            <a:pPr algn="l">
              <a:lnSpc>
                <a:spcPct val="105000"/>
              </a:lnSpc>
              <a:spcBef>
                <a:spcPts val="0"/>
              </a:spcBef>
              <a:spcAft>
                <a:spcPts val="600"/>
              </a:spcAft>
            </a:pPr>
            <a:r>
              <a:rPr sz="1250" b="0" i="1">
                <a:solidFill>
                  <a:srgbClr val="3C4654"/>
                </a:solidFill>
                <a:latin typeface="Calibri"/>
              </a:rPr>
              <a:t>When an MCP tool server exposes several tools, a wrong tool that still returns an answer is unreliable. We test this directly.</a:t>
            </a:r>
          </a:p>
        </p:txBody>
      </p:sp>
      <p:sp>
        <p:nvSpPr>
          <p:cNvPr id="9" name="Rounded Rectangle 8"/>
          <p:cNvSpPr/>
          <p:nvPr/>
        </p:nvSpPr>
        <p:spPr>
          <a:xfrm>
            <a:off x="640080" y="1828800"/>
            <a:ext cx="3017520" cy="137160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300" b="1">
                <a:solidFill>
                  <a:srgbClr val="1F3A5F"/>
                </a:solidFill>
                <a:latin typeface="Calibri"/>
              </a:rPr>
              <a:t>Test case</a:t>
            </a:r>
          </a:p>
          <a:p>
            <a:pPr algn="ctr">
              <a:lnSpc>
                <a:spcPct val="100000"/>
              </a:lnSpc>
              <a:spcAft>
                <a:spcPts val="100"/>
              </a:spcAft>
            </a:pPr>
            <a:r>
              <a:rPr sz="1000" b="0">
                <a:solidFill>
                  <a:srgbClr val="3C4654"/>
                </a:solidFill>
                <a:latin typeface="Calibri"/>
              </a:rPr>
              <a:t>input + the KNOWN correct tool &amp; inputs</a:t>
            </a:r>
          </a:p>
        </p:txBody>
      </p:sp>
      <p:sp>
        <p:nvSpPr>
          <p:cNvPr id="10" name="Right Arrow 9"/>
          <p:cNvSpPr/>
          <p:nvPr/>
        </p:nvSpPr>
        <p:spPr>
          <a:xfrm>
            <a:off x="3703320" y="2423160"/>
            <a:ext cx="310896" cy="274320"/>
          </a:xfrm>
          <a:prstGeom prst="rightArrow">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160520" y="1828800"/>
            <a:ext cx="3017520" cy="137160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300" b="1">
                <a:solidFill>
                  <a:srgbClr val="1F3A5F"/>
                </a:solidFill>
                <a:latin typeface="Calibri"/>
              </a:rPr>
              <a:t>Run the agent</a:t>
            </a:r>
          </a:p>
          <a:p>
            <a:pPr algn="ctr">
              <a:lnSpc>
                <a:spcPct val="100000"/>
              </a:lnSpc>
              <a:spcAft>
                <a:spcPts val="100"/>
              </a:spcAft>
            </a:pPr>
            <a:r>
              <a:rPr sz="1000" b="0">
                <a:solidFill>
                  <a:srgbClr val="3C4654"/>
                </a:solidFill>
                <a:latin typeface="Calibri"/>
              </a:rPr>
              <a:t>read the tool it actually chose (from the trace)</a:t>
            </a:r>
          </a:p>
        </p:txBody>
      </p:sp>
      <p:sp>
        <p:nvSpPr>
          <p:cNvPr id="12" name="Right Arrow 11"/>
          <p:cNvSpPr/>
          <p:nvPr/>
        </p:nvSpPr>
        <p:spPr>
          <a:xfrm>
            <a:off x="7223760" y="2423160"/>
            <a:ext cx="310896" cy="274320"/>
          </a:xfrm>
          <a:prstGeom prst="rightArrow">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680960" y="1828800"/>
            <a:ext cx="3886200" cy="1371600"/>
          </a:xfrm>
          <a:prstGeom prst="roundRect">
            <a:avLst>
              <a:gd name="adj" fmla="val 8000"/>
            </a:avLst>
          </a:prstGeom>
          <a:solidFill>
            <a:srgbClr val="E9F3F0"/>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300" b="1">
                <a:solidFill>
                  <a:srgbClr val="2A9D8F"/>
                </a:solidFill>
                <a:latin typeface="Calibri"/>
              </a:rPr>
              <a:t>Compare &amp; score</a:t>
            </a:r>
          </a:p>
          <a:p>
            <a:pPr algn="ctr">
              <a:lnSpc>
                <a:spcPct val="100000"/>
              </a:lnSpc>
              <a:spcAft>
                <a:spcPts val="100"/>
              </a:spcAft>
            </a:pPr>
            <a:r>
              <a:rPr sz="1000" b="0">
                <a:solidFill>
                  <a:srgbClr val="3C4654"/>
                </a:solidFill>
                <a:latin typeface="Calibri"/>
              </a:rPr>
              <a:t>chosen vs expected, and were the inputs right?</a:t>
            </a:r>
          </a:p>
        </p:txBody>
      </p:sp>
      <p:sp>
        <p:nvSpPr>
          <p:cNvPr id="14" name="TextBox 13"/>
          <p:cNvSpPr txBox="1"/>
          <p:nvPr/>
        </p:nvSpPr>
        <p:spPr>
          <a:xfrm>
            <a:off x="640080" y="3429000"/>
            <a:ext cx="10972800" cy="365760"/>
          </a:xfrm>
          <a:prstGeom prst="rect">
            <a:avLst/>
          </a:prstGeom>
          <a:noFill/>
        </p:spPr>
        <p:txBody>
          <a:bodyPr wrap="square" anchor="t" lIns="0" rIns="0" tIns="0" bIns="0">
            <a:spAutoFit/>
          </a:bodyPr>
          <a:lstStyle/>
          <a:p>
            <a:pPr algn="l">
              <a:lnSpc>
                <a:spcPct val="105000"/>
              </a:lnSpc>
              <a:spcBef>
                <a:spcPts val="0"/>
              </a:spcBef>
              <a:spcAft>
                <a:spcPts val="600"/>
              </a:spcAft>
            </a:pPr>
            <a:r>
              <a:rPr sz="1300" b="1" i="0">
                <a:solidFill>
                  <a:srgbClr val="1F3A5F"/>
                </a:solidFill>
                <a:latin typeface="Calibri"/>
              </a:rPr>
              <a:t>We measure:</a:t>
            </a:r>
          </a:p>
        </p:txBody>
      </p:sp>
      <p:sp>
        <p:nvSpPr>
          <p:cNvPr id="15" name="TextBox 14"/>
          <p:cNvSpPr txBox="1"/>
          <p:nvPr/>
        </p:nvSpPr>
        <p:spPr>
          <a:xfrm>
            <a:off x="822960" y="3794760"/>
            <a:ext cx="10515600" cy="1463040"/>
          </a:xfrm>
          <a:prstGeom prst="rect">
            <a:avLst/>
          </a:prstGeom>
          <a:noFill/>
        </p:spPr>
        <p:txBody>
          <a:bodyPr wrap="square" lIns="0" tIns="0">
            <a:spAutoFit/>
          </a:bodyPr>
          <a:lstStyle/>
          <a:p>
            <a:pPr>
              <a:lnSpc>
                <a:spcPct val="105000"/>
              </a:lnSpc>
              <a:spcBef>
                <a:spcPts val="0"/>
              </a:spcBef>
              <a:spcAft>
                <a:spcPts val="800"/>
              </a:spcAft>
            </a:pPr>
            <a:r>
              <a:rPr sz="1300" b="0">
                <a:solidFill>
                  <a:srgbClr val="3C4654"/>
                </a:solidFill>
                <a:latin typeface="Calibri"/>
              </a:rPr>
              <a:t>•  tool-selection accuracy, and precision/recall per tool</a:t>
            </a:r>
          </a:p>
          <a:p>
            <a:pPr>
              <a:lnSpc>
                <a:spcPct val="105000"/>
              </a:lnSpc>
              <a:spcBef>
                <a:spcPts val="0"/>
              </a:spcBef>
              <a:spcAft>
                <a:spcPts val="800"/>
              </a:spcAft>
            </a:pPr>
            <a:r>
              <a:rPr sz="1300" b="0">
                <a:solidFill>
                  <a:srgbClr val="3C4654"/>
                </a:solidFill>
                <a:latin typeface="Calibri"/>
              </a:rPr>
              <a:t>•  wrong-tool rate · called a tool when none was needed · missed a tool it should have used</a:t>
            </a:r>
          </a:p>
          <a:p>
            <a:pPr>
              <a:lnSpc>
                <a:spcPct val="105000"/>
              </a:lnSpc>
              <a:spcBef>
                <a:spcPts val="0"/>
              </a:spcBef>
              <a:spcAft>
                <a:spcPts val="800"/>
              </a:spcAft>
            </a:pPr>
            <a:r>
              <a:rPr sz="1300" b="0">
                <a:solidFill>
                  <a:srgbClr val="3C4654"/>
                </a:solidFill>
                <a:latin typeface="Calibri"/>
              </a:rPr>
              <a:t>•  argument correctness — right tool, but were the inputs right?</a:t>
            </a:r>
          </a:p>
        </p:txBody>
      </p:sp>
      <p:sp>
        <p:nvSpPr>
          <p:cNvPr id="16" name="TextBox 15"/>
          <p:cNvSpPr txBox="1"/>
          <p:nvPr/>
        </p:nvSpPr>
        <p:spPr>
          <a:xfrm>
            <a:off x="640080" y="5623560"/>
            <a:ext cx="10972800" cy="365760"/>
          </a:xfrm>
          <a:prstGeom prst="rect">
            <a:avLst/>
          </a:prstGeom>
          <a:noFill/>
        </p:spPr>
        <p:txBody>
          <a:bodyPr wrap="square" anchor="t" lIns="0" rIns="0" tIns="0" bIns="0">
            <a:spAutoFit/>
          </a:bodyPr>
          <a:lstStyle/>
          <a:p>
            <a:pPr algn="l">
              <a:lnSpc>
                <a:spcPct val="105000"/>
              </a:lnSpc>
              <a:spcBef>
                <a:spcPts val="0"/>
              </a:spcBef>
              <a:spcAft>
                <a:spcPts val="600"/>
              </a:spcAft>
            </a:pPr>
            <a:r>
              <a:rPr sz="1200" b="0" i="1">
                <a:solidFill>
                  <a:srgbClr val="6B7480"/>
                </a:solidFill>
                <a:latin typeface="Calibri"/>
              </a:rPr>
              <a:t>Ragas / DeepEval don't cover this — it's custom Python that reads the tool call from the trace. Hiring's ATS tools are the example.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92608"/>
            <a:ext cx="10881360" cy="274320"/>
          </a:xfrm>
          <a:prstGeom prst="rect">
            <a:avLst/>
          </a:prstGeom>
          <a:noFill/>
        </p:spPr>
        <p:txBody>
          <a:bodyPr wrap="square" anchor="t" lIns="0" rIns="0" tIns="0" bIns="0">
            <a:spAutoFit/>
          </a:bodyPr>
          <a:lstStyle/>
          <a:p>
            <a:pPr algn="l">
              <a:lnSpc>
                <a:spcPct val="105000"/>
              </a:lnSpc>
              <a:spcBef>
                <a:spcPts val="0"/>
              </a:spcBef>
              <a:spcAft>
                <a:spcPts val="600"/>
              </a:spcAft>
            </a:pPr>
            <a:r>
              <a:rPr sz="1100" b="1" i="0">
                <a:solidFill>
                  <a:srgbClr val="2A9D8F"/>
                </a:solidFill>
                <a:latin typeface="Calibri"/>
              </a:rPr>
              <a:t>EVALUATION</a:t>
            </a:r>
          </a:p>
        </p:txBody>
      </p:sp>
      <p:sp>
        <p:nvSpPr>
          <p:cNvPr id="4" name="TextBox 3"/>
          <p:cNvSpPr txBox="1"/>
          <p:nvPr/>
        </p:nvSpPr>
        <p:spPr>
          <a:xfrm>
            <a:off x="640080" y="512064"/>
            <a:ext cx="10972800" cy="640080"/>
          </a:xfrm>
          <a:prstGeom prst="rect">
            <a:avLst/>
          </a:prstGeom>
          <a:noFill/>
        </p:spPr>
        <p:txBody>
          <a:bodyPr wrap="square" anchor="t" lIns="0" rIns="0" tIns="0" bIns="0">
            <a:spAutoFit/>
          </a:bodyPr>
          <a:lstStyle/>
          <a:p>
            <a:pPr algn="l">
              <a:lnSpc>
                <a:spcPct val="105000"/>
              </a:lnSpc>
              <a:spcBef>
                <a:spcPts val="0"/>
              </a:spcBef>
              <a:spcAft>
                <a:spcPts val="600"/>
              </a:spcAft>
            </a:pPr>
            <a:r>
              <a:rPr sz="2300" b="1" i="0">
                <a:solidFill>
                  <a:srgbClr val="1F3A5F"/>
                </a:solidFill>
                <a:latin typeface="Calibri"/>
              </a:rPr>
              <a:t>Evaluation: the tools, and what each is for</a:t>
            </a:r>
          </a:p>
        </p:txBody>
      </p:sp>
      <p:sp>
        <p:nvSpPr>
          <p:cNvPr id="5" name="Rectangle 4"/>
          <p:cNvSpPr/>
          <p:nvPr/>
        </p:nvSpPr>
        <p:spPr>
          <a:xfrm>
            <a:off x="658368" y="1078992"/>
            <a:ext cx="1371600" cy="3810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85855" y="6473952"/>
            <a:ext cx="640080" cy="274320"/>
          </a:xfrm>
          <a:prstGeom prst="rect">
            <a:avLst/>
          </a:prstGeom>
          <a:noFill/>
        </p:spPr>
        <p:txBody>
          <a:bodyPr wrap="square" anchor="t" lIns="0" rIns="0" tIns="0" bIns="0">
            <a:spAutoFit/>
          </a:bodyPr>
          <a:lstStyle/>
          <a:p>
            <a:pPr algn="r">
              <a:lnSpc>
                <a:spcPct val="105000"/>
              </a:lnSpc>
              <a:spcBef>
                <a:spcPts val="0"/>
              </a:spcBef>
              <a:spcAft>
                <a:spcPts val="600"/>
              </a:spcAft>
            </a:pPr>
            <a:r>
              <a:rPr sz="1000" b="0" i="0">
                <a:solidFill>
                  <a:srgbClr val="6B7480"/>
                </a:solidFill>
                <a:latin typeface="Calibri"/>
              </a:rPr>
              <a:t>12</a:t>
            </a:r>
          </a:p>
        </p:txBody>
      </p:sp>
      <p:sp>
        <p:nvSpPr>
          <p:cNvPr id="7" name="TextBox 6"/>
          <p:cNvSpPr txBox="1"/>
          <p:nvPr/>
        </p:nvSpPr>
        <p:spPr>
          <a:xfrm>
            <a:off x="640080" y="6473952"/>
            <a:ext cx="8229600" cy="274320"/>
          </a:xfrm>
          <a:prstGeom prst="rect">
            <a:avLst/>
          </a:prstGeom>
          <a:noFill/>
        </p:spPr>
        <p:txBody>
          <a:bodyPr wrap="square" anchor="t" lIns="0" rIns="0" tIns="0" bIns="0">
            <a:spAutoFit/>
          </a:bodyPr>
          <a:lstStyle/>
          <a:p>
            <a:pPr algn="l">
              <a:lnSpc>
                <a:spcPct val="105000"/>
              </a:lnSpc>
              <a:spcBef>
                <a:spcPts val="0"/>
              </a:spcBef>
              <a:spcAft>
                <a:spcPts val="600"/>
              </a:spcAft>
            </a:pPr>
            <a:r>
              <a:rPr sz="900" b="0" i="0">
                <a:solidFill>
                  <a:srgbClr val="6B7480"/>
                </a:solidFill>
                <a:latin typeface="Calibri"/>
              </a:rPr>
              <a:t>LLMOps approach — APIX &amp; Hiring Intelligence</a:t>
            </a:r>
          </a:p>
        </p:txBody>
      </p:sp>
      <p:graphicFrame>
        <p:nvGraphicFramePr>
          <p:cNvPr id="8" name="Table 7"/>
          <p:cNvGraphicFramePr>
            <a:graphicFrameLocks noGrp="1"/>
          </p:cNvGraphicFramePr>
          <p:nvPr/>
        </p:nvGraphicFramePr>
        <p:xfrm>
          <a:off x="548640" y="1280160"/>
          <a:ext cx="11091672" cy="3584448"/>
        </p:xfrm>
        <a:graphic>
          <a:graphicData uri="http://schemas.openxmlformats.org/drawingml/2006/table">
            <a:tbl>
              <a:tblPr firstRow="1" bandRow="1">
                <a:tableStyleId>{5C22544A-7EE6-4342-B048-85BDC9FD1C3A}</a:tableStyleId>
              </a:tblPr>
              <a:tblGrid>
                <a:gridCol w="2286000"/>
                <a:gridCol w="4023360"/>
                <a:gridCol w="1828800"/>
                <a:gridCol w="2953512"/>
              </a:tblGrid>
              <a:tr h="512064">
                <a:tc>
                  <a:txBody>
                    <a:bodyPr/>
                    <a:lstStyle/>
                    <a:p>
                      <a:r>
                        <a:rPr sz="1100" b="1">
                          <a:solidFill>
                            <a:srgbClr val="FFFFFF"/>
                          </a:solidFill>
                          <a:latin typeface="Calibri"/>
                        </a:rPr>
                        <a:t>Tool</a:t>
                      </a:r>
                    </a:p>
                  </a:txBody>
                  <a:tcPr anchor="ctr" marL="73152" marT="18288" marB="18288">
                    <a:solidFill>
                      <a:srgbClr val="1F3A5F"/>
                    </a:solidFill>
                  </a:tcPr>
                </a:tc>
                <a:tc>
                  <a:txBody>
                    <a:bodyPr/>
                    <a:lstStyle/>
                    <a:p>
                      <a:r>
                        <a:rPr sz="1100" b="1">
                          <a:solidFill>
                            <a:srgbClr val="FFFFFF"/>
                          </a:solidFill>
                          <a:latin typeface="Calibri"/>
                        </a:rPr>
                        <a:t>Covers</a:t>
                      </a:r>
                    </a:p>
                  </a:txBody>
                  <a:tcPr anchor="ctr" marL="73152" marT="18288" marB="18288">
                    <a:solidFill>
                      <a:srgbClr val="1F3A5F"/>
                    </a:solidFill>
                  </a:tcPr>
                </a:tc>
                <a:tc>
                  <a:txBody>
                    <a:bodyPr/>
                    <a:lstStyle/>
                    <a:p>
                      <a:r>
                        <a:rPr sz="1100" b="1">
                          <a:solidFill>
                            <a:srgbClr val="FFFFFF"/>
                          </a:solidFill>
                          <a:latin typeface="Calibri"/>
                        </a:rPr>
                        <a:t>Open source?</a:t>
                      </a:r>
                    </a:p>
                  </a:txBody>
                  <a:tcPr anchor="ctr" marL="73152" marT="18288" marB="18288">
                    <a:solidFill>
                      <a:srgbClr val="1F3A5F"/>
                    </a:solidFill>
                  </a:tcPr>
                </a:tc>
                <a:tc>
                  <a:txBody>
                    <a:bodyPr/>
                    <a:lstStyle/>
                    <a:p>
                      <a:r>
                        <a:rPr sz="1100" b="1">
                          <a:solidFill>
                            <a:srgbClr val="FFFFFF"/>
                          </a:solidFill>
                          <a:latin typeface="Calibri"/>
                        </a:rPr>
                        <a:t>Use it for</a:t>
                      </a:r>
                    </a:p>
                  </a:txBody>
                  <a:tcPr anchor="ctr" marL="73152" marT="18288" marB="18288">
                    <a:solidFill>
                      <a:srgbClr val="1F3A5F"/>
                    </a:solidFill>
                  </a:tcPr>
                </a:tc>
              </a:tr>
              <a:tr h="512064">
                <a:tc>
                  <a:txBody>
                    <a:bodyPr/>
                    <a:lstStyle/>
                    <a:p>
                      <a:r>
                        <a:rPr sz="1050" b="1">
                          <a:solidFill>
                            <a:srgbClr val="1F3A5F"/>
                          </a:solidFill>
                          <a:latin typeface="Calibri"/>
                        </a:rPr>
                        <a:t>Ragas</a:t>
                      </a:r>
                    </a:p>
                  </a:txBody>
                  <a:tcPr anchor="ctr" marL="73152" marT="18288" marB="18288">
                    <a:solidFill>
                      <a:srgbClr val="FFFFFF"/>
                    </a:solidFill>
                  </a:tcPr>
                </a:tc>
                <a:tc>
                  <a:txBody>
                    <a:bodyPr/>
                    <a:lstStyle/>
                    <a:p>
                      <a:r>
                        <a:rPr sz="1050">
                          <a:solidFill>
                            <a:srgbClr val="3C4654"/>
                          </a:solidFill>
                          <a:latin typeface="Calibri"/>
                        </a:rPr>
                        <a:t>RAG metrics (groundedness, relevance)</a:t>
                      </a:r>
                    </a:p>
                  </a:txBody>
                  <a:tcPr anchor="ctr" marL="73152" marT="18288" marB="18288">
                    <a:solidFill>
                      <a:srgbClr val="FFFFFF"/>
                    </a:solidFill>
                  </a:tcPr>
                </a:tc>
                <a:tc>
                  <a:txBody>
                    <a:bodyPr/>
                    <a:lstStyle/>
                    <a:p>
                      <a:r>
                        <a:rPr sz="1050">
                          <a:solidFill>
                            <a:srgbClr val="3C4654"/>
                          </a:solidFill>
                          <a:latin typeface="Calibri"/>
                        </a:rPr>
                        <a:t>Yes</a:t>
                      </a:r>
                    </a:p>
                  </a:txBody>
                  <a:tcPr anchor="ctr" marL="73152" marT="18288" marB="18288">
                    <a:solidFill>
                      <a:srgbClr val="FFFFFF"/>
                    </a:solidFill>
                  </a:tcPr>
                </a:tc>
                <a:tc>
                  <a:txBody>
                    <a:bodyPr/>
                    <a:lstStyle/>
                    <a:p>
                      <a:r>
                        <a:rPr sz="1050">
                          <a:solidFill>
                            <a:srgbClr val="3C4654"/>
                          </a:solidFill>
                          <a:latin typeface="Calibri"/>
                        </a:rPr>
                        <a:t>APIX groundedness, Hiring RAG</a:t>
                      </a:r>
                    </a:p>
                  </a:txBody>
                  <a:tcPr anchor="ctr" marL="73152" marT="18288" marB="18288">
                    <a:solidFill>
                      <a:srgbClr val="FFFFFF"/>
                    </a:solidFill>
                  </a:tcPr>
                </a:tc>
              </a:tr>
              <a:tr h="512064">
                <a:tc>
                  <a:txBody>
                    <a:bodyPr/>
                    <a:lstStyle/>
                    <a:p>
                      <a:r>
                        <a:rPr sz="1050" b="1">
                          <a:solidFill>
                            <a:srgbClr val="1F3A5F"/>
                          </a:solidFill>
                          <a:latin typeface="Calibri"/>
                        </a:rPr>
                        <a:t>DeepEval</a:t>
                      </a:r>
                    </a:p>
                  </a:txBody>
                  <a:tcPr anchor="ctr" marL="73152" marT="18288" marB="18288">
                    <a:solidFill>
                      <a:srgbClr val="EEF1F5"/>
                    </a:solidFill>
                  </a:tcPr>
                </a:tc>
                <a:tc>
                  <a:txBody>
                    <a:bodyPr/>
                    <a:lstStyle/>
                    <a:p>
                      <a:r>
                        <a:rPr sz="1050">
                          <a:solidFill>
                            <a:srgbClr val="3C4654"/>
                          </a:solidFill>
                          <a:latin typeface="Calibri"/>
                        </a:rPr>
                        <a:t>broad LLM eval, custom metrics, CI-friendly</a:t>
                      </a:r>
                    </a:p>
                  </a:txBody>
                  <a:tcPr anchor="ctr" marL="73152" marT="18288" marB="18288">
                    <a:solidFill>
                      <a:srgbClr val="EEF1F5"/>
                    </a:solidFill>
                  </a:tcPr>
                </a:tc>
                <a:tc>
                  <a:txBody>
                    <a:bodyPr/>
                    <a:lstStyle/>
                    <a:p>
                      <a:r>
                        <a:rPr sz="1050">
                          <a:solidFill>
                            <a:srgbClr val="3C4654"/>
                          </a:solidFill>
                          <a:latin typeface="Calibri"/>
                        </a:rPr>
                        <a:t>Yes</a:t>
                      </a:r>
                    </a:p>
                  </a:txBody>
                  <a:tcPr anchor="ctr" marL="73152" marT="18288" marB="18288">
                    <a:solidFill>
                      <a:srgbClr val="EEF1F5"/>
                    </a:solidFill>
                  </a:tcPr>
                </a:tc>
                <a:tc>
                  <a:txBody>
                    <a:bodyPr/>
                    <a:lstStyle/>
                    <a:p>
                      <a:r>
                        <a:rPr sz="1050">
                          <a:solidFill>
                            <a:srgbClr val="3C4654"/>
                          </a:solidFill>
                          <a:latin typeface="Calibri"/>
                        </a:rPr>
                        <a:t>the CI gate, writing quality</a:t>
                      </a:r>
                    </a:p>
                  </a:txBody>
                  <a:tcPr anchor="ctr" marL="73152" marT="18288" marB="18288">
                    <a:solidFill>
                      <a:srgbClr val="EEF1F5"/>
                    </a:solidFill>
                  </a:tcPr>
                </a:tc>
              </a:tr>
              <a:tr h="512064">
                <a:tc>
                  <a:txBody>
                    <a:bodyPr/>
                    <a:lstStyle/>
                    <a:p>
                      <a:r>
                        <a:rPr sz="1050" b="1">
                          <a:solidFill>
                            <a:srgbClr val="1F3A5F"/>
                          </a:solidFill>
                          <a:latin typeface="Calibri"/>
                        </a:rPr>
                        <a:t>Custom Python</a:t>
                      </a:r>
                    </a:p>
                  </a:txBody>
                  <a:tcPr anchor="ctr" marL="73152" marT="18288" marB="18288">
                    <a:solidFill>
                      <a:srgbClr val="FFFFFF"/>
                    </a:solidFill>
                  </a:tcPr>
                </a:tc>
                <a:tc>
                  <a:txBody>
                    <a:bodyPr/>
                    <a:lstStyle/>
                    <a:p>
                      <a:r>
                        <a:rPr sz="1050">
                          <a:solidFill>
                            <a:srgbClr val="3C4654"/>
                          </a:solidFill>
                          <a:latin typeface="Calibri"/>
                        </a:rPr>
                        <a:t>tool selection, scoring vs labels, extraction</a:t>
                      </a:r>
                    </a:p>
                  </a:txBody>
                  <a:tcPr anchor="ctr" marL="73152" marT="18288" marB="18288">
                    <a:solidFill>
                      <a:srgbClr val="FFFFFF"/>
                    </a:solidFill>
                  </a:tcPr>
                </a:tc>
                <a:tc>
                  <a:txBody>
                    <a:bodyPr/>
                    <a:lstStyle/>
                    <a:p>
                      <a:r>
                        <a:rPr sz="1050">
                          <a:solidFill>
                            <a:srgbClr val="3C4654"/>
                          </a:solidFill>
                          <a:latin typeface="Calibri"/>
                        </a:rPr>
                        <a:t>Yes (own code)</a:t>
                      </a:r>
                    </a:p>
                  </a:txBody>
                  <a:tcPr anchor="ctr" marL="73152" marT="18288" marB="18288">
                    <a:solidFill>
                      <a:srgbClr val="FFFFFF"/>
                    </a:solidFill>
                  </a:tcPr>
                </a:tc>
                <a:tc>
                  <a:txBody>
                    <a:bodyPr/>
                    <a:lstStyle/>
                    <a:p>
                      <a:r>
                        <a:rPr sz="1050">
                          <a:solidFill>
                            <a:srgbClr val="3C4654"/>
                          </a:solidFill>
                          <a:latin typeface="Calibri"/>
                        </a:rPr>
                        <a:t>agent &amp; tool behaviour</a:t>
                      </a:r>
                    </a:p>
                  </a:txBody>
                  <a:tcPr anchor="ctr" marL="73152" marT="18288" marB="18288">
                    <a:solidFill>
                      <a:srgbClr val="FFFFFF"/>
                    </a:solidFill>
                  </a:tcPr>
                </a:tc>
              </a:tr>
              <a:tr h="512064">
                <a:tc>
                  <a:txBody>
                    <a:bodyPr/>
                    <a:lstStyle/>
                    <a:p>
                      <a:r>
                        <a:rPr sz="1050" b="1">
                          <a:solidFill>
                            <a:srgbClr val="1F3A5F"/>
                          </a:solidFill>
                          <a:latin typeface="Calibri"/>
                        </a:rPr>
                        <a:t>LLM-as-judge</a:t>
                      </a:r>
                    </a:p>
                  </a:txBody>
                  <a:tcPr anchor="ctr" marL="73152" marT="18288" marB="18288">
                    <a:solidFill>
                      <a:srgbClr val="EEF1F5"/>
                    </a:solidFill>
                  </a:tcPr>
                </a:tc>
                <a:tc>
                  <a:txBody>
                    <a:bodyPr/>
                    <a:lstStyle/>
                    <a:p>
                      <a:r>
                        <a:rPr sz="1050">
                          <a:solidFill>
                            <a:srgbClr val="3C4654"/>
                          </a:solidFill>
                          <a:latin typeface="Calibri"/>
                        </a:rPr>
                        <a:t>subjective quality with a rubric</a:t>
                      </a:r>
                    </a:p>
                  </a:txBody>
                  <a:tcPr anchor="ctr" marL="73152" marT="18288" marB="18288">
                    <a:solidFill>
                      <a:srgbClr val="EEF1F5"/>
                    </a:solidFill>
                  </a:tcPr>
                </a:tc>
                <a:tc>
                  <a:txBody>
                    <a:bodyPr/>
                    <a:lstStyle/>
                    <a:p>
                      <a:r>
                        <a:rPr sz="1050">
                          <a:solidFill>
                            <a:srgbClr val="3C4654"/>
                          </a:solidFill>
                          <a:latin typeface="Calibri"/>
                        </a:rPr>
                        <a:t>depends</a:t>
                      </a:r>
                    </a:p>
                  </a:txBody>
                  <a:tcPr anchor="ctr" marL="73152" marT="18288" marB="18288">
                    <a:solidFill>
                      <a:srgbClr val="EEF1F5"/>
                    </a:solidFill>
                  </a:tcPr>
                </a:tc>
                <a:tc>
                  <a:txBody>
                    <a:bodyPr/>
                    <a:lstStyle/>
                    <a:p>
                      <a:r>
                        <a:rPr sz="1050">
                          <a:solidFill>
                            <a:srgbClr val="3C4654"/>
                          </a:solidFill>
                          <a:latin typeface="Calibri"/>
                        </a:rPr>
                        <a:t>coaching usefulness, summaries</a:t>
                      </a:r>
                    </a:p>
                  </a:txBody>
                  <a:tcPr anchor="ctr" marL="73152" marT="18288" marB="18288">
                    <a:solidFill>
                      <a:srgbClr val="EEF1F5"/>
                    </a:solidFill>
                  </a:tcPr>
                </a:tc>
              </a:tr>
              <a:tr h="512064">
                <a:tc>
                  <a:txBody>
                    <a:bodyPr/>
                    <a:lstStyle/>
                    <a:p>
                      <a:r>
                        <a:rPr sz="1050" b="1">
                          <a:solidFill>
                            <a:srgbClr val="1F3A5F"/>
                          </a:solidFill>
                          <a:latin typeface="Calibri"/>
                        </a:rPr>
                        <a:t>Azure AI Foundry evals</a:t>
                      </a:r>
                    </a:p>
                  </a:txBody>
                  <a:tcPr anchor="ctr" marL="73152" marT="18288" marB="18288">
                    <a:solidFill>
                      <a:srgbClr val="FFFFFF"/>
                    </a:solidFill>
                  </a:tcPr>
                </a:tc>
                <a:tc>
                  <a:txBody>
                    <a:bodyPr/>
                    <a:lstStyle/>
                    <a:p>
                      <a:r>
                        <a:rPr sz="1050">
                          <a:solidFill>
                            <a:srgbClr val="3C4654"/>
                          </a:solidFill>
                          <a:latin typeface="Calibri"/>
                        </a:rPr>
                        <a:t>built-in + custom, links to traces</a:t>
                      </a:r>
                    </a:p>
                  </a:txBody>
                  <a:tcPr anchor="ctr" marL="73152" marT="18288" marB="18288">
                    <a:solidFill>
                      <a:srgbClr val="FFFFFF"/>
                    </a:solidFill>
                  </a:tcPr>
                </a:tc>
                <a:tc>
                  <a:txBody>
                    <a:bodyPr/>
                    <a:lstStyle/>
                    <a:p>
                      <a:r>
                        <a:rPr sz="1050">
                          <a:solidFill>
                            <a:srgbClr val="3C4654"/>
                          </a:solidFill>
                          <a:latin typeface="Calibri"/>
                        </a:rPr>
                        <a:t>No (Azure)</a:t>
                      </a:r>
                    </a:p>
                  </a:txBody>
                  <a:tcPr anchor="ctr" marL="73152" marT="18288" marB="18288">
                    <a:solidFill>
                      <a:srgbClr val="FFFFFF"/>
                    </a:solidFill>
                  </a:tcPr>
                </a:tc>
                <a:tc>
                  <a:txBody>
                    <a:bodyPr/>
                    <a:lstStyle/>
                    <a:p>
                      <a:r>
                        <a:rPr sz="1050">
                          <a:solidFill>
                            <a:srgbClr val="3C4654"/>
                          </a:solidFill>
                          <a:latin typeface="Calibri"/>
                        </a:rPr>
                        <a:t>staying inside Azure</a:t>
                      </a:r>
                    </a:p>
                  </a:txBody>
                  <a:tcPr anchor="ctr" marL="73152" marT="18288" marB="18288">
                    <a:solidFill>
                      <a:srgbClr val="FFFFFF"/>
                    </a:solidFill>
                  </a:tcPr>
                </a:tc>
              </a:tr>
              <a:tr h="512064">
                <a:tc>
                  <a:txBody>
                    <a:bodyPr/>
                    <a:lstStyle/>
                    <a:p>
                      <a:r>
                        <a:rPr sz="1050" b="1">
                          <a:solidFill>
                            <a:srgbClr val="1F3A5F"/>
                          </a:solidFill>
                          <a:latin typeface="Calibri"/>
                        </a:rPr>
                        <a:t>LangSmith</a:t>
                      </a:r>
                    </a:p>
                  </a:txBody>
                  <a:tcPr anchor="ctr" marL="73152" marT="18288" marB="18288">
                    <a:solidFill>
                      <a:srgbClr val="EEF1F5"/>
                    </a:solidFill>
                  </a:tcPr>
                </a:tc>
                <a:tc>
                  <a:txBody>
                    <a:bodyPr/>
                    <a:lstStyle/>
                    <a:p>
                      <a:r>
                        <a:rPr sz="1050">
                          <a:solidFill>
                            <a:srgbClr val="3C4654"/>
                          </a:solidFill>
                          <a:latin typeface="Calibri"/>
                        </a:rPr>
                        <a:t>eval + observability platform</a:t>
                      </a:r>
                    </a:p>
                  </a:txBody>
                  <a:tcPr anchor="ctr" marL="73152" marT="18288" marB="18288">
                    <a:solidFill>
                      <a:srgbClr val="EEF1F5"/>
                    </a:solidFill>
                  </a:tcPr>
                </a:tc>
                <a:tc>
                  <a:txBody>
                    <a:bodyPr/>
                    <a:lstStyle/>
                    <a:p>
                      <a:r>
                        <a:rPr sz="1050">
                          <a:solidFill>
                            <a:srgbClr val="3C4654"/>
                          </a:solidFill>
                          <a:latin typeface="Calibri"/>
                        </a:rPr>
                        <a:t>No — licensed</a:t>
                      </a:r>
                    </a:p>
                  </a:txBody>
                  <a:tcPr anchor="ctr" marL="73152" marT="18288" marB="18288">
                    <a:solidFill>
                      <a:srgbClr val="EEF1F5"/>
                    </a:solidFill>
                  </a:tcPr>
                </a:tc>
                <a:tc>
                  <a:txBody>
                    <a:bodyPr/>
                    <a:lstStyle/>
                    <a:p>
                      <a:r>
                        <a:rPr sz="1050">
                          <a:solidFill>
                            <a:srgbClr val="3C4654"/>
                          </a:solidFill>
                          <a:latin typeface="Calibri"/>
                        </a:rPr>
                        <a:t>only if we standardise on it</a:t>
                      </a:r>
                    </a:p>
                  </a:txBody>
                  <a:tcPr anchor="ctr" marL="73152" marT="18288" marB="18288">
                    <a:solidFill>
                      <a:srgbClr val="EEF1F5"/>
                    </a:solidFill>
                  </a:tcPr>
                </a:tc>
              </a:tr>
            </a:tbl>
          </a:graphicData>
        </a:graphic>
      </p:graphicFrame>
      <p:sp>
        <p:nvSpPr>
          <p:cNvPr id="9" name="TextBox 8"/>
          <p:cNvSpPr txBox="1"/>
          <p:nvPr/>
        </p:nvSpPr>
        <p:spPr>
          <a:xfrm>
            <a:off x="548640" y="5029200"/>
            <a:ext cx="11091672" cy="457200"/>
          </a:xfrm>
          <a:prstGeom prst="rect">
            <a:avLst/>
          </a:prstGeom>
          <a:noFill/>
        </p:spPr>
        <p:txBody>
          <a:bodyPr wrap="square" anchor="t" lIns="0" rIns="0" tIns="0" bIns="0">
            <a:spAutoFit/>
          </a:bodyPr>
          <a:lstStyle/>
          <a:p>
            <a:pPr algn="l">
              <a:lnSpc>
                <a:spcPct val="105000"/>
              </a:lnSpc>
              <a:spcBef>
                <a:spcPts val="0"/>
              </a:spcBef>
              <a:spcAft>
                <a:spcPts val="600"/>
              </a:spcAft>
            </a:pPr>
            <a:r>
              <a:rPr sz="1300" b="1" i="0">
                <a:solidFill>
                  <a:srgbClr val="1F3A5F"/>
                </a:solidFill>
                <a:latin typeface="Calibri"/>
              </a:rPr>
              <a:t>Recommendation: a mix — </a:t>
            </a:r>
            <a:r>
              <a:rPr sz="1300" b="0" i="0">
                <a:solidFill>
                  <a:srgbClr val="3C4654"/>
                </a:solidFill>
                <a:latin typeface="Calibri"/>
              </a:rPr>
              <a:t>Ragas + DeepEval + custom Python for the CI gate, Foundry for trace-linked runs. Not one single tool.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92608"/>
            <a:ext cx="10881360" cy="274320"/>
          </a:xfrm>
          <a:prstGeom prst="rect">
            <a:avLst/>
          </a:prstGeom>
          <a:noFill/>
        </p:spPr>
        <p:txBody>
          <a:bodyPr wrap="square" anchor="t" lIns="0" rIns="0" tIns="0" bIns="0">
            <a:spAutoFit/>
          </a:bodyPr>
          <a:lstStyle/>
          <a:p>
            <a:pPr algn="l">
              <a:lnSpc>
                <a:spcPct val="105000"/>
              </a:lnSpc>
              <a:spcBef>
                <a:spcPts val="0"/>
              </a:spcBef>
              <a:spcAft>
                <a:spcPts val="600"/>
              </a:spcAft>
            </a:pPr>
            <a:r>
              <a:rPr sz="1100" b="1" i="0">
                <a:solidFill>
                  <a:srgbClr val="2A9D8F"/>
                </a:solidFill>
                <a:latin typeface="Calibri"/>
              </a:rPr>
              <a:t>EVALUATION</a:t>
            </a:r>
          </a:p>
        </p:txBody>
      </p:sp>
      <p:sp>
        <p:nvSpPr>
          <p:cNvPr id="4" name="TextBox 3"/>
          <p:cNvSpPr txBox="1"/>
          <p:nvPr/>
        </p:nvSpPr>
        <p:spPr>
          <a:xfrm>
            <a:off x="640080" y="512064"/>
            <a:ext cx="10972800" cy="640080"/>
          </a:xfrm>
          <a:prstGeom prst="rect">
            <a:avLst/>
          </a:prstGeom>
          <a:noFill/>
        </p:spPr>
        <p:txBody>
          <a:bodyPr wrap="square" anchor="t" lIns="0" rIns="0" tIns="0" bIns="0">
            <a:spAutoFit/>
          </a:bodyPr>
          <a:lstStyle/>
          <a:p>
            <a:pPr algn="l">
              <a:lnSpc>
                <a:spcPct val="105000"/>
              </a:lnSpc>
              <a:spcBef>
                <a:spcPts val="0"/>
              </a:spcBef>
              <a:spcAft>
                <a:spcPts val="600"/>
              </a:spcAft>
            </a:pPr>
            <a:r>
              <a:rPr sz="2300" b="1" i="0">
                <a:solidFill>
                  <a:srgbClr val="1F3A5F"/>
                </a:solidFill>
                <a:latin typeface="Calibri"/>
              </a:rPr>
              <a:t>Evaluation: how and when it runs</a:t>
            </a:r>
          </a:p>
        </p:txBody>
      </p:sp>
      <p:sp>
        <p:nvSpPr>
          <p:cNvPr id="5" name="Rectangle 4"/>
          <p:cNvSpPr/>
          <p:nvPr/>
        </p:nvSpPr>
        <p:spPr>
          <a:xfrm>
            <a:off x="658368" y="1078992"/>
            <a:ext cx="1371600" cy="3810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85855" y="6473952"/>
            <a:ext cx="640080" cy="274320"/>
          </a:xfrm>
          <a:prstGeom prst="rect">
            <a:avLst/>
          </a:prstGeom>
          <a:noFill/>
        </p:spPr>
        <p:txBody>
          <a:bodyPr wrap="square" anchor="t" lIns="0" rIns="0" tIns="0" bIns="0">
            <a:spAutoFit/>
          </a:bodyPr>
          <a:lstStyle/>
          <a:p>
            <a:pPr algn="r">
              <a:lnSpc>
                <a:spcPct val="105000"/>
              </a:lnSpc>
              <a:spcBef>
                <a:spcPts val="0"/>
              </a:spcBef>
              <a:spcAft>
                <a:spcPts val="600"/>
              </a:spcAft>
            </a:pPr>
            <a:r>
              <a:rPr sz="1000" b="0" i="0">
                <a:solidFill>
                  <a:srgbClr val="6B7480"/>
                </a:solidFill>
                <a:latin typeface="Calibri"/>
              </a:rPr>
              <a:t>13</a:t>
            </a:r>
          </a:p>
        </p:txBody>
      </p:sp>
      <p:sp>
        <p:nvSpPr>
          <p:cNvPr id="7" name="TextBox 6"/>
          <p:cNvSpPr txBox="1"/>
          <p:nvPr/>
        </p:nvSpPr>
        <p:spPr>
          <a:xfrm>
            <a:off x="640080" y="6473952"/>
            <a:ext cx="8229600" cy="274320"/>
          </a:xfrm>
          <a:prstGeom prst="rect">
            <a:avLst/>
          </a:prstGeom>
          <a:noFill/>
        </p:spPr>
        <p:txBody>
          <a:bodyPr wrap="square" anchor="t" lIns="0" rIns="0" tIns="0" bIns="0">
            <a:spAutoFit/>
          </a:bodyPr>
          <a:lstStyle/>
          <a:p>
            <a:pPr algn="l">
              <a:lnSpc>
                <a:spcPct val="105000"/>
              </a:lnSpc>
              <a:spcBef>
                <a:spcPts val="0"/>
              </a:spcBef>
              <a:spcAft>
                <a:spcPts val="600"/>
              </a:spcAft>
            </a:pPr>
            <a:r>
              <a:rPr sz="900" b="0" i="0">
                <a:solidFill>
                  <a:srgbClr val="6B7480"/>
                </a:solidFill>
                <a:latin typeface="Calibri"/>
              </a:rPr>
              <a:t>LLMOps approach — APIX &amp; Hiring Intelligence</a:t>
            </a:r>
          </a:p>
        </p:txBody>
      </p:sp>
      <p:sp>
        <p:nvSpPr>
          <p:cNvPr id="8" name="Rounded Rectangle 7"/>
          <p:cNvSpPr/>
          <p:nvPr/>
        </p:nvSpPr>
        <p:spPr>
          <a:xfrm>
            <a:off x="640080" y="1554480"/>
            <a:ext cx="3520440" cy="237744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400" b="1">
                <a:solidFill>
                  <a:srgbClr val="1F3A5F"/>
                </a:solidFill>
                <a:latin typeface="Calibri"/>
              </a:rPr>
              <a:t>Offline (before release)</a:t>
            </a:r>
          </a:p>
        </p:txBody>
      </p:sp>
      <p:sp>
        <p:nvSpPr>
          <p:cNvPr id="9" name="TextBox 8"/>
          <p:cNvSpPr txBox="1"/>
          <p:nvPr/>
        </p:nvSpPr>
        <p:spPr>
          <a:xfrm>
            <a:off x="868680" y="2103120"/>
            <a:ext cx="3108960" cy="1737360"/>
          </a:xfrm>
          <a:prstGeom prst="rect">
            <a:avLst/>
          </a:prstGeom>
          <a:noFill/>
        </p:spPr>
        <p:txBody>
          <a:bodyPr wrap="square" lIns="0" tIns="0">
            <a:spAutoFit/>
          </a:bodyPr>
          <a:lstStyle/>
          <a:p>
            <a:pPr>
              <a:lnSpc>
                <a:spcPct val="105000"/>
              </a:lnSpc>
              <a:spcBef>
                <a:spcPts val="0"/>
              </a:spcBef>
              <a:spcAft>
                <a:spcPts val="700"/>
              </a:spcAft>
            </a:pPr>
            <a:r>
              <a:rPr sz="1150" b="0">
                <a:solidFill>
                  <a:srgbClr val="3C4654"/>
                </a:solidFill>
                <a:latin typeface="Calibri"/>
              </a:rPr>
              <a:t>•  golden datasets per use case AND per program</a:t>
            </a:r>
          </a:p>
          <a:p>
            <a:pPr>
              <a:lnSpc>
                <a:spcPct val="105000"/>
              </a:lnSpc>
              <a:spcBef>
                <a:spcPts val="0"/>
              </a:spcBef>
              <a:spcAft>
                <a:spcPts val="700"/>
              </a:spcAft>
            </a:pPr>
            <a:r>
              <a:rPr sz="1150" b="0">
                <a:solidFill>
                  <a:srgbClr val="3C4654"/>
                </a:solidFill>
                <a:latin typeface="Calibri"/>
              </a:rPr>
              <a:t>•  runs on every change (CI gate)</a:t>
            </a:r>
          </a:p>
          <a:p>
            <a:pPr>
              <a:lnSpc>
                <a:spcPct val="105000"/>
              </a:lnSpc>
              <a:spcBef>
                <a:spcPts val="0"/>
              </a:spcBef>
              <a:spcAft>
                <a:spcPts val="700"/>
              </a:spcAft>
            </a:pPr>
            <a:r>
              <a:rPr sz="1150" b="0">
                <a:solidFill>
                  <a:srgbClr val="3C4654"/>
                </a:solidFill>
                <a:latin typeface="Calibri"/>
              </a:rPr>
              <a:t>•  blocks release if quality drops</a:t>
            </a:r>
          </a:p>
        </p:txBody>
      </p:sp>
      <p:sp>
        <p:nvSpPr>
          <p:cNvPr id="10" name="Rounded Rectangle 9"/>
          <p:cNvSpPr/>
          <p:nvPr/>
        </p:nvSpPr>
        <p:spPr>
          <a:xfrm>
            <a:off x="4343400" y="1554480"/>
            <a:ext cx="3520440" cy="237744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400" b="1">
                <a:solidFill>
                  <a:srgbClr val="1F3A5F"/>
                </a:solidFill>
                <a:latin typeface="Calibri"/>
              </a:rPr>
              <a:t>Online (in production)</a:t>
            </a:r>
          </a:p>
        </p:txBody>
      </p:sp>
      <p:sp>
        <p:nvSpPr>
          <p:cNvPr id="11" name="TextBox 10"/>
          <p:cNvSpPr txBox="1"/>
          <p:nvPr/>
        </p:nvSpPr>
        <p:spPr>
          <a:xfrm>
            <a:off x="4572000" y="2103120"/>
            <a:ext cx="3108960" cy="1737360"/>
          </a:xfrm>
          <a:prstGeom prst="rect">
            <a:avLst/>
          </a:prstGeom>
          <a:noFill/>
        </p:spPr>
        <p:txBody>
          <a:bodyPr wrap="square" lIns="0" tIns="0">
            <a:spAutoFit/>
          </a:bodyPr>
          <a:lstStyle/>
          <a:p>
            <a:pPr>
              <a:lnSpc>
                <a:spcPct val="105000"/>
              </a:lnSpc>
              <a:spcBef>
                <a:spcPts val="0"/>
              </a:spcBef>
              <a:spcAft>
                <a:spcPts val="700"/>
              </a:spcAft>
            </a:pPr>
            <a:r>
              <a:rPr sz="1150" b="0">
                <a:solidFill>
                  <a:srgbClr val="3C4654"/>
                </a:solidFill>
                <a:latin typeface="Calibri"/>
              </a:rPr>
              <a:t>•  sample a share of live traffic</a:t>
            </a:r>
          </a:p>
          <a:p>
            <a:pPr>
              <a:lnSpc>
                <a:spcPct val="105000"/>
              </a:lnSpc>
              <a:spcBef>
                <a:spcPts val="0"/>
              </a:spcBef>
              <a:spcAft>
                <a:spcPts val="700"/>
              </a:spcAft>
            </a:pPr>
            <a:r>
              <a:rPr sz="1150" b="0">
                <a:solidFill>
                  <a:srgbClr val="3C4654"/>
                </a:solidFill>
                <a:latin typeface="Calibri"/>
              </a:rPr>
              <a:t>•  score it automatically in the background</a:t>
            </a:r>
          </a:p>
          <a:p>
            <a:pPr>
              <a:lnSpc>
                <a:spcPct val="105000"/>
              </a:lnSpc>
              <a:spcBef>
                <a:spcPts val="0"/>
              </a:spcBef>
              <a:spcAft>
                <a:spcPts val="700"/>
              </a:spcAft>
            </a:pPr>
            <a:r>
              <a:rPr sz="1150" b="0">
                <a:solidFill>
                  <a:srgbClr val="3C4654"/>
                </a:solidFill>
                <a:latin typeface="Calibri"/>
              </a:rPr>
              <a:t>•  alert if quality drifts</a:t>
            </a:r>
          </a:p>
        </p:txBody>
      </p:sp>
      <p:sp>
        <p:nvSpPr>
          <p:cNvPr id="12" name="Rounded Rectangle 11"/>
          <p:cNvSpPr/>
          <p:nvPr/>
        </p:nvSpPr>
        <p:spPr>
          <a:xfrm>
            <a:off x="8046720" y="1554480"/>
            <a:ext cx="3520440" cy="237744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400" b="1">
                <a:solidFill>
                  <a:srgbClr val="1F3A5F"/>
                </a:solidFill>
                <a:latin typeface="Calibri"/>
              </a:rPr>
              <a:t>Human review</a:t>
            </a:r>
          </a:p>
        </p:txBody>
      </p:sp>
      <p:sp>
        <p:nvSpPr>
          <p:cNvPr id="13" name="TextBox 12"/>
          <p:cNvSpPr txBox="1"/>
          <p:nvPr/>
        </p:nvSpPr>
        <p:spPr>
          <a:xfrm>
            <a:off x="8275320" y="2103120"/>
            <a:ext cx="3108960" cy="1737360"/>
          </a:xfrm>
          <a:prstGeom prst="rect">
            <a:avLst/>
          </a:prstGeom>
          <a:noFill/>
        </p:spPr>
        <p:txBody>
          <a:bodyPr wrap="square" lIns="0" tIns="0">
            <a:spAutoFit/>
          </a:bodyPr>
          <a:lstStyle/>
          <a:p>
            <a:pPr>
              <a:lnSpc>
                <a:spcPct val="105000"/>
              </a:lnSpc>
              <a:spcBef>
                <a:spcPts val="0"/>
              </a:spcBef>
              <a:spcAft>
                <a:spcPts val="700"/>
              </a:spcAft>
            </a:pPr>
            <a:r>
              <a:rPr sz="1150" b="0">
                <a:solidFill>
                  <a:srgbClr val="3C4654"/>
                </a:solidFill>
                <a:latin typeface="Calibri"/>
              </a:rPr>
              <a:t>•  coaches &amp; recruiters give feedback</a:t>
            </a:r>
          </a:p>
          <a:p>
            <a:pPr>
              <a:lnSpc>
                <a:spcPct val="105000"/>
              </a:lnSpc>
              <a:spcBef>
                <a:spcPts val="0"/>
              </a:spcBef>
              <a:spcAft>
                <a:spcPts val="700"/>
              </a:spcAft>
            </a:pPr>
            <a:r>
              <a:rPr sz="1150" b="0">
                <a:solidFill>
                  <a:srgbClr val="3C4654"/>
                </a:solidFill>
                <a:latin typeface="Calibri"/>
              </a:rPr>
              <a:t>•  experts review a sample</a:t>
            </a:r>
          </a:p>
          <a:p>
            <a:pPr>
              <a:lnSpc>
                <a:spcPct val="105000"/>
              </a:lnSpc>
              <a:spcBef>
                <a:spcPts val="0"/>
              </a:spcBef>
              <a:spcAft>
                <a:spcPts val="700"/>
              </a:spcAft>
            </a:pPr>
            <a:r>
              <a:rPr sz="1150" b="0">
                <a:solidFill>
                  <a:srgbClr val="3C4654"/>
                </a:solidFill>
                <a:latin typeface="Calibri"/>
              </a:rPr>
              <a:t>•  findings become new test cases</a:t>
            </a:r>
          </a:p>
        </p:txBody>
      </p:sp>
      <p:sp>
        <p:nvSpPr>
          <p:cNvPr id="14" name="Rounded Rectangle 13"/>
          <p:cNvSpPr/>
          <p:nvPr/>
        </p:nvSpPr>
        <p:spPr>
          <a:xfrm>
            <a:off x="640080" y="4206240"/>
            <a:ext cx="10927080" cy="1280160"/>
          </a:xfrm>
          <a:prstGeom prst="roundRect">
            <a:avLst>
              <a:gd name="adj" fmla="val 8000"/>
            </a:avLst>
          </a:prstGeom>
          <a:solidFill>
            <a:srgbClr val="E9F3F0"/>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300" b="1">
                <a:solidFill>
                  <a:srgbClr val="2A9D8F"/>
                </a:solidFill>
                <a:latin typeface="Calibri"/>
              </a:rPr>
              <a:t>Per-agent AND end-to-end</a:t>
            </a:r>
          </a:p>
          <a:p>
            <a:pPr algn="ctr">
              <a:lnSpc>
                <a:spcPct val="100000"/>
              </a:lnSpc>
              <a:spcAft>
                <a:spcPts val="100"/>
              </a:spcAft>
            </a:pPr>
            <a:r>
              <a:rPr sz="1150" b="0">
                <a:solidFill>
                  <a:srgbClr val="3C4654"/>
                </a:solidFill>
                <a:latin typeface="Calibri"/>
              </a:rPr>
              <a:t>We score each pipeline step (each APIX dimension agent, each Hiring agent) and the final output. A pipeline can look fine end-to-end while one step quietly gets worse — checking both catches that.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92608"/>
            <a:ext cx="10881360" cy="274320"/>
          </a:xfrm>
          <a:prstGeom prst="rect">
            <a:avLst/>
          </a:prstGeom>
          <a:noFill/>
        </p:spPr>
        <p:txBody>
          <a:bodyPr wrap="square" anchor="t" lIns="0" rIns="0" tIns="0" bIns="0">
            <a:spAutoFit/>
          </a:bodyPr>
          <a:lstStyle/>
          <a:p>
            <a:pPr algn="l">
              <a:lnSpc>
                <a:spcPct val="105000"/>
              </a:lnSpc>
              <a:spcBef>
                <a:spcPts val="0"/>
              </a:spcBef>
              <a:spcAft>
                <a:spcPts val="600"/>
              </a:spcAft>
            </a:pPr>
            <a:r>
              <a:rPr sz="1100" b="1" i="0">
                <a:solidFill>
                  <a:srgbClr val="2A9D8F"/>
                </a:solidFill>
                <a:latin typeface="Calibri"/>
              </a:rPr>
              <a:t>INFRASTRUCTURE</a:t>
            </a:r>
          </a:p>
        </p:txBody>
      </p:sp>
      <p:sp>
        <p:nvSpPr>
          <p:cNvPr id="4" name="TextBox 3"/>
          <p:cNvSpPr txBox="1"/>
          <p:nvPr/>
        </p:nvSpPr>
        <p:spPr>
          <a:xfrm>
            <a:off x="640080" y="512064"/>
            <a:ext cx="10972800" cy="640080"/>
          </a:xfrm>
          <a:prstGeom prst="rect">
            <a:avLst/>
          </a:prstGeom>
          <a:noFill/>
        </p:spPr>
        <p:txBody>
          <a:bodyPr wrap="square" anchor="t" lIns="0" rIns="0" tIns="0" bIns="0">
            <a:spAutoFit/>
          </a:bodyPr>
          <a:lstStyle/>
          <a:p>
            <a:pPr algn="l">
              <a:lnSpc>
                <a:spcPct val="105000"/>
              </a:lnSpc>
              <a:spcBef>
                <a:spcPts val="0"/>
              </a:spcBef>
              <a:spcAft>
                <a:spcPts val="600"/>
              </a:spcAft>
            </a:pPr>
            <a:r>
              <a:rPr sz="2300" b="1" i="0">
                <a:solidFill>
                  <a:srgbClr val="1F3A5F"/>
                </a:solidFill>
                <a:latin typeface="Calibri"/>
              </a:rPr>
              <a:t>Infrastructure &amp; hosting on Azure (proposed)</a:t>
            </a:r>
          </a:p>
        </p:txBody>
      </p:sp>
      <p:sp>
        <p:nvSpPr>
          <p:cNvPr id="5" name="Rectangle 4"/>
          <p:cNvSpPr/>
          <p:nvPr/>
        </p:nvSpPr>
        <p:spPr>
          <a:xfrm>
            <a:off x="658368" y="1078992"/>
            <a:ext cx="1371600" cy="3810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85855" y="6473952"/>
            <a:ext cx="640080" cy="274320"/>
          </a:xfrm>
          <a:prstGeom prst="rect">
            <a:avLst/>
          </a:prstGeom>
          <a:noFill/>
        </p:spPr>
        <p:txBody>
          <a:bodyPr wrap="square" anchor="t" lIns="0" rIns="0" tIns="0" bIns="0">
            <a:spAutoFit/>
          </a:bodyPr>
          <a:lstStyle/>
          <a:p>
            <a:pPr algn="r">
              <a:lnSpc>
                <a:spcPct val="105000"/>
              </a:lnSpc>
              <a:spcBef>
                <a:spcPts val="0"/>
              </a:spcBef>
              <a:spcAft>
                <a:spcPts val="600"/>
              </a:spcAft>
            </a:pPr>
            <a:r>
              <a:rPr sz="1000" b="0" i="0">
                <a:solidFill>
                  <a:srgbClr val="6B7480"/>
                </a:solidFill>
                <a:latin typeface="Calibri"/>
              </a:rPr>
              <a:t>14</a:t>
            </a:r>
          </a:p>
        </p:txBody>
      </p:sp>
      <p:sp>
        <p:nvSpPr>
          <p:cNvPr id="7" name="TextBox 6"/>
          <p:cNvSpPr txBox="1"/>
          <p:nvPr/>
        </p:nvSpPr>
        <p:spPr>
          <a:xfrm>
            <a:off x="640080" y="6473952"/>
            <a:ext cx="8229600" cy="274320"/>
          </a:xfrm>
          <a:prstGeom prst="rect">
            <a:avLst/>
          </a:prstGeom>
          <a:noFill/>
        </p:spPr>
        <p:txBody>
          <a:bodyPr wrap="square" anchor="t" lIns="0" rIns="0" tIns="0" bIns="0">
            <a:spAutoFit/>
          </a:bodyPr>
          <a:lstStyle/>
          <a:p>
            <a:pPr algn="l">
              <a:lnSpc>
                <a:spcPct val="105000"/>
              </a:lnSpc>
              <a:spcBef>
                <a:spcPts val="0"/>
              </a:spcBef>
              <a:spcAft>
                <a:spcPts val="600"/>
              </a:spcAft>
            </a:pPr>
            <a:r>
              <a:rPr sz="900" b="0" i="0">
                <a:solidFill>
                  <a:srgbClr val="6B7480"/>
                </a:solidFill>
                <a:latin typeface="Calibri"/>
              </a:rPr>
              <a:t>LLMOps approach — APIX &amp; Hiring Intelligence</a:t>
            </a:r>
          </a:p>
        </p:txBody>
      </p:sp>
      <p:sp>
        <p:nvSpPr>
          <p:cNvPr id="8" name="TextBox 7"/>
          <p:cNvSpPr txBox="1"/>
          <p:nvPr/>
        </p:nvSpPr>
        <p:spPr>
          <a:xfrm>
            <a:off x="640080" y="1234440"/>
            <a:ext cx="10972800" cy="365760"/>
          </a:xfrm>
          <a:prstGeom prst="rect">
            <a:avLst/>
          </a:prstGeom>
          <a:noFill/>
        </p:spPr>
        <p:txBody>
          <a:bodyPr wrap="square" anchor="t" lIns="0" rIns="0" tIns="0" bIns="0">
            <a:spAutoFit/>
          </a:bodyPr>
          <a:lstStyle/>
          <a:p>
            <a:pPr algn="l">
              <a:lnSpc>
                <a:spcPct val="105000"/>
              </a:lnSpc>
              <a:spcBef>
                <a:spcPts val="0"/>
              </a:spcBef>
              <a:spcAft>
                <a:spcPts val="600"/>
              </a:spcAft>
            </a:pPr>
            <a:r>
              <a:rPr sz="1300" b="1" i="0">
                <a:solidFill>
                  <a:srgbClr val="1F3A5F"/>
                </a:solidFill>
                <a:latin typeface="Calibri"/>
              </a:rPr>
              <a:t>Hosting the pipelines — the main choice:</a:t>
            </a:r>
          </a:p>
        </p:txBody>
      </p:sp>
      <p:graphicFrame>
        <p:nvGraphicFramePr>
          <p:cNvPr id="9" name="Table 8"/>
          <p:cNvGraphicFramePr>
            <a:graphicFrameLocks noGrp="1"/>
          </p:cNvGraphicFramePr>
          <p:nvPr/>
        </p:nvGraphicFramePr>
        <p:xfrm>
          <a:off x="548640" y="1600200"/>
          <a:ext cx="11091672" cy="2011680"/>
        </p:xfrm>
        <a:graphic>
          <a:graphicData uri="http://schemas.openxmlformats.org/drawingml/2006/table">
            <a:tbl>
              <a:tblPr firstRow="1" bandRow="1">
                <a:tableStyleId>{5C22544A-7EE6-4342-B048-85BDC9FD1C3A}</a:tableStyleId>
              </a:tblPr>
              <a:tblGrid>
                <a:gridCol w="3657600"/>
                <a:gridCol w="4690872"/>
                <a:gridCol w="2743200"/>
              </a:tblGrid>
              <a:tr h="502920">
                <a:tc>
                  <a:txBody>
                    <a:bodyPr/>
                    <a:lstStyle/>
                    <a:p>
                      <a:r>
                        <a:rPr sz="1100" b="1">
                          <a:solidFill>
                            <a:srgbClr val="FFFFFF"/>
                          </a:solidFill>
                          <a:latin typeface="Calibri"/>
                        </a:rPr>
                        <a:t>Option</a:t>
                      </a:r>
                    </a:p>
                  </a:txBody>
                  <a:tcPr anchor="ctr" marL="73152" marT="18288" marB="18288">
                    <a:solidFill>
                      <a:srgbClr val="1F3A5F"/>
                    </a:solidFill>
                  </a:tcPr>
                </a:tc>
                <a:tc>
                  <a:txBody>
                    <a:bodyPr/>
                    <a:lstStyle/>
                    <a:p>
                      <a:r>
                        <a:rPr sz="1100" b="1">
                          <a:solidFill>
                            <a:srgbClr val="FFFFFF"/>
                          </a:solidFill>
                          <a:latin typeface="Calibri"/>
                        </a:rPr>
                        <a:t>Fit</a:t>
                      </a:r>
                    </a:p>
                  </a:txBody>
                  <a:tcPr anchor="ctr" marL="73152" marT="18288" marB="18288">
                    <a:solidFill>
                      <a:srgbClr val="1F3A5F"/>
                    </a:solidFill>
                  </a:tcPr>
                </a:tc>
                <a:tc>
                  <a:txBody>
                    <a:bodyPr/>
                    <a:lstStyle/>
                    <a:p>
                      <a:r>
                        <a:rPr sz="1100" b="1">
                          <a:solidFill>
                            <a:srgbClr val="FFFFFF"/>
                          </a:solidFill>
                          <a:latin typeface="Calibri"/>
                        </a:rPr>
                        <a:t>Note</a:t>
                      </a:r>
                    </a:p>
                  </a:txBody>
                  <a:tcPr anchor="ctr" marL="73152" marT="18288" marB="18288">
                    <a:solidFill>
                      <a:srgbClr val="1F3A5F"/>
                    </a:solidFill>
                  </a:tcPr>
                </a:tc>
              </a:tr>
              <a:tr h="502920">
                <a:tc>
                  <a:txBody>
                    <a:bodyPr/>
                    <a:lstStyle/>
                    <a:p>
                      <a:r>
                        <a:rPr sz="1100" b="1">
                          <a:solidFill>
                            <a:srgbClr val="1F3A5F"/>
                          </a:solidFill>
                          <a:latin typeface="Calibri"/>
                        </a:rPr>
                        <a:t>Azure Container Apps (recommended)</a:t>
                      </a:r>
                    </a:p>
                  </a:txBody>
                  <a:tcPr anchor="ctr" marL="73152" marT="18288" marB="18288">
                    <a:solidFill>
                      <a:srgbClr val="FFFFFF"/>
                    </a:solidFill>
                  </a:tcPr>
                </a:tc>
                <a:tc>
                  <a:txBody>
                    <a:bodyPr/>
                    <a:lstStyle/>
                    <a:p>
                      <a:r>
                        <a:rPr sz="1100">
                          <a:solidFill>
                            <a:srgbClr val="3C4654"/>
                          </a:solidFill>
                          <a:latin typeface="Calibri"/>
                        </a:rPr>
                        <a:t>each pipeline step as a service; scales to zero</a:t>
                      </a:r>
                    </a:p>
                  </a:txBody>
                  <a:tcPr anchor="ctr" marL="73152" marT="18288" marB="18288">
                    <a:solidFill>
                      <a:srgbClr val="FFFFFF"/>
                    </a:solidFill>
                  </a:tcPr>
                </a:tc>
                <a:tc>
                  <a:txBody>
                    <a:bodyPr/>
                    <a:lstStyle/>
                    <a:p>
                      <a:r>
                        <a:rPr sz="1100">
                          <a:solidFill>
                            <a:srgbClr val="3C4654"/>
                          </a:solidFill>
                          <a:latin typeface="Calibri"/>
                        </a:rPr>
                        <a:t>best general fit</a:t>
                      </a:r>
                    </a:p>
                  </a:txBody>
                  <a:tcPr anchor="ctr" marL="73152" marT="18288" marB="18288">
                    <a:solidFill>
                      <a:srgbClr val="FFFFFF"/>
                    </a:solidFill>
                  </a:tcPr>
                </a:tc>
              </a:tr>
              <a:tr h="502920">
                <a:tc>
                  <a:txBody>
                    <a:bodyPr/>
                    <a:lstStyle/>
                    <a:p>
                      <a:r>
                        <a:rPr sz="1100" b="1">
                          <a:solidFill>
                            <a:srgbClr val="1F3A5F"/>
                          </a:solidFill>
                          <a:latin typeface="Calibri"/>
                        </a:rPr>
                        <a:t>Azure Functions</a:t>
                      </a:r>
                    </a:p>
                  </a:txBody>
                  <a:tcPr anchor="ctr" marL="73152" marT="18288" marB="18288">
                    <a:solidFill>
                      <a:srgbClr val="EEF1F5"/>
                    </a:solidFill>
                  </a:tcPr>
                </a:tc>
                <a:tc>
                  <a:txBody>
                    <a:bodyPr/>
                    <a:lstStyle/>
                    <a:p>
                      <a:r>
                        <a:rPr sz="1100">
                          <a:solidFill>
                            <a:srgbClr val="3C4654"/>
                          </a:solidFill>
                          <a:latin typeface="Calibri"/>
                        </a:rPr>
                        <a:t>event-driven triggers (new transcript, new candidate)</a:t>
                      </a:r>
                    </a:p>
                  </a:txBody>
                  <a:tcPr anchor="ctr" marL="73152" marT="18288" marB="18288">
                    <a:solidFill>
                      <a:srgbClr val="EEF1F5"/>
                    </a:solidFill>
                  </a:tcPr>
                </a:tc>
                <a:tc>
                  <a:txBody>
                    <a:bodyPr/>
                    <a:lstStyle/>
                    <a:p>
                      <a:r>
                        <a:rPr sz="1100">
                          <a:solidFill>
                            <a:srgbClr val="3C4654"/>
                          </a:solidFill>
                          <a:latin typeface="Calibri"/>
                        </a:rPr>
                        <a:t>good for APIX batch jobs</a:t>
                      </a:r>
                    </a:p>
                  </a:txBody>
                  <a:tcPr anchor="ctr" marL="73152" marT="18288" marB="18288">
                    <a:solidFill>
                      <a:srgbClr val="EEF1F5"/>
                    </a:solidFill>
                  </a:tcPr>
                </a:tc>
              </a:tr>
              <a:tr h="502920">
                <a:tc>
                  <a:txBody>
                    <a:bodyPr/>
                    <a:lstStyle/>
                    <a:p>
                      <a:r>
                        <a:rPr sz="1100" b="1">
                          <a:solidFill>
                            <a:srgbClr val="1F3A5F"/>
                          </a:solidFill>
                          <a:latin typeface="Calibri"/>
                        </a:rPr>
                        <a:t>Foundry Agent Service</a:t>
                      </a:r>
                    </a:p>
                  </a:txBody>
                  <a:tcPr anchor="ctr" marL="73152" marT="18288" marB="18288">
                    <a:solidFill>
                      <a:srgbClr val="FFFFFF"/>
                    </a:solidFill>
                  </a:tcPr>
                </a:tc>
                <a:tc>
                  <a:txBody>
                    <a:bodyPr/>
                    <a:lstStyle/>
                    <a:p>
                      <a:r>
                        <a:rPr sz="1100">
                          <a:solidFill>
                            <a:srgbClr val="3C4654"/>
                          </a:solidFill>
                          <a:latin typeface="Calibri"/>
                        </a:rPr>
                        <a:t>managed hosted agents, less to run</a:t>
                      </a:r>
                    </a:p>
                  </a:txBody>
                  <a:tcPr anchor="ctr" marL="73152" marT="18288" marB="18288">
                    <a:solidFill>
                      <a:srgbClr val="FFFFFF"/>
                    </a:solidFill>
                  </a:tcPr>
                </a:tc>
                <a:tc>
                  <a:txBody>
                    <a:bodyPr/>
                    <a:lstStyle/>
                    <a:p>
                      <a:r>
                        <a:rPr sz="1100">
                          <a:solidFill>
                            <a:srgbClr val="3C4654"/>
                          </a:solidFill>
                          <a:latin typeface="Calibri"/>
                        </a:rPr>
                        <a:t>consider as it matures</a:t>
                      </a:r>
                    </a:p>
                  </a:txBody>
                  <a:tcPr anchor="ctr" marL="73152" marT="18288" marB="18288">
                    <a:solidFill>
                      <a:srgbClr val="FFFFFF"/>
                    </a:solidFill>
                  </a:tcPr>
                </a:tc>
              </a:tr>
            </a:tbl>
          </a:graphicData>
        </a:graphic>
      </p:graphicFrame>
      <p:sp>
        <p:nvSpPr>
          <p:cNvPr id="10" name="TextBox 9"/>
          <p:cNvSpPr txBox="1"/>
          <p:nvPr/>
        </p:nvSpPr>
        <p:spPr>
          <a:xfrm>
            <a:off x="548640" y="3657600"/>
            <a:ext cx="11091672" cy="320040"/>
          </a:xfrm>
          <a:prstGeom prst="rect">
            <a:avLst/>
          </a:prstGeom>
          <a:noFill/>
        </p:spPr>
        <p:txBody>
          <a:bodyPr wrap="square" anchor="t" lIns="0" rIns="0" tIns="0" bIns="0">
            <a:spAutoFit/>
          </a:bodyPr>
          <a:lstStyle/>
          <a:p>
            <a:pPr algn="l">
              <a:lnSpc>
                <a:spcPct val="105000"/>
              </a:lnSpc>
              <a:spcBef>
                <a:spcPts val="0"/>
              </a:spcBef>
              <a:spcAft>
                <a:spcPts val="600"/>
              </a:spcAft>
            </a:pPr>
            <a:r>
              <a:rPr sz="1300" b="1" i="0">
                <a:solidFill>
                  <a:srgbClr val="1F3A5F"/>
                </a:solidFill>
                <a:latin typeface="Calibri"/>
              </a:rPr>
              <a:t>Around it (shared platform):</a:t>
            </a:r>
          </a:p>
        </p:txBody>
      </p:sp>
      <p:sp>
        <p:nvSpPr>
          <p:cNvPr id="11" name="Rounded Rectangle 10"/>
          <p:cNvSpPr/>
          <p:nvPr/>
        </p:nvSpPr>
        <p:spPr>
          <a:xfrm>
            <a:off x="548640" y="4023360"/>
            <a:ext cx="2651760" cy="73152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150" b="1">
                <a:solidFill>
                  <a:srgbClr val="1F3A5F"/>
                </a:solidFill>
                <a:latin typeface="Calibri"/>
              </a:rPr>
              <a:t>Azure OpenAI</a:t>
            </a:r>
          </a:p>
          <a:p>
            <a:pPr algn="ctr">
              <a:lnSpc>
                <a:spcPct val="100000"/>
              </a:lnSpc>
              <a:spcAft>
                <a:spcPts val="100"/>
              </a:spcAft>
            </a:pPr>
            <a:r>
              <a:rPr sz="950" b="0">
                <a:solidFill>
                  <a:srgbClr val="3C4654"/>
                </a:solidFill>
                <a:latin typeface="Calibri"/>
              </a:rPr>
              <a:t>models</a:t>
            </a:r>
          </a:p>
        </p:txBody>
      </p:sp>
      <p:sp>
        <p:nvSpPr>
          <p:cNvPr id="12" name="Rounded Rectangle 11"/>
          <p:cNvSpPr/>
          <p:nvPr/>
        </p:nvSpPr>
        <p:spPr>
          <a:xfrm>
            <a:off x="3328416" y="4023360"/>
            <a:ext cx="2651760" cy="73152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150" b="1">
                <a:solidFill>
                  <a:srgbClr val="1F3A5F"/>
                </a:solidFill>
                <a:latin typeface="Calibri"/>
              </a:rPr>
              <a:t>AI Search</a:t>
            </a:r>
          </a:p>
          <a:p>
            <a:pPr algn="ctr">
              <a:lnSpc>
                <a:spcPct val="100000"/>
              </a:lnSpc>
              <a:spcAft>
                <a:spcPts val="100"/>
              </a:spcAft>
            </a:pPr>
            <a:r>
              <a:rPr sz="950" b="0">
                <a:solidFill>
                  <a:srgbClr val="3C4654"/>
                </a:solidFill>
                <a:latin typeface="Calibri"/>
              </a:rPr>
              <a:t>RAG</a:t>
            </a:r>
          </a:p>
        </p:txBody>
      </p:sp>
      <p:sp>
        <p:nvSpPr>
          <p:cNvPr id="13" name="Rounded Rectangle 12"/>
          <p:cNvSpPr/>
          <p:nvPr/>
        </p:nvSpPr>
        <p:spPr>
          <a:xfrm>
            <a:off x="6108192" y="4023360"/>
            <a:ext cx="2651760" cy="73152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150" b="1">
                <a:solidFill>
                  <a:srgbClr val="1F3A5F"/>
                </a:solidFill>
                <a:latin typeface="Calibri"/>
              </a:rPr>
              <a:t>Cosmos DB / SQL</a:t>
            </a:r>
          </a:p>
          <a:p>
            <a:pPr algn="ctr">
              <a:lnSpc>
                <a:spcPct val="100000"/>
              </a:lnSpc>
              <a:spcAft>
                <a:spcPts val="100"/>
              </a:spcAft>
            </a:pPr>
            <a:r>
              <a:rPr sz="950" b="0">
                <a:solidFill>
                  <a:srgbClr val="3C4654"/>
                </a:solidFill>
                <a:latin typeface="Calibri"/>
              </a:rPr>
              <a:t>state &amp; scores</a:t>
            </a:r>
          </a:p>
        </p:txBody>
      </p:sp>
      <p:sp>
        <p:nvSpPr>
          <p:cNvPr id="14" name="Rounded Rectangle 13"/>
          <p:cNvSpPr/>
          <p:nvPr/>
        </p:nvSpPr>
        <p:spPr>
          <a:xfrm>
            <a:off x="8887968" y="4023360"/>
            <a:ext cx="2651760" cy="73152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150" b="1">
                <a:solidFill>
                  <a:srgbClr val="1F3A5F"/>
                </a:solidFill>
                <a:latin typeface="Calibri"/>
              </a:rPr>
              <a:t>API Management</a:t>
            </a:r>
          </a:p>
          <a:p>
            <a:pPr algn="ctr">
              <a:lnSpc>
                <a:spcPct val="100000"/>
              </a:lnSpc>
              <a:spcAft>
                <a:spcPts val="100"/>
              </a:spcAft>
            </a:pPr>
            <a:r>
              <a:rPr sz="950" b="0">
                <a:solidFill>
                  <a:srgbClr val="3C4654"/>
                </a:solidFill>
                <a:latin typeface="Calibri"/>
              </a:rPr>
              <a:t>gateway</a:t>
            </a:r>
          </a:p>
        </p:txBody>
      </p:sp>
      <p:sp>
        <p:nvSpPr>
          <p:cNvPr id="15" name="Rounded Rectangle 14"/>
          <p:cNvSpPr/>
          <p:nvPr/>
        </p:nvSpPr>
        <p:spPr>
          <a:xfrm>
            <a:off x="548640" y="4882896"/>
            <a:ext cx="2651760" cy="73152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150" b="1">
                <a:solidFill>
                  <a:srgbClr val="1F3A5F"/>
                </a:solidFill>
                <a:latin typeface="Calibri"/>
              </a:rPr>
              <a:t>App Insights + Langfuse</a:t>
            </a:r>
          </a:p>
          <a:p>
            <a:pPr algn="ctr">
              <a:lnSpc>
                <a:spcPct val="100000"/>
              </a:lnSpc>
              <a:spcAft>
                <a:spcPts val="100"/>
              </a:spcAft>
            </a:pPr>
            <a:r>
              <a:rPr sz="950" b="0">
                <a:solidFill>
                  <a:srgbClr val="3C4654"/>
                </a:solidFill>
                <a:latin typeface="Calibri"/>
              </a:rPr>
              <a:t>observability</a:t>
            </a:r>
          </a:p>
        </p:txBody>
      </p:sp>
      <p:sp>
        <p:nvSpPr>
          <p:cNvPr id="16" name="Rounded Rectangle 15"/>
          <p:cNvSpPr/>
          <p:nvPr/>
        </p:nvSpPr>
        <p:spPr>
          <a:xfrm>
            <a:off x="3328416" y="4882896"/>
            <a:ext cx="2651760" cy="73152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150" b="1">
                <a:solidFill>
                  <a:srgbClr val="1F3A5F"/>
                </a:solidFill>
                <a:latin typeface="Calibri"/>
              </a:rPr>
              <a:t>Entra ID / Key Vault</a:t>
            </a:r>
          </a:p>
          <a:p>
            <a:pPr algn="ctr">
              <a:lnSpc>
                <a:spcPct val="100000"/>
              </a:lnSpc>
              <a:spcAft>
                <a:spcPts val="100"/>
              </a:spcAft>
            </a:pPr>
            <a:r>
              <a:rPr sz="950" b="0">
                <a:solidFill>
                  <a:srgbClr val="3C4654"/>
                </a:solidFill>
                <a:latin typeface="Calibri"/>
              </a:rPr>
              <a:t>identity &amp; secrets</a:t>
            </a:r>
          </a:p>
        </p:txBody>
      </p:sp>
      <p:sp>
        <p:nvSpPr>
          <p:cNvPr id="17" name="Rounded Rectangle 16"/>
          <p:cNvSpPr/>
          <p:nvPr/>
        </p:nvSpPr>
        <p:spPr>
          <a:xfrm>
            <a:off x="6108192" y="4882896"/>
            <a:ext cx="2651760" cy="73152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150" b="1">
                <a:solidFill>
                  <a:srgbClr val="1F3A5F"/>
                </a:solidFill>
                <a:latin typeface="Calibri"/>
              </a:rPr>
              <a:t>Content Safety</a:t>
            </a:r>
          </a:p>
          <a:p>
            <a:pPr algn="ctr">
              <a:lnSpc>
                <a:spcPct val="100000"/>
              </a:lnSpc>
              <a:spcAft>
                <a:spcPts val="100"/>
              </a:spcAft>
            </a:pPr>
            <a:r>
              <a:rPr sz="950" b="0">
                <a:solidFill>
                  <a:srgbClr val="3C4654"/>
                </a:solidFill>
                <a:latin typeface="Calibri"/>
              </a:rPr>
              <a:t>guardrails</a:t>
            </a:r>
          </a:p>
        </p:txBody>
      </p:sp>
      <p:sp>
        <p:nvSpPr>
          <p:cNvPr id="18" name="Rounded Rectangle 17"/>
          <p:cNvSpPr/>
          <p:nvPr/>
        </p:nvSpPr>
        <p:spPr>
          <a:xfrm>
            <a:off x="8887968" y="4882896"/>
            <a:ext cx="2651760" cy="73152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150" b="1">
                <a:solidFill>
                  <a:srgbClr val="1F3A5F"/>
                </a:solidFill>
                <a:latin typeface="Calibri"/>
              </a:rPr>
              <a:t>GitHub Actions</a:t>
            </a:r>
          </a:p>
          <a:p>
            <a:pPr algn="ctr">
              <a:lnSpc>
                <a:spcPct val="100000"/>
              </a:lnSpc>
              <a:spcAft>
                <a:spcPts val="100"/>
              </a:spcAft>
            </a:pPr>
            <a:r>
              <a:rPr sz="950" b="0">
                <a:solidFill>
                  <a:srgbClr val="3C4654"/>
                </a:solidFill>
                <a:latin typeface="Calibri"/>
              </a:rPr>
              <a:t>CI/CD</a:t>
            </a:r>
          </a:p>
        </p:txBody>
      </p:sp>
      <p:sp>
        <p:nvSpPr>
          <p:cNvPr id="19" name="TextBox 18"/>
          <p:cNvSpPr txBox="1"/>
          <p:nvPr/>
        </p:nvSpPr>
        <p:spPr>
          <a:xfrm>
            <a:off x="548640" y="5806440"/>
            <a:ext cx="10972800" cy="320040"/>
          </a:xfrm>
          <a:prstGeom prst="rect">
            <a:avLst/>
          </a:prstGeom>
          <a:noFill/>
        </p:spPr>
        <p:txBody>
          <a:bodyPr wrap="square" anchor="t" lIns="0" rIns="0" tIns="0" bIns="0">
            <a:spAutoFit/>
          </a:bodyPr>
          <a:lstStyle/>
          <a:p>
            <a:pPr algn="l">
              <a:lnSpc>
                <a:spcPct val="105000"/>
              </a:lnSpc>
              <a:spcBef>
                <a:spcPts val="0"/>
              </a:spcBef>
              <a:spcAft>
                <a:spcPts val="600"/>
              </a:spcAft>
            </a:pPr>
            <a:r>
              <a:rPr sz="1150" b="0" i="1">
                <a:solidFill>
                  <a:srgbClr val="6B7480"/>
                </a:solidFill>
                <a:latin typeface="Calibri"/>
              </a:rPr>
              <a:t>Target setup shown — sequencing lives in the activities section, still no dates.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92608"/>
            <a:ext cx="10881360" cy="274320"/>
          </a:xfrm>
          <a:prstGeom prst="rect">
            <a:avLst/>
          </a:prstGeom>
          <a:noFill/>
        </p:spPr>
        <p:txBody>
          <a:bodyPr wrap="square" anchor="t" lIns="0" rIns="0" tIns="0" bIns="0">
            <a:spAutoFit/>
          </a:bodyPr>
          <a:lstStyle/>
          <a:p>
            <a:pPr algn="l">
              <a:lnSpc>
                <a:spcPct val="105000"/>
              </a:lnSpc>
              <a:spcBef>
                <a:spcPts val="0"/>
              </a:spcBef>
              <a:spcAft>
                <a:spcPts val="600"/>
              </a:spcAft>
            </a:pPr>
            <a:r>
              <a:rPr sz="1100" b="1" i="0">
                <a:solidFill>
                  <a:srgbClr val="2A9D8F"/>
                </a:solidFill>
                <a:latin typeface="Calibri"/>
              </a:rPr>
              <a:t>WRAP-UP</a:t>
            </a:r>
          </a:p>
        </p:txBody>
      </p:sp>
      <p:sp>
        <p:nvSpPr>
          <p:cNvPr id="4" name="TextBox 3"/>
          <p:cNvSpPr txBox="1"/>
          <p:nvPr/>
        </p:nvSpPr>
        <p:spPr>
          <a:xfrm>
            <a:off x="640080" y="512064"/>
            <a:ext cx="10972800" cy="640080"/>
          </a:xfrm>
          <a:prstGeom prst="rect">
            <a:avLst/>
          </a:prstGeom>
          <a:noFill/>
        </p:spPr>
        <p:txBody>
          <a:bodyPr wrap="square" anchor="t" lIns="0" rIns="0" tIns="0" bIns="0">
            <a:spAutoFit/>
          </a:bodyPr>
          <a:lstStyle/>
          <a:p>
            <a:pPr algn="l">
              <a:lnSpc>
                <a:spcPct val="105000"/>
              </a:lnSpc>
              <a:spcBef>
                <a:spcPts val="0"/>
              </a:spcBef>
              <a:spcAft>
                <a:spcPts val="600"/>
              </a:spcAft>
            </a:pPr>
            <a:r>
              <a:rPr sz="2300" b="1" i="0">
                <a:solidFill>
                  <a:srgbClr val="1F3A5F"/>
                </a:solidFill>
                <a:latin typeface="Calibri"/>
              </a:rPr>
              <a:t>Summary and next step</a:t>
            </a:r>
          </a:p>
        </p:txBody>
      </p:sp>
      <p:sp>
        <p:nvSpPr>
          <p:cNvPr id="5" name="Rectangle 4"/>
          <p:cNvSpPr/>
          <p:nvPr/>
        </p:nvSpPr>
        <p:spPr>
          <a:xfrm>
            <a:off x="658368" y="1078992"/>
            <a:ext cx="1371600" cy="3810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85855" y="6473952"/>
            <a:ext cx="640080" cy="274320"/>
          </a:xfrm>
          <a:prstGeom prst="rect">
            <a:avLst/>
          </a:prstGeom>
          <a:noFill/>
        </p:spPr>
        <p:txBody>
          <a:bodyPr wrap="square" anchor="t" lIns="0" rIns="0" tIns="0" bIns="0">
            <a:spAutoFit/>
          </a:bodyPr>
          <a:lstStyle/>
          <a:p>
            <a:pPr algn="r">
              <a:lnSpc>
                <a:spcPct val="105000"/>
              </a:lnSpc>
              <a:spcBef>
                <a:spcPts val="0"/>
              </a:spcBef>
              <a:spcAft>
                <a:spcPts val="600"/>
              </a:spcAft>
            </a:pPr>
            <a:r>
              <a:rPr sz="1000" b="0" i="0">
                <a:solidFill>
                  <a:srgbClr val="6B7480"/>
                </a:solidFill>
                <a:latin typeface="Calibri"/>
              </a:rPr>
              <a:t>15</a:t>
            </a:r>
          </a:p>
        </p:txBody>
      </p:sp>
      <p:sp>
        <p:nvSpPr>
          <p:cNvPr id="7" name="TextBox 6"/>
          <p:cNvSpPr txBox="1"/>
          <p:nvPr/>
        </p:nvSpPr>
        <p:spPr>
          <a:xfrm>
            <a:off x="640080" y="6473952"/>
            <a:ext cx="8229600" cy="274320"/>
          </a:xfrm>
          <a:prstGeom prst="rect">
            <a:avLst/>
          </a:prstGeom>
          <a:noFill/>
        </p:spPr>
        <p:txBody>
          <a:bodyPr wrap="square" anchor="t" lIns="0" rIns="0" tIns="0" bIns="0">
            <a:spAutoFit/>
          </a:bodyPr>
          <a:lstStyle/>
          <a:p>
            <a:pPr algn="l">
              <a:lnSpc>
                <a:spcPct val="105000"/>
              </a:lnSpc>
              <a:spcBef>
                <a:spcPts val="0"/>
              </a:spcBef>
              <a:spcAft>
                <a:spcPts val="600"/>
              </a:spcAft>
            </a:pPr>
            <a:r>
              <a:rPr sz="900" b="0" i="0">
                <a:solidFill>
                  <a:srgbClr val="6B7480"/>
                </a:solidFill>
                <a:latin typeface="Calibri"/>
              </a:rPr>
              <a:t>LLMOps approach — APIX &amp; Hiring Intelligence</a:t>
            </a:r>
          </a:p>
        </p:txBody>
      </p:sp>
      <p:sp>
        <p:nvSpPr>
          <p:cNvPr id="8" name="TextBox 7"/>
          <p:cNvSpPr txBox="1"/>
          <p:nvPr/>
        </p:nvSpPr>
        <p:spPr>
          <a:xfrm>
            <a:off x="685800" y="1463040"/>
            <a:ext cx="10789920" cy="4754880"/>
          </a:xfrm>
          <a:prstGeom prst="rect">
            <a:avLst/>
          </a:prstGeom>
          <a:noFill/>
        </p:spPr>
        <p:txBody>
          <a:bodyPr wrap="square" lIns="0" tIns="0">
            <a:spAutoFit/>
          </a:bodyPr>
          <a:lstStyle/>
          <a:p>
            <a:pPr>
              <a:lnSpc>
                <a:spcPct val="105000"/>
              </a:lnSpc>
              <a:spcBef>
                <a:spcPts val="0"/>
              </a:spcBef>
              <a:spcAft>
                <a:spcPts val="1300"/>
              </a:spcAft>
            </a:pPr>
            <a:r>
              <a:rPr sz="1500" b="1">
                <a:solidFill>
                  <a:srgbClr val="1F3A5F"/>
                </a:solidFill>
                <a:latin typeface="Calibri"/>
              </a:rPr>
              <a:t>•  We wrap the two live pipelines (APIX, Hiring) with an operational layer, and make it reusable for any project.</a:t>
            </a:r>
          </a:p>
          <a:p>
            <a:pPr>
              <a:lnSpc>
                <a:spcPct val="105000"/>
              </a:lnSpc>
              <a:spcBef>
                <a:spcPts val="0"/>
              </a:spcBef>
              <a:spcAft>
                <a:spcPts val="1300"/>
              </a:spcAft>
            </a:pPr>
            <a:r>
              <a:rPr sz="1500" b="0">
                <a:solidFill>
                  <a:srgbClr val="3C4654"/>
                </a:solidFill>
                <a:latin typeface="Calibri"/>
              </a:rPr>
              <a:t>•  Both are sequential pipelines, not agent-to-agent — the same Ops setup serves both.</a:t>
            </a:r>
          </a:p>
          <a:p>
            <a:pPr>
              <a:lnSpc>
                <a:spcPct val="105000"/>
              </a:lnSpc>
              <a:spcBef>
                <a:spcPts val="0"/>
              </a:spcBef>
              <a:spcAft>
                <a:spcPts val="1300"/>
              </a:spcAft>
            </a:pPr>
            <a:r>
              <a:rPr sz="1500" b="0">
                <a:solidFill>
                  <a:srgbClr val="3C4654"/>
                </a:solidFill>
                <a:latin typeface="Calibri"/>
              </a:rPr>
              <a:t>•  Observability: every request is a trace; we record model calls, tool calls, and agent steps.</a:t>
            </a:r>
          </a:p>
          <a:p>
            <a:pPr>
              <a:lnSpc>
                <a:spcPct val="105000"/>
              </a:lnSpc>
              <a:spcBef>
                <a:spcPts val="0"/>
              </a:spcBef>
              <a:spcAft>
                <a:spcPts val="1300"/>
              </a:spcAft>
            </a:pPr>
            <a:r>
              <a:rPr sz="1500" b="0">
                <a:solidFill>
                  <a:srgbClr val="3C4654"/>
                </a:solidFill>
                <a:latin typeface="Calibri"/>
              </a:rPr>
              <a:t>•  Evaluation (the priority): metric groups, tool-selection testing, a mix of tools, offline + online + human.</a:t>
            </a:r>
          </a:p>
          <a:p>
            <a:pPr>
              <a:lnSpc>
                <a:spcPct val="105000"/>
              </a:lnSpc>
              <a:spcBef>
                <a:spcPts val="0"/>
              </a:spcBef>
              <a:spcAft>
                <a:spcPts val="1300"/>
              </a:spcAft>
            </a:pPr>
            <a:r>
              <a:rPr sz="1500" b="0">
                <a:solidFill>
                  <a:srgbClr val="3C4654"/>
                </a:solidFill>
                <a:latin typeface="Calibri"/>
              </a:rPr>
              <a:t>•  Infrastructure: Azure Container Apps + a shared platform of Azure services.</a:t>
            </a:r>
          </a:p>
          <a:p>
            <a:pPr>
              <a:lnSpc>
                <a:spcPct val="105000"/>
              </a:lnSpc>
              <a:spcBef>
                <a:spcPts val="0"/>
              </a:spcBef>
              <a:spcAft>
                <a:spcPts val="1300"/>
              </a:spcAft>
            </a:pPr>
            <a:r>
              <a:rPr sz="1500" b="1">
                <a:solidFill>
                  <a:srgbClr val="1F3A5F"/>
                </a:solidFill>
                <a:latin typeface="Calibri"/>
              </a:rPr>
              <a:t>•  Next: confirm the current state of the pipelines with the team, agree the approach, then plan the work.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92608"/>
            <a:ext cx="10881360" cy="274320"/>
          </a:xfrm>
          <a:prstGeom prst="rect">
            <a:avLst/>
          </a:prstGeom>
          <a:noFill/>
        </p:spPr>
        <p:txBody>
          <a:bodyPr wrap="square" anchor="t" lIns="0" rIns="0" tIns="0" bIns="0">
            <a:spAutoFit/>
          </a:bodyPr>
          <a:lstStyle/>
          <a:p>
            <a:pPr algn="l">
              <a:lnSpc>
                <a:spcPct val="105000"/>
              </a:lnSpc>
              <a:spcBef>
                <a:spcPts val="0"/>
              </a:spcBef>
              <a:spcAft>
                <a:spcPts val="600"/>
              </a:spcAft>
            </a:pPr>
            <a:r>
              <a:rPr sz="1100" b="1" i="0">
                <a:solidFill>
                  <a:srgbClr val="2A9D8F"/>
                </a:solidFill>
                <a:latin typeface="Calibri"/>
              </a:rPr>
              <a:t>APPENDIX</a:t>
            </a:r>
          </a:p>
        </p:txBody>
      </p:sp>
      <p:sp>
        <p:nvSpPr>
          <p:cNvPr id="4" name="TextBox 3"/>
          <p:cNvSpPr txBox="1"/>
          <p:nvPr/>
        </p:nvSpPr>
        <p:spPr>
          <a:xfrm>
            <a:off x="640080" y="512064"/>
            <a:ext cx="10972800" cy="640080"/>
          </a:xfrm>
          <a:prstGeom prst="rect">
            <a:avLst/>
          </a:prstGeom>
          <a:noFill/>
        </p:spPr>
        <p:txBody>
          <a:bodyPr wrap="square" anchor="t" lIns="0" rIns="0" tIns="0" bIns="0">
            <a:spAutoFit/>
          </a:bodyPr>
          <a:lstStyle/>
          <a:p>
            <a:pPr algn="l">
              <a:lnSpc>
                <a:spcPct val="105000"/>
              </a:lnSpc>
              <a:spcBef>
                <a:spcPts val="0"/>
              </a:spcBef>
              <a:spcAft>
                <a:spcPts val="600"/>
              </a:spcAft>
            </a:pPr>
            <a:r>
              <a:rPr sz="2300" b="1" i="0">
                <a:solidFill>
                  <a:srgbClr val="1F3A5F"/>
                </a:solidFill>
                <a:latin typeface="Calibri"/>
              </a:rPr>
              <a:t>Terms in plain English</a:t>
            </a:r>
          </a:p>
        </p:txBody>
      </p:sp>
      <p:sp>
        <p:nvSpPr>
          <p:cNvPr id="5" name="Rectangle 4"/>
          <p:cNvSpPr/>
          <p:nvPr/>
        </p:nvSpPr>
        <p:spPr>
          <a:xfrm>
            <a:off x="658368" y="1078992"/>
            <a:ext cx="1371600" cy="3810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85855" y="6473952"/>
            <a:ext cx="640080" cy="274320"/>
          </a:xfrm>
          <a:prstGeom prst="rect">
            <a:avLst/>
          </a:prstGeom>
          <a:noFill/>
        </p:spPr>
        <p:txBody>
          <a:bodyPr wrap="square" anchor="t" lIns="0" rIns="0" tIns="0" bIns="0">
            <a:spAutoFit/>
          </a:bodyPr>
          <a:lstStyle/>
          <a:p>
            <a:pPr algn="r">
              <a:lnSpc>
                <a:spcPct val="105000"/>
              </a:lnSpc>
              <a:spcBef>
                <a:spcPts val="0"/>
              </a:spcBef>
              <a:spcAft>
                <a:spcPts val="600"/>
              </a:spcAft>
            </a:pPr>
            <a:r>
              <a:rPr sz="1000" b="0" i="0">
                <a:solidFill>
                  <a:srgbClr val="6B7480"/>
                </a:solidFill>
                <a:latin typeface="Calibri"/>
              </a:rPr>
              <a:t>16</a:t>
            </a:r>
          </a:p>
        </p:txBody>
      </p:sp>
      <p:sp>
        <p:nvSpPr>
          <p:cNvPr id="7" name="TextBox 6"/>
          <p:cNvSpPr txBox="1"/>
          <p:nvPr/>
        </p:nvSpPr>
        <p:spPr>
          <a:xfrm>
            <a:off x="640080" y="6473952"/>
            <a:ext cx="8229600" cy="274320"/>
          </a:xfrm>
          <a:prstGeom prst="rect">
            <a:avLst/>
          </a:prstGeom>
          <a:noFill/>
        </p:spPr>
        <p:txBody>
          <a:bodyPr wrap="square" anchor="t" lIns="0" rIns="0" tIns="0" bIns="0">
            <a:spAutoFit/>
          </a:bodyPr>
          <a:lstStyle/>
          <a:p>
            <a:pPr algn="l">
              <a:lnSpc>
                <a:spcPct val="105000"/>
              </a:lnSpc>
              <a:spcBef>
                <a:spcPts val="0"/>
              </a:spcBef>
              <a:spcAft>
                <a:spcPts val="600"/>
              </a:spcAft>
            </a:pPr>
            <a:r>
              <a:rPr sz="900" b="0" i="0">
                <a:solidFill>
                  <a:srgbClr val="6B7480"/>
                </a:solidFill>
                <a:latin typeface="Calibri"/>
              </a:rPr>
              <a:t>LLMOps approach — APIX &amp; Hiring Intelligence</a:t>
            </a:r>
          </a:p>
        </p:txBody>
      </p:sp>
      <p:sp>
        <p:nvSpPr>
          <p:cNvPr id="8" name="TextBox 7"/>
          <p:cNvSpPr txBox="1"/>
          <p:nvPr/>
        </p:nvSpPr>
        <p:spPr>
          <a:xfrm>
            <a:off x="548640" y="1325880"/>
            <a:ext cx="5440680" cy="576072"/>
          </a:xfrm>
          <a:prstGeom prst="rect">
            <a:avLst/>
          </a:prstGeom>
          <a:noFill/>
        </p:spPr>
        <p:txBody>
          <a:bodyPr wrap="square" anchor="t" lIns="0" rIns="0" tIns="0" bIns="0">
            <a:spAutoFit/>
          </a:bodyPr>
          <a:lstStyle/>
          <a:p>
            <a:pPr algn="l">
              <a:lnSpc>
                <a:spcPct val="100000"/>
              </a:lnSpc>
              <a:spcBef>
                <a:spcPts val="0"/>
              </a:spcBef>
              <a:spcAft>
                <a:spcPts val="600"/>
              </a:spcAft>
            </a:pPr>
            <a:r>
              <a:rPr sz="1200" b="1" i="0">
                <a:solidFill>
                  <a:srgbClr val="2A9D8F"/>
                </a:solidFill>
                <a:latin typeface="Calibri"/>
              </a:rPr>
              <a:t>LLMOps  </a:t>
            </a:r>
            <a:r>
              <a:rPr sz="1100" b="0" i="0">
                <a:solidFill>
                  <a:srgbClr val="3C4654"/>
                </a:solidFill>
                <a:latin typeface="Calibri"/>
              </a:rPr>
              <a:t>Large Language Model Operations — running LLM apps reliably.</a:t>
            </a:r>
          </a:p>
        </p:txBody>
      </p:sp>
      <p:sp>
        <p:nvSpPr>
          <p:cNvPr id="9" name="TextBox 8"/>
          <p:cNvSpPr txBox="1"/>
          <p:nvPr/>
        </p:nvSpPr>
        <p:spPr>
          <a:xfrm>
            <a:off x="6217920" y="1325880"/>
            <a:ext cx="5440680" cy="576072"/>
          </a:xfrm>
          <a:prstGeom prst="rect">
            <a:avLst/>
          </a:prstGeom>
          <a:noFill/>
        </p:spPr>
        <p:txBody>
          <a:bodyPr wrap="square" anchor="t" lIns="0" rIns="0" tIns="0" bIns="0">
            <a:spAutoFit/>
          </a:bodyPr>
          <a:lstStyle/>
          <a:p>
            <a:pPr algn="l">
              <a:lnSpc>
                <a:spcPct val="100000"/>
              </a:lnSpc>
              <a:spcBef>
                <a:spcPts val="0"/>
              </a:spcBef>
              <a:spcAft>
                <a:spcPts val="600"/>
              </a:spcAft>
            </a:pPr>
            <a:r>
              <a:rPr sz="1200" b="1" i="0">
                <a:solidFill>
                  <a:srgbClr val="2A9D8F"/>
                </a:solidFill>
                <a:latin typeface="Calibri"/>
              </a:rPr>
              <a:t>APIX  </a:t>
            </a:r>
            <a:r>
              <a:rPr sz="1100" b="0" i="0">
                <a:solidFill>
                  <a:srgbClr val="3C4654"/>
                </a:solidFill>
                <a:latin typeface="Calibri"/>
              </a:rPr>
              <a:t>Afni Performance Intelligence Index — the coaching dashboard.</a:t>
            </a:r>
          </a:p>
        </p:txBody>
      </p:sp>
      <p:sp>
        <p:nvSpPr>
          <p:cNvPr id="10" name="TextBox 9"/>
          <p:cNvSpPr txBox="1"/>
          <p:nvPr/>
        </p:nvSpPr>
        <p:spPr>
          <a:xfrm>
            <a:off x="548640" y="1901952"/>
            <a:ext cx="5440680" cy="576072"/>
          </a:xfrm>
          <a:prstGeom prst="rect">
            <a:avLst/>
          </a:prstGeom>
          <a:noFill/>
        </p:spPr>
        <p:txBody>
          <a:bodyPr wrap="square" anchor="t" lIns="0" rIns="0" tIns="0" bIns="0">
            <a:spAutoFit/>
          </a:bodyPr>
          <a:lstStyle/>
          <a:p>
            <a:pPr algn="l">
              <a:lnSpc>
                <a:spcPct val="100000"/>
              </a:lnSpc>
              <a:spcBef>
                <a:spcPts val="0"/>
              </a:spcBef>
              <a:spcAft>
                <a:spcPts val="600"/>
              </a:spcAft>
            </a:pPr>
            <a:r>
              <a:rPr sz="1200" b="1" i="0">
                <a:solidFill>
                  <a:srgbClr val="2A9D8F"/>
                </a:solidFill>
                <a:latin typeface="Calibri"/>
              </a:rPr>
              <a:t>Pipeline  </a:t>
            </a:r>
            <a:r>
              <a:rPr sz="1100" b="0" i="0">
                <a:solidFill>
                  <a:srgbClr val="3C4654"/>
                </a:solidFill>
                <a:latin typeface="Calibri"/>
              </a:rPr>
              <a:t>agents run one after another; each step feeds the next.</a:t>
            </a:r>
          </a:p>
        </p:txBody>
      </p:sp>
      <p:sp>
        <p:nvSpPr>
          <p:cNvPr id="11" name="TextBox 10"/>
          <p:cNvSpPr txBox="1"/>
          <p:nvPr/>
        </p:nvSpPr>
        <p:spPr>
          <a:xfrm>
            <a:off x="6217920" y="1901952"/>
            <a:ext cx="5440680" cy="576072"/>
          </a:xfrm>
          <a:prstGeom prst="rect">
            <a:avLst/>
          </a:prstGeom>
          <a:noFill/>
        </p:spPr>
        <p:txBody>
          <a:bodyPr wrap="square" anchor="t" lIns="0" rIns="0" tIns="0" bIns="0">
            <a:spAutoFit/>
          </a:bodyPr>
          <a:lstStyle/>
          <a:p>
            <a:pPr algn="l">
              <a:lnSpc>
                <a:spcPct val="100000"/>
              </a:lnSpc>
              <a:spcBef>
                <a:spcPts val="0"/>
              </a:spcBef>
              <a:spcAft>
                <a:spcPts val="600"/>
              </a:spcAft>
            </a:pPr>
            <a:r>
              <a:rPr sz="1200" b="1" i="0">
                <a:solidFill>
                  <a:srgbClr val="2A9D8F"/>
                </a:solidFill>
                <a:latin typeface="Calibri"/>
              </a:rPr>
              <a:t>Agent  </a:t>
            </a:r>
            <a:r>
              <a:rPr sz="1100" b="0" i="0">
                <a:solidFill>
                  <a:srgbClr val="3C4654"/>
                </a:solidFill>
                <a:latin typeface="Calibri"/>
              </a:rPr>
              <a:t>an LLM that can take steps and use tools, not just chat.</a:t>
            </a:r>
          </a:p>
        </p:txBody>
      </p:sp>
      <p:sp>
        <p:nvSpPr>
          <p:cNvPr id="12" name="TextBox 11"/>
          <p:cNvSpPr txBox="1"/>
          <p:nvPr/>
        </p:nvSpPr>
        <p:spPr>
          <a:xfrm>
            <a:off x="548640" y="2478024"/>
            <a:ext cx="5440680" cy="576072"/>
          </a:xfrm>
          <a:prstGeom prst="rect">
            <a:avLst/>
          </a:prstGeom>
          <a:noFill/>
        </p:spPr>
        <p:txBody>
          <a:bodyPr wrap="square" anchor="t" lIns="0" rIns="0" tIns="0" bIns="0">
            <a:spAutoFit/>
          </a:bodyPr>
          <a:lstStyle/>
          <a:p>
            <a:pPr algn="l">
              <a:lnSpc>
                <a:spcPct val="100000"/>
              </a:lnSpc>
              <a:spcBef>
                <a:spcPts val="0"/>
              </a:spcBef>
              <a:spcAft>
                <a:spcPts val="600"/>
              </a:spcAft>
            </a:pPr>
            <a:r>
              <a:rPr sz="1200" b="1" i="0">
                <a:solidFill>
                  <a:srgbClr val="2A9D8F"/>
                </a:solidFill>
                <a:latin typeface="Calibri"/>
              </a:rPr>
              <a:t>Trace / span  </a:t>
            </a:r>
            <a:r>
              <a:rPr sz="1100" b="0" i="0">
                <a:solidFill>
                  <a:srgbClr val="3C4654"/>
                </a:solidFill>
                <a:latin typeface="Calibri"/>
              </a:rPr>
              <a:t>a trace is one request; a span is one step inside it.</a:t>
            </a:r>
          </a:p>
        </p:txBody>
      </p:sp>
      <p:sp>
        <p:nvSpPr>
          <p:cNvPr id="13" name="TextBox 12"/>
          <p:cNvSpPr txBox="1"/>
          <p:nvPr/>
        </p:nvSpPr>
        <p:spPr>
          <a:xfrm>
            <a:off x="6217920" y="2478024"/>
            <a:ext cx="5440680" cy="576072"/>
          </a:xfrm>
          <a:prstGeom prst="rect">
            <a:avLst/>
          </a:prstGeom>
          <a:noFill/>
        </p:spPr>
        <p:txBody>
          <a:bodyPr wrap="square" anchor="t" lIns="0" rIns="0" tIns="0" bIns="0">
            <a:spAutoFit/>
          </a:bodyPr>
          <a:lstStyle/>
          <a:p>
            <a:pPr algn="l">
              <a:lnSpc>
                <a:spcPct val="100000"/>
              </a:lnSpc>
              <a:spcBef>
                <a:spcPts val="0"/>
              </a:spcBef>
              <a:spcAft>
                <a:spcPts val="600"/>
              </a:spcAft>
            </a:pPr>
            <a:r>
              <a:rPr sz="1200" b="1" i="0">
                <a:solidFill>
                  <a:srgbClr val="2A9D8F"/>
                </a:solidFill>
                <a:latin typeface="Calibri"/>
              </a:rPr>
              <a:t>RAG  </a:t>
            </a:r>
            <a:r>
              <a:rPr sz="1100" b="0" i="0">
                <a:solidFill>
                  <a:srgbClr val="3C4654"/>
                </a:solidFill>
                <a:latin typeface="Calibri"/>
              </a:rPr>
              <a:t>Retrieval-Augmented Generation — answering from our own documents.</a:t>
            </a:r>
          </a:p>
        </p:txBody>
      </p:sp>
      <p:sp>
        <p:nvSpPr>
          <p:cNvPr id="14" name="TextBox 13"/>
          <p:cNvSpPr txBox="1"/>
          <p:nvPr/>
        </p:nvSpPr>
        <p:spPr>
          <a:xfrm>
            <a:off x="548640" y="3054096"/>
            <a:ext cx="5440680" cy="576072"/>
          </a:xfrm>
          <a:prstGeom prst="rect">
            <a:avLst/>
          </a:prstGeom>
          <a:noFill/>
        </p:spPr>
        <p:txBody>
          <a:bodyPr wrap="square" anchor="t" lIns="0" rIns="0" tIns="0" bIns="0">
            <a:spAutoFit/>
          </a:bodyPr>
          <a:lstStyle/>
          <a:p>
            <a:pPr algn="l">
              <a:lnSpc>
                <a:spcPct val="100000"/>
              </a:lnSpc>
              <a:spcBef>
                <a:spcPts val="0"/>
              </a:spcBef>
              <a:spcAft>
                <a:spcPts val="600"/>
              </a:spcAft>
            </a:pPr>
            <a:r>
              <a:rPr sz="1200" b="1" i="0">
                <a:solidFill>
                  <a:srgbClr val="2A9D8F"/>
                </a:solidFill>
                <a:latin typeface="Calibri"/>
              </a:rPr>
              <a:t>MCP  </a:t>
            </a:r>
            <a:r>
              <a:rPr sz="1100" b="0" i="0">
                <a:solidFill>
                  <a:srgbClr val="3C4654"/>
                </a:solidFill>
                <a:latin typeface="Calibri"/>
              </a:rPr>
              <a:t>Model Context Protocol — a standard way to give agents tools.</a:t>
            </a:r>
          </a:p>
        </p:txBody>
      </p:sp>
      <p:sp>
        <p:nvSpPr>
          <p:cNvPr id="15" name="TextBox 14"/>
          <p:cNvSpPr txBox="1"/>
          <p:nvPr/>
        </p:nvSpPr>
        <p:spPr>
          <a:xfrm>
            <a:off x="6217920" y="3054096"/>
            <a:ext cx="5440680" cy="576072"/>
          </a:xfrm>
          <a:prstGeom prst="rect">
            <a:avLst/>
          </a:prstGeom>
          <a:noFill/>
        </p:spPr>
        <p:txBody>
          <a:bodyPr wrap="square" anchor="t" lIns="0" rIns="0" tIns="0" bIns="0">
            <a:spAutoFit/>
          </a:bodyPr>
          <a:lstStyle/>
          <a:p>
            <a:pPr algn="l">
              <a:lnSpc>
                <a:spcPct val="100000"/>
              </a:lnSpc>
              <a:spcBef>
                <a:spcPts val="0"/>
              </a:spcBef>
              <a:spcAft>
                <a:spcPts val="600"/>
              </a:spcAft>
            </a:pPr>
            <a:r>
              <a:rPr sz="1200" b="1" i="0">
                <a:solidFill>
                  <a:srgbClr val="2A9D8F"/>
                </a:solidFill>
                <a:latin typeface="Calibri"/>
              </a:rPr>
              <a:t>Golden dataset  </a:t>
            </a:r>
            <a:r>
              <a:rPr sz="1100" b="0" i="0">
                <a:solidFill>
                  <a:srgbClr val="3C4654"/>
                </a:solidFill>
                <a:latin typeface="Calibri"/>
              </a:rPr>
              <a:t>saved test cases with expected answers, used to check quality.</a:t>
            </a:r>
          </a:p>
        </p:txBody>
      </p:sp>
      <p:sp>
        <p:nvSpPr>
          <p:cNvPr id="16" name="TextBox 15"/>
          <p:cNvSpPr txBox="1"/>
          <p:nvPr/>
        </p:nvSpPr>
        <p:spPr>
          <a:xfrm>
            <a:off x="548640" y="3630168"/>
            <a:ext cx="5440680" cy="576072"/>
          </a:xfrm>
          <a:prstGeom prst="rect">
            <a:avLst/>
          </a:prstGeom>
          <a:noFill/>
        </p:spPr>
        <p:txBody>
          <a:bodyPr wrap="square" anchor="t" lIns="0" rIns="0" tIns="0" bIns="0">
            <a:spAutoFit/>
          </a:bodyPr>
          <a:lstStyle/>
          <a:p>
            <a:pPr algn="l">
              <a:lnSpc>
                <a:spcPct val="100000"/>
              </a:lnSpc>
              <a:spcBef>
                <a:spcPts val="0"/>
              </a:spcBef>
              <a:spcAft>
                <a:spcPts val="600"/>
              </a:spcAft>
            </a:pPr>
            <a:r>
              <a:rPr sz="1200" b="1" i="0">
                <a:solidFill>
                  <a:srgbClr val="2A9D8F"/>
                </a:solidFill>
                <a:latin typeface="Calibri"/>
              </a:rPr>
              <a:t>Groundedness  </a:t>
            </a:r>
            <a:r>
              <a:rPr sz="1100" b="0" i="0">
                <a:solidFill>
                  <a:srgbClr val="3C4654"/>
                </a:solidFill>
                <a:latin typeface="Calibri"/>
              </a:rPr>
              <a:t>whether an answer is backed by the actual source (transcript).</a:t>
            </a:r>
          </a:p>
        </p:txBody>
      </p:sp>
      <p:sp>
        <p:nvSpPr>
          <p:cNvPr id="17" name="TextBox 16"/>
          <p:cNvSpPr txBox="1"/>
          <p:nvPr/>
        </p:nvSpPr>
        <p:spPr>
          <a:xfrm>
            <a:off x="6217920" y="3630168"/>
            <a:ext cx="5440680" cy="576072"/>
          </a:xfrm>
          <a:prstGeom prst="rect">
            <a:avLst/>
          </a:prstGeom>
          <a:noFill/>
        </p:spPr>
        <p:txBody>
          <a:bodyPr wrap="square" anchor="t" lIns="0" rIns="0" tIns="0" bIns="0">
            <a:spAutoFit/>
          </a:bodyPr>
          <a:lstStyle/>
          <a:p>
            <a:pPr algn="l">
              <a:lnSpc>
                <a:spcPct val="100000"/>
              </a:lnSpc>
              <a:spcBef>
                <a:spcPts val="0"/>
              </a:spcBef>
              <a:spcAft>
                <a:spcPts val="600"/>
              </a:spcAft>
            </a:pPr>
            <a:r>
              <a:rPr sz="1200" b="1" i="0">
                <a:solidFill>
                  <a:srgbClr val="2A9D8F"/>
                </a:solidFill>
                <a:latin typeface="Calibri"/>
              </a:rPr>
              <a:t>Tool selection  </a:t>
            </a:r>
            <a:r>
              <a:rPr sz="1100" b="0" i="0">
                <a:solidFill>
                  <a:srgbClr val="3C4654"/>
                </a:solidFill>
                <a:latin typeface="Calibri"/>
              </a:rPr>
              <a:t>whether the agent chose the correct tool for the task.</a:t>
            </a:r>
          </a:p>
        </p:txBody>
      </p:sp>
      <p:sp>
        <p:nvSpPr>
          <p:cNvPr id="18" name="TextBox 17"/>
          <p:cNvSpPr txBox="1"/>
          <p:nvPr/>
        </p:nvSpPr>
        <p:spPr>
          <a:xfrm>
            <a:off x="548640" y="4206240"/>
            <a:ext cx="5440680" cy="576072"/>
          </a:xfrm>
          <a:prstGeom prst="rect">
            <a:avLst/>
          </a:prstGeom>
          <a:noFill/>
        </p:spPr>
        <p:txBody>
          <a:bodyPr wrap="square" anchor="t" lIns="0" rIns="0" tIns="0" bIns="0">
            <a:spAutoFit/>
          </a:bodyPr>
          <a:lstStyle/>
          <a:p>
            <a:pPr algn="l">
              <a:lnSpc>
                <a:spcPct val="100000"/>
              </a:lnSpc>
              <a:spcBef>
                <a:spcPts val="0"/>
              </a:spcBef>
              <a:spcAft>
                <a:spcPts val="600"/>
              </a:spcAft>
            </a:pPr>
            <a:r>
              <a:rPr sz="1200" b="1" i="0">
                <a:solidFill>
                  <a:srgbClr val="2A9D8F"/>
                </a:solidFill>
                <a:latin typeface="Calibri"/>
              </a:rPr>
              <a:t>CI gate  </a:t>
            </a:r>
            <a:r>
              <a:rPr sz="1100" b="0" i="0">
                <a:solidFill>
                  <a:srgbClr val="3C4654"/>
                </a:solidFill>
                <a:latin typeface="Calibri"/>
              </a:rPr>
              <a:t>an automatic check that blocks a release if quality drops.</a:t>
            </a:r>
          </a:p>
        </p:txBody>
      </p:sp>
      <p:sp>
        <p:nvSpPr>
          <p:cNvPr id="19" name="TextBox 18"/>
          <p:cNvSpPr txBox="1"/>
          <p:nvPr/>
        </p:nvSpPr>
        <p:spPr>
          <a:xfrm>
            <a:off x="6217920" y="4206240"/>
            <a:ext cx="5440680" cy="576072"/>
          </a:xfrm>
          <a:prstGeom prst="rect">
            <a:avLst/>
          </a:prstGeom>
          <a:noFill/>
        </p:spPr>
        <p:txBody>
          <a:bodyPr wrap="square" anchor="t" lIns="0" rIns="0" tIns="0" bIns="0">
            <a:spAutoFit/>
          </a:bodyPr>
          <a:lstStyle/>
          <a:p>
            <a:pPr algn="l">
              <a:lnSpc>
                <a:spcPct val="100000"/>
              </a:lnSpc>
              <a:spcBef>
                <a:spcPts val="0"/>
              </a:spcBef>
              <a:spcAft>
                <a:spcPts val="600"/>
              </a:spcAft>
            </a:pPr>
            <a:r>
              <a:rPr sz="1200" b="1" i="0">
                <a:solidFill>
                  <a:srgbClr val="2A9D8F"/>
                </a:solidFill>
                <a:latin typeface="Calibri"/>
              </a:rPr>
              <a:t>OpenTelemetry  </a:t>
            </a:r>
            <a:r>
              <a:rPr sz="1100" b="0" i="0">
                <a:solidFill>
                  <a:srgbClr val="3C4654"/>
                </a:solidFill>
                <a:latin typeface="Calibri"/>
              </a:rPr>
              <a:t>an open standard for collecting traces and metrics.</a:t>
            </a:r>
          </a:p>
        </p:txBody>
      </p:sp>
      <p:sp>
        <p:nvSpPr>
          <p:cNvPr id="20" name="TextBox 19"/>
          <p:cNvSpPr txBox="1"/>
          <p:nvPr/>
        </p:nvSpPr>
        <p:spPr>
          <a:xfrm>
            <a:off x="548640" y="4782312"/>
            <a:ext cx="5440680" cy="576072"/>
          </a:xfrm>
          <a:prstGeom prst="rect">
            <a:avLst/>
          </a:prstGeom>
          <a:noFill/>
        </p:spPr>
        <p:txBody>
          <a:bodyPr wrap="square" anchor="t" lIns="0" rIns="0" tIns="0" bIns="0">
            <a:spAutoFit/>
          </a:bodyPr>
          <a:lstStyle/>
          <a:p>
            <a:pPr algn="l">
              <a:lnSpc>
                <a:spcPct val="100000"/>
              </a:lnSpc>
              <a:spcBef>
                <a:spcPts val="0"/>
              </a:spcBef>
              <a:spcAft>
                <a:spcPts val="600"/>
              </a:spcAft>
            </a:pPr>
            <a:r>
              <a:rPr sz="1200" b="1" i="0">
                <a:solidFill>
                  <a:srgbClr val="2A9D8F"/>
                </a:solidFill>
                <a:latin typeface="Calibri"/>
              </a:rPr>
              <a:t>ATS  </a:t>
            </a:r>
            <a:r>
              <a:rPr sz="1100" b="0" i="0">
                <a:solidFill>
                  <a:srgbClr val="3C4654"/>
                </a:solidFill>
                <a:latin typeface="Calibri"/>
              </a:rPr>
              <a:t>Applicant Tracking System — the recruiting system of record.</a:t>
            </a:r>
          </a:p>
        </p:txBody>
      </p:sp>
      <p:sp>
        <p:nvSpPr>
          <p:cNvPr id="21" name="TextBox 20"/>
          <p:cNvSpPr txBox="1"/>
          <p:nvPr/>
        </p:nvSpPr>
        <p:spPr>
          <a:xfrm>
            <a:off x="6217920" y="4782312"/>
            <a:ext cx="5440680" cy="576072"/>
          </a:xfrm>
          <a:prstGeom prst="rect">
            <a:avLst/>
          </a:prstGeom>
          <a:noFill/>
        </p:spPr>
        <p:txBody>
          <a:bodyPr wrap="square" anchor="t" lIns="0" rIns="0" tIns="0" bIns="0">
            <a:spAutoFit/>
          </a:bodyPr>
          <a:lstStyle/>
          <a:p>
            <a:pPr algn="l">
              <a:lnSpc>
                <a:spcPct val="100000"/>
              </a:lnSpc>
              <a:spcBef>
                <a:spcPts val="0"/>
              </a:spcBef>
              <a:spcAft>
                <a:spcPts val="600"/>
              </a:spcAft>
            </a:pPr>
            <a:r>
              <a:rPr sz="1200" b="1" i="0">
                <a:solidFill>
                  <a:srgbClr val="2A9D8F"/>
                </a:solidFill>
                <a:latin typeface="Calibri"/>
              </a:rPr>
              <a:t>PII  </a:t>
            </a:r>
            <a:r>
              <a:rPr sz="1100" b="0" i="0">
                <a:solidFill>
                  <a:srgbClr val="3C4654"/>
                </a:solidFill>
                <a:latin typeface="Calibri"/>
              </a:rPr>
              <a:t>Personally Identifiable Information — personal data to protect.</a:t>
            </a:r>
          </a:p>
        </p:txBody>
      </p:sp>
      <p:sp>
        <p:nvSpPr>
          <p:cNvPr id="22" name="TextBox 21"/>
          <p:cNvSpPr txBox="1"/>
          <p:nvPr/>
        </p:nvSpPr>
        <p:spPr>
          <a:xfrm>
            <a:off x="548640" y="5358384"/>
            <a:ext cx="5440680" cy="576072"/>
          </a:xfrm>
          <a:prstGeom prst="rect">
            <a:avLst/>
          </a:prstGeom>
          <a:noFill/>
        </p:spPr>
        <p:txBody>
          <a:bodyPr wrap="square" anchor="t" lIns="0" rIns="0" tIns="0" bIns="0">
            <a:spAutoFit/>
          </a:bodyPr>
          <a:lstStyle/>
          <a:p>
            <a:pPr algn="l">
              <a:lnSpc>
                <a:spcPct val="100000"/>
              </a:lnSpc>
              <a:spcBef>
                <a:spcPts val="0"/>
              </a:spcBef>
              <a:spcAft>
                <a:spcPts val="600"/>
              </a:spcAft>
            </a:pPr>
            <a:r>
              <a:rPr sz="1200" b="1" i="0">
                <a:solidFill>
                  <a:srgbClr val="2A9D8F"/>
                </a:solidFill>
                <a:latin typeface="Calibri"/>
              </a:rPr>
              <a:t>Container Apps / Functions  </a:t>
            </a:r>
            <a:r>
              <a:rPr sz="1100" b="0" i="0">
                <a:solidFill>
                  <a:srgbClr val="3C4654"/>
                </a:solidFill>
                <a:latin typeface="Calibri"/>
              </a:rPr>
              <a:t>Azure ways to run our services.</a:t>
            </a:r>
          </a:p>
        </p:txBody>
      </p:sp>
      <p:sp>
        <p:nvSpPr>
          <p:cNvPr id="23" name="TextBox 22"/>
          <p:cNvSpPr txBox="1"/>
          <p:nvPr/>
        </p:nvSpPr>
        <p:spPr>
          <a:xfrm>
            <a:off x="6217920" y="5358384"/>
            <a:ext cx="5440680" cy="576072"/>
          </a:xfrm>
          <a:prstGeom prst="rect">
            <a:avLst/>
          </a:prstGeom>
          <a:noFill/>
        </p:spPr>
        <p:txBody>
          <a:bodyPr wrap="square" anchor="t" lIns="0" rIns="0" tIns="0" bIns="0">
            <a:spAutoFit/>
          </a:bodyPr>
          <a:lstStyle/>
          <a:p>
            <a:pPr algn="l">
              <a:lnSpc>
                <a:spcPct val="100000"/>
              </a:lnSpc>
              <a:spcBef>
                <a:spcPts val="0"/>
              </a:spcBef>
              <a:spcAft>
                <a:spcPts val="600"/>
              </a:spcAft>
            </a:pPr>
            <a:r>
              <a:rPr sz="1200" b="1" i="0">
                <a:solidFill>
                  <a:srgbClr val="2A9D8F"/>
                </a:solidFill>
                <a:latin typeface="Calibri"/>
              </a:rPr>
              <a:t>WCC / Telesales  </a:t>
            </a:r>
            <a:r>
              <a:rPr sz="1100" b="0" i="0">
                <a:solidFill>
                  <a:srgbClr val="3C4654"/>
                </a:solidFill>
                <a:latin typeface="Calibri"/>
              </a:rPr>
              <a:t>two Afni programs with different scoring criteria.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