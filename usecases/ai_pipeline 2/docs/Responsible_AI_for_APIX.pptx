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E7C74"/>
                </a:solidFill>
                <a:latin typeface="Segoe UI"/>
              </a:rPr>
              <a:t>RESPONSIBLE AI  ·  APIX</a:t>
            </a:r>
          </a:p>
          <a:p>
            <a:pPr>
              <a:spcAft>
                <a:spcPts val="0"/>
              </a:spcAft>
            </a:pPr>
            <a:r>
              <a:rPr sz="3800" b="1">
                <a:solidFill>
                  <a:srgbClr val="1A1F27"/>
                </a:solidFill>
                <a:latin typeface="Segoe UI"/>
              </a:rPr>
              <a:t>Responsible AI —</a:t>
            </a:r>
          </a:p>
          <a:p>
            <a:pPr>
              <a:spcAft>
                <a:spcPts val="1600"/>
              </a:spcAft>
            </a:pPr>
            <a:r>
              <a:rPr sz="3800" b="1">
                <a:solidFill>
                  <a:srgbClr val="1A1F27"/>
                </a:solidFill>
                <a:latin typeface="Segoe UI"/>
              </a:rPr>
              <a:t>how it strengthens the platform and APIX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535C6A"/>
                </a:solidFill>
                <a:latin typeface="Segoe UI"/>
              </a:rPr>
              <a:t>APIX = AFNI Performance Index.  A short, plain-language overview for discussion.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0">
                <a:solidFill>
                  <a:srgbClr val="8A93A1"/>
                </a:solidFill>
                <a:latin typeface="Segoe UI"/>
              </a:rPr>
              <a:t>Fair  ·  Safe  ·  Private  ·  Clear  ·  Human-controlled   —   9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1 · THE IDEA</a:t>
            </a:r>
          </a:p>
          <a:p>
            <a:pPr>
              <a:spcAft>
                <a:spcPts val="0"/>
              </a:spcAft>
            </a:pPr>
            <a:r>
              <a:rPr sz="2700" b="1">
                <a:solidFill>
                  <a:srgbClr val="1A1F27"/>
                </a:solidFill>
                <a:latin typeface="Segoe UI"/>
              </a:rPr>
              <a:t>What Responsible AI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A set of practices that make an AI system fair, safe, private, clear about how it works, and always under human control.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It is not a product you buy — it is how the system is built, checked, and run.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931920"/>
            <a:ext cx="10881360" cy="868680"/>
          </a:xfrm>
          <a:prstGeom prst="rect">
            <a:avLst/>
          </a:prstGeom>
          <a:solidFill>
            <a:srgbClr val="F2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E7C74"/>
                </a:solidFill>
                <a:latin typeface="Segoe UI"/>
              </a:rPr>
              <a:t>If the platform makes our AI work, Responsible AI makes it trusted — and lets us prove it if a client, auditor, or regulator 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2 · THE PARTS</a:t>
            </a:r>
          </a:p>
          <a:p>
            <a:pPr>
              <a:spcAft>
                <a:spcPts val="0"/>
              </a:spcAft>
            </a:pPr>
            <a:r>
              <a:rPr sz="2700" b="1">
                <a:solidFill>
                  <a:srgbClr val="1A1F27"/>
                </a:solidFill>
                <a:latin typeface="Segoe UI"/>
              </a:rPr>
              <a:t>What it includes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27080" cy="39684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34640"/>
                <a:gridCol w="80924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Commitment</a:t>
                      </a:r>
                    </a:p>
                  </a:txBody>
                  <a:tcPr anchor="ctr" marL="91440" marR="54864" marT="27432" marB="27432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In plain words</a:t>
                      </a:r>
                    </a:p>
                  </a:txBody>
                  <a:tcPr anchor="ctr" marL="91440" marR="54864" marT="27432" marB="27432">
                    <a:solidFill>
                      <a:srgbClr val="0E7C7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F27"/>
                          </a:solidFill>
                          <a:latin typeface="Segoe UI"/>
                        </a:rPr>
                        <a:t>Fairness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535C6A"/>
                          </a:solidFill>
                          <a:latin typeface="Segoe UI"/>
                        </a:rPr>
                        <a:t>Treats people evenly, with no hidden bias against any group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F27"/>
                          </a:solidFill>
                          <a:latin typeface="Segoe UI"/>
                        </a:rPr>
                        <a:t>Safety &amp; reliability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535C6A"/>
                          </a:solidFill>
                          <a:latin typeface="Segoe UI"/>
                        </a:rPr>
                        <a:t>Does what it should; unsafe or wrong outputs are caught early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F27"/>
                          </a:solidFill>
                          <a:latin typeface="Segoe UI"/>
                        </a:rPr>
                        <a:t>Privacy &amp; security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535C6A"/>
                          </a:solidFill>
                          <a:latin typeface="Segoe UI"/>
                        </a:rPr>
                        <a:t>Personal information is protected and used only as intended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F27"/>
                          </a:solidFill>
                          <a:latin typeface="Segoe UI"/>
                        </a:rPr>
                        <a:t>Transparency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535C6A"/>
                          </a:solidFill>
                          <a:latin typeface="Segoe UI"/>
                        </a:rPr>
                        <a:t>You can see and explain why it produced a result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F27"/>
                          </a:solidFill>
                          <a:latin typeface="Segoe UI"/>
                        </a:rPr>
                        <a:t>Human oversight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535C6A"/>
                          </a:solidFill>
                          <a:latin typeface="Segoe UI"/>
                        </a:rPr>
                        <a:t>People stay in control; results can be reviewed and challenged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F27"/>
                          </a:solidFill>
                          <a:latin typeface="Segoe UI"/>
                        </a:rPr>
                        <a:t>Evidence-based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535C6A"/>
                          </a:solidFill>
                          <a:latin typeface="Segoe UI"/>
                        </a:rPr>
                        <a:t>Outputs are backed by real information, not made up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2E8B5E"/>
                </a:solidFill>
                <a:latin typeface="Segoe UI"/>
              </a:rPr>
              <a:t>3 · THE VALUE</a:t>
            </a:r>
          </a:p>
          <a:p>
            <a:pPr>
              <a:spcAft>
                <a:spcPts val="0"/>
              </a:spcAft>
            </a:pPr>
            <a:r>
              <a:rPr sz="2700" b="1">
                <a:solidFill>
                  <a:srgbClr val="1A1F27"/>
                </a:solidFill>
                <a:latin typeface="Segoe UI"/>
              </a:rPr>
              <a:t>Why it adds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Reduces risk — legal, reputational, and operational — by catching problems early.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Builds confidence with clients, auditors, and regulators, because decisions can be explained.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Prepares for regulation — rules for AI that affects people are tightening.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Differentiates us — a trusted, governed platform is easier to sell, expand, and keep.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4 · THE FIT</a:t>
            </a:r>
          </a:p>
          <a:p>
            <a:pPr>
              <a:spcAft>
                <a:spcPts val="0"/>
              </a:spcAft>
            </a:pPr>
            <a:r>
              <a:rPr sz="2700" b="1">
                <a:solidFill>
                  <a:srgbClr val="1A1F27"/>
                </a:solidFill>
                <a:latin typeface="Segoe UI"/>
              </a:rPr>
              <a:t>How it fits the platform we already run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27080" cy="3520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8960"/>
                <a:gridCol w="781812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What we run today</a:t>
                      </a:r>
                    </a:p>
                  </a:txBody>
                  <a:tcPr anchor="ctr" marL="91440" marR="54864" marT="27432" marB="27432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Responsible-AI addition</a:t>
                      </a:r>
                    </a:p>
                  </a:txBody>
                  <a:tcPr anchor="ctr" marL="91440" marR="54864" marT="27432" marB="27432">
                    <a:solidFill>
                      <a:srgbClr val="0E7C7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1F27"/>
                          </a:solidFill>
                          <a:latin typeface="Segoe UI"/>
                        </a:rPr>
                        <a:t>Pre-release checks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535C6A"/>
                          </a:solidFill>
                          <a:latin typeface="Segoe UI"/>
                        </a:rPr>
                        <a:t>Also check fairness, safety, and evidence — and block a change that fails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1F27"/>
                          </a:solidFill>
                          <a:latin typeface="Segoe UI"/>
                        </a:rPr>
                        <a:t>Guardrails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535C6A"/>
                          </a:solidFill>
                          <a:latin typeface="Segoe UI"/>
                        </a:rPr>
                        <a:t>Add checks for unsafe or inappropriate content, plus an audit record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1F27"/>
                          </a:solidFill>
                          <a:latin typeface="Segoe UI"/>
                        </a:rPr>
                        <a:t>Monitoring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535C6A"/>
                          </a:solidFill>
                          <a:latin typeface="Segoe UI"/>
                        </a:rPr>
                        <a:t>Also track fairness and unusual behaviour over time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1F27"/>
                          </a:solidFill>
                          <a:latin typeface="Segoe UI"/>
                        </a:rPr>
                        <a:t>Feedback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535C6A"/>
                          </a:solidFill>
                          <a:latin typeface="Segoe UI"/>
                        </a:rPr>
                        <a:t>Becomes a way to report and challenge a result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1F27"/>
                          </a:solidFill>
                          <a:latin typeface="Segoe UI"/>
                        </a:rPr>
                        <a:t>Model &amp; prompt management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535C6A"/>
                          </a:solidFill>
                          <a:latin typeface="Segoe UI"/>
                        </a:rPr>
                        <a:t>Record each model's intended use and known limits</a:t>
                      </a:r>
                    </a:p>
                  </a:txBody>
                  <a:tcPr anchor="ctr" marL="91440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1F27"/>
                          </a:solidFill>
                          <a:latin typeface="Segoe UI"/>
                        </a:rPr>
                        <a:t>Controls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535C6A"/>
                          </a:solidFill>
                          <a:latin typeface="Segoe UI"/>
                        </a:rPr>
                        <a:t>Keep a person in the loop and a way to switch off a bad model</a:t>
                      </a:r>
                    </a:p>
                  </a:txBody>
                  <a:tcPr anchor="ctr" marL="91440" marR="54864" marT="27432" marB="27432"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85800" y="5806440"/>
            <a:ext cx="10881360" cy="777240"/>
          </a:xfrm>
          <a:prstGeom prst="rect">
            <a:avLst/>
          </a:prstGeom>
          <a:solidFill>
            <a:srgbClr val="F2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E7C74"/>
                </a:solidFill>
                <a:latin typeface="Segoe UI"/>
              </a:rPr>
              <a:t>The check we already run before release becomes a quality-and-responsibility check — same mechanism, wider protection.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5 · APIX</a:t>
            </a:r>
          </a:p>
          <a:p>
            <a:pPr>
              <a:spcAft>
                <a:spcPts val="0"/>
              </a:spcAft>
            </a:pPr>
            <a:r>
              <a:rPr sz="2700" b="1">
                <a:solidFill>
                  <a:srgbClr val="1A1F27"/>
                </a:solidFill>
                <a:latin typeface="Segoe UI"/>
              </a:rPr>
              <a:t>Why it matters even more for APIX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535C6A"/>
                </a:solidFill>
                <a:latin typeface="Segoe UI"/>
              </a:rPr>
              <a:t>APIX scores agents — it evaluates people's work. And it is already well suited to Responsible AI: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0280"/>
            <a:ext cx="10881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50" b="0">
                <a:solidFill>
                  <a:srgbClr val="1A1F27"/>
                </a:solidFill>
                <a:latin typeface="Segoe UI"/>
              </a:rPr>
              <a:t>Fairness — check that scores don't disadvantage any group (e.g. non-native English speakers).</a:t>
            </a:r>
          </a:p>
          <a:p>
            <a:pPr>
              <a:spcAft>
                <a:spcPts val="1200"/>
              </a:spcAft>
            </a:pPr>
            <a:r>
              <a:rPr sz="1550" b="0">
                <a:solidFill>
                  <a:srgbClr val="1A1F27"/>
                </a:solidFill>
                <a:latin typeface="Segoe UI"/>
              </a:rPr>
              <a:t>Transparency — every score already has the exact call moments behind it; agents can see and question it.</a:t>
            </a:r>
          </a:p>
          <a:p>
            <a:pPr>
              <a:spcAft>
                <a:spcPts val="1200"/>
              </a:spcAft>
            </a:pPr>
            <a:r>
              <a:rPr sz="1550" b="0">
                <a:solidFill>
                  <a:srgbClr val="1A1F27"/>
                </a:solidFill>
                <a:latin typeface="Segoe UI"/>
              </a:rPr>
              <a:t>Human oversight — coaches review the output; the AI assists, it doesn't decide alone.</a:t>
            </a:r>
          </a:p>
          <a:p>
            <a:pPr>
              <a:spcAft>
                <a:spcPts val="1200"/>
              </a:spcAft>
            </a:pPr>
            <a:r>
              <a:rPr sz="1550" b="0">
                <a:solidFill>
                  <a:srgbClr val="1A1F27"/>
                </a:solidFill>
                <a:latin typeface="Segoe UI"/>
              </a:rPr>
              <a:t>Privacy — customer details in call recordings are protected.</a:t>
            </a:r>
          </a:p>
          <a:p>
            <a:pPr>
              <a:spcAft>
                <a:spcPts val="1200"/>
              </a:spcAft>
            </a:pPr>
            <a:r>
              <a:rPr sz="1550" b="0">
                <a:solidFill>
                  <a:srgbClr val="1A1F27"/>
                </a:solidFill>
                <a:latin typeface="Segoe UI"/>
              </a:rPr>
              <a:t>Evidence-based coaching — backed by what happened on the call, never invented.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852160"/>
            <a:ext cx="10881360" cy="731520"/>
          </a:xfrm>
          <a:prstGeom prst="rect">
            <a:avLst/>
          </a:prstGeom>
          <a:solidFill>
            <a:srgbClr val="F2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E7C74"/>
                </a:solidFill>
                <a:latin typeface="Segoe UI"/>
              </a:rPr>
              <a:t>APIX already keeps the evidence and keeps coaches in the loop — Responsible AI in practice, not on paper.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6 · THE PATH</a:t>
            </a:r>
          </a:p>
          <a:p>
            <a:pPr>
              <a:spcAft>
                <a:spcPts val="0"/>
              </a:spcAft>
            </a:pPr>
            <a:r>
              <a:rPr sz="2700" b="1">
                <a:solidFill>
                  <a:srgbClr val="1A1F27"/>
                </a:solidFill>
                <a:latin typeface="Segoe UI"/>
              </a:rPr>
              <a:t>Where we are, and the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1.   Check APIX scores for fairness across groups of agents.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2.   Add an evidence check for every coaching point.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3.   Add a short “model card” per model — its purpose and limits.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>4.   Extend the pre-release check to include fairness and safety.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1A1F27"/>
                </a:solidFill>
                <a:latin typeface="Segoe UI"/>
              </a:rPr>
              <a:t/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0E7C74"/>
                </a:solidFill>
                <a:latin typeface="Segoe UI"/>
              </a:rPr>
              <a:t>From “protected” today to “governed and trusted” — a step APIX is ready to lead.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