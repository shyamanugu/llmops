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632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8813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</a:pPr>
            <a:r>
              <a:rPr sz="1350" b="1">
                <a:solidFill>
                  <a:srgbClr val="16324F"/>
                </a:solidFill>
                <a:latin typeface="Segoe UI"/>
              </a:rPr>
              <a:t>APIX  ·  AI PIPELINE  ·  METRICS EXPLAINED</a:t>
            </a:r>
          </a:p>
          <a:p>
            <a:pPr>
              <a:spcAft>
                <a:spcPts val="0"/>
              </a:spcAft>
            </a:pPr>
            <a:r>
              <a:rPr sz="3400" b="1">
                <a:solidFill>
                  <a:srgbClr val="1C2733"/>
                </a:solidFill>
                <a:latin typeface="Segoe UI"/>
              </a:rPr>
              <a:t>What we measure on every call —</a:t>
            </a:r>
          </a:p>
          <a:p>
            <a:pPr>
              <a:spcAft>
                <a:spcPts val="1400"/>
              </a:spcAft>
            </a:pPr>
            <a:r>
              <a:rPr sz="3400" b="1">
                <a:solidFill>
                  <a:srgbClr val="1C2733"/>
                </a:solidFill>
                <a:latin typeface="Segoe UI"/>
              </a:rPr>
              <a:t>shown on real transcripts</a:t>
            </a:r>
          </a:p>
          <a:p>
            <a:pPr>
              <a:spcAft>
                <a:spcPts val="0"/>
              </a:spcAft>
            </a:pPr>
            <a:r>
              <a:rPr sz="1650" b="0">
                <a:solidFill>
                  <a:srgbClr val="566573"/>
                </a:solidFill>
                <a:latin typeface="Segoe UI"/>
              </a:rPr>
              <a:t>Each metric is tied to the exact line of the call that proves it. Scope: the AI-pipeline part of APIX.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85216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250" b="0">
                <a:solidFill>
                  <a:srgbClr val="93A0AD"/>
                </a:solidFill>
                <a:latin typeface="Segoe UI"/>
              </a:rPr>
              <a:t>3 programs (Telesales · WCC · PSO)     47 KPIs + behaviours + soft skills     every metric evidence-backed     9 Sep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632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47472"/>
            <a:ext cx="112471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 b="1">
                <a:solidFill>
                  <a:srgbClr val="16324F"/>
                </a:solidFill>
                <a:latin typeface="Segoe UI"/>
              </a:rPr>
              <a:t>HOW IT WORKS</a:t>
            </a:r>
          </a:p>
          <a:p>
            <a:pPr>
              <a:spcAft>
                <a:spcPts val="0"/>
              </a:spcAft>
            </a:pPr>
            <a:r>
              <a:rPr sz="2400" b="1">
                <a:solidFill>
                  <a:srgbClr val="1C2733"/>
                </a:solidFill>
                <a:latin typeface="Segoe UI"/>
              </a:rPr>
              <a:t>How a call turns into measured metrics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691640"/>
            <a:ext cx="5486400" cy="1828800"/>
          </a:xfrm>
          <a:prstGeom prst="rect">
            <a:avLst/>
          </a:prstGeom>
          <a:solidFill>
            <a:srgbClr val="EAEEF2"/>
          </a:solidFill>
          <a:ln w="9525">
            <a:solidFill>
              <a:srgbClr val="D5DB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09728" tIns="109728" bIns="73152"/>
          <a:lstStyle/>
          <a:p>
            <a:pPr algn="ctr">
              <a:spcAft>
                <a:spcPts val="600"/>
              </a:spcAft>
            </a:pPr>
            <a:r>
              <a:rPr sz="1250" b="1">
                <a:solidFill>
                  <a:srgbClr val="16324F"/>
                </a:solidFill>
                <a:latin typeface="Segoe UI"/>
              </a:rPr>
              <a:t>The 5 steps</a:t>
            </a:r>
          </a:p>
          <a:p>
            <a:pPr>
              <a:spcAft>
                <a:spcPts val="200"/>
              </a:spcAft>
            </a:pPr>
            <a:r>
              <a:rPr sz="1150" b="0">
                <a:solidFill>
                  <a:srgbClr val="566573"/>
                </a:solidFill>
                <a:latin typeface="Segoe UI"/>
              </a:rPr>
              <a:t>1 · Denoise — clean the transcript</a:t>
            </a:r>
          </a:p>
          <a:p>
            <a:pPr>
              <a:spcAft>
                <a:spcPts val="200"/>
              </a:spcAft>
            </a:pPr>
            <a:r>
              <a:rPr sz="1150" b="0">
                <a:solidFill>
                  <a:srgbClr val="566573"/>
                </a:solidFill>
                <a:latin typeface="Segoe UI"/>
              </a:rPr>
              <a:t>2 · Analysis — the AI scores each call (with evidence)</a:t>
            </a:r>
          </a:p>
          <a:p>
            <a:pPr>
              <a:spcAft>
                <a:spcPts val="200"/>
              </a:spcAft>
            </a:pPr>
            <a:r>
              <a:rPr sz="1150" b="0">
                <a:solidFill>
                  <a:srgbClr val="566573"/>
                </a:solidFill>
                <a:latin typeface="Segoe UI"/>
              </a:rPr>
              <a:t>3 · Summary — roll a week into per-agent scores</a:t>
            </a:r>
          </a:p>
          <a:p>
            <a:pPr>
              <a:spcAft>
                <a:spcPts val="200"/>
              </a:spcAft>
            </a:pPr>
            <a:r>
              <a:rPr sz="1150" b="0">
                <a:solidFill>
                  <a:srgbClr val="566573"/>
                </a:solidFill>
                <a:latin typeface="Segoe UI"/>
              </a:rPr>
              <a:t>4 · Individual metrics — add Verizon data + tips</a:t>
            </a:r>
          </a:p>
          <a:p>
            <a:pPr>
              <a:spcAft>
                <a:spcPts val="200"/>
              </a:spcAft>
            </a:pPr>
            <a:r>
              <a:rPr sz="1150" b="0">
                <a:solidFill>
                  <a:srgbClr val="566573"/>
                </a:solidFill>
                <a:latin typeface="Segoe UI"/>
              </a:rPr>
              <a:t>5 · KPI aggregator — build the dashboard file</a:t>
            </a:r>
          </a:p>
        </p:txBody>
      </p:sp>
      <p:sp>
        <p:nvSpPr>
          <p:cNvPr id="5" name="Rectangle 4"/>
          <p:cNvSpPr/>
          <p:nvPr/>
        </p:nvSpPr>
        <p:spPr>
          <a:xfrm>
            <a:off x="6355080" y="1691640"/>
            <a:ext cx="5212080" cy="1828800"/>
          </a:xfrm>
          <a:prstGeom prst="rect">
            <a:avLst/>
          </a:prstGeom>
          <a:solidFill>
            <a:srgbClr val="EAEEF2"/>
          </a:solidFill>
          <a:ln w="9525">
            <a:solidFill>
              <a:srgbClr val="D5DB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09728" tIns="109728" bIns="73152"/>
          <a:lstStyle/>
          <a:p>
            <a:pPr algn="ctr">
              <a:spcAft>
                <a:spcPts val="600"/>
              </a:spcAft>
            </a:pPr>
            <a:r>
              <a:rPr sz="1250" b="1">
                <a:solidFill>
                  <a:srgbClr val="16324F"/>
                </a:solidFill>
                <a:latin typeface="Segoe UI"/>
              </a:rPr>
              <a:t>Four kinds of metric</a:t>
            </a:r>
          </a:p>
          <a:p>
            <a:pPr>
              <a:spcAft>
                <a:spcPts val="200"/>
              </a:spcAft>
            </a:pPr>
            <a:r>
              <a:rPr sz="1150" b="0">
                <a:solidFill>
                  <a:srgbClr val="566573"/>
                </a:solidFill>
                <a:latin typeface="Segoe UI"/>
              </a:rPr>
              <a:t>KPIs — counts &amp; rates (e.g. pitches)</a:t>
            </a:r>
          </a:p>
          <a:p>
            <a:pPr>
              <a:spcAft>
                <a:spcPts val="200"/>
              </a:spcAft>
            </a:pPr>
            <a:r>
              <a:rPr sz="1150" b="0">
                <a:solidFill>
                  <a:srgbClr val="566573"/>
                </a:solidFill>
                <a:latin typeface="Segoe UI"/>
              </a:rPr>
              <a:t>Behaviour / soft skills — 0–1 scores</a:t>
            </a:r>
          </a:p>
          <a:p>
            <a:pPr>
              <a:spcAft>
                <a:spcPts val="200"/>
              </a:spcAft>
            </a:pPr>
            <a:r>
              <a:rPr sz="1150" b="0">
                <a:solidFill>
                  <a:srgbClr val="566573"/>
                </a:solidFill>
                <a:latin typeface="Segoe UI"/>
              </a:rPr>
              <a:t>Operational — AHT, VXS (Verizon data, not AI)</a:t>
            </a:r>
          </a:p>
          <a:p>
            <a:pPr>
              <a:spcAft>
                <a:spcPts val="200"/>
              </a:spcAft>
            </a:pPr>
            <a:r>
              <a:rPr sz="1150" b="0">
                <a:solidFill>
                  <a:srgbClr val="566573"/>
                </a:solidFill>
                <a:latin typeface="Segoe UI"/>
              </a:rPr>
              <a:t>Roll-up — the weekly status score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3794760"/>
            <a:ext cx="10927080" cy="868680"/>
          </a:xfrm>
          <a:prstGeom prst="rect">
            <a:avLst/>
          </a:prstGeom>
          <a:solidFill>
            <a:srgbClr val="EAEE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/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22A42"/>
                </a:solidFill>
                <a:latin typeface="Segoe UI"/>
              </a:rPr>
              <a:t>Only step 2 uses AI judgment; the rest is counting. And every judgment records the exact call line behind it — so any score can be shown and defended.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4892040"/>
            <a:ext cx="10927080" cy="1234440"/>
          </a:xfrm>
          <a:prstGeom prst="rect">
            <a:avLst/>
          </a:prstGeom>
          <a:solidFill>
            <a:srgbClr val="EAEEF2"/>
          </a:solidFill>
          <a:ln w="9525">
            <a:solidFill>
              <a:srgbClr val="D5DB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09728" tIns="109728" bIns="73152"/>
          <a:lstStyle/>
          <a:p>
            <a:pPr algn="ctr">
              <a:spcAft>
                <a:spcPts val="600"/>
              </a:spcAft>
            </a:pPr>
            <a:r>
              <a:rPr sz="1250" b="1">
                <a:solidFill>
                  <a:srgbClr val="16324F"/>
                </a:solidFill>
                <a:latin typeface="Segoe UI"/>
              </a:rPr>
              <a:t>WHY THIS MATTERS FOR THE CONVERSATION</a:t>
            </a:r>
          </a:p>
          <a:p>
            <a:pPr>
              <a:spcAft>
                <a:spcPts val="200"/>
              </a:spcAft>
            </a:pPr>
            <a:r>
              <a:rPr sz="1100" b="0">
                <a:solidFill>
                  <a:srgbClr val="122A42"/>
                </a:solidFill>
                <a:latin typeface="Segoe UI"/>
              </a:rPr>
              <a:t>Because each metric points to a line in the transcript, we can always answer “why did the agent get this score?”</a:t>
            </a:r>
          </a:p>
          <a:p>
            <a:pPr>
              <a:spcAft>
                <a:spcPts val="200"/>
              </a:spcAft>
            </a:pPr>
            <a:r>
              <a:rPr sz="1100" b="0">
                <a:solidFill>
                  <a:srgbClr val="566573"/>
                </a:solidFill>
                <a:latin typeface="Segoe UI"/>
              </a:rPr>
              <a:t>The next slides show three real calls and exactly what the pipeline measures on each.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632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47472"/>
            <a:ext cx="112471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 b="1">
                <a:solidFill>
                  <a:srgbClr val="16324F"/>
                </a:solidFill>
                <a:latin typeface="Segoe UI"/>
              </a:rPr>
              <a:t>EXAMPLE 1 · TELESALES</a:t>
            </a:r>
          </a:p>
          <a:p>
            <a:pPr>
              <a:spcAft>
                <a:spcPts val="0"/>
              </a:spcAft>
            </a:pPr>
            <a:r>
              <a:rPr sz="2400" b="1">
                <a:solidFill>
                  <a:srgbClr val="1C2733"/>
                </a:solidFill>
                <a:latin typeface="Segoe UI"/>
              </a:rPr>
              <a:t>A bill fix that becomes a sale — fully scored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691640"/>
            <a:ext cx="6035040" cy="3977639"/>
          </a:xfrm>
          <a:prstGeom prst="rect">
            <a:avLst/>
          </a:prstGeom>
          <a:solidFill>
            <a:srgbClr val="F3F1EC"/>
          </a:solidFill>
          <a:ln w="9525">
            <a:solidFill>
              <a:srgbClr val="D5DB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09728" tIns="109728" bIns="73152"/>
          <a:lstStyle/>
          <a:p>
            <a:pPr algn="ctr">
              <a:spcAft>
                <a:spcPts val="600"/>
              </a:spcAft>
            </a:pPr>
            <a:r>
              <a:rPr sz="1250" b="1">
                <a:solidFill>
                  <a:srgbClr val="122A42"/>
                </a:solidFill>
                <a:latin typeface="Segoe UI"/>
              </a:rPr>
              <a:t>MOCK CALL TRANSCRIPT — APIX example (illustrative)</a:t>
            </a:r>
          </a:p>
          <a:p>
            <a:pPr>
              <a:spcAft>
                <a:spcPts val="200"/>
              </a:spcAft>
            </a:pPr>
            <a:r>
              <a:rPr sz="1050" b="0">
                <a:solidFill>
                  <a:srgbClr val="1C2733"/>
                </a:solidFill>
                <a:latin typeface="Consolas"/>
              </a:rPr>
              <a:t>[1] Agent: Thanks for calling Verizon, this is Maria.</a:t>
            </a:r>
          </a:p>
          <a:p>
            <a:pPr>
              <a:spcAft>
                <a:spcPts val="200"/>
              </a:spcAft>
            </a:pPr>
            <a:r>
              <a:rPr sz="1050" b="0">
                <a:solidFill>
                  <a:srgbClr val="1C2733"/>
                </a:solidFill>
                <a:latin typeface="Consolas"/>
              </a:rPr>
              <a:t>[2] Cust : My bill went up $15 and I don't know why.</a:t>
            </a:r>
          </a:p>
          <a:p>
            <a:pPr>
              <a:spcAft>
                <a:spcPts val="200"/>
              </a:spcAft>
            </a:pPr>
            <a:r>
              <a:rPr sz="1050" b="0">
                <a:solidFill>
                  <a:srgbClr val="1C2733"/>
                </a:solidFill>
                <a:latin typeface="Consolas"/>
              </a:rPr>
              <a:t>[3] Agent: I see a one-time fee — I'll credit it today.</a:t>
            </a:r>
          </a:p>
          <a:p>
            <a:pPr>
              <a:spcAft>
                <a:spcPts val="200"/>
              </a:spcAft>
            </a:pPr>
            <a:r>
              <a:rPr sz="1050" b="0">
                <a:solidFill>
                  <a:srgbClr val="1C2733"/>
                </a:solidFill>
                <a:latin typeface="Consolas"/>
              </a:rPr>
              <a:t>[4] Cust : Oh, great — thank you!</a:t>
            </a:r>
          </a:p>
          <a:p>
            <a:pPr>
              <a:spcAft>
                <a:spcPts val="200"/>
              </a:spcAft>
            </a:pPr>
            <a:r>
              <a:rPr sz="1050" b="0">
                <a:solidFill>
                  <a:srgbClr val="1C2733"/>
                </a:solidFill>
                <a:latin typeface="Consolas"/>
              </a:rPr>
              <a:t>[5] Agent: You're on one line; a second is $30 and</a:t>
            </a:r>
          </a:p>
          <a:p>
            <a:pPr>
              <a:spcAft>
                <a:spcPts val="200"/>
              </a:spcAft>
            </a:pPr>
            <a:r>
              <a:rPr sz="1050" b="0">
                <a:solidFill>
                  <a:srgbClr val="1C2733"/>
                </a:solidFill>
                <a:latin typeface="Consolas"/>
              </a:rPr>
              <a:t>           saves on both. Want me to set it up?</a:t>
            </a:r>
          </a:p>
          <a:p>
            <a:pPr>
              <a:spcAft>
                <a:spcPts val="200"/>
              </a:spcAft>
            </a:pPr>
            <a:r>
              <a:rPr sz="1050" b="0">
                <a:solidFill>
                  <a:srgbClr val="1C2733"/>
                </a:solidFill>
                <a:latin typeface="Consolas"/>
              </a:rPr>
              <a:t>[6] Cust : Sure, let's do it.</a:t>
            </a:r>
          </a:p>
          <a:p>
            <a:pPr>
              <a:spcAft>
                <a:spcPts val="200"/>
              </a:spcAft>
            </a:pPr>
            <a:r>
              <a:rPr sz="1050" b="0">
                <a:solidFill>
                  <a:srgbClr val="1C2733"/>
                </a:solidFill>
                <a:latin typeface="Consolas"/>
              </a:rPr>
              <a:t>[7] Agent: Done! Anything else? ... Have a great day.</a:t>
            </a:r>
          </a:p>
        </p:txBody>
      </p:sp>
      <p:sp>
        <p:nvSpPr>
          <p:cNvPr id="5" name="Rectangle 4"/>
          <p:cNvSpPr/>
          <p:nvPr/>
        </p:nvSpPr>
        <p:spPr>
          <a:xfrm>
            <a:off x="6903720" y="1691640"/>
            <a:ext cx="4663440" cy="3977639"/>
          </a:xfrm>
          <a:prstGeom prst="rect">
            <a:avLst/>
          </a:prstGeom>
          <a:solidFill>
            <a:srgbClr val="E8F0EA"/>
          </a:solidFill>
          <a:ln w="9525">
            <a:solidFill>
              <a:srgbClr val="D5DB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09728" tIns="109728" bIns="73152"/>
          <a:lstStyle/>
          <a:p>
            <a:pPr algn="ctr">
              <a:spcAft>
                <a:spcPts val="600"/>
              </a:spcAft>
            </a:pPr>
            <a:r>
              <a:rPr sz="1250" b="1">
                <a:solidFill>
                  <a:srgbClr val="2F6E4E"/>
                </a:solidFill>
                <a:latin typeface="Segoe UI"/>
              </a:rPr>
              <a:t>WHAT THE PIPELINE MEASURES</a:t>
            </a:r>
          </a:p>
          <a:p>
            <a:pPr>
              <a:spcAft>
                <a:spcPts val="200"/>
              </a:spcAft>
            </a:pPr>
            <a:r>
              <a:rPr sz="1050" b="0">
                <a:solidFill>
                  <a:srgbClr val="122A42"/>
                </a:solidFill>
                <a:latin typeface="Consolas"/>
              </a:rPr>
              <a:t>issue_resolved        = true    [3]</a:t>
            </a:r>
          </a:p>
          <a:p>
            <a:pPr>
              <a:spcAft>
                <a:spcPts val="200"/>
              </a:spcAft>
            </a:pPr>
            <a:r>
              <a:rPr sz="1050" b="0">
                <a:solidFill>
                  <a:srgbClr val="122A42"/>
                </a:solidFill>
                <a:latin typeface="Consolas"/>
              </a:rPr>
              <a:t>customer_experience   = Good    [4]</a:t>
            </a:r>
          </a:p>
          <a:p>
            <a:pPr>
              <a:spcAft>
                <a:spcPts val="200"/>
              </a:spcAft>
            </a:pPr>
            <a:r>
              <a:rPr sz="1050" b="0">
                <a:solidFill>
                  <a:srgbClr val="122A42"/>
                </a:solidFill>
                <a:latin typeface="Consolas"/>
              </a:rPr>
              <a:t>empathy / acknowledge = true    [3]</a:t>
            </a:r>
          </a:p>
          <a:p>
            <a:pPr>
              <a:spcAft>
                <a:spcPts val="200"/>
              </a:spcAft>
            </a:pPr>
            <a:r>
              <a:rPr sz="1050" b="0">
                <a:solidFill>
                  <a:srgbClr val="122A42"/>
                </a:solidFill>
                <a:latin typeface="Consolas"/>
              </a:rPr>
              <a:t>new_line_opportunity  = true    [5]</a:t>
            </a:r>
          </a:p>
          <a:p>
            <a:pPr>
              <a:spcAft>
                <a:spcPts val="200"/>
              </a:spcAft>
            </a:pPr>
            <a:r>
              <a:rPr sz="1050" b="0">
                <a:solidFill>
                  <a:srgbClr val="122A42"/>
                </a:solidFill>
                <a:latin typeface="Consolas"/>
              </a:rPr>
              <a:t>pitched_new_line      = true    [5]</a:t>
            </a:r>
          </a:p>
          <a:p>
            <a:pPr>
              <a:spcAft>
                <a:spcPts val="200"/>
              </a:spcAft>
            </a:pPr>
            <a:r>
              <a:rPr sz="1050" b="0">
                <a:solidFill>
                  <a:srgbClr val="122A42"/>
                </a:solidFill>
                <a:latin typeface="Consolas"/>
              </a:rPr>
              <a:t>sale_made             = true    [6]</a:t>
            </a:r>
          </a:p>
          <a:p>
            <a:pPr>
              <a:spcAft>
                <a:spcPts val="200"/>
              </a:spcAft>
            </a:pPr>
            <a:r>
              <a:rPr sz="1050" b="0">
                <a:solidFill>
                  <a:srgbClr val="122A42"/>
                </a:solidFill>
                <a:latin typeface="Consolas"/>
              </a:rPr>
              <a:t>professional_tone     = true  [1,7]</a:t>
            </a:r>
          </a:p>
          <a:p>
            <a:pPr>
              <a:spcAft>
                <a:spcPts val="200"/>
              </a:spcAft>
            </a:pPr>
            <a:r>
              <a:rPr sz="1050" b="0">
                <a:solidFill>
                  <a:srgbClr val="122A42"/>
                </a:solidFill>
                <a:latin typeface="Consolas"/>
              </a:rPr>
              <a:t>escalation            = none     —</a:t>
            </a:r>
          </a:p>
          <a:p>
            <a:pPr>
              <a:spcAft>
                <a:spcPts val="200"/>
              </a:spcAft>
            </a:pPr>
            <a:r>
              <a:rPr sz="1050" b="0">
                <a:solidFill>
                  <a:srgbClr val="1C2733"/>
                </a:solidFill>
                <a:latin typeface="Segoe UI"/>
              </a:rPr>
              <a:t/>
            </a:r>
          </a:p>
          <a:p>
            <a:pPr>
              <a:spcAft>
                <a:spcPts val="200"/>
              </a:spcAft>
            </a:pPr>
            <a:r>
              <a:rPr sz="1050" b="0">
                <a:solidFill>
                  <a:srgbClr val="2F6E4E"/>
                </a:solidFill>
                <a:latin typeface="Segoe UI"/>
              </a:rPr>
              <a:t>→ KPIs: new_line_pitches +1, sale +1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5806440"/>
            <a:ext cx="10927080" cy="731520"/>
          </a:xfrm>
          <a:prstGeom prst="rect">
            <a:avLst/>
          </a:prstGeom>
          <a:solidFill>
            <a:srgbClr val="EAEE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/>
          <a:lstStyle/>
          <a:p>
            <a:pPr algn="ctr">
              <a:spcAft>
                <a:spcPts val="0"/>
              </a:spcAft>
            </a:pPr>
            <a:r>
              <a:rPr sz="1350" b="1">
                <a:solidFill>
                  <a:srgbClr val="122A42"/>
                </a:solidFill>
                <a:latin typeface="Segoe UI"/>
              </a:rPr>
              <a:t>Eight lines of call → nine metrics, each pinned to a line number. Nothing is a black box.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632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47472"/>
            <a:ext cx="112471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 b="1">
                <a:solidFill>
                  <a:srgbClr val="16324F"/>
                </a:solidFill>
                <a:latin typeface="Segoe UI"/>
              </a:rPr>
              <a:t>EXAMPLE 2 · THE NUANCE</a:t>
            </a:r>
          </a:p>
          <a:p>
            <a:pPr>
              <a:spcAft>
                <a:spcPts val="0"/>
              </a:spcAft>
            </a:pPr>
            <a:r>
              <a:rPr sz="2400" b="1">
                <a:solidFill>
                  <a:srgbClr val="1C2733"/>
                </a:solidFill>
                <a:latin typeface="Segoe UI"/>
              </a:rPr>
              <a:t>A frustrated repeat caller — where judgment matters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691640"/>
            <a:ext cx="6035040" cy="3977639"/>
          </a:xfrm>
          <a:prstGeom prst="rect">
            <a:avLst/>
          </a:prstGeom>
          <a:solidFill>
            <a:srgbClr val="F3F1EC"/>
          </a:solidFill>
          <a:ln w="9525">
            <a:solidFill>
              <a:srgbClr val="D5DB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09728" tIns="109728" bIns="73152"/>
          <a:lstStyle/>
          <a:p>
            <a:pPr algn="ctr">
              <a:spcAft>
                <a:spcPts val="600"/>
              </a:spcAft>
            </a:pPr>
            <a:r>
              <a:rPr sz="1250" b="1">
                <a:solidFill>
                  <a:srgbClr val="122A42"/>
                </a:solidFill>
                <a:latin typeface="Segoe UI"/>
              </a:rPr>
              <a:t>MOCK CALL TRANSCRIPT — APIX example (illustrative)</a:t>
            </a:r>
          </a:p>
          <a:p>
            <a:pPr>
              <a:spcAft>
                <a:spcPts val="200"/>
              </a:spcAft>
            </a:pPr>
            <a:r>
              <a:rPr sz="1050" b="0">
                <a:solidFill>
                  <a:srgbClr val="1C2733"/>
                </a:solidFill>
                <a:latin typeface="Consolas"/>
              </a:rPr>
              <a:t>[1] Cust : I've called twice about my hotspot.</a:t>
            </a:r>
          </a:p>
          <a:p>
            <a:pPr>
              <a:spcAft>
                <a:spcPts val="200"/>
              </a:spcAft>
            </a:pPr>
            <a:r>
              <a:rPr sz="1050" b="0">
                <a:solidFill>
                  <a:srgbClr val="1C2733"/>
                </a:solidFill>
                <a:latin typeface="Consolas"/>
              </a:rPr>
              <a:t>           This is ridiculous.</a:t>
            </a:r>
          </a:p>
          <a:p>
            <a:pPr>
              <a:spcAft>
                <a:spcPts val="200"/>
              </a:spcAft>
            </a:pPr>
            <a:r>
              <a:rPr sz="1050" b="0">
                <a:solidFill>
                  <a:srgbClr val="1C2733"/>
                </a:solidFill>
                <a:latin typeface="Consolas"/>
              </a:rPr>
              <a:t>[2] Agent: Let me check... try toggling this setting.</a:t>
            </a:r>
          </a:p>
          <a:p>
            <a:pPr>
              <a:spcAft>
                <a:spcPts val="200"/>
              </a:spcAft>
            </a:pPr>
            <a:r>
              <a:rPr sz="1050" b="0">
                <a:solidFill>
                  <a:srgbClr val="1C2733"/>
                </a:solidFill>
                <a:latin typeface="Consolas"/>
              </a:rPr>
              <a:t>[3] Cust : Fine. That worked. Finally.</a:t>
            </a:r>
          </a:p>
          <a:p>
            <a:pPr>
              <a:spcAft>
                <a:spcPts val="200"/>
              </a:spcAft>
            </a:pPr>
            <a:r>
              <a:rPr sz="1050" b="0">
                <a:solidFill>
                  <a:srgbClr val="1C2733"/>
                </a:solidFill>
                <a:latin typeface="Consolas"/>
              </a:rPr>
              <a:t>[4] Agent: Glad it's sorted. Anything else?</a:t>
            </a:r>
          </a:p>
          <a:p>
            <a:pPr>
              <a:spcAft>
                <a:spcPts val="200"/>
              </a:spcAft>
            </a:pPr>
            <a:r>
              <a:rPr sz="1050" b="0">
                <a:solidFill>
                  <a:srgbClr val="1C2733"/>
                </a:solidFill>
                <a:latin typeface="Consolas"/>
              </a:rPr>
              <a:t>[5] Cust : No. Bye.</a:t>
            </a:r>
          </a:p>
        </p:txBody>
      </p:sp>
      <p:sp>
        <p:nvSpPr>
          <p:cNvPr id="5" name="Rectangle 4"/>
          <p:cNvSpPr/>
          <p:nvPr/>
        </p:nvSpPr>
        <p:spPr>
          <a:xfrm>
            <a:off x="6903720" y="1691640"/>
            <a:ext cx="4663440" cy="3977639"/>
          </a:xfrm>
          <a:prstGeom prst="rect">
            <a:avLst/>
          </a:prstGeom>
          <a:solidFill>
            <a:srgbClr val="F2EBDE"/>
          </a:solidFill>
          <a:ln w="9525">
            <a:solidFill>
              <a:srgbClr val="D5DB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09728" tIns="109728" bIns="73152"/>
          <a:lstStyle/>
          <a:p>
            <a:pPr algn="ctr">
              <a:spcAft>
                <a:spcPts val="600"/>
              </a:spcAft>
            </a:pPr>
            <a:r>
              <a:rPr sz="1250" b="1">
                <a:solidFill>
                  <a:srgbClr val="8A5A1B"/>
                </a:solidFill>
                <a:latin typeface="Segoe UI"/>
              </a:rPr>
              <a:t>NUANCES THE PIPELINE CAPTURES</a:t>
            </a:r>
          </a:p>
          <a:p>
            <a:pPr>
              <a:spcAft>
                <a:spcPts val="200"/>
              </a:spcAft>
            </a:pPr>
            <a:r>
              <a:rPr sz="1050" b="0">
                <a:solidFill>
                  <a:srgbClr val="122A42"/>
                </a:solidFill>
                <a:latin typeface="Consolas"/>
              </a:rPr>
              <a:t>frustration: start 7 → end 3   [1→3]</a:t>
            </a:r>
          </a:p>
          <a:p>
            <a:pPr>
              <a:spcAft>
                <a:spcPts val="200"/>
              </a:spcAft>
            </a:pPr>
            <a:r>
              <a:rPr sz="1050" b="0">
                <a:solidFill>
                  <a:srgbClr val="8A5A1B"/>
                </a:solidFill>
                <a:latin typeface="Consolas"/>
              </a:rPr>
              <a:t>escalation = none  (frustrated,</a:t>
            </a:r>
          </a:p>
          <a:p>
            <a:pPr>
              <a:spcAft>
                <a:spcPts val="200"/>
              </a:spcAft>
            </a:pPr>
            <a:r>
              <a:rPr sz="1050" b="0">
                <a:solidFill>
                  <a:srgbClr val="8A5A1B"/>
                </a:solidFill>
                <a:latin typeface="Consolas"/>
              </a:rPr>
              <a:t>   but never asked to escalate) [1]</a:t>
            </a:r>
          </a:p>
          <a:p>
            <a:pPr>
              <a:spcAft>
                <a:spcPts val="200"/>
              </a:spcAft>
            </a:pPr>
            <a:r>
              <a:rPr sz="1050" b="0">
                <a:solidFill>
                  <a:srgbClr val="122A42"/>
                </a:solidFill>
                <a:latin typeface="Consolas"/>
              </a:rPr>
              <a:t>issue_resolved = true          [3]</a:t>
            </a:r>
          </a:p>
          <a:p>
            <a:pPr>
              <a:spcAft>
                <a:spcPts val="200"/>
              </a:spcAft>
            </a:pPr>
            <a:r>
              <a:rPr sz="1050" b="0">
                <a:solidFill>
                  <a:srgbClr val="8A5A1B"/>
                </a:solidFill>
                <a:latin typeface="Consolas"/>
              </a:rPr>
              <a:t>repeat_contact_risk = true</a:t>
            </a:r>
          </a:p>
          <a:p>
            <a:pPr>
              <a:spcAft>
                <a:spcPts val="200"/>
              </a:spcAft>
            </a:pPr>
            <a:r>
              <a:rPr sz="1050" b="0">
                <a:solidFill>
                  <a:srgbClr val="8A5A1B"/>
                </a:solidFill>
                <a:latin typeface="Consolas"/>
              </a:rPr>
              <a:t>   ("called twice")           [1]</a:t>
            </a:r>
          </a:p>
          <a:p>
            <a:pPr>
              <a:spcAft>
                <a:spcPts val="200"/>
              </a:spcAft>
            </a:pPr>
            <a:r>
              <a:rPr sz="1050" b="0">
                <a:solidFill>
                  <a:srgbClr val="8A5A1B"/>
                </a:solidFill>
                <a:latin typeface="Consolas"/>
              </a:rPr>
              <a:t>acknowledgment = weak (didn't</a:t>
            </a:r>
          </a:p>
          <a:p>
            <a:pPr>
              <a:spcAft>
                <a:spcPts val="200"/>
              </a:spcAft>
            </a:pPr>
            <a:r>
              <a:rPr sz="1050" b="0">
                <a:solidFill>
                  <a:srgbClr val="8A5A1B"/>
                </a:solidFill>
                <a:latin typeface="Consolas"/>
              </a:rPr>
              <a:t>   own the repeat contact)     [2]</a:t>
            </a:r>
          </a:p>
          <a:p>
            <a:pPr>
              <a:spcAft>
                <a:spcPts val="200"/>
              </a:spcAft>
            </a:pPr>
            <a:r>
              <a:rPr sz="1050" b="0">
                <a:solidFill>
                  <a:srgbClr val="1C2733"/>
                </a:solidFill>
                <a:latin typeface="Segoe UI"/>
              </a:rPr>
              <a:t/>
            </a:r>
          </a:p>
          <a:p>
            <a:pPr>
              <a:spcAft>
                <a:spcPts val="200"/>
              </a:spcAft>
            </a:pPr>
            <a:r>
              <a:rPr sz="1050" b="0">
                <a:solidFill>
                  <a:srgbClr val="2F6E4E"/>
                </a:solidFill>
                <a:latin typeface="Segoe UI"/>
              </a:rPr>
              <a:t>→ coaching: acknowledge the repeat</a:t>
            </a:r>
          </a:p>
          <a:p>
            <a:pPr>
              <a:spcAft>
                <a:spcPts val="200"/>
              </a:spcAft>
            </a:pPr>
            <a:r>
              <a:rPr sz="1050" b="0">
                <a:solidFill>
                  <a:srgbClr val="2F6E4E"/>
                </a:solidFill>
                <a:latin typeface="Segoe UI"/>
              </a:rPr>
              <a:t>   contact; check data-plan fit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5806440"/>
            <a:ext cx="10927080" cy="731520"/>
          </a:xfrm>
          <a:prstGeom prst="rect">
            <a:avLst/>
          </a:prstGeom>
          <a:solidFill>
            <a:srgbClr val="EAEE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/>
          <a:lstStyle/>
          <a:p>
            <a:pPr algn="ctr">
              <a:spcAft>
                <a:spcPts val="0"/>
              </a:spcAft>
            </a:pPr>
            <a:r>
              <a:rPr sz="1350" b="1">
                <a:solidFill>
                  <a:srgbClr val="122A42"/>
                </a:solidFill>
                <a:latin typeface="Segoe UI"/>
              </a:rPr>
              <a:t>The hard cases are handled: frustration is NOT the same as an escalation; a resolved call can still be a missed opportunity and a repeat-contact risk.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632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47472"/>
            <a:ext cx="112471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 b="1">
                <a:solidFill>
                  <a:srgbClr val="16324F"/>
                </a:solidFill>
                <a:latin typeface="Segoe UI"/>
              </a:rPr>
              <a:t>METRIC COVERAGE</a:t>
            </a:r>
          </a:p>
          <a:p>
            <a:pPr>
              <a:spcAft>
                <a:spcPts val="0"/>
              </a:spcAft>
            </a:pPr>
            <a:r>
              <a:rPr sz="2400" b="1">
                <a:solidFill>
                  <a:srgbClr val="1C2733"/>
                </a:solidFill>
                <a:latin typeface="Segoe UI"/>
              </a:rPr>
              <a:t>One 90-second call — everything the pipeline measures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783080"/>
          <a:ext cx="10927080" cy="438912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828800"/>
                <a:gridCol w="4114800"/>
                <a:gridCol w="2468880"/>
                <a:gridCol w="2514600"/>
              </a:tblGrid>
              <a:tr h="54864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Category</a:t>
                      </a:r>
                    </a:p>
                  </a:txBody>
                  <a:tcPr anchor="ctr" marL="82296" marR="45720" marT="18288" marB="18288">
                    <a:solidFill>
                      <a:srgbClr val="16324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Metric</a:t>
                      </a:r>
                    </a:p>
                  </a:txBody>
                  <a:tcPr anchor="ctr" marL="82296" marR="45720" marT="18288" marB="18288">
                    <a:solidFill>
                      <a:srgbClr val="16324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Value</a:t>
                      </a:r>
                    </a:p>
                  </a:txBody>
                  <a:tcPr anchor="ctr" marL="82296" marR="45720" marT="18288" marB="18288">
                    <a:solidFill>
                      <a:srgbClr val="16324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Evidence</a:t>
                      </a:r>
                    </a:p>
                  </a:txBody>
                  <a:tcPr anchor="ctr" marL="82296" marR="45720" marT="18288" marB="18288">
                    <a:solidFill>
                      <a:srgbClr val="16324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1C2733"/>
                          </a:solidFill>
                          <a:latin typeface="Segoe UI"/>
                        </a:rPr>
                        <a:t>Outcome</a:t>
                      </a:r>
                    </a:p>
                  </a:txBody>
                  <a:tcPr anchor="ctr" marL="82296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566573"/>
                          </a:solidFill>
                          <a:latin typeface="Consolas"/>
                        </a:rPr>
                        <a:t>issue_resolved</a:t>
                      </a:r>
                    </a:p>
                  </a:txBody>
                  <a:tcPr anchor="ctr" marL="82296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566573"/>
                          </a:solidFill>
                          <a:latin typeface="Consolas"/>
                        </a:rPr>
                        <a:t>true</a:t>
                      </a:r>
                    </a:p>
                  </a:txBody>
                  <a:tcPr anchor="ctr" marL="82296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566573"/>
                          </a:solidFill>
                          <a:latin typeface="Consolas"/>
                        </a:rPr>
                        <a:t>line 3</a:t>
                      </a:r>
                    </a:p>
                  </a:txBody>
                  <a:tcPr anchor="ctr" marL="82296" marR="45720" marT="18288" marB="18288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1C2733"/>
                          </a:solidFill>
                          <a:latin typeface="Segoe UI"/>
                        </a:rPr>
                        <a:t>Sales</a:t>
                      </a:r>
                    </a:p>
                  </a:txBody>
                  <a:tcPr anchor="ctr" marL="82296" marR="45720" marT="18288" marB="18288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566573"/>
                          </a:solidFill>
                          <a:latin typeface="Consolas"/>
                        </a:rPr>
                        <a:t>new_line pitched / sale_made</a:t>
                      </a:r>
                    </a:p>
                  </a:txBody>
                  <a:tcPr anchor="ctr" marL="82296" marR="45720" marT="18288" marB="18288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566573"/>
                          </a:solidFill>
                          <a:latin typeface="Consolas"/>
                        </a:rPr>
                        <a:t>true / true</a:t>
                      </a:r>
                    </a:p>
                  </a:txBody>
                  <a:tcPr anchor="ctr" marL="82296" marR="45720" marT="18288" marB="18288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566573"/>
                          </a:solidFill>
                          <a:latin typeface="Consolas"/>
                        </a:rPr>
                        <a:t>lines 5, 6</a:t>
                      </a:r>
                    </a:p>
                  </a:txBody>
                  <a:tcPr anchor="ctr" marL="82296" marR="45720" marT="18288" marB="18288">
                    <a:solidFill>
                      <a:srgbClr val="F6F8FA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1C2733"/>
                          </a:solidFill>
                          <a:latin typeface="Segoe UI"/>
                        </a:rPr>
                        <a:t>Experience</a:t>
                      </a:r>
                    </a:p>
                  </a:txBody>
                  <a:tcPr anchor="ctr" marL="82296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566573"/>
                          </a:solidFill>
                          <a:latin typeface="Consolas"/>
                        </a:rPr>
                        <a:t>customer_experience</a:t>
                      </a:r>
                    </a:p>
                  </a:txBody>
                  <a:tcPr anchor="ctr" marL="82296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566573"/>
                          </a:solidFill>
                          <a:latin typeface="Consolas"/>
                        </a:rPr>
                        <a:t>Good</a:t>
                      </a:r>
                    </a:p>
                  </a:txBody>
                  <a:tcPr anchor="ctr" marL="82296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566573"/>
                          </a:solidFill>
                          <a:latin typeface="Consolas"/>
                        </a:rPr>
                        <a:t>line 4</a:t>
                      </a:r>
                    </a:p>
                  </a:txBody>
                  <a:tcPr anchor="ctr" marL="82296" marR="45720" marT="18288" marB="18288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1C2733"/>
                          </a:solidFill>
                          <a:latin typeface="Segoe UI"/>
                        </a:rPr>
                        <a:t>Sentiment</a:t>
                      </a:r>
                    </a:p>
                  </a:txBody>
                  <a:tcPr anchor="ctr" marL="82296" marR="45720" marT="18288" marB="18288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566573"/>
                          </a:solidFill>
                          <a:latin typeface="Consolas"/>
                        </a:rPr>
                        <a:t>frustration (start → end)</a:t>
                      </a:r>
                    </a:p>
                  </a:txBody>
                  <a:tcPr anchor="ctr" marL="82296" marR="45720" marT="18288" marB="18288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566573"/>
                          </a:solidFill>
                          <a:latin typeface="Consolas"/>
                        </a:rPr>
                        <a:t>3 → 1</a:t>
                      </a:r>
                    </a:p>
                  </a:txBody>
                  <a:tcPr anchor="ctr" marL="82296" marR="45720" marT="18288" marB="18288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566573"/>
                          </a:solidFill>
                          <a:latin typeface="Consolas"/>
                        </a:rPr>
                        <a:t>lines 2, 4</a:t>
                      </a:r>
                    </a:p>
                  </a:txBody>
                  <a:tcPr anchor="ctr" marL="82296" marR="45720" marT="18288" marB="18288">
                    <a:solidFill>
                      <a:srgbClr val="F6F8FA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1C2733"/>
                          </a:solidFill>
                          <a:latin typeface="Segoe UI"/>
                        </a:rPr>
                        <a:t>Behaviour</a:t>
                      </a:r>
                    </a:p>
                  </a:txBody>
                  <a:tcPr anchor="ctr" marL="82296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566573"/>
                          </a:solidFill>
                          <a:latin typeface="Consolas"/>
                        </a:rPr>
                        <a:t>acknowledgment · empathy</a:t>
                      </a:r>
                    </a:p>
                  </a:txBody>
                  <a:tcPr anchor="ctr" marL="82296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566573"/>
                          </a:solidFill>
                          <a:latin typeface="Consolas"/>
                        </a:rPr>
                        <a:t>true · true</a:t>
                      </a:r>
                    </a:p>
                  </a:txBody>
                  <a:tcPr anchor="ctr" marL="82296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566573"/>
                          </a:solidFill>
                          <a:latin typeface="Consolas"/>
                        </a:rPr>
                        <a:t>line 3</a:t>
                      </a:r>
                    </a:p>
                  </a:txBody>
                  <a:tcPr anchor="ctr" marL="82296" marR="45720" marT="18288" marB="18288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1C2733"/>
                          </a:solidFill>
                          <a:latin typeface="Segoe UI"/>
                        </a:rPr>
                        <a:t>Soft skill</a:t>
                      </a:r>
                    </a:p>
                  </a:txBody>
                  <a:tcPr anchor="ctr" marL="82296" marR="45720" marT="18288" marB="18288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566573"/>
                          </a:solidFill>
                          <a:latin typeface="Consolas"/>
                        </a:rPr>
                        <a:t>professional_tone</a:t>
                      </a:r>
                    </a:p>
                  </a:txBody>
                  <a:tcPr anchor="ctr" marL="82296" marR="45720" marT="18288" marB="18288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566573"/>
                          </a:solidFill>
                          <a:latin typeface="Consolas"/>
                        </a:rPr>
                        <a:t>true</a:t>
                      </a:r>
                    </a:p>
                  </a:txBody>
                  <a:tcPr anchor="ctr" marL="82296" marR="45720" marT="18288" marB="18288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566573"/>
                          </a:solidFill>
                          <a:latin typeface="Consolas"/>
                        </a:rPr>
                        <a:t>lines 1, 7</a:t>
                      </a:r>
                    </a:p>
                  </a:txBody>
                  <a:tcPr anchor="ctr" marL="82296" marR="45720" marT="18288" marB="18288">
                    <a:solidFill>
                      <a:srgbClr val="F6F8FA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1C2733"/>
                          </a:solidFill>
                          <a:latin typeface="Segoe UI"/>
                        </a:rPr>
                        <a:t>Escalation</a:t>
                      </a:r>
                    </a:p>
                  </a:txBody>
                  <a:tcPr anchor="ctr" marL="82296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566573"/>
                          </a:solidFill>
                          <a:latin typeface="Consolas"/>
                        </a:rPr>
                        <a:t>escalation</a:t>
                      </a:r>
                    </a:p>
                  </a:txBody>
                  <a:tcPr anchor="ctr" marL="82296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566573"/>
                          </a:solidFill>
                          <a:latin typeface="Consolas"/>
                        </a:rPr>
                        <a:t>none</a:t>
                      </a:r>
                    </a:p>
                  </a:txBody>
                  <a:tcPr anchor="ctr" marL="82296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566573"/>
                          </a:solidFill>
                          <a:latin typeface="Consolas"/>
                        </a:rPr>
                        <a:t>—</a:t>
                      </a:r>
                    </a:p>
                  </a:txBody>
                  <a:tcPr anchor="ctr" marL="82296" marR="45720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640080" y="5806440"/>
            <a:ext cx="10927080" cy="777240"/>
          </a:xfrm>
          <a:prstGeom prst="rect">
            <a:avLst/>
          </a:prstGeom>
          <a:solidFill>
            <a:srgbClr val="EAEE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/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22A42"/>
                </a:solidFill>
                <a:latin typeface="Segoe UI"/>
              </a:rPr>
              <a:t>A single call is scored on ~30 fields across 7 categories — behaviours, outcomes, sentiment and evidence — not just one number. That breadth is the coverage.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632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47472"/>
            <a:ext cx="112471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 b="1">
                <a:solidFill>
                  <a:srgbClr val="16324F"/>
                </a:solidFill>
                <a:latin typeface="Segoe UI"/>
              </a:rPr>
              <a:t>KPIS BY PROGRAM</a:t>
            </a:r>
          </a:p>
          <a:p>
            <a:pPr>
              <a:spcAft>
                <a:spcPts val="0"/>
              </a:spcAft>
            </a:pPr>
            <a:r>
              <a:rPr sz="2400" b="1">
                <a:solidFill>
                  <a:srgbClr val="1C2733"/>
                </a:solidFill>
                <a:latin typeface="Segoe UI"/>
              </a:rPr>
              <a:t>The same pipeline, three checklists — compared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828800"/>
          <a:ext cx="10927080" cy="310896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554480"/>
                <a:gridCol w="2011680"/>
                <a:gridCol w="3520440"/>
                <a:gridCol w="822960"/>
                <a:gridCol w="3017520"/>
              </a:tblGrid>
              <a:tr h="77724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Program</a:t>
                      </a:r>
                    </a:p>
                  </a:txBody>
                  <a:tcPr anchor="ctr" marL="82296" marR="45720" marT="18288" marB="18288">
                    <a:solidFill>
                      <a:srgbClr val="16324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Lens</a:t>
                      </a:r>
                    </a:p>
                  </a:txBody>
                  <a:tcPr anchor="ctr" marL="82296" marR="45720" marT="18288" marB="18288">
                    <a:solidFill>
                      <a:srgbClr val="16324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Example KPIs</a:t>
                      </a:r>
                    </a:p>
                  </a:txBody>
                  <a:tcPr anchor="ctr" marL="82296" marR="45720" marT="18288" marB="18288">
                    <a:solidFill>
                      <a:srgbClr val="16324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KPIs</a:t>
                      </a:r>
                    </a:p>
                  </a:txBody>
                  <a:tcPr anchor="ctr" marL="82296" marR="45720" marT="18288" marB="18288">
                    <a:solidFill>
                      <a:srgbClr val="16324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A good week looks like</a:t>
                      </a:r>
                    </a:p>
                  </a:txBody>
                  <a:tcPr anchor="ctr" marL="82296" marR="45720" marT="18288" marB="18288">
                    <a:solidFill>
                      <a:srgbClr val="16324F"/>
                    </a:solidFill>
                  </a:tcPr>
                </a:tc>
              </a:tr>
              <a:tr h="777240"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1C2733"/>
                          </a:solidFill>
                          <a:latin typeface="Segoe UI"/>
                        </a:rPr>
                        <a:t>Telesales</a:t>
                      </a:r>
                    </a:p>
                  </a:txBody>
                  <a:tcPr anchor="ctr" marL="82296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566573"/>
                          </a:solidFill>
                          <a:latin typeface="Consolas"/>
                        </a:rPr>
                        <a:t>Sales</a:t>
                      </a:r>
                    </a:p>
                  </a:txBody>
                  <a:tcPr anchor="ctr" marL="82296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566573"/>
                          </a:solidFill>
                          <a:latin typeface="Consolas"/>
                        </a:rPr>
                        <a:t>New-line pitches · Upgrades · Saves</a:t>
                      </a:r>
                    </a:p>
                  </a:txBody>
                  <a:tcPr anchor="ctr" marL="82296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566573"/>
                          </a:solidFill>
                          <a:latin typeface="Consolas"/>
                        </a:rPr>
                        <a:t>12</a:t>
                      </a:r>
                    </a:p>
                  </a:txBody>
                  <a:tcPr anchor="ctr" marL="82296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566573"/>
                          </a:solidFill>
                          <a:latin typeface="Consolas"/>
                        </a:rPr>
                        <a:t>High pitch rate, few missed opportunities</a:t>
                      </a:r>
                    </a:p>
                  </a:txBody>
                  <a:tcPr anchor="ctr" marL="82296" marR="45720" marT="18288" marB="18288"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1C2733"/>
                          </a:solidFill>
                          <a:latin typeface="Segoe UI"/>
                        </a:rPr>
                        <a:t>WCC</a:t>
                      </a:r>
                    </a:p>
                  </a:txBody>
                  <a:tcPr anchor="ctr" marL="82296" marR="45720" marT="18288" marB="18288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566573"/>
                          </a:solidFill>
                          <a:latin typeface="Consolas"/>
                        </a:rPr>
                        <a:t>Care &amp; retention</a:t>
                      </a:r>
                    </a:p>
                  </a:txBody>
                  <a:tcPr anchor="ctr" marL="82296" marR="45720" marT="18288" marB="18288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566573"/>
                          </a:solidFill>
                          <a:latin typeface="Consolas"/>
                        </a:rPr>
                        <a:t>Resolutions · Saves · Right-of-sell</a:t>
                      </a:r>
                    </a:p>
                  </a:txBody>
                  <a:tcPr anchor="ctr" marL="82296" marR="45720" marT="18288" marB="18288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566573"/>
                          </a:solidFill>
                          <a:latin typeface="Consolas"/>
                        </a:rPr>
                        <a:t>11</a:t>
                      </a:r>
                    </a:p>
                  </a:txBody>
                  <a:tcPr anchor="ctr" marL="82296" marR="45720" marT="18288" marB="18288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566573"/>
                          </a:solidFill>
                          <a:latin typeface="Consolas"/>
                        </a:rPr>
                        <a:t>High resolution &amp; save rate</a:t>
                      </a:r>
                    </a:p>
                  </a:txBody>
                  <a:tcPr anchor="ctr" marL="82296" marR="45720" marT="18288" marB="18288">
                    <a:solidFill>
                      <a:srgbClr val="F6F8FA"/>
                    </a:solidFill>
                  </a:tcPr>
                </a:tc>
              </a:tr>
              <a:tr h="777240"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1C2733"/>
                          </a:solidFill>
                          <a:latin typeface="Segoe UI"/>
                        </a:rPr>
                        <a:t>PSO</a:t>
                      </a:r>
                    </a:p>
                  </a:txBody>
                  <a:tcPr anchor="ctr" marL="82296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566573"/>
                          </a:solidFill>
                          <a:latin typeface="Consolas"/>
                        </a:rPr>
                        <a:t>VZ Mobile care</a:t>
                      </a:r>
                    </a:p>
                  </a:txBody>
                  <a:tcPr anchor="ctr" marL="82296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566573"/>
                          </a:solidFill>
                          <a:latin typeface="Consolas"/>
                        </a:rPr>
                        <a:t>CSAT · FCR · Quality · Repeat-risk</a:t>
                      </a:r>
                    </a:p>
                  </a:txBody>
                  <a:tcPr anchor="ctr" marL="82296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566573"/>
                          </a:solidFill>
                          <a:latin typeface="Consolas"/>
                        </a:rPr>
                        <a:t>24</a:t>
                      </a:r>
                    </a:p>
                  </a:txBody>
                  <a:tcPr anchor="ctr" marL="82296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566573"/>
                          </a:solidFill>
                          <a:latin typeface="Consolas"/>
                        </a:rPr>
                        <a:t>High FCR, low repeat-contact risk</a:t>
                      </a:r>
                    </a:p>
                  </a:txBody>
                  <a:tcPr anchor="ctr" marL="82296" marR="45720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640080" y="5852160"/>
            <a:ext cx="10927080" cy="749808"/>
          </a:xfrm>
          <a:prstGeom prst="rect">
            <a:avLst/>
          </a:prstGeom>
          <a:solidFill>
            <a:srgbClr val="EAEE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/>
          <a:lstStyle/>
          <a:p>
            <a:pPr algn="ctr">
              <a:spcAft>
                <a:spcPts val="0"/>
              </a:spcAft>
            </a:pPr>
            <a:r>
              <a:rPr sz="1350" b="1">
                <a:solidFill>
                  <a:srgbClr val="122A42"/>
                </a:solidFill>
                <a:latin typeface="Segoe UI"/>
              </a:rPr>
              <a:t>“New-line pitches” only exists for Telesales; “FCR” only for PSO. Each program measures what a good call means for its own line of business.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632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47472"/>
            <a:ext cx="112471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 b="1">
                <a:solidFill>
                  <a:srgbClr val="16324F"/>
                </a:solidFill>
                <a:latin typeface="Segoe UI"/>
              </a:rPr>
              <a:t>GOLDEN DATA</a:t>
            </a:r>
          </a:p>
          <a:p>
            <a:pPr>
              <a:spcAft>
                <a:spcPts val="0"/>
              </a:spcAft>
            </a:pPr>
            <a:r>
              <a:rPr sz="2400" b="1">
                <a:solidFill>
                  <a:srgbClr val="1C2733"/>
                </a:solidFill>
                <a:latin typeface="Segoe UI"/>
              </a:rPr>
              <a:t>How we prove the scores are right — using the same calls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737360"/>
            <a:ext cx="54864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50" b="0">
                <a:solidFill>
                  <a:srgbClr val="1C2733"/>
                </a:solidFill>
                <a:latin typeface="Segoe UI"/>
              </a:rPr>
              <a:t>“Golden data” = real calls where coaches have</a:t>
            </a:r>
          </a:p>
          <a:p>
            <a:pPr>
              <a:spcAft>
                <a:spcPts val="600"/>
              </a:spcAft>
            </a:pPr>
            <a:r>
              <a:rPr sz="1350" b="0">
                <a:solidFill>
                  <a:srgbClr val="1C2733"/>
                </a:solidFill>
                <a:latin typeface="Segoe UI"/>
              </a:rPr>
              <a:t>certified the correct answers.</a:t>
            </a:r>
          </a:p>
          <a:p>
            <a:pPr>
              <a:spcAft>
                <a:spcPts val="600"/>
              </a:spcAft>
            </a:pPr>
            <a:r>
              <a:rPr sz="1350" b="0">
                <a:solidFill>
                  <a:srgbClr val="1C2733"/>
                </a:solidFill>
                <a:latin typeface="Segoe UI"/>
              </a:rPr>
              <a:t/>
            </a:r>
          </a:p>
          <a:p>
            <a:pPr>
              <a:spcAft>
                <a:spcPts val="600"/>
              </a:spcAft>
            </a:pPr>
            <a:r>
              <a:rPr sz="1350" b="0">
                <a:solidFill>
                  <a:srgbClr val="8A5A1B"/>
                </a:solidFill>
                <a:latin typeface="Segoe UI"/>
              </a:rPr>
              <a:t>✗ one call → one KPI value  (can't validate</a:t>
            </a:r>
          </a:p>
          <a:p>
            <a:pPr>
              <a:spcAft>
                <a:spcPts val="600"/>
              </a:spcAft>
            </a:pPr>
            <a:r>
              <a:rPr sz="1350" b="0">
                <a:solidFill>
                  <a:srgbClr val="566573"/>
                </a:solidFill>
                <a:latin typeface="Segoe UI"/>
              </a:rPr>
              <a:t>   a KPI averaged over many calls)</a:t>
            </a:r>
          </a:p>
          <a:p>
            <a:pPr>
              <a:spcAft>
                <a:spcPts val="600"/>
              </a:spcAft>
            </a:pPr>
            <a:r>
              <a:rPr sz="1350" b="0">
                <a:solidFill>
                  <a:srgbClr val="2F6E4E"/>
                </a:solidFill>
                <a:latin typeface="Segoe UI"/>
              </a:rPr>
              <a:t>✓ certify the per-call judgments; KPIs then</a:t>
            </a:r>
          </a:p>
          <a:p>
            <a:pPr>
              <a:spcAft>
                <a:spcPts val="600"/>
              </a:spcAft>
            </a:pPr>
            <a:r>
              <a:rPr sz="1350" b="0">
                <a:solidFill>
                  <a:srgbClr val="566573"/>
                </a:solidFill>
                <a:latin typeface="Segoe UI"/>
              </a:rPr>
              <a:t>   follow by counting — correct by construction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0" y="1737360"/>
            <a:ext cx="5166360" cy="2651760"/>
          </a:xfrm>
          <a:prstGeom prst="rect">
            <a:avLst/>
          </a:prstGeom>
          <a:solidFill>
            <a:srgbClr val="F3F1EC"/>
          </a:solidFill>
          <a:ln w="9525">
            <a:solidFill>
              <a:srgbClr val="D5DB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09728" tIns="109728" bIns="73152"/>
          <a:lstStyle/>
          <a:p>
            <a:pPr algn="ctr">
              <a:spcAft>
                <a:spcPts val="600"/>
              </a:spcAft>
            </a:pPr>
            <a:r>
              <a:rPr sz="1250" b="1">
                <a:solidFill>
                  <a:srgbClr val="122A42"/>
                </a:solidFill>
                <a:latin typeface="Segoe UI"/>
              </a:rPr>
              <a:t>ONE GOLDEN RECORD (from Example 2)</a:t>
            </a:r>
          </a:p>
          <a:p>
            <a:pPr>
              <a:spcAft>
                <a:spcPts val="200"/>
              </a:spcAft>
            </a:pPr>
            <a:r>
              <a:rPr sz="1050" b="0">
                <a:solidFill>
                  <a:srgbClr val="122A42"/>
                </a:solidFill>
                <a:latin typeface="Consolas"/>
              </a:rPr>
              <a:t>frustration_start   = 7        [1]</a:t>
            </a:r>
          </a:p>
          <a:p>
            <a:pPr>
              <a:spcAft>
                <a:spcPts val="200"/>
              </a:spcAft>
            </a:pPr>
            <a:r>
              <a:rPr sz="1050" b="0">
                <a:solidFill>
                  <a:srgbClr val="122A42"/>
                </a:solidFill>
                <a:latin typeface="Consolas"/>
              </a:rPr>
              <a:t>escalation          = none     [1]</a:t>
            </a:r>
          </a:p>
          <a:p>
            <a:pPr>
              <a:spcAft>
                <a:spcPts val="200"/>
              </a:spcAft>
            </a:pPr>
            <a:r>
              <a:rPr sz="1050" b="0">
                <a:solidFill>
                  <a:srgbClr val="122A42"/>
                </a:solidFill>
                <a:latin typeface="Consolas"/>
              </a:rPr>
              <a:t>issue_resolved      = true     [3]</a:t>
            </a:r>
          </a:p>
          <a:p>
            <a:pPr>
              <a:spcAft>
                <a:spcPts val="200"/>
              </a:spcAft>
            </a:pPr>
            <a:r>
              <a:rPr sz="1050" b="0">
                <a:solidFill>
                  <a:srgbClr val="122A42"/>
                </a:solidFill>
                <a:latin typeface="Consolas"/>
              </a:rPr>
              <a:t>repeat_contact_risk = true     [1]</a:t>
            </a:r>
          </a:p>
          <a:p>
            <a:pPr>
              <a:spcAft>
                <a:spcPts val="200"/>
              </a:spcAft>
            </a:pPr>
            <a:r>
              <a:rPr sz="1050" b="0">
                <a:solidFill>
                  <a:srgbClr val="566573"/>
                </a:solidFill>
                <a:latin typeface="Segoe UI"/>
              </a:rPr>
              <a:t>Certified by: 2 coaches · 8 Sep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0" y="4617720"/>
          <a:ext cx="10881360" cy="9144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148840"/>
                <a:gridCol w="2194560"/>
                <a:gridCol w="2148840"/>
                <a:gridCol w="2194560"/>
                <a:gridCol w="2194560"/>
              </a:tblGrid>
              <a:tr h="45720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Program</a:t>
                      </a:r>
                    </a:p>
                  </a:txBody>
                  <a:tcPr anchor="ctr" marL="82296" marR="45720" marT="18288" marB="18288">
                    <a:solidFill>
                      <a:srgbClr val="16324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Telesales</a:t>
                      </a:r>
                    </a:p>
                  </a:txBody>
                  <a:tcPr anchor="ctr" marL="82296" marR="45720" marT="18288" marB="18288">
                    <a:solidFill>
                      <a:srgbClr val="16324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WCC</a:t>
                      </a:r>
                    </a:p>
                  </a:txBody>
                  <a:tcPr anchor="ctr" marL="82296" marR="45720" marT="18288" marB="18288">
                    <a:solidFill>
                      <a:srgbClr val="16324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PSO</a:t>
                      </a:r>
                    </a:p>
                  </a:txBody>
                  <a:tcPr anchor="ctr" marL="82296" marR="45720" marT="18288" marB="18288">
                    <a:solidFill>
                      <a:srgbClr val="16324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Total</a:t>
                      </a:r>
                    </a:p>
                  </a:txBody>
                  <a:tcPr anchor="ctr" marL="82296" marR="45720" marT="18288" marB="18288">
                    <a:solidFill>
                      <a:srgbClr val="16324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1C2733"/>
                          </a:solidFill>
                          <a:latin typeface="Segoe UI"/>
                        </a:rPr>
                        <a:t>Golden calls</a:t>
                      </a:r>
                    </a:p>
                  </a:txBody>
                  <a:tcPr anchor="ctr" marL="82296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566573"/>
                          </a:solidFill>
                          <a:latin typeface="Consolas"/>
                        </a:rPr>
                        <a:t>150</a:t>
                      </a:r>
                    </a:p>
                  </a:txBody>
                  <a:tcPr anchor="ctr" marL="82296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566573"/>
                          </a:solidFill>
                          <a:latin typeface="Consolas"/>
                        </a:rPr>
                        <a:t>150</a:t>
                      </a:r>
                    </a:p>
                  </a:txBody>
                  <a:tcPr anchor="ctr" marL="82296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566573"/>
                          </a:solidFill>
                          <a:latin typeface="Consolas"/>
                        </a:rPr>
                        <a:t>200</a:t>
                      </a:r>
                    </a:p>
                  </a:txBody>
                  <a:tcPr anchor="ctr" marL="82296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566573"/>
                          </a:solidFill>
                          <a:latin typeface="Consolas"/>
                        </a:rPr>
                        <a:t>500</a:t>
                      </a:r>
                    </a:p>
                  </a:txBody>
                  <a:tcPr anchor="ctr" marL="82296" marR="45720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640080" y="5806440"/>
            <a:ext cx="10927080" cy="749808"/>
          </a:xfrm>
          <a:prstGeom prst="rect">
            <a:avLst/>
          </a:prstGeom>
          <a:solidFill>
            <a:srgbClr val="EAEE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/>
          <a:lstStyle/>
          <a:p>
            <a:pPr algn="ctr">
              <a:spcAft>
                <a:spcPts val="0"/>
              </a:spcAft>
            </a:pPr>
            <a:r>
              <a:rPr sz="1350" b="1">
                <a:solidFill>
                  <a:srgbClr val="122A42"/>
                </a:solidFill>
                <a:latin typeface="Segoe UI"/>
              </a:rPr>
              <a:t>A call is “golden” only when 2+ coaches agree. If they disagree, the definition is unclear — we fix it before it counts.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632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47472"/>
            <a:ext cx="112471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 b="1">
                <a:solidFill>
                  <a:srgbClr val="16324F"/>
                </a:solidFill>
                <a:latin typeface="Segoe UI"/>
              </a:rPr>
              <a:t>STATUS &amp; ASKS</a:t>
            </a:r>
          </a:p>
          <a:p>
            <a:pPr>
              <a:spcAft>
                <a:spcPts val="0"/>
              </a:spcAft>
            </a:pPr>
            <a:r>
              <a:rPr sz="2400" b="1">
                <a:solidFill>
                  <a:srgbClr val="1C2733"/>
                </a:solidFill>
                <a:latin typeface="Segoe UI"/>
              </a:rPr>
              <a:t>Where we are, and what we need from the business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737360"/>
            <a:ext cx="5486400" cy="2286000"/>
          </a:xfrm>
          <a:prstGeom prst="rect">
            <a:avLst/>
          </a:prstGeom>
          <a:solidFill>
            <a:srgbClr val="E8F0EA"/>
          </a:solidFill>
          <a:ln w="9525">
            <a:solidFill>
              <a:srgbClr val="D5DB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09728" tIns="109728" bIns="73152"/>
          <a:lstStyle/>
          <a:p>
            <a:pPr algn="ctr">
              <a:spcAft>
                <a:spcPts val="600"/>
              </a:spcAft>
            </a:pPr>
            <a:r>
              <a:rPr sz="1250" b="1">
                <a:solidFill>
                  <a:srgbClr val="2F6E4E"/>
                </a:solidFill>
                <a:latin typeface="Segoe UI"/>
              </a:rPr>
              <a:t>WHAT'S THERE</a:t>
            </a:r>
          </a:p>
          <a:p>
            <a:pPr>
              <a:spcAft>
                <a:spcPts val="200"/>
              </a:spcAft>
            </a:pPr>
            <a:r>
              <a:rPr sz="1150" b="0">
                <a:solidFill>
                  <a:srgbClr val="1C2733"/>
                </a:solidFill>
                <a:latin typeface="Segoe UI"/>
              </a:rPr>
              <a:t>47 KPIs mapped — field → calc → unit</a:t>
            </a:r>
          </a:p>
          <a:p>
            <a:pPr>
              <a:spcAft>
                <a:spcPts val="200"/>
              </a:spcAft>
            </a:pPr>
            <a:r>
              <a:rPr sz="1150" b="0">
                <a:solidFill>
                  <a:srgbClr val="1C2733"/>
                </a:solidFill>
                <a:latin typeface="Segoe UI"/>
              </a:rPr>
              <a:t>Every score tied to call evidence</a:t>
            </a:r>
          </a:p>
          <a:p>
            <a:pPr>
              <a:spcAft>
                <a:spcPts val="200"/>
              </a:spcAft>
            </a:pPr>
            <a:r>
              <a:rPr sz="1150" b="0">
                <a:solidFill>
                  <a:srgbClr val="1C2733"/>
                </a:solidFill>
                <a:latin typeface="Segoe UI"/>
              </a:rPr>
              <a:t>3 programs documented; labelling fixed</a:t>
            </a:r>
          </a:p>
          <a:p>
            <a:pPr>
              <a:spcAft>
                <a:spcPts val="200"/>
              </a:spcAft>
            </a:pPr>
            <a:r>
              <a:rPr sz="1150" b="0">
                <a:solidFill>
                  <a:srgbClr val="1C2733"/>
                </a:solidFill>
                <a:latin typeface="Segoe UI"/>
              </a:rPr>
              <a:t>Evaluation platform integrated</a:t>
            </a:r>
          </a:p>
        </p:txBody>
      </p:sp>
      <p:sp>
        <p:nvSpPr>
          <p:cNvPr id="5" name="Rectangle 4"/>
          <p:cNvSpPr/>
          <p:nvPr/>
        </p:nvSpPr>
        <p:spPr>
          <a:xfrm>
            <a:off x="6355080" y="1737360"/>
            <a:ext cx="5212080" cy="2286000"/>
          </a:xfrm>
          <a:prstGeom prst="rect">
            <a:avLst/>
          </a:prstGeom>
          <a:solidFill>
            <a:srgbClr val="F2EBDE"/>
          </a:solidFill>
          <a:ln w="9525">
            <a:solidFill>
              <a:srgbClr val="D5DB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09728" tIns="109728" bIns="73152"/>
          <a:lstStyle/>
          <a:p>
            <a:pPr algn="ctr">
              <a:spcAft>
                <a:spcPts val="600"/>
              </a:spcAft>
            </a:pPr>
            <a:r>
              <a:rPr sz="1250" b="1">
                <a:solidFill>
                  <a:srgbClr val="8A5A1B"/>
                </a:solidFill>
                <a:latin typeface="Segoe UI"/>
              </a:rPr>
              <a:t>WHAT WE NEED</a:t>
            </a:r>
          </a:p>
          <a:p>
            <a:pPr>
              <a:spcAft>
                <a:spcPts val="200"/>
              </a:spcAft>
            </a:pPr>
            <a:r>
              <a:rPr sz="1150" b="0">
                <a:solidFill>
                  <a:srgbClr val="1C2733"/>
                </a:solidFill>
                <a:latin typeface="Segoe UI"/>
              </a:rPr>
              <a:t>Golden data (certified calls) — with coaches</a:t>
            </a:r>
          </a:p>
          <a:p>
            <a:pPr>
              <a:spcAft>
                <a:spcPts val="200"/>
              </a:spcAft>
            </a:pPr>
            <a:r>
              <a:rPr sz="1150" b="0">
                <a:solidFill>
                  <a:srgbClr val="1C2733"/>
                </a:solidFill>
                <a:latin typeface="Segoe UI"/>
              </a:rPr>
              <a:t>Roll-up score re-specified per program</a:t>
            </a:r>
          </a:p>
          <a:p>
            <a:pPr>
              <a:spcAft>
                <a:spcPts val="200"/>
              </a:spcAft>
            </a:pPr>
            <a:r>
              <a:rPr sz="1150" b="0">
                <a:solidFill>
                  <a:srgbClr val="1C2733"/>
                </a:solidFill>
                <a:latin typeface="Segoe UI"/>
              </a:rPr>
              <a:t>Acceptance threshold per KPI</a:t>
            </a:r>
          </a:p>
          <a:p>
            <a:pPr>
              <a:spcAft>
                <a:spcPts val="200"/>
              </a:spcAft>
            </a:pPr>
            <a:r>
              <a:rPr sz="1150" b="0">
                <a:solidFill>
                  <a:srgbClr val="1C2733"/>
                </a:solidFill>
                <a:latin typeface="Segoe UI"/>
              </a:rPr>
              <a:t>A few definitions confirmed by SMEs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4251960"/>
          <a:ext cx="10927079" cy="18288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6949440"/>
                <a:gridCol w="3977639"/>
              </a:tblGrid>
              <a:tr h="45720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Ask the business</a:t>
                      </a:r>
                    </a:p>
                  </a:txBody>
                  <a:tcPr anchor="ctr" marL="82296" marR="45720" marT="18288" marB="18288">
                    <a:solidFill>
                      <a:srgbClr val="16324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Gives us</a:t>
                      </a:r>
                    </a:p>
                  </a:txBody>
                  <a:tcPr anchor="ctr" marL="82296" marR="45720" marT="18288" marB="18288">
                    <a:solidFill>
                      <a:srgbClr val="16324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1C2733"/>
                          </a:solidFill>
                          <a:latin typeface="Segoe UI"/>
                        </a:rPr>
                        <a:t>Certify labels on a sample of calls</a:t>
                      </a:r>
                    </a:p>
                  </a:txBody>
                  <a:tcPr anchor="ctr" marL="82296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566573"/>
                          </a:solidFill>
                          <a:latin typeface="Consolas"/>
                        </a:rPr>
                        <a:t>The golden dataset</a:t>
                      </a:r>
                    </a:p>
                  </a:txBody>
                  <a:tcPr anchor="ctr" marL="82296" marR="45720" marT="18288" marB="18288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1C2733"/>
                          </a:solidFill>
                          <a:latin typeface="Segoe UI"/>
                        </a:rPr>
                        <a:t>Confirm the flagged KPI definitions</a:t>
                      </a:r>
                    </a:p>
                  </a:txBody>
                  <a:tcPr anchor="ctr" marL="82296" marR="45720" marT="18288" marB="18288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566573"/>
                          </a:solidFill>
                          <a:latin typeface="Consolas"/>
                        </a:rPr>
                        <a:t>Correct metrics</a:t>
                      </a:r>
                    </a:p>
                  </a:txBody>
                  <a:tcPr anchor="ctr" marL="82296" marR="45720" marT="18288" marB="18288">
                    <a:solidFill>
                      <a:srgbClr val="F6F8FA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1C2733"/>
                          </a:solidFill>
                          <a:latin typeface="Segoe UI"/>
                        </a:rPr>
                        <a:t>Set the acceptable range per KPI</a:t>
                      </a:r>
                    </a:p>
                  </a:txBody>
                  <a:tcPr anchor="ctr" marL="82296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566573"/>
                          </a:solidFill>
                          <a:latin typeface="Consolas"/>
                        </a:rPr>
                        <a:t>The evaluation threshold</a:t>
                      </a:r>
                    </a:p>
                  </a:txBody>
                  <a:tcPr anchor="ctr" marL="82296" marR="45720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640080" y="5943600"/>
            <a:ext cx="10927080" cy="658368"/>
          </a:xfrm>
          <a:prstGeom prst="rect">
            <a:avLst/>
          </a:prstGeom>
          <a:solidFill>
            <a:srgbClr val="EAEE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/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22A42"/>
                </a:solidFill>
                <a:latin typeface="Segoe UI"/>
              </a:rPr>
              <a:t>The homework is done — the remaining asks are focused decisions, not basic definitions.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