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50" b="1">
                <a:solidFill>
                  <a:srgbClr val="0E7C74"/>
                </a:solidFill>
                <a:latin typeface="Segoe UI"/>
              </a:rPr>
              <a:t>APIX  ·  AI PIPELINE  ·  METRICS EXPLAINED</a:t>
            </a:r>
          </a:p>
          <a:p>
            <a:pPr>
              <a:spcAft>
                <a:spcPts val="0"/>
              </a:spcAft>
            </a:pPr>
            <a:r>
              <a:rPr sz="3400" b="1">
                <a:solidFill>
                  <a:srgbClr val="1A1F27"/>
                </a:solidFill>
                <a:latin typeface="Segoe UI"/>
              </a:rPr>
              <a:t>What we measure on every call —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A1F27"/>
                </a:solidFill>
                <a:latin typeface="Segoe UI"/>
              </a:rPr>
              <a:t>shown on real transcripts</a:t>
            </a:r>
          </a:p>
          <a:p>
            <a:pPr>
              <a:spcAft>
                <a:spcPts val="0"/>
              </a:spcAft>
            </a:pPr>
            <a:r>
              <a:rPr sz="1650" b="0">
                <a:solidFill>
                  <a:srgbClr val="535C6A"/>
                </a:solidFill>
                <a:latin typeface="Segoe UI"/>
              </a:rPr>
              <a:t>Each metric is tied to the exact line of the call that proves it. Scope: the AI-pipeline part of APIX.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50" b="0">
                <a:solidFill>
                  <a:srgbClr val="8A93A1"/>
                </a:solidFill>
                <a:latin typeface="Segoe UI"/>
              </a:rPr>
              <a:t>3 programs (Telesales · WCC · PSO)     47 KPIs + behaviours + soft skills     every metric evidence-backed     9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HOW IT WORKS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How a call turns into measured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486400" cy="18288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5 steps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1 · Denoise — clean the transcript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2 · Analysis — the AI scores each call (with evidence)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3 · Summary — roll a week into per-agent scores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4 · Individual metrics — add Verizon data + tips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5 · KPI aggregator — build the dashboard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691640"/>
            <a:ext cx="5212080" cy="182880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Four kinds of metric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KPIs — counts &amp; rates (e.g. pitches)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Behaviour / soft skills — 0–1 scores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Operational — AHT, VXS (Verizon data, not AI)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535C6A"/>
                </a:solidFill>
                <a:latin typeface="Segoe UI"/>
              </a:rPr>
              <a:t>Roll-up — the weekly status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94760"/>
            <a:ext cx="10927080" cy="86868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Only step 2 uses AI judgment; the rest is counting. And every judgment records the exact call line behind it — so any score can be shown and defended.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234440"/>
          </a:xfrm>
          <a:prstGeom prst="roundRect">
            <a:avLst/>
          </a:prstGeom>
          <a:solidFill>
            <a:srgbClr val="E1F0EE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WHY THIS MATTERS FOR THE CONVERSATION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0A5B55"/>
                </a:solidFill>
                <a:latin typeface="Segoe UI"/>
              </a:rPr>
              <a:t>Because each metric points to a line in the transcript, we can always answer “why did the agent get this score?”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35C6A"/>
                </a:solidFill>
                <a:latin typeface="Segoe UI"/>
              </a:rPr>
              <a:t>The next slides show three real calls and exactly what the pipeline measures on 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1 · TELESALES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A bill fix that becomes a sale — fully scored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035040" cy="3977639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TRANSCRIPT (excerpt)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[1] Agent: Thanks for calling Verizon, this is Maria.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[2] Cust : My bill went up $15 and I don't know why.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[3] Agent: I see a one-time fee — I'll credit it today.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[4] Cust : Oh, great — thank you!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[5] Agent: You're on one line; a second is $30 and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           saves on both. Want me to set it up?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[6] Cust : Sure, let's do it.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[7] Agent: Done! Anything else? ... Have a great 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663440" cy="3977639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 THE PIPELINE MEASURES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       = true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customer_experience   = Good    [4]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empathy / acknowledge = true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new_line_opportunity  = true    [5]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pitched_new_line      = true    [5]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sale_made             = true    [6]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professional_tone     = true  [1,7]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escalation            = none     —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→ KPIs: new_line_pitches +1, sale +1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Eight lines of call → nine metrics, each pinned to a line number. Nothing is a black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EXAMPLE 2 · THE NUANCE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A frustrated repeat caller — where judgment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035040" cy="3977639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TRANSCRIPT (excerpt)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[1] Cust : I've called twice about my hotspot.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           This is ridiculous.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[2] Agent: Let me check... try toggling this setting.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[3] Cust : Fine. That worked. Finally.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[4] Agent: Glad it's sorted. Anything else?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Consolas"/>
              </a:rPr>
              <a:t>[5] Cust : No. Bye.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663440" cy="3977639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NUANCES THE PIPELINE CAPTURES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frustration: start 7 → end 3   [1→3]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escalation = none  (frustrated,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but never asked to escalate)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= true      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repeat_contact_risk = true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("called twice")      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acknowledgment = weak (didn't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96E12"/>
                </a:solidFill>
                <a:latin typeface="Consolas"/>
              </a:rPr>
              <a:t>   own the repeat contact)     [2]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→ coaching: acknowledge the repeat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2E8B5E"/>
                </a:solidFill>
                <a:latin typeface="Segoe UI"/>
              </a:rPr>
              <a:t>   contact; check data-plan fit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27080" cy="73152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The hard cases are handled: frustration is NOT the same as an escalation; a resolved call can still be a missed opportunity and a repeat-contact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METRIC COVERAGE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One 90-second call — everything the pipeline measures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4114800"/>
                <a:gridCol w="2468880"/>
                <a:gridCol w="25146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Category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Outcome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issue_resolved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3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Sales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new_line pitched / sale_made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 / true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5, 6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Experience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customer_experience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Good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4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Sentiment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frustration (start → end)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3 → 1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2, 4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Behaviour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acknowledgment · empathy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 · true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 3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Soft skill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professional_tone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lines 1, 7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Escalation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escalation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none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06440"/>
            <a:ext cx="10927080" cy="777240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A5B55"/>
                </a:solidFill>
                <a:latin typeface="Segoe UI"/>
              </a:rPr>
              <a:t>A single call is scored on ~30 fields across 7 categories — behaviours, outcomes, sentiment and evidence — not just one number. That breadth is the coverage.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KPIS BY PROGRAM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The same pipeline, three checklists — compared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27080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2011680"/>
                <a:gridCol w="3520440"/>
                <a:gridCol w="822960"/>
                <a:gridCol w="301752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Lens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Example KPIs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 good week looks like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Sales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New-line pitches · Upgrades · Saves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12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pitch rate, few missed opportunities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Care &amp; retention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Resolutions · Saves · Right-of-sell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11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resolution &amp; save rate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VZ Mobile care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CSAT · FCR · Quality · Repeat-risk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24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535C6A"/>
                          </a:solidFill>
                          <a:latin typeface="Consolas"/>
                        </a:rPr>
                        <a:t>High FCR, low repeat-contact risk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585216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“New-line pitches” only exists for Telesales; “FCR” only for PSO. Each program measures what a good call means for its own line of business.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GOLDEN DATA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How we prove the scores are right — using the same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>“Golden data” = real calls where coaches have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>certified the correct answers.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A96E12"/>
                </a:solidFill>
                <a:latin typeface="Segoe UI"/>
              </a:rPr>
              <a:t>✗ one call → one KPI value  (can't validate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535C6A"/>
                </a:solidFill>
                <a:latin typeface="Segoe UI"/>
              </a:rPr>
              <a:t>   a KPI averaged over many calls)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E8B5E"/>
                </a:solidFill>
                <a:latin typeface="Segoe UI"/>
              </a:rPr>
              <a:t>✓ certify the per-call judgments; KPIs then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535C6A"/>
                </a:solidFill>
                <a:latin typeface="Segoe UI"/>
              </a:rPr>
              <a:t>   follow by counting — correct by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166360" cy="2651760"/>
          </a:xfrm>
          <a:prstGeom prst="roundRect">
            <a:avLst/>
          </a:prstGeom>
          <a:solidFill>
            <a:srgbClr val="F3F1EA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0A5B55"/>
                </a:solidFill>
                <a:latin typeface="Segoe UI"/>
              </a:rPr>
              <a:t>ONE GOLDEN RECORD (from Example 2)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frustration_start   = 7   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escalation          = none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issue_resolved      = true     [3]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0A5B55"/>
                </a:solidFill>
                <a:latin typeface="Consolas"/>
              </a:rPr>
              <a:t>repeat_contact_risk = true     [1]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535C6A"/>
                </a:solidFill>
                <a:latin typeface="Segoe UI"/>
              </a:rPr>
              <a:t>Certified by: 2 coaches · 8 Sep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4617720"/>
          <a:ext cx="10881360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194560"/>
                <a:gridCol w="2148840"/>
                <a:gridCol w="219456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1F27"/>
                          </a:solidFill>
                          <a:latin typeface="Segoe UI"/>
                        </a:rPr>
                        <a:t>Golden calls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150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150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535C6A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806440"/>
            <a:ext cx="10927080" cy="74980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0A5B55"/>
                </a:solidFill>
                <a:latin typeface="Segoe UI"/>
              </a:rPr>
              <a:t>A call is “golden” only when 2+ coaches agree. If they disagree, the definition is unclear — we fix it before it counts.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47472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E7C74"/>
                </a:solidFill>
                <a:latin typeface="Segoe UI"/>
              </a:rPr>
              <a:t>STATUS &amp; ASKS</a:t>
            </a:r>
          </a:p>
          <a:p>
            <a:pPr>
              <a:spcAft>
                <a:spcPts val="0"/>
              </a:spcAft>
            </a:pPr>
            <a:r>
              <a:rPr sz="2400" b="1">
                <a:solidFill>
                  <a:srgbClr val="1A1F27"/>
                </a:solidFill>
                <a:latin typeface="Segoe UI"/>
              </a:rPr>
              <a:t>Where we are, and what we need from the business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486400" cy="2286000"/>
          </a:xfrm>
          <a:prstGeom prst="roundRect">
            <a:avLst/>
          </a:prstGeom>
          <a:solidFill>
            <a:srgbClr val="E4F3EB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47 KPIs mapped — field → calc → unit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Every score tied to call evidence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3 programs documented; labelling fixed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Evaluation platform integrated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737360"/>
            <a:ext cx="5212080" cy="2286000"/>
          </a:xfrm>
          <a:prstGeom prst="roundRect">
            <a:avLst/>
          </a:prstGeom>
          <a:solidFill>
            <a:srgbClr val="F6ECD6"/>
          </a:solidFill>
          <a:ln w="9525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109728" bIns="73152"/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Golden data (certified calls) — with coaches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Roll-up score re-specified per program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Acceptance threshold per KPI</a:t>
            </a:r>
          </a:p>
          <a:p>
            <a:pPr>
              <a:spcAft>
                <a:spcPts val="200"/>
              </a:spcAft>
            </a:pPr>
            <a:r>
              <a:rPr sz="1150" b="0">
                <a:solidFill>
                  <a:srgbClr val="1A1F27"/>
                </a:solidFill>
                <a:latin typeface="Segoe UI"/>
              </a:rPr>
              <a:t>A few definitions confirmed by SMEs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251960"/>
          <a:ext cx="10927079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49440"/>
                <a:gridCol w="39776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Ask the business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Gives us</a:t>
                      </a:r>
                    </a:p>
                  </a:txBody>
                  <a:tcPr anchor="ctr" marL="82296" marR="45720" marT="18288" marB="18288">
                    <a:solidFill>
                      <a:srgbClr val="0E7C7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Certify labels on a sample of calls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The golden dataset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Confirm the flagged KPI definitions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Correct metrics</a:t>
                      </a:r>
                    </a:p>
                  </a:txBody>
                  <a:tcPr anchor="ctr" marL="82296" marR="45720" marT="18288" marB="18288"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Set the acceptable range per KPI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Consolas"/>
                        </a:rPr>
                        <a:t>The evaluation threshold</a:t>
                      </a:r>
                    </a:p>
                  </a:txBody>
                  <a:tcPr anchor="ctr" marL="82296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943600"/>
            <a:ext cx="10927080" cy="658368"/>
          </a:xfrm>
          <a:prstGeom prst="roundRect">
            <a:avLst/>
          </a:prstGeom>
          <a:solidFill>
            <a:srgbClr val="E1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5B55"/>
                </a:solidFill>
                <a:latin typeface="Segoe UI"/>
              </a:rPr>
              <a:t>The homework is done — the remaining asks are focused decisions, not basic definitions.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