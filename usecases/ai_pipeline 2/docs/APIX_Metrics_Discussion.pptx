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E7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881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350" b="1">
                <a:solidFill>
                  <a:srgbClr val="0E7C74"/>
                </a:solidFill>
                <a:latin typeface="Segoe UI"/>
              </a:rPr>
              <a:t>APIX  ·  AI PIPELINE  ·  METRICS EXPLAINED</a:t>
            </a:r>
          </a:p>
          <a:p>
            <a:pPr>
              <a:spcAft>
                <a:spcPts val="0"/>
              </a:spcAft>
            </a:pPr>
            <a:r>
              <a:rPr sz="3400" b="1">
                <a:solidFill>
                  <a:srgbClr val="1A1F27"/>
                </a:solidFill>
                <a:latin typeface="Segoe UI"/>
              </a:rPr>
              <a:t>What we measure on every call —</a:t>
            </a:r>
          </a:p>
          <a:p>
            <a:pPr>
              <a:spcAft>
                <a:spcPts val="1400"/>
              </a:spcAft>
            </a:pPr>
            <a:r>
              <a:rPr sz="3400" b="1">
                <a:solidFill>
                  <a:srgbClr val="1A1F27"/>
                </a:solidFill>
                <a:latin typeface="Segoe UI"/>
              </a:rPr>
              <a:t>shown on real transcripts</a:t>
            </a:r>
          </a:p>
          <a:p>
            <a:pPr>
              <a:spcAft>
                <a:spcPts val="0"/>
              </a:spcAft>
            </a:pPr>
            <a:r>
              <a:rPr sz="1650" b="0">
                <a:solidFill>
                  <a:srgbClr val="535C6A"/>
                </a:solidFill>
                <a:latin typeface="Segoe UI"/>
              </a:rPr>
              <a:t>Each metric is tied to the exact line of the call that proves it. Scope: the AI-pipeline part of APIX.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85216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50" b="0">
                <a:solidFill>
                  <a:srgbClr val="8A93A1"/>
                </a:solidFill>
                <a:latin typeface="Segoe UI"/>
              </a:rPr>
              <a:t>3 programs (Telesales · WCC · PSO)     47 KPIs + behaviours + soft skills     every metric evidence-backed     9 Sep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E7C74"/>
                </a:solidFill>
                <a:latin typeface="Segoe UI"/>
              </a:rPr>
              <a:t>HOW IT WORKS</a:t>
            </a:r>
          </a:p>
          <a:p>
            <a:pPr>
              <a:spcAft>
                <a:spcPts val="0"/>
              </a:spcAft>
            </a:pPr>
            <a:r>
              <a:rPr sz="2400" b="1">
                <a:solidFill>
                  <a:srgbClr val="1A1F27"/>
                </a:solidFill>
                <a:latin typeface="Segoe UI"/>
              </a:rPr>
              <a:t>How a call turns into measured metrics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5486400" cy="1828800"/>
          </a:xfrm>
          <a:prstGeom prst="roundRect">
            <a:avLst/>
          </a:prstGeom>
          <a:solidFill>
            <a:srgbClr val="E1F0EE"/>
          </a:solidFill>
          <a:ln w="9525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09728" tIns="109728" bIns="73152"/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0E7C74"/>
                </a:solidFill>
                <a:latin typeface="Segoe UI"/>
              </a:rPr>
              <a:t>The 5 steps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1 · Denoise — clean the transcript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2 · Analysis — the AI scores each call (with evidence)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3 · Summary — roll a week into per-agent scores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4 · Individual metrics — add Verizon data + tips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5 · KPI aggregator — build the dashboard file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55080" y="1691640"/>
            <a:ext cx="5212080" cy="1828800"/>
          </a:xfrm>
          <a:prstGeom prst="roundRect">
            <a:avLst/>
          </a:prstGeom>
          <a:solidFill>
            <a:srgbClr val="E1F0EE"/>
          </a:solidFill>
          <a:ln w="9525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09728" tIns="109728" bIns="73152"/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0E7C74"/>
                </a:solidFill>
                <a:latin typeface="Segoe UI"/>
              </a:rPr>
              <a:t>Four kinds of metric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KPIs — counts &amp; rates (e.g. pitches)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Behaviour / soft skills — 0–1 scores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Operational — AHT, VXS (Verizon data, not AI)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Roll-up — the weekly status score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794760"/>
            <a:ext cx="10927080" cy="868680"/>
          </a:xfrm>
          <a:prstGeom prst="roundRect">
            <a:avLst/>
          </a:prstGeom>
          <a:solidFill>
            <a:srgbClr val="E1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A5B55"/>
                </a:solidFill>
                <a:latin typeface="Segoe UI"/>
              </a:rPr>
              <a:t>Only step 2 uses AI judgment; the rest is counting. And every judgment records the exact call line behind it — so any score can be shown and defended.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892040"/>
            <a:ext cx="10927080" cy="1234440"/>
          </a:xfrm>
          <a:prstGeom prst="roundRect">
            <a:avLst/>
          </a:prstGeom>
          <a:solidFill>
            <a:srgbClr val="E1F0EE"/>
          </a:solidFill>
          <a:ln w="9525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09728" tIns="109728" bIns="73152"/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0E7C74"/>
                </a:solidFill>
                <a:latin typeface="Segoe UI"/>
              </a:rPr>
              <a:t>WHY THIS MATTERS FOR THE CONVERSATION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0A5B55"/>
                </a:solidFill>
                <a:latin typeface="Segoe UI"/>
              </a:rPr>
              <a:t>Because each metric points to a line in the transcript, we can always answer “why did the agent get this score?”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535C6A"/>
                </a:solidFill>
                <a:latin typeface="Segoe UI"/>
              </a:rPr>
              <a:t>The next slides show three real calls and exactly what the pipeline measures on each.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E7C74"/>
                </a:solidFill>
                <a:latin typeface="Segoe UI"/>
              </a:rPr>
              <a:t>EXAMPLE 1 · TELESALES</a:t>
            </a:r>
          </a:p>
          <a:p>
            <a:pPr>
              <a:spcAft>
                <a:spcPts val="0"/>
              </a:spcAft>
            </a:pPr>
            <a:r>
              <a:rPr sz="2400" b="1">
                <a:solidFill>
                  <a:srgbClr val="1A1F27"/>
                </a:solidFill>
                <a:latin typeface="Segoe UI"/>
              </a:rPr>
              <a:t>A bill fix that becomes a sale — fully scored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6035040" cy="3977639"/>
          </a:xfrm>
          <a:prstGeom prst="roundRect">
            <a:avLst/>
          </a:prstGeom>
          <a:solidFill>
            <a:srgbClr val="F3F1EA"/>
          </a:solidFill>
          <a:ln w="9525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09728" tIns="109728" bIns="73152"/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0A5B55"/>
                </a:solidFill>
                <a:latin typeface="Segoe UI"/>
              </a:rPr>
              <a:t>MOCK CALL TRANSCRIPT — APIX example (illustrative)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A1F27"/>
                </a:solidFill>
                <a:latin typeface="Consolas"/>
              </a:rPr>
              <a:t>[1] Agent: Thanks for calling Verizon, this is Maria.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A1F27"/>
                </a:solidFill>
                <a:latin typeface="Consolas"/>
              </a:rPr>
              <a:t>[2] Cust : My bill went up $15 and I don't know why.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A1F27"/>
                </a:solidFill>
                <a:latin typeface="Consolas"/>
              </a:rPr>
              <a:t>[3] Agent: I see a one-time fee — I'll credit it today.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A1F27"/>
                </a:solidFill>
                <a:latin typeface="Consolas"/>
              </a:rPr>
              <a:t>[4] Cust : Oh, great — thank you!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A1F27"/>
                </a:solidFill>
                <a:latin typeface="Consolas"/>
              </a:rPr>
              <a:t>[5] Agent: You're on one line; a second is $30 and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A1F27"/>
                </a:solidFill>
                <a:latin typeface="Consolas"/>
              </a:rPr>
              <a:t>           saves on both. Want me to set it up?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A1F27"/>
                </a:solidFill>
                <a:latin typeface="Consolas"/>
              </a:rPr>
              <a:t>[6] Cust : Sure, let's do it.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A1F27"/>
                </a:solidFill>
                <a:latin typeface="Consolas"/>
              </a:rPr>
              <a:t>[7] Agent: Done! Anything else? ... Have a great day.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03720" y="1691640"/>
            <a:ext cx="4663440" cy="3977639"/>
          </a:xfrm>
          <a:prstGeom prst="roundRect">
            <a:avLst/>
          </a:prstGeom>
          <a:solidFill>
            <a:srgbClr val="E4F3EB"/>
          </a:solidFill>
          <a:ln w="9525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09728" tIns="109728" bIns="73152"/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2E8B5E"/>
                </a:solidFill>
                <a:latin typeface="Segoe UI"/>
              </a:rPr>
              <a:t>WHAT THE PIPELINE MEASURES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0A5B55"/>
                </a:solidFill>
                <a:latin typeface="Consolas"/>
              </a:rPr>
              <a:t>issue_resolved        = true    [3]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0A5B55"/>
                </a:solidFill>
                <a:latin typeface="Consolas"/>
              </a:rPr>
              <a:t>customer_experience   = Good    [4]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0A5B55"/>
                </a:solidFill>
                <a:latin typeface="Consolas"/>
              </a:rPr>
              <a:t>empathy / acknowledge = true    [3]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0A5B55"/>
                </a:solidFill>
                <a:latin typeface="Consolas"/>
              </a:rPr>
              <a:t>new_line_opportunity  = true    [5]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0A5B55"/>
                </a:solidFill>
                <a:latin typeface="Consolas"/>
              </a:rPr>
              <a:t>pitched_new_line      = true    [5]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0A5B55"/>
                </a:solidFill>
                <a:latin typeface="Consolas"/>
              </a:rPr>
              <a:t>sale_made             = true    [6]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0A5B55"/>
                </a:solidFill>
                <a:latin typeface="Consolas"/>
              </a:rPr>
              <a:t>professional_tone     = true  [1,7]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0A5B55"/>
                </a:solidFill>
                <a:latin typeface="Consolas"/>
              </a:rPr>
              <a:t>escalation            = none     —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A1F27"/>
                </a:solidFill>
                <a:latin typeface="Segoe UI"/>
              </a:rPr>
              <a:t/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2E8B5E"/>
                </a:solidFill>
                <a:latin typeface="Segoe UI"/>
              </a:rPr>
              <a:t>→ KPIs: new_line_pitches +1, sale +1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06440"/>
            <a:ext cx="10927080" cy="731520"/>
          </a:xfrm>
          <a:prstGeom prst="roundRect">
            <a:avLst/>
          </a:prstGeom>
          <a:solidFill>
            <a:srgbClr val="E1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0A5B55"/>
                </a:solidFill>
                <a:latin typeface="Segoe UI"/>
              </a:rPr>
              <a:t>Eight lines of call → nine metrics, each pinned to a line number. Nothing is a black box.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E7C74"/>
                </a:solidFill>
                <a:latin typeface="Segoe UI"/>
              </a:rPr>
              <a:t>EXAMPLE 2 · THE NUANCE</a:t>
            </a:r>
          </a:p>
          <a:p>
            <a:pPr>
              <a:spcAft>
                <a:spcPts val="0"/>
              </a:spcAft>
            </a:pPr>
            <a:r>
              <a:rPr sz="2400" b="1">
                <a:solidFill>
                  <a:srgbClr val="1A1F27"/>
                </a:solidFill>
                <a:latin typeface="Segoe UI"/>
              </a:rPr>
              <a:t>A frustrated repeat caller — where judgment matters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6035040" cy="3977639"/>
          </a:xfrm>
          <a:prstGeom prst="roundRect">
            <a:avLst/>
          </a:prstGeom>
          <a:solidFill>
            <a:srgbClr val="F3F1EA"/>
          </a:solidFill>
          <a:ln w="9525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09728" tIns="109728" bIns="73152"/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0A5B55"/>
                </a:solidFill>
                <a:latin typeface="Segoe UI"/>
              </a:rPr>
              <a:t>MOCK CALL TRANSCRIPT — APIX example (illustrative)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A1F27"/>
                </a:solidFill>
                <a:latin typeface="Consolas"/>
              </a:rPr>
              <a:t>[1] Cust : I've called twice about my hotspot.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A1F27"/>
                </a:solidFill>
                <a:latin typeface="Consolas"/>
              </a:rPr>
              <a:t>           This is ridiculous.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A1F27"/>
                </a:solidFill>
                <a:latin typeface="Consolas"/>
              </a:rPr>
              <a:t>[2] Agent: Let me check... try toggling this setting.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A1F27"/>
                </a:solidFill>
                <a:latin typeface="Consolas"/>
              </a:rPr>
              <a:t>[3] Cust : Fine. That worked. Finally.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A1F27"/>
                </a:solidFill>
                <a:latin typeface="Consolas"/>
              </a:rPr>
              <a:t>[4] Agent: Glad it's sorted. Anything else?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A1F27"/>
                </a:solidFill>
                <a:latin typeface="Consolas"/>
              </a:rPr>
              <a:t>[5] Cust : No. Bye.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03720" y="1691640"/>
            <a:ext cx="4663440" cy="3977639"/>
          </a:xfrm>
          <a:prstGeom prst="roundRect">
            <a:avLst/>
          </a:prstGeom>
          <a:solidFill>
            <a:srgbClr val="F6ECD6"/>
          </a:solidFill>
          <a:ln w="9525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09728" tIns="109728" bIns="73152"/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A96E12"/>
                </a:solidFill>
                <a:latin typeface="Segoe UI"/>
              </a:rPr>
              <a:t>NUANCES THE PIPELINE CAPTURES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0A5B55"/>
                </a:solidFill>
                <a:latin typeface="Consolas"/>
              </a:rPr>
              <a:t>frustration: start 7 → end 3   [1→3]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96E12"/>
                </a:solidFill>
                <a:latin typeface="Consolas"/>
              </a:rPr>
              <a:t>escalation = none  (frustrated,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96E12"/>
                </a:solidFill>
                <a:latin typeface="Consolas"/>
              </a:rPr>
              <a:t>   but never asked to escalate) [1]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0A5B55"/>
                </a:solidFill>
                <a:latin typeface="Consolas"/>
              </a:rPr>
              <a:t>issue_resolved = true          [3]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96E12"/>
                </a:solidFill>
                <a:latin typeface="Consolas"/>
              </a:rPr>
              <a:t>repeat_contact_risk = true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96E12"/>
                </a:solidFill>
                <a:latin typeface="Consolas"/>
              </a:rPr>
              <a:t>   ("called twice")           [1]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96E12"/>
                </a:solidFill>
                <a:latin typeface="Consolas"/>
              </a:rPr>
              <a:t>acknowledgment = weak (didn't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96E12"/>
                </a:solidFill>
                <a:latin typeface="Consolas"/>
              </a:rPr>
              <a:t>   own the repeat contact)     [2]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A1F27"/>
                </a:solidFill>
                <a:latin typeface="Segoe UI"/>
              </a:rPr>
              <a:t/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2E8B5E"/>
                </a:solidFill>
                <a:latin typeface="Segoe UI"/>
              </a:rPr>
              <a:t>→ coaching: acknowledge the repeat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2E8B5E"/>
                </a:solidFill>
                <a:latin typeface="Segoe UI"/>
              </a:rPr>
              <a:t>   contact; check data-plan fit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06440"/>
            <a:ext cx="10927080" cy="731520"/>
          </a:xfrm>
          <a:prstGeom prst="roundRect">
            <a:avLst/>
          </a:prstGeom>
          <a:solidFill>
            <a:srgbClr val="E1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0A5B55"/>
                </a:solidFill>
                <a:latin typeface="Segoe UI"/>
              </a:rPr>
              <a:t>The hard cases are handled: frustration is NOT the same as an escalation; a resolved call can still be a missed opportunity and a repeat-contact risk.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E7C74"/>
                </a:solidFill>
                <a:latin typeface="Segoe UI"/>
              </a:rPr>
              <a:t>METRIC COVERAGE</a:t>
            </a:r>
          </a:p>
          <a:p>
            <a:pPr>
              <a:spcAft>
                <a:spcPts val="0"/>
              </a:spcAft>
            </a:pPr>
            <a:r>
              <a:rPr sz="2400" b="1">
                <a:solidFill>
                  <a:srgbClr val="1A1F27"/>
                </a:solidFill>
                <a:latin typeface="Segoe UI"/>
              </a:rPr>
              <a:t>One 90-second call — everything the pipeline measures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83080"/>
          <a:ext cx="10927080" cy="4389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8800"/>
                <a:gridCol w="4114800"/>
                <a:gridCol w="2468880"/>
                <a:gridCol w="25146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Category</a:t>
                      </a:r>
                    </a:p>
                  </a:txBody>
                  <a:tcPr anchor="ctr" marL="82296" marR="45720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Metric</a:t>
                      </a:r>
                    </a:p>
                  </a:txBody>
                  <a:tcPr anchor="ctr" marL="82296" marR="45720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Value</a:t>
                      </a:r>
                    </a:p>
                  </a:txBody>
                  <a:tcPr anchor="ctr" marL="82296" marR="45720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Evidence</a:t>
                      </a:r>
                    </a:p>
                  </a:txBody>
                  <a:tcPr anchor="ctr" marL="82296" marR="45720" marT="18288" marB="18288">
                    <a:solidFill>
                      <a:srgbClr val="0E7C7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7"/>
                          </a:solidFill>
                          <a:latin typeface="Segoe UI"/>
                        </a:rPr>
                        <a:t>Outcome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issue_resolved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true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line 3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7"/>
                          </a:solidFill>
                          <a:latin typeface="Segoe UI"/>
                        </a:rPr>
                        <a:t>Sales</a:t>
                      </a:r>
                    </a:p>
                  </a:txBody>
                  <a:tcPr anchor="ctr" marL="82296" marR="45720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new_line pitched / sale_made</a:t>
                      </a:r>
                    </a:p>
                  </a:txBody>
                  <a:tcPr anchor="ctr" marL="82296" marR="45720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true / true</a:t>
                      </a:r>
                    </a:p>
                  </a:txBody>
                  <a:tcPr anchor="ctr" marL="82296" marR="45720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lines 5, 6</a:t>
                      </a:r>
                    </a:p>
                  </a:txBody>
                  <a:tcPr anchor="ctr" marL="82296" marR="45720" marT="18288" marB="18288"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7"/>
                          </a:solidFill>
                          <a:latin typeface="Segoe UI"/>
                        </a:rPr>
                        <a:t>Experience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customer_experience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Good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line 4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7"/>
                          </a:solidFill>
                          <a:latin typeface="Segoe UI"/>
                        </a:rPr>
                        <a:t>Sentiment</a:t>
                      </a:r>
                    </a:p>
                  </a:txBody>
                  <a:tcPr anchor="ctr" marL="82296" marR="45720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frustration (start → end)</a:t>
                      </a:r>
                    </a:p>
                  </a:txBody>
                  <a:tcPr anchor="ctr" marL="82296" marR="45720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3 → 1</a:t>
                      </a:r>
                    </a:p>
                  </a:txBody>
                  <a:tcPr anchor="ctr" marL="82296" marR="45720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lines 2, 4</a:t>
                      </a:r>
                    </a:p>
                  </a:txBody>
                  <a:tcPr anchor="ctr" marL="82296" marR="45720" marT="18288" marB="18288"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7"/>
                          </a:solidFill>
                          <a:latin typeface="Segoe UI"/>
                        </a:rPr>
                        <a:t>Behaviour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acknowledgment · empathy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true · true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line 3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7"/>
                          </a:solidFill>
                          <a:latin typeface="Segoe UI"/>
                        </a:rPr>
                        <a:t>Soft skill</a:t>
                      </a:r>
                    </a:p>
                  </a:txBody>
                  <a:tcPr anchor="ctr" marL="82296" marR="45720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professional_tone</a:t>
                      </a:r>
                    </a:p>
                  </a:txBody>
                  <a:tcPr anchor="ctr" marL="82296" marR="45720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true</a:t>
                      </a:r>
                    </a:p>
                  </a:txBody>
                  <a:tcPr anchor="ctr" marL="82296" marR="45720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lines 1, 7</a:t>
                      </a:r>
                    </a:p>
                  </a:txBody>
                  <a:tcPr anchor="ctr" marL="82296" marR="45720" marT="18288" marB="18288"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7"/>
                          </a:solidFill>
                          <a:latin typeface="Segoe UI"/>
                        </a:rPr>
                        <a:t>Escalation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escalation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none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0080" y="5806440"/>
            <a:ext cx="10927080" cy="777240"/>
          </a:xfrm>
          <a:prstGeom prst="roundRect">
            <a:avLst/>
          </a:prstGeom>
          <a:solidFill>
            <a:srgbClr val="E1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A5B55"/>
                </a:solidFill>
                <a:latin typeface="Segoe UI"/>
              </a:rPr>
              <a:t>A single call is scored on ~30 fields across 7 categories — behaviours, outcomes, sentiment and evidence — not just one number. That breadth is the coverage.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E7C74"/>
                </a:solidFill>
                <a:latin typeface="Segoe UI"/>
              </a:rPr>
              <a:t>KPIS BY PROGRAM</a:t>
            </a:r>
          </a:p>
          <a:p>
            <a:pPr>
              <a:spcAft>
                <a:spcPts val="0"/>
              </a:spcAft>
            </a:pPr>
            <a:r>
              <a:rPr sz="2400" b="1">
                <a:solidFill>
                  <a:srgbClr val="1A1F27"/>
                </a:solidFill>
                <a:latin typeface="Segoe UI"/>
              </a:rPr>
              <a:t>The same pipeline, three checklists — compared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28800"/>
          <a:ext cx="10927080" cy="31089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54480"/>
                <a:gridCol w="2011680"/>
                <a:gridCol w="3520440"/>
                <a:gridCol w="822960"/>
                <a:gridCol w="3017520"/>
              </a:tblGrid>
              <a:tr h="7772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Program</a:t>
                      </a:r>
                    </a:p>
                  </a:txBody>
                  <a:tcPr anchor="ctr" marL="82296" marR="45720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Lens</a:t>
                      </a:r>
                    </a:p>
                  </a:txBody>
                  <a:tcPr anchor="ctr" marL="82296" marR="45720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Example KPIs</a:t>
                      </a:r>
                    </a:p>
                  </a:txBody>
                  <a:tcPr anchor="ctr" marL="82296" marR="45720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KPIs</a:t>
                      </a:r>
                    </a:p>
                  </a:txBody>
                  <a:tcPr anchor="ctr" marL="82296" marR="45720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 good week looks like</a:t>
                      </a:r>
                    </a:p>
                  </a:txBody>
                  <a:tcPr anchor="ctr" marL="82296" marR="45720" marT="18288" marB="18288">
                    <a:solidFill>
                      <a:srgbClr val="0E7C74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7"/>
                          </a:solidFill>
                          <a:latin typeface="Segoe UI"/>
                        </a:rPr>
                        <a:t>Telesales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Sales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New-line pitches · Upgrades · Saves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12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High pitch rate, few missed opportunities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7"/>
                          </a:solidFill>
                          <a:latin typeface="Segoe UI"/>
                        </a:rPr>
                        <a:t>WCC</a:t>
                      </a:r>
                    </a:p>
                  </a:txBody>
                  <a:tcPr anchor="ctr" marL="82296" marR="45720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Care &amp; retention</a:t>
                      </a:r>
                    </a:p>
                  </a:txBody>
                  <a:tcPr anchor="ctr" marL="82296" marR="45720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Resolutions · Saves · Right-of-sell</a:t>
                      </a:r>
                    </a:p>
                  </a:txBody>
                  <a:tcPr anchor="ctr" marL="82296" marR="45720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11</a:t>
                      </a:r>
                    </a:p>
                  </a:txBody>
                  <a:tcPr anchor="ctr" marL="82296" marR="45720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High resolution &amp; save rate</a:t>
                      </a:r>
                    </a:p>
                  </a:txBody>
                  <a:tcPr anchor="ctr" marL="82296" marR="45720" marT="18288" marB="18288">
                    <a:solidFill>
                      <a:srgbClr val="F7F9F8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7"/>
                          </a:solidFill>
                          <a:latin typeface="Segoe UI"/>
                        </a:rPr>
                        <a:t>PSO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VZ Mobile care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CSAT · FCR · Quality · Repeat-risk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24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High FCR, low repeat-contact risk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0080" y="5852160"/>
            <a:ext cx="10927080" cy="749808"/>
          </a:xfrm>
          <a:prstGeom prst="roundRect">
            <a:avLst/>
          </a:prstGeom>
          <a:solidFill>
            <a:srgbClr val="E1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0A5B55"/>
                </a:solidFill>
                <a:latin typeface="Segoe UI"/>
              </a:rPr>
              <a:t>“New-line pitches” only exists for Telesales; “FCR” only for PSO. Each program measures what a good call means for its own line of business.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E7C74"/>
                </a:solidFill>
                <a:latin typeface="Segoe UI"/>
              </a:rPr>
              <a:t>GOLDEN DATA</a:t>
            </a:r>
          </a:p>
          <a:p>
            <a:pPr>
              <a:spcAft>
                <a:spcPts val="0"/>
              </a:spcAft>
            </a:pPr>
            <a:r>
              <a:rPr sz="2400" b="1">
                <a:solidFill>
                  <a:srgbClr val="1A1F27"/>
                </a:solidFill>
                <a:latin typeface="Segoe UI"/>
              </a:rPr>
              <a:t>How we prove the scores are right — using the same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37360"/>
            <a:ext cx="5486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 b="0">
                <a:solidFill>
                  <a:srgbClr val="1A1F27"/>
                </a:solidFill>
                <a:latin typeface="Segoe UI"/>
              </a:rPr>
              <a:t>“Golden data” = real calls where coaches have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A1F27"/>
                </a:solidFill>
                <a:latin typeface="Segoe UI"/>
              </a:rPr>
              <a:t>certified the correct answers.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A1F27"/>
                </a:solidFill>
                <a:latin typeface="Segoe UI"/>
              </a:rPr>
              <a:t/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A96E12"/>
                </a:solidFill>
                <a:latin typeface="Segoe UI"/>
              </a:rPr>
              <a:t>✗ one call → one KPI value  (can't validate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535C6A"/>
                </a:solidFill>
                <a:latin typeface="Segoe UI"/>
              </a:rPr>
              <a:t>   a KPI averaged over many calls)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2E8B5E"/>
                </a:solidFill>
                <a:latin typeface="Segoe UI"/>
              </a:rPr>
              <a:t>✓ certify the per-call judgments; KPIs then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535C6A"/>
                </a:solidFill>
                <a:latin typeface="Segoe UI"/>
              </a:rPr>
              <a:t>   follow by counting — correct by construction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737360"/>
            <a:ext cx="5166360" cy="2651760"/>
          </a:xfrm>
          <a:prstGeom prst="roundRect">
            <a:avLst/>
          </a:prstGeom>
          <a:solidFill>
            <a:srgbClr val="F3F1EA"/>
          </a:solidFill>
          <a:ln w="9525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09728" tIns="109728" bIns="73152"/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0A5B55"/>
                </a:solidFill>
                <a:latin typeface="Segoe UI"/>
              </a:rPr>
              <a:t>ONE GOLDEN RECORD (from Example 2)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0A5B55"/>
                </a:solidFill>
                <a:latin typeface="Consolas"/>
              </a:rPr>
              <a:t>frustration_start   = 7        [1]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0A5B55"/>
                </a:solidFill>
                <a:latin typeface="Consolas"/>
              </a:rPr>
              <a:t>escalation          = none     [1]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0A5B55"/>
                </a:solidFill>
                <a:latin typeface="Consolas"/>
              </a:rPr>
              <a:t>issue_resolved      = true     [3]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0A5B55"/>
                </a:solidFill>
                <a:latin typeface="Consolas"/>
              </a:rPr>
              <a:t>repeat_contact_risk = true     [1]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535C6A"/>
                </a:solidFill>
                <a:latin typeface="Segoe UI"/>
              </a:rPr>
              <a:t>Certified by: 2 coaches · 8 Sep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4617720"/>
          <a:ext cx="10881360" cy="9144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8840"/>
                <a:gridCol w="2194560"/>
                <a:gridCol w="2148840"/>
                <a:gridCol w="2194560"/>
                <a:gridCol w="21945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Program</a:t>
                      </a:r>
                    </a:p>
                  </a:txBody>
                  <a:tcPr anchor="ctr" marL="82296" marR="45720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Telesales</a:t>
                      </a:r>
                    </a:p>
                  </a:txBody>
                  <a:tcPr anchor="ctr" marL="82296" marR="45720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WCC</a:t>
                      </a:r>
                    </a:p>
                  </a:txBody>
                  <a:tcPr anchor="ctr" marL="82296" marR="45720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PSO</a:t>
                      </a:r>
                    </a:p>
                  </a:txBody>
                  <a:tcPr anchor="ctr" marL="82296" marR="45720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Total</a:t>
                      </a:r>
                    </a:p>
                  </a:txBody>
                  <a:tcPr anchor="ctr" marL="82296" marR="45720" marT="18288" marB="18288">
                    <a:solidFill>
                      <a:srgbClr val="0E7C7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1F27"/>
                          </a:solidFill>
                          <a:latin typeface="Segoe UI"/>
                        </a:rPr>
                        <a:t>Golden calls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35C6A"/>
                          </a:solidFill>
                          <a:latin typeface="Consolas"/>
                        </a:rPr>
                        <a:t>150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35C6A"/>
                          </a:solidFill>
                          <a:latin typeface="Consolas"/>
                        </a:rPr>
                        <a:t>150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35C6A"/>
                          </a:solidFill>
                          <a:latin typeface="Consolas"/>
                        </a:rPr>
                        <a:t>200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35C6A"/>
                          </a:solidFill>
                          <a:latin typeface="Consolas"/>
                        </a:rPr>
                        <a:t>500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5806440"/>
            <a:ext cx="10927080" cy="749808"/>
          </a:xfrm>
          <a:prstGeom prst="roundRect">
            <a:avLst/>
          </a:prstGeom>
          <a:solidFill>
            <a:srgbClr val="E1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0A5B55"/>
                </a:solidFill>
                <a:latin typeface="Segoe UI"/>
              </a:rPr>
              <a:t>A call is “golden” only when 2+ coaches agree. If they disagree, the definition is unclear — we fix it before it counts.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E7C74"/>
                </a:solidFill>
                <a:latin typeface="Segoe UI"/>
              </a:rPr>
              <a:t>STATUS &amp; ASKS</a:t>
            </a:r>
          </a:p>
          <a:p>
            <a:pPr>
              <a:spcAft>
                <a:spcPts val="0"/>
              </a:spcAft>
            </a:pPr>
            <a:r>
              <a:rPr sz="2400" b="1">
                <a:solidFill>
                  <a:srgbClr val="1A1F27"/>
                </a:solidFill>
                <a:latin typeface="Segoe UI"/>
              </a:rPr>
              <a:t>Where we are, and what we need from the business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5486400" cy="2286000"/>
          </a:xfrm>
          <a:prstGeom prst="roundRect">
            <a:avLst/>
          </a:prstGeom>
          <a:solidFill>
            <a:srgbClr val="E4F3EB"/>
          </a:solidFill>
          <a:ln w="9525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09728" tIns="109728" bIns="73152"/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2E8B5E"/>
                </a:solidFill>
                <a:latin typeface="Segoe UI"/>
              </a:rPr>
              <a:t>WHAT'S THERE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1A1F27"/>
                </a:solidFill>
                <a:latin typeface="Segoe UI"/>
              </a:rPr>
              <a:t>47 KPIs mapped — field → calc → unit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1A1F27"/>
                </a:solidFill>
                <a:latin typeface="Segoe UI"/>
              </a:rPr>
              <a:t>Every score tied to call evidence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1A1F27"/>
                </a:solidFill>
                <a:latin typeface="Segoe UI"/>
              </a:rPr>
              <a:t>3 programs documented; labelling fixed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1A1F27"/>
                </a:solidFill>
                <a:latin typeface="Segoe UI"/>
              </a:rPr>
              <a:t>Evaluation platform integrated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55080" y="1737360"/>
            <a:ext cx="5212080" cy="2286000"/>
          </a:xfrm>
          <a:prstGeom prst="roundRect">
            <a:avLst/>
          </a:prstGeom>
          <a:solidFill>
            <a:srgbClr val="F6ECD6"/>
          </a:solidFill>
          <a:ln w="9525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09728" tIns="109728" bIns="73152"/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A96E12"/>
                </a:solidFill>
                <a:latin typeface="Segoe UI"/>
              </a:rPr>
              <a:t>WHAT WE NEED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1A1F27"/>
                </a:solidFill>
                <a:latin typeface="Segoe UI"/>
              </a:rPr>
              <a:t>Golden data (certified calls) — with coaches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1A1F27"/>
                </a:solidFill>
                <a:latin typeface="Segoe UI"/>
              </a:rPr>
              <a:t>Roll-up score re-specified per program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1A1F27"/>
                </a:solidFill>
                <a:latin typeface="Segoe UI"/>
              </a:rPr>
              <a:t>Acceptance threshold per KPI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1A1F27"/>
                </a:solidFill>
                <a:latin typeface="Segoe UI"/>
              </a:rPr>
              <a:t>A few definitions confirmed by SMEs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4251960"/>
          <a:ext cx="10927079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949440"/>
                <a:gridCol w="3977639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Ask the business</a:t>
                      </a:r>
                    </a:p>
                  </a:txBody>
                  <a:tcPr anchor="ctr" marL="82296" marR="45720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Gives us</a:t>
                      </a:r>
                    </a:p>
                  </a:txBody>
                  <a:tcPr anchor="ctr" marL="82296" marR="45720" marT="18288" marB="18288">
                    <a:solidFill>
                      <a:srgbClr val="0E7C7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F27"/>
                          </a:solidFill>
                          <a:latin typeface="Segoe UI"/>
                        </a:rPr>
                        <a:t>Certify labels on a sample of calls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Consolas"/>
                        </a:rPr>
                        <a:t>The golden dataset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F27"/>
                          </a:solidFill>
                          <a:latin typeface="Segoe UI"/>
                        </a:rPr>
                        <a:t>Confirm the flagged KPI definitions</a:t>
                      </a:r>
                    </a:p>
                  </a:txBody>
                  <a:tcPr anchor="ctr" marL="82296" marR="45720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Consolas"/>
                        </a:rPr>
                        <a:t>Correct metrics</a:t>
                      </a:r>
                    </a:p>
                  </a:txBody>
                  <a:tcPr anchor="ctr" marL="82296" marR="45720" marT="18288" marB="18288"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F27"/>
                          </a:solidFill>
                          <a:latin typeface="Segoe UI"/>
                        </a:rPr>
                        <a:t>Set the acceptable range per KPI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Consolas"/>
                        </a:rPr>
                        <a:t>The evaluation threshold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5943600"/>
            <a:ext cx="10927080" cy="658368"/>
          </a:xfrm>
          <a:prstGeom prst="roundRect">
            <a:avLst/>
          </a:prstGeom>
          <a:solidFill>
            <a:srgbClr val="E1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A5B55"/>
                </a:solidFill>
                <a:latin typeface="Segoe UI"/>
              </a:rPr>
              <a:t>The homework is done — the remaining asks are focused decisions, not basic definitions.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