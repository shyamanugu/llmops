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E7C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 b="1">
                <a:solidFill>
                  <a:srgbClr val="0E7C74"/>
                </a:solidFill>
                <a:latin typeface="Segoe UI"/>
              </a:rPr>
              <a:t>APIX  ·  METRICS DISCUSSION</a:t>
            </a:r>
          </a:p>
          <a:p>
            <a:pPr>
              <a:spcAft>
                <a:spcPts val="0"/>
              </a:spcAft>
            </a:pPr>
            <a:r>
              <a:rPr sz="3800" b="1">
                <a:solidFill>
                  <a:srgbClr val="1A1F27"/>
                </a:solidFill>
                <a:latin typeface="Segoe UI"/>
              </a:rPr>
              <a:t>The APIX KPIs — what they are,</a:t>
            </a:r>
          </a:p>
          <a:p>
            <a:pPr>
              <a:spcAft>
                <a:spcPts val="1600"/>
              </a:spcAft>
            </a:pPr>
            <a:r>
              <a:rPr sz="3800" b="1">
                <a:solidFill>
                  <a:srgbClr val="1A1F27"/>
                </a:solidFill>
                <a:latin typeface="Segoe UI"/>
              </a:rPr>
              <a:t>and the golden data we need for them</a:t>
            </a:r>
          </a:p>
          <a:p>
            <a:pPr>
              <a:spcAft>
                <a:spcPts val="0"/>
              </a:spcAft>
            </a:pPr>
            <a:r>
              <a:rPr sz="1800" b="0">
                <a:solidFill>
                  <a:srgbClr val="535C6A"/>
                </a:solidFill>
                <a:latin typeface="Segoe UI"/>
              </a:rPr>
              <a:t>APIX = AFNI Performance Index.  Enumerated per program, for discussion.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8521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50" b="0">
                <a:solidFill>
                  <a:srgbClr val="8A93A1"/>
                </a:solidFill>
                <a:latin typeface="Segoe UI"/>
              </a:rPr>
              <a:t>3 programs   ·   47 KPIs   ·   ~500 golden calls proposed   ·   8 Sep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THE APIX METRIC SET</a:t>
            </a:r>
          </a:p>
          <a:p>
            <a:pPr>
              <a:spcAft>
                <a:spcPts val="0"/>
              </a:spcAft>
            </a:pPr>
            <a:r>
              <a:rPr sz="2700" b="1">
                <a:solidFill>
                  <a:srgbClr val="1A1F27"/>
                </a:solidFill>
                <a:latin typeface="Segoe UI"/>
              </a:rPr>
              <a:t>What APIX measures, by the numbers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83080"/>
          <a:ext cx="11521440" cy="2514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4754880"/>
                <a:gridCol w="1280160"/>
                <a:gridCol w="1737360"/>
                <a:gridCol w="173736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Program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Lens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KPIs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Behaviours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Soft skills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Telesales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Sales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WCC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Care &amp; retention (LEARN/PROVIDE/CLOSE)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PSO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Care — VZ Mobile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24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Total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3 lines of business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47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38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6 shared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484632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535C6A"/>
                </a:solidFill>
                <a:latin typeface="Segoe UI"/>
              </a:rPr>
              <a:t>KPIs = counts or rates from per-call judgments.  Behaviours &amp; soft skills = 0–1 averages.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257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 b="0">
                <a:solidFill>
                  <a:srgbClr val="A96E12"/>
                </a:solidFill>
                <a:latin typeface="Segoe UI"/>
              </a:rPr>
              <a:t>Separately: operational metrics (AHT · VXS · FCR · resolve/disconnect) come from Verizon data, not the model.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KPIS · TELESALES (12)</a:t>
            </a:r>
          </a:p>
          <a:p>
            <a:pPr>
              <a:spcAft>
                <a:spcPts val="0"/>
              </a:spcAft>
            </a:pPr>
            <a:r>
              <a:rPr sz="2700" b="1">
                <a:solidFill>
                  <a:srgbClr val="1A1F27"/>
                </a:solidFill>
                <a:latin typeface="Segoe UI"/>
              </a:rPr>
              <a:t>Sales performance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83080"/>
          <a:ext cx="10927080" cy="42793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00400"/>
                <a:gridCol w="6446520"/>
                <a:gridCol w="128016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KPI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What it measures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Unit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new_line_pitches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New-line pitches where an opportunity existed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new_line_opportunity_exists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New-line opportunities present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new_line_opportunity_missed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Share of new-line opportunities not pitched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rate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upgrade_attempts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Upgrade pitches where an opportunity existed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upgrade_opportunity_exists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Upgrade opportunities present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upgrade_opportunity_missed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Share of upgrade opportunities not pitched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rate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save_attempts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Retention save attempts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escalations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Calls with an escalation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fwa_attempts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Fixed-wireless-access pitches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mobile_protection_attempts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Mobile-protection pitches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we_got_you_utterances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Reassurance phrasing used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customer_experience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Rated calls not rated “Poor”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rate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KPIS · WCC (11)</a:t>
            </a:r>
          </a:p>
          <a:p>
            <a:pPr>
              <a:spcAft>
                <a:spcPts val="0"/>
              </a:spcAft>
            </a:pPr>
            <a:r>
              <a:rPr sz="2700" b="1">
                <a:solidFill>
                  <a:srgbClr val="1A1F27"/>
                </a:solidFill>
                <a:latin typeface="Segoe UI"/>
              </a:rPr>
              <a:t>Care &amp; retention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83080"/>
          <a:ext cx="10927080" cy="41696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00400"/>
                <a:gridCol w="6446520"/>
                <a:gridCol w="128016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KPI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What it measures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Unit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resolution_opportunities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Calls where the issue could be resolved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resolutions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Of those, calls actually resolved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survival_opportunities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Calls with churn / retention risk present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saves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Of those, customers retained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right_of_sell_opportunities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Calls where a sell was appropriate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right_of_sell_actuals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Of those, sell attempts made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sales_made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Sales completed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new_prospects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New leads identified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new_prospects_converted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Leads converted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escalations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Calls with an escalation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A1F27"/>
                          </a:solidFill>
                          <a:latin typeface="Segoe UI"/>
                        </a:rPr>
                        <a:t>customer_experience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Rated calls not rated “Poor”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35C6A"/>
                          </a:solidFill>
                          <a:latin typeface="Segoe UI"/>
                        </a:rPr>
                        <a:t>rate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KPIS · PSO (24)</a:t>
            </a:r>
          </a:p>
          <a:p>
            <a:pPr>
              <a:spcAft>
                <a:spcPts val="0"/>
              </a:spcAft>
            </a:pPr>
            <a:r>
              <a:rPr sz="2700" b="1">
                <a:solidFill>
                  <a:srgbClr val="1A1F27"/>
                </a:solidFill>
                <a:latin typeface="Segoe UI"/>
              </a:rPr>
              <a:t>Care — VZ Mobile (grouped)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83080"/>
          <a:ext cx="10927080" cy="4389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7360920"/>
                <a:gridCol w="128016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Group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KPIs in the group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Unit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A1F27"/>
                          </a:solidFill>
                          <a:latin typeface="Segoe UI"/>
                        </a:rPr>
                        <a:t>Customer Experience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535C6A"/>
                          </a:solidFill>
                          <a:latin typeface="Segoe UI"/>
                        </a:rPr>
                        <a:t>Predicted CSAT · Customer confidence · Customer effort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535C6A"/>
                          </a:solidFill>
                          <a:latin typeface="Segoe UI"/>
                        </a:rPr>
                        <a:t>rate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A1F27"/>
                          </a:solidFill>
                          <a:latin typeface="Segoe UI"/>
                        </a:rPr>
                        <a:t>Resolve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535C6A"/>
                          </a:solidFill>
                          <a:latin typeface="Segoe UI"/>
                        </a:rPr>
                        <a:t>FCR likelihood · Resolution completeness · Resolution confidence · Next-steps clarity · Issue-resolution effectiveness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535C6A"/>
                          </a:solidFill>
                          <a:latin typeface="Segoe UI"/>
                        </a:rPr>
                        <a:t>rate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A1F27"/>
                          </a:solidFill>
                          <a:latin typeface="Segoe UI"/>
                        </a:rPr>
                        <a:t>Quality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535C6A"/>
                          </a:solidFill>
                          <a:latin typeface="Segoe UI"/>
                        </a:rPr>
                        <a:t>Quality · Compliance · Process adherence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535C6A"/>
                          </a:solidFill>
                          <a:latin typeface="Segoe UI"/>
                        </a:rPr>
                        <a:t>rate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A1F27"/>
                          </a:solidFill>
                          <a:latin typeface="Segoe UI"/>
                        </a:rPr>
                        <a:t>Care Handling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535C6A"/>
                          </a:solidFill>
                          <a:latin typeface="Segoe UI"/>
                        </a:rPr>
                        <a:t>Issue ownership · Escalation necessity · Transfer avoidance · Case management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535C6A"/>
                          </a:solidFill>
                          <a:latin typeface="Segoe UI"/>
                        </a:rPr>
                        <a:t>rate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A1F27"/>
                          </a:solidFill>
                          <a:latin typeface="Segoe UI"/>
                        </a:rPr>
                        <a:t>Operational Efficiency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535C6A"/>
                          </a:solidFill>
                          <a:latin typeface="Segoe UI"/>
                        </a:rPr>
                        <a:t>AHT assessment · Contact-handling efficiency · Hold management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535C6A"/>
                          </a:solidFill>
                          <a:latin typeface="Segoe UI"/>
                        </a:rPr>
                        <a:t>rate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A1F27"/>
                          </a:solidFill>
                          <a:latin typeface="Segoe UI"/>
                        </a:rPr>
                        <a:t>Repeat-Contact Risk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535C6A"/>
                          </a:solidFill>
                          <a:latin typeface="Segoe UI"/>
                        </a:rPr>
                        <a:t>Repeat-contact · Escalation · Callback · Reopen risk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535C6A"/>
                          </a:solidFill>
                          <a:latin typeface="Segoe UI"/>
                        </a:rPr>
                        <a:t>count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A1F27"/>
                          </a:solidFill>
                          <a:latin typeface="Segoe UI"/>
                        </a:rPr>
                        <a:t>Customer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535C6A"/>
                          </a:solidFill>
                          <a:latin typeface="Segoe UI"/>
                        </a:rPr>
                        <a:t>Escalations · Customer experience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535C6A"/>
                          </a:solidFill>
                          <a:latin typeface="Segoe UI"/>
                        </a:rPr>
                        <a:t>count / rate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GOLDEN DATA · WHAT WE NEED TO HOLD</a:t>
            </a:r>
          </a:p>
          <a:p>
            <a:pPr>
              <a:spcAft>
                <a:spcPts val="0"/>
              </a:spcAft>
            </a:pPr>
            <a:r>
              <a:rPr sz="2700" b="1">
                <a:solidFill>
                  <a:srgbClr val="1A1F27"/>
                </a:solidFill>
                <a:latin typeface="Segoe UI"/>
              </a:rPr>
              <a:t>The certified dataset, by the numbers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83080"/>
          <a:ext cx="10927080" cy="2377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3291840"/>
                <a:gridCol w="1828800"/>
                <a:gridCol w="2468880"/>
                <a:gridCol w="123444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Program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Call-level fields to certify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KPIs covered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Proposed golden calls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Reviewers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Telesales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≈30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150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≥2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WCC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≈40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150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≥2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PSO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≈60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24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200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≥2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Total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47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500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16052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50" b="0">
                <a:solidFill>
                  <a:srgbClr val="1A1F27"/>
                </a:solidFill>
                <a:latin typeface="Segoe UI"/>
              </a:rPr>
              <a:t>Certify at the call level (not the aggregate) — coaches confirm each field + its evidence.</a:t>
            </a:r>
          </a:p>
          <a:p>
            <a:pPr>
              <a:spcAft>
                <a:spcPts val="1100"/>
              </a:spcAft>
            </a:pPr>
            <a:r>
              <a:rPr sz="1450" b="0">
                <a:solidFill>
                  <a:srgbClr val="1A1F27"/>
                </a:solidFill>
                <a:latin typeface="Segoe UI"/>
              </a:rPr>
              <a:t>Coverage per KPI: ≥ 15 positive AND ≥ 15 negative certified calls; rare fields (escalations, saves, Poor CX) over-sampled.</a:t>
            </a:r>
          </a:p>
          <a:p>
            <a:pPr>
              <a:spcAft>
                <a:spcPts val="1100"/>
              </a:spcAft>
            </a:pPr>
            <a:r>
              <a:rPr sz="1450" b="0">
                <a:solidFill>
                  <a:srgbClr val="1A1F27"/>
                </a:solidFill>
                <a:latin typeface="Segoe UI"/>
              </a:rPr>
              <a:t>Keep only calls where ≥ 2 reviewers agree; disagreement = the definition needs fixing.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STATUS</a:t>
            </a:r>
          </a:p>
          <a:p>
            <a:pPr>
              <a:spcAft>
                <a:spcPts val="0"/>
              </a:spcAft>
            </a:pPr>
            <a:r>
              <a:rPr sz="2700" b="1">
                <a:solidFill>
                  <a:srgbClr val="1A1F27"/>
                </a:solidFill>
                <a:latin typeface="Segoe UI"/>
              </a:rPr>
              <a:t>What's there  /  what we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 b="0">
                <a:solidFill>
                  <a:srgbClr val="2E8B5E"/>
                </a:solidFill>
                <a:latin typeface="Segoe UI"/>
              </a:rPr>
              <a:t>WHAT'S THERE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535C6A"/>
                </a:solidFill>
                <a:latin typeface="Segoe UI"/>
              </a:rPr>
              <a:t>All 47 KPIs mapped (field → calc → unit)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535C6A"/>
                </a:solidFill>
                <a:latin typeface="Segoe UI"/>
              </a:rPr>
              <a:t>3 programs documented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535C6A"/>
                </a:solidFill>
                <a:latin typeface="Segoe UI"/>
              </a:rPr>
              <a:t>Evidence trail on every judgment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535C6A"/>
                </a:solidFill>
                <a:latin typeface="Segoe UI"/>
              </a:rPr>
              <a:t>Labelling fixed (count vs rate)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535C6A"/>
                </a:solidFill>
                <a:latin typeface="Segoe UI"/>
              </a:rPr>
              <a:t>Evaluation platform integrated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08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 b="0">
                <a:solidFill>
                  <a:srgbClr val="A96E12"/>
                </a:solidFill>
                <a:latin typeface="Segoe UI"/>
              </a:rPr>
              <a:t>WHAT WE NEED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535C6A"/>
                </a:solidFill>
                <a:latin typeface="Segoe UI"/>
              </a:rPr>
              <a:t>Golden data (table on previous slide)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535C6A"/>
                </a:solidFill>
                <a:latin typeface="Segoe UI"/>
              </a:rPr>
              <a:t>Roll-up score re-specified per program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535C6A"/>
                </a:solidFill>
                <a:latin typeface="Segoe UI"/>
              </a:rPr>
              <a:t>WCC prompt aligned to its scorecard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535C6A"/>
                </a:solidFill>
                <a:latin typeface="Segoe UI"/>
              </a:rPr>
              <a:t>Acceptance threshold per KPI</a:t>
            </a:r>
          </a:p>
          <a:p>
            <a:pPr>
              <a:spcAft>
                <a:spcPts val="1100"/>
              </a:spcAft>
            </a:pPr>
            <a:r>
              <a:rPr sz="1500" b="0">
                <a:solidFill>
                  <a:srgbClr val="535C6A"/>
                </a:solidFill>
                <a:latin typeface="Segoe UI"/>
              </a:rPr>
              <a:t>A few definitions confirmed by SMEs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WHAT WE ASK THE BUSINESS</a:t>
            </a:r>
          </a:p>
          <a:p>
            <a:pPr>
              <a:spcAft>
                <a:spcPts val="0"/>
              </a:spcAft>
            </a:pPr>
            <a:r>
              <a:rPr sz="2700" b="1">
                <a:solidFill>
                  <a:srgbClr val="1A1F27"/>
                </a:solidFill>
                <a:latin typeface="Segoe UI"/>
              </a:rPr>
              <a:t>Five focused requests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83080"/>
          <a:ext cx="10927080" cy="3291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40080"/>
                <a:gridCol w="6766560"/>
                <a:gridCol w="35204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Ask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Gives us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Certify labels on the proposed golden calls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The golden dataset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Confirm the flagged ambiguous KPI definitions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Correct metrics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Define what makes a coaching recommendation “good”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The coaching rubric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Set the acceptable range per KPI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The evaluation threshold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1F27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Confirm operational metrics exist for WCC &amp; PSO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535C6A"/>
                          </a:solidFill>
                          <a:latin typeface="Segoe UI"/>
                        </a:rPr>
                        <a:t>Coaching-data coverage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NEXT</a:t>
            </a:r>
          </a:p>
          <a:p>
            <a:pPr>
              <a:spcAft>
                <a:spcPts val="0"/>
              </a:spcAft>
            </a:pPr>
            <a:r>
              <a:rPr sz="2700" b="1">
                <a:solidFill>
                  <a:srgbClr val="1A1F27"/>
                </a:solidFill>
                <a:latin typeface="Segoe UI"/>
              </a:rPr>
              <a:t>Proposed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2024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>
                <a:solidFill>
                  <a:srgbClr val="1A1F27"/>
                </a:solidFill>
                <a:latin typeface="Segoe UI"/>
              </a:rPr>
              <a:t>1.   Agree the golden-call sample &amp; certification with coaches.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1A1F27"/>
                </a:solidFill>
                <a:latin typeface="Segoe UI"/>
              </a:rPr>
              <a:t>2.   Confirm the flagged definitions and acceptance thresholds.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1A1F27"/>
                </a:solidFill>
                <a:latin typeface="Segoe UI"/>
              </a:rPr>
              <a:t>3.   In parallel, we re-spec the roll-up score and align WCC.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1A1F27"/>
                </a:solidFill>
                <a:latin typeface="Segoe UI"/>
              </a:rPr>
              <a:t/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0E7C74"/>
                </a:solidFill>
                <a:latin typeface="Segoe UI"/>
              </a:rPr>
              <a:t>Then: the evaluation gate goes live — prompt improvements without code changes.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WORKED EXAMPLE</a:t>
            </a:r>
          </a:p>
          <a:p>
            <a:pPr>
              <a:spcAft>
                <a:spcPts val="0"/>
              </a:spcAft>
            </a:pPr>
            <a:r>
              <a:rPr sz="2700" b="1">
                <a:solidFill>
                  <a:srgbClr val="1A1F27"/>
                </a:solidFill>
                <a:latin typeface="Segoe UI"/>
              </a:rPr>
              <a:t>How to read a KPI — from one call to a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500" b="0">
                <a:solidFill>
                  <a:srgbClr val="535C6A"/>
                </a:solidFill>
                <a:latin typeface="Segoe UI"/>
              </a:rPr>
              <a:t>The AI judges each call; a KPI is simply those judgments added up per agent. No extra labelling.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194560"/>
          <a:ext cx="10927080" cy="3291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790956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Step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What happens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A1F27"/>
                          </a:solidFill>
                          <a:latin typeface="Segoe UI"/>
                        </a:rPr>
                        <a:t>1 · The AI reads a call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535C6A"/>
                          </a:solidFill>
                          <a:latin typeface="Segoe UI"/>
                        </a:rPr>
                        <a:t>Notes: a new-line opportunity existed, the agent pitched, the issue was resolved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A1F27"/>
                          </a:solidFill>
                          <a:latin typeface="Segoe UI"/>
                        </a:rPr>
                        <a:t>2 · Repeat for the week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535C6A"/>
                          </a:solidFill>
                          <a:latin typeface="Segoe UI"/>
                        </a:rPr>
                        <a:t>20 calls had a new-line opportunity; the agent pitched on 12 of them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A1F27"/>
                          </a:solidFill>
                          <a:latin typeface="Segoe UI"/>
                        </a:rPr>
                        <a:t>3 · Count (no AI)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535C6A"/>
                          </a:solidFill>
                          <a:latin typeface="Segoe UI"/>
                        </a:rPr>
                        <a:t>new_line_pitches = 12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A1F27"/>
                          </a:solidFill>
                          <a:latin typeface="Segoe UI"/>
                        </a:rPr>
                        <a:t>4 · Derive the rate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535C6A"/>
                          </a:solidFill>
                          <a:latin typeface="Segoe UI"/>
                        </a:rPr>
                        <a:t>opportunity_missed = 8 / 20 = 40%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5806440"/>
            <a:ext cx="10881360" cy="777240"/>
          </a:xfrm>
          <a:prstGeom prst="rect">
            <a:avLst/>
          </a:prstGeom>
          <a:solidFill>
            <a:srgbClr val="F2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E7C74"/>
                </a:solidFill>
                <a:latin typeface="Segoe UI"/>
              </a:rPr>
              <a:t>Every judgment also links to the exact call moments behind it — so any score can be explained and checked.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E7C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0E7C74"/>
                </a:solidFill>
                <a:latin typeface="Segoe UI"/>
              </a:rPr>
              <a:t>WORKED EXAMPLE</a:t>
            </a:r>
          </a:p>
          <a:p>
            <a:pPr>
              <a:spcAft>
                <a:spcPts val="0"/>
              </a:spcAft>
            </a:pPr>
            <a:r>
              <a:rPr sz="2700" b="1">
                <a:solidFill>
                  <a:srgbClr val="1A1F27"/>
                </a:solidFill>
                <a:latin typeface="Segoe UI"/>
              </a:rPr>
              <a:t>Golden data — what a coach certifies for one call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83080"/>
          <a:ext cx="10927080" cy="3520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297680"/>
                <a:gridCol w="662940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Field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Certified answer</a:t>
                      </a:r>
                    </a:p>
                  </a:txBody>
                  <a:tcPr anchor="ctr" marL="82296" marR="54864" marT="18288" marB="18288">
                    <a:solidFill>
                      <a:srgbClr val="0E7C7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A1F27"/>
                          </a:solidFill>
                          <a:latin typeface="Segoe UI"/>
                        </a:rPr>
                        <a:t>new_line_opportunity_exists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535C6A"/>
                          </a:solidFill>
                          <a:latin typeface="Segoe UI"/>
                        </a:rPr>
                        <a:t>true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A1F27"/>
                          </a:solidFill>
                          <a:latin typeface="Segoe UI"/>
                        </a:rPr>
                        <a:t>pitched_new_line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535C6A"/>
                          </a:solidFill>
                          <a:latin typeface="Segoe UI"/>
                        </a:rPr>
                        <a:t>false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A1F27"/>
                          </a:solidFill>
                          <a:latin typeface="Segoe UI"/>
                        </a:rPr>
                        <a:t>escalation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535C6A"/>
                          </a:solidFill>
                          <a:latin typeface="Segoe UI"/>
                        </a:rPr>
                        <a:t>none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A1F27"/>
                          </a:solidFill>
                          <a:latin typeface="Segoe UI"/>
                        </a:rPr>
                        <a:t>customer_experience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535C6A"/>
                          </a:solidFill>
                          <a:latin typeface="Segoe UI"/>
                        </a:rPr>
                        <a:t>Medium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A1F27"/>
                          </a:solidFill>
                          <a:latin typeface="Segoe UI"/>
                        </a:rPr>
                        <a:t>Evidence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535C6A"/>
                          </a:solidFill>
                          <a:latin typeface="Segoe UI"/>
                        </a:rPr>
                        <a:t>lines 12–14 of the call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1A1F27"/>
                          </a:solidFill>
                          <a:latin typeface="Segoe UI"/>
                        </a:rPr>
                        <a:t>Certified by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535C6A"/>
                          </a:solidFill>
                          <a:latin typeface="Segoe UI"/>
                        </a:rPr>
                        <a:t>2 coaches · 8 Sep</a:t>
                      </a:r>
                    </a:p>
                  </a:txBody>
                  <a:tcPr anchor="ctr" marL="82296" marR="54864" marT="18288" marB="18288"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85800" y="5760720"/>
            <a:ext cx="10881360" cy="822960"/>
          </a:xfrm>
          <a:prstGeom prst="rect">
            <a:avLst/>
          </a:prstGeom>
          <a:solidFill>
            <a:srgbClr val="F2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E7C74"/>
                </a:solidFill>
                <a:latin typeface="Segoe UI"/>
              </a:rPr>
              <a:t>A transcript becomes “golden” only when 2 or more coaches agree on its answers — not because we picked it. Disagreement means the definition needs fixing first.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