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74519"/>
            <a:ext cx="10698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50" b="1">
                <a:solidFill>
                  <a:srgbClr val="0E7C74"/>
                </a:solidFill>
                <a:latin typeface="Segoe UI"/>
              </a:rPr>
              <a:t>APIX (AFNI PERFORMANCE INDEX)  ·  THE METRICS, EXPLAINED</a:t>
            </a:r>
          </a:p>
          <a:p>
            <a:pPr>
              <a:spcAft>
                <a:spcPts val="0"/>
              </a:spcAft>
            </a:pPr>
            <a:r>
              <a:rPr sz="3700" b="1">
                <a:solidFill>
                  <a:srgbClr val="1A1F27"/>
                </a:solidFill>
                <a:latin typeface="Segoe UI"/>
              </a:rPr>
              <a:t>The AI that scores every</a:t>
            </a:r>
          </a:p>
          <a:p>
            <a:pPr>
              <a:spcAft>
                <a:spcPts val="1500"/>
              </a:spcAft>
            </a:pPr>
            <a:r>
              <a:rPr sz="3700" b="1">
                <a:solidFill>
                  <a:srgbClr val="1A1F27"/>
                </a:solidFill>
                <a:latin typeface="Segoe UI"/>
              </a:rPr>
              <a:t>customer call</a:t>
            </a:r>
          </a:p>
          <a:p>
            <a:pPr>
              <a:spcAft>
                <a:spcPts val="0"/>
              </a:spcAft>
            </a:pPr>
            <a:r>
              <a:rPr sz="1750" b="0">
                <a:solidFill>
                  <a:srgbClr val="535C6A"/>
                </a:solidFill>
                <a:latin typeface="Segoe UI"/>
              </a:rPr>
              <a:t>How APIX turns calls into per-agent coaching — the metrics, with worked examples and program comparisons.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978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8A93A1"/>
                </a:solidFill>
                <a:latin typeface="Segoe UI"/>
              </a:rPr>
              <a:t>3 programs  (Telesales · WCC · PSO)      47 KPIs      ~500 golden calls proposed      9 Sep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WHAT APIX DOES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A1F27"/>
                </a:solidFill>
                <a:latin typeface="Segoe UI"/>
              </a:rPr>
              <a:t>Every week: raw calls → a coaching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1500" b="0">
                <a:solidFill>
                  <a:srgbClr val="1A1F27"/>
                </a:solidFill>
                <a:latin typeface="Segoe UI"/>
              </a:rPr>
              <a:t>1 · Denoise  — clean messy speech-to-text</a:t>
            </a:r>
          </a:p>
          <a:p>
            <a:pPr>
              <a:spcAft>
                <a:spcPts val="1500"/>
              </a:spcAft>
            </a:pPr>
            <a:r>
              <a:rPr sz="1500" b="0">
                <a:solidFill>
                  <a:srgbClr val="1A1F27"/>
                </a:solidFill>
                <a:latin typeface="Segoe UI"/>
              </a:rPr>
              <a:t>2 · Analysis — the AI scores every call, with evidence</a:t>
            </a:r>
          </a:p>
          <a:p>
            <a:pPr>
              <a:spcAft>
                <a:spcPts val="1500"/>
              </a:spcAft>
            </a:pPr>
            <a:r>
              <a:rPr sz="1500" b="0">
                <a:solidFill>
                  <a:srgbClr val="1A1F27"/>
                </a:solidFill>
                <a:latin typeface="Segoe UI"/>
              </a:rPr>
              <a:t>3 · Summary  — roll a week of calls into per-agent scores</a:t>
            </a:r>
          </a:p>
          <a:p>
            <a:pPr>
              <a:spcAft>
                <a:spcPts val="1500"/>
              </a:spcAft>
            </a:pPr>
            <a:r>
              <a:rPr sz="1500" b="0">
                <a:solidFill>
                  <a:srgbClr val="1A1F27"/>
                </a:solidFill>
                <a:latin typeface="Segoe UI"/>
              </a:rPr>
              <a:t>4 · Individual metrics — add Verizon operational data + tips</a:t>
            </a:r>
          </a:p>
          <a:p>
            <a:pPr>
              <a:spcAft>
                <a:spcPts val="1500"/>
              </a:spcAft>
            </a:pPr>
            <a:r>
              <a:rPr sz="1500" b="0">
                <a:solidFill>
                  <a:srgbClr val="1A1F27"/>
                </a:solidFill>
                <a:latin typeface="Segoe UI"/>
              </a:rPr>
              <a:t>5 · KPI aggregator — build the weekly dashboard file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874519"/>
            <a:ext cx="5212080" cy="3566160"/>
          </a:xfrm>
          <a:prstGeom prst="roundRect">
            <a:avLst/>
          </a:prstGeom>
          <a:solidFill>
            <a:srgbClr val="E1F0EE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EXAMPLE · one call flowing through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Customer asks about their bill.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Agent fixes it, then offers a second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line. Customer declines.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Segoe UI"/>
              </a:rPr>
              <a:t>The AI (step 2) records: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Consolas"/>
              </a:rPr>
              <a:t>new_line_opportunity_exists = true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Consolas"/>
              </a:rPr>
              <a:t>pitched_new_line            = true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Consolas"/>
              </a:rPr>
              <a:t>issue_resolved              = true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Consolas"/>
              </a:rPr>
              <a:t>customer_experience         = Good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06440"/>
            <a:ext cx="10927080" cy="749808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A5B55"/>
                </a:solidFill>
                <a:latin typeface="Segoe UI"/>
              </a:rPr>
              <a:t>The AI only judges each call. Everything after is counting — and every judgment links to the exact call moment behind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THE FOUR KINDS OF METRIC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A1F27"/>
                </a:solidFill>
                <a:latin typeface="Segoe UI"/>
              </a:rPr>
              <a:t>What comes from the AI — and what doesn't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74519"/>
          <a:ext cx="10927080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2834640"/>
                <a:gridCol w="3063240"/>
                <a:gridCol w="228600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Metric type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Example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Where it comes from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How it's checked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KPIs (counts &amp; rates)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new_line_pitches = 12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AI judgments, added up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Automated tests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Behaviour / soft skills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empathy = 0.80 (0–1)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AI judgments, averaged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Golden data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Operational metrics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AHT, VXS, resolve %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Verizon data warehouse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Validate the query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Roll-up scores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performance status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Calculated from the above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Automated tests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0080" y="5806440"/>
            <a:ext cx="10927080" cy="749808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A5B55"/>
                </a:solidFill>
                <a:latin typeface="Segoe UI"/>
              </a:rPr>
              <a:t>Only the AI's per-call judgments need “golden data”. KPIs are arithmetic; operational metrics are external. That is what makes the system testable.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WORKED EXAMPLE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A1F27"/>
                </a:solidFill>
                <a:latin typeface="Segoe UI"/>
              </a:rPr>
              <a:t>Two calls, side by side — the same situation, handled two 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486400" cy="3657600"/>
          </a:xfrm>
          <a:prstGeom prst="roundRect">
            <a:avLst/>
          </a:prstGeom>
          <a:solidFill>
            <a:srgbClr val="E4F3EB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2E8B5E"/>
                </a:solidFill>
                <a:latin typeface="Segoe UI"/>
              </a:rPr>
              <a:t>CALL A · opportunity taken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Customer asks about the bill. Agent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resolves it, then offers a second line.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Customer accepts.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Consolas"/>
              </a:rPr>
              <a:t>new_line_opportunity_exists = true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Consolas"/>
              </a:rPr>
              <a:t>pitched_new_line            = true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Consolas"/>
              </a:rPr>
              <a:t>sale_made                   = true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Consolas"/>
              </a:rPr>
              <a:t>customer_experience         = Good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E8B5E"/>
                </a:solidFill>
                <a:latin typeface="Segoe UI"/>
              </a:rPr>
              <a:t>→ counts toward PITCHES + a good week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5080" y="1828800"/>
            <a:ext cx="5212080" cy="3657600"/>
          </a:xfrm>
          <a:prstGeom prst="roundRect">
            <a:avLst/>
          </a:prstGeom>
          <a:solidFill>
            <a:srgbClr val="F6ECD6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A96E12"/>
                </a:solidFill>
                <a:latin typeface="Segoe UI"/>
              </a:rPr>
              <a:t>CALL B · opportunity missed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Same bill question. Agent resolves it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but never mentions a second line —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though the customer was a clear fit.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Consolas"/>
              </a:rPr>
              <a:t>new_line_opportunity_exists = true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Consolas"/>
              </a:rPr>
              <a:t>pitched_new_line            = false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Consolas"/>
              </a:rPr>
              <a:t>issue_resolved              = true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Consolas"/>
              </a:rPr>
              <a:t>customer_experience         = Medium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A96E12"/>
                </a:solidFill>
                <a:latin typeface="Segoe UI"/>
              </a:rPr>
              <a:t>→ counts toward OPPORTUNITY MISSED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06440"/>
            <a:ext cx="10927080" cy="749808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A5B55"/>
                </a:solidFill>
                <a:latin typeface="Segoe UI"/>
              </a:rPr>
              <a:t>APIX captures the difference between the two — and can point to the exact moment in Call B where the pitch should have happened.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KPIS BY PROGRAM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A1F27"/>
                </a:solidFill>
                <a:latin typeface="Segoe UI"/>
              </a:rPr>
              <a:t>Three lenses, compared side by side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74519"/>
          <a:ext cx="10927080" cy="29992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54480"/>
                <a:gridCol w="2011680"/>
                <a:gridCol w="3520440"/>
                <a:gridCol w="822960"/>
                <a:gridCol w="3017520"/>
              </a:tblGrid>
              <a:tr h="7498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Program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Lens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Example KPIs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KPIs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 good week looks like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Telesales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Sales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New-line pitches · Upgrades · Saves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High pitch rate, few missed opportunities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WCC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Care &amp; retention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Resolutions · Saves · Right-of-sell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High resolution &amp; save rate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PSO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VZ Mobile care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CSAT · FCR · Quality · Repeat-risk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High FCR, low repeat-contact risk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0080" y="5852160"/>
            <a:ext cx="10927080" cy="749808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A5B55"/>
                </a:solidFill>
                <a:latin typeface="Segoe UI"/>
              </a:rPr>
              <a:t>Same pipeline, different checklist — because a good sales call and a good care call are not the same thing. Each program has its own KPIs.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GOLDEN DATA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A1F27"/>
                </a:solidFill>
                <a:latin typeface="Segoe UI"/>
              </a:rPr>
              <a:t>How we prove the scores are 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A1F27"/>
                </a:solidFill>
                <a:latin typeface="Segoe UI"/>
              </a:rPr>
              <a:t>“Golden data” = real calls with business-certified correct answers.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A96E12"/>
                </a:solidFill>
                <a:latin typeface="Segoe UI"/>
              </a:rPr>
              <a:t>✗  Wrong way: one call → one KPI value.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535C6A"/>
                </a:solidFill>
                <a:latin typeface="Segoe UI"/>
              </a:rPr>
              <a:t>     Can't validate a KPI averaged over many calls.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E8B5E"/>
                </a:solidFill>
                <a:latin typeface="Segoe UI"/>
              </a:rPr>
              <a:t>✓  Right way: coaches certify the AI's per-call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535C6A"/>
                </a:solidFill>
                <a:latin typeface="Segoe UI"/>
              </a:rPr>
              <a:t>     judgments; the KPIs then follow by counting.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828800"/>
            <a:ext cx="5212080" cy="2834640"/>
          </a:xfrm>
          <a:prstGeom prst="roundRect">
            <a:avLst/>
          </a:prstGeom>
          <a:solidFill>
            <a:srgbClr val="E1F0EE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EXAMPLE · one golden record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Transcript #4471 (Telesales)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Consolas"/>
              </a:rPr>
              <a:t>new_line_opportunity_exists = true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Consolas"/>
              </a:rPr>
              <a:t>pitched_new_line            = false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Consolas"/>
              </a:rPr>
              <a:t>customer_experience         = Medium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Evidence: lines 12–14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Certified by: 2 coaches · 8 Sep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4800600"/>
          <a:ext cx="10927080" cy="914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/>
                <a:gridCol w="2194560"/>
                <a:gridCol w="2148840"/>
                <a:gridCol w="2194560"/>
                <a:gridCol w="21945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Program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Telesales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WCC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PSO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1F27"/>
                          </a:solidFill>
                          <a:latin typeface="Segoe UI"/>
                        </a:rPr>
                        <a:t>Golden calls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150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150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200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500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5852160"/>
            <a:ext cx="10927080" cy="749808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A5B55"/>
                </a:solidFill>
                <a:latin typeface="Segoe UI"/>
              </a:rPr>
              <a:t>A transcript is “golden” only when 2+ coaches agree on its answers. Disagreement means the definition needs fixing first.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STATUS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A1F27"/>
                </a:solidFill>
                <a:latin typeface="Segoe UI"/>
              </a:rPr>
              <a:t>What's there  vs.  what we need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5486400" cy="3794760"/>
          </a:xfrm>
          <a:prstGeom prst="roundRect">
            <a:avLst/>
          </a:prstGeom>
          <a:solidFill>
            <a:srgbClr val="E4F3EB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2E8B5E"/>
                </a:solidFill>
                <a:latin typeface="Segoe UI"/>
              </a:rPr>
              <a:t>WHAT'S THERE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All 47 KPIs mapped: field → calc → unit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3 programs documented end to end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Evidence trail behind every score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Count-vs-rate labelling fixed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Evaluation platform integrated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E8B5E"/>
                </a:solidFill>
                <a:latin typeface="Segoe UI"/>
              </a:rPr>
              <a:t>A solid, documented foundation.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5080" y="1874519"/>
            <a:ext cx="5212080" cy="3794760"/>
          </a:xfrm>
          <a:prstGeom prst="roundRect">
            <a:avLst/>
          </a:prstGeom>
          <a:solidFill>
            <a:srgbClr val="F6ECD6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A96E12"/>
                </a:solidFill>
                <a:latin typeface="Segoe UI"/>
              </a:rPr>
              <a:t>WHAT WE NEED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Golden data (certified calls) — with coaches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Roll-up score re-specified per program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WCC prompt aligned to its scorecard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Acceptance threshold per KPI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A few definitions confirmed by SMEs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A96E12"/>
                </a:solidFill>
                <a:latin typeface="Segoe UI"/>
              </a:rPr>
              <a:t>Mostly business input, not code.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WHAT WE NEED FROM YOU, AND WHAT'S NEXT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A1F27"/>
                </a:solidFill>
                <a:latin typeface="Segoe UI"/>
              </a:rPr>
              <a:t>Five focused asks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74519"/>
          <a:ext cx="10927079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6309360"/>
                <a:gridCol w="3977639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Ask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it gives us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Certify labels on a sample of calls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The golden dataset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Confirm the flagged KPI definitions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Correct metrics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Define what a “good” coaching tip is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The scoring rubric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Set the acceptable range per KPI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The evaluation threshold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Confirm operational metrics exist for WCC &amp; PSO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Coaching-data coverage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0080" y="5806440"/>
            <a:ext cx="10927080" cy="749808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A5B55"/>
                </a:solidFill>
                <a:latin typeface="Segoe UI"/>
              </a:rPr>
              <a:t>Next:  1) agree the golden-call sample with coaches   2) confirm definitions &amp; thresholds   3) we re-spec the roll-up score &amp; align WCC in parallel.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