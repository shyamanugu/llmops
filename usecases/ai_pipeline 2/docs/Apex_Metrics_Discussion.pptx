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6596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 b="1">
                <a:solidFill>
                  <a:srgbClr val="0E7C74"/>
                </a:solidFill>
                <a:latin typeface="Segoe UI"/>
              </a:rPr>
              <a:t>APEX  ·  METRICS DISCUSSION</a:t>
            </a:r>
          </a:p>
          <a:p>
            <a:pPr>
              <a:spcAft>
                <a:spcPts val="0"/>
              </a:spcAft>
            </a:pPr>
            <a:r>
              <a:rPr sz="4000" b="1">
                <a:solidFill>
                  <a:srgbClr val="1A1F27"/>
                </a:solidFill>
                <a:latin typeface="Segoe UI"/>
              </a:rPr>
              <a:t>What we have, what we need,</a:t>
            </a:r>
          </a:p>
          <a:p>
            <a:pPr>
              <a:spcAft>
                <a:spcPts val="1600"/>
              </a:spcAft>
            </a:pPr>
            <a:r>
              <a:rPr sz="4000" b="1">
                <a:solidFill>
                  <a:srgbClr val="1A1F27"/>
                </a:solidFill>
                <a:latin typeface="Segoe UI"/>
              </a:rPr>
              <a:t>and what we need from you</a:t>
            </a:r>
          </a:p>
          <a:p>
            <a:pPr>
              <a:spcAft>
                <a:spcPts val="0"/>
              </a:spcAft>
            </a:pPr>
            <a:r>
              <a:rPr sz="1800" b="0">
                <a:solidFill>
                  <a:srgbClr val="535C6A"/>
                </a:solidFill>
                <a:latin typeface="Segoe UI"/>
              </a:rPr>
              <a:t>A short, focused look at the Apex KPIs — for discussion with the business.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064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50" b="0">
                <a:solidFill>
                  <a:srgbClr val="8A93A1"/>
                </a:solidFill>
                <a:latin typeface="Segoe UI"/>
              </a:rPr>
              <a:t>3 programs   ·   47 KPIs mapped   ·   8 Sep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THE APEX METRIC SET</a:t>
            </a:r>
          </a:p>
          <a:p>
            <a:pPr>
              <a:spcAft>
                <a:spcPts val="0"/>
              </a:spcAft>
            </a:pPr>
            <a:r>
              <a:rPr sz="3000" b="1">
                <a:solidFill>
                  <a:srgbClr val="1A1F27"/>
                </a:solidFill>
                <a:latin typeface="Segoe UI"/>
              </a:rPr>
              <a:t>What Apex measures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0E7C74"/>
                </a:solidFill>
                <a:latin typeface="Segoe UI"/>
              </a:rPr>
              <a:t>Telesales  —  sales lens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535C6A"/>
                </a:solidFill>
                <a:latin typeface="Segoe UI"/>
              </a:rPr>
              <a:t>12 KPIs: new-line pitches, upgrades, saves,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535C6A"/>
                </a:solidFill>
                <a:latin typeface="Segoe UI"/>
              </a:rPr>
              <a:t>mobile protection, escalations, experience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0E7C74"/>
                </a:solidFill>
                <a:latin typeface="Segoe UI"/>
              </a:rPr>
              <a:t>WCC  —  care &amp; retention lens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535C6A"/>
                </a:solidFill>
                <a:latin typeface="Segoe UI"/>
              </a:rPr>
              <a:t>11 KPIs: resolution, saves, right-of-sell,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535C6A"/>
                </a:solidFill>
                <a:latin typeface="Segoe UI"/>
              </a:rPr>
              <a:t>across LEARN / PROVIDE / CLOSE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96596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0E7C74"/>
                </a:solidFill>
                <a:latin typeface="Segoe UI"/>
              </a:rPr>
              <a:t>PSO  —  VZ Mobile care lens (most detailed)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535C6A"/>
                </a:solidFill>
                <a:latin typeface="Segoe UI"/>
              </a:rPr>
              <a:t>24 KPIs: CSAT, FCR, quality, efficiency,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535C6A"/>
                </a:solidFill>
                <a:latin typeface="Segoe UI"/>
              </a:rPr>
              <a:t>repeat-contact risk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0E7C74"/>
                </a:solidFill>
                <a:latin typeface="Segoe UI"/>
              </a:rPr>
              <a:t>Plus, for every program: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535C6A"/>
                </a:solidFill>
                <a:latin typeface="Segoe UI"/>
              </a:rPr>
              <a:t>behaviour scores, soft skills, and operational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535C6A"/>
                </a:solidFill>
                <a:latin typeface="Segoe UI"/>
              </a:rPr>
              <a:t>metrics (AHT / VXS / FCR) from Verizon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HOW IT WORKS</a:t>
            </a:r>
          </a:p>
          <a:p>
            <a:pPr>
              <a:spcAft>
                <a:spcPts val="0"/>
              </a:spcAft>
            </a:pPr>
            <a:r>
              <a:rPr sz="3000" b="1">
                <a:solidFill>
                  <a:srgbClr val="1A1F27"/>
                </a:solidFill>
                <a:latin typeface="Segoe UI"/>
              </a:rPr>
              <a:t>From one call to a KPI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0">
                <a:solidFill>
                  <a:srgbClr val="1A1F27"/>
                </a:solidFill>
                <a:latin typeface="Segoe UI"/>
              </a:rPr>
              <a:t>Call transcript   →   per-call judgment   →   added up per agent   →   KPI</a:t>
            </a:r>
          </a:p>
          <a:p>
            <a:pPr>
              <a:spcAft>
                <a:spcPts val="1300"/>
              </a:spcAft>
            </a:pPr>
            <a:r>
              <a:rPr sz="170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1300"/>
              </a:spcAft>
            </a:pPr>
            <a:r>
              <a:rPr sz="1700" b="0">
                <a:solidFill>
                  <a:srgbClr val="535C6A"/>
                </a:solidFill>
                <a:latin typeface="Segoe UI"/>
              </a:rPr>
              <a:t>The model judges each call (true/false, a rating, a score).</a:t>
            </a:r>
          </a:p>
          <a:p>
            <a:pPr>
              <a:spcAft>
                <a:spcPts val="1300"/>
              </a:spcAft>
            </a:pPr>
            <a:r>
              <a:rPr sz="1700" b="0">
                <a:solidFill>
                  <a:srgbClr val="535C6A"/>
                </a:solidFill>
                <a:latin typeface="Segoe UI"/>
              </a:rPr>
              <a:t>KPIs are counts or rates computed from those judgments.</a:t>
            </a:r>
          </a:p>
          <a:p>
            <a:pPr>
              <a:spcAft>
                <a:spcPts val="1300"/>
              </a:spcAft>
            </a:pPr>
            <a:r>
              <a:rPr sz="1700" b="0">
                <a:solidFill>
                  <a:srgbClr val="535C6A"/>
                </a:solidFill>
                <a:latin typeface="Segoe UI"/>
              </a:rPr>
              <a:t>Every judgment is backed by the exact call segments that justify it — auditable, not a black box.</a:t>
            </a:r>
          </a:p>
          <a:p>
            <a:pPr>
              <a:spcAft>
                <a:spcPts val="1300"/>
              </a:spcAft>
            </a:pPr>
            <a:r>
              <a:rPr sz="170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1300"/>
              </a:spcAft>
            </a:pPr>
            <a:r>
              <a:rPr sz="1700" b="0">
                <a:solidFill>
                  <a:srgbClr val="A96E12"/>
                </a:solidFill>
                <a:latin typeface="Segoe UI"/>
              </a:rPr>
              <a:t>Operational metrics (AHT, VXS, resolution rate) come from Verizon's warehouse — not the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8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2E8B5E"/>
                </a:solidFill>
                <a:latin typeface="Segoe UI"/>
              </a:rPr>
              <a:t>WHAT'S THERE</a:t>
            </a:r>
          </a:p>
          <a:p>
            <a:pPr>
              <a:spcAft>
                <a:spcPts val="0"/>
              </a:spcAft>
            </a:pPr>
            <a:r>
              <a:rPr sz="3000" b="1">
                <a:solidFill>
                  <a:srgbClr val="1A1F27"/>
                </a:solidFill>
                <a:latin typeface="Segoe UI"/>
              </a:rPr>
              <a:t>A solid, documented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All 47 KPIs mapped — source field, how it's calculated, unit, and meaning.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All 3 programs fully documented in a single KPI dictionary.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Evidence trail on every judgment — coaching is auditable.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Metric-labelling already corrected (counts vs. rates).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The platform to evaluate and improve prompts is integrated and ready.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A96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A96E12"/>
                </a:solidFill>
                <a:latin typeface="Segoe UI"/>
              </a:rPr>
              <a:t>WHAT WE NEED</a:t>
            </a:r>
          </a:p>
          <a:p>
            <a:pPr>
              <a:spcAft>
                <a:spcPts val="0"/>
              </a:spcAft>
            </a:pPr>
            <a:r>
              <a:rPr sz="3000" b="1">
                <a:solidFill>
                  <a:srgbClr val="1A1F27"/>
                </a:solidFill>
                <a:latin typeface="Segoe UI"/>
              </a:rPr>
              <a:t>To make the metrics trustworthy 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Golden data — a set of calls with business-certified correct answers to evaluate against.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Manager roll-up score — re-specify per program (today it is tuned for sales only).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WCC alignment — align the prompt &amp; coaching narrative to the care scorecard.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Acceptance thresholds — what value counts as “good” for each KPI.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WHAT WE ASK THE BUSINESS</a:t>
            </a:r>
          </a:p>
          <a:p>
            <a:pPr>
              <a:spcAft>
                <a:spcPts val="0"/>
              </a:spcAft>
            </a:pPr>
            <a:r>
              <a:rPr sz="3000" b="1">
                <a:solidFill>
                  <a:srgbClr val="1A1F27"/>
                </a:solidFill>
                <a:latin typeface="Segoe UI"/>
              </a:rPr>
              <a:t>Focused questions for coaches &amp; SMEs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1.   Certify labels on a sample of calls — this creates the golden set.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2.   Confirm a few ambiguous KPI definitions we've flagged.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3.   Define what makes a coaching recommendation “good” (a rubric).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4.   Set the acceptable range for each KPI.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5.   Confirm the operational metrics exist for WCC &amp; PSO agents.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1264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50" b="0">
                <a:solidFill>
                  <a:srgbClr val="8A93A1"/>
                </a:solidFill>
                <a:latin typeface="Segoe UI"/>
              </a:rPr>
              <a:t>These are specific asks — the basic definitions are already worked out internally.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HOW WE VALIDATE</a:t>
            </a:r>
          </a:p>
          <a:p>
            <a:pPr>
              <a:spcAft>
                <a:spcPts val="0"/>
              </a:spcAft>
            </a:pPr>
            <a:r>
              <a:rPr sz="3000" b="1">
                <a:solidFill>
                  <a:srgbClr val="1A1F27"/>
                </a:solidFill>
                <a:latin typeface="Segoe UI"/>
              </a:rPr>
              <a:t>Aggregate KPIs don't need aggregate golden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0">
                <a:solidFill>
                  <a:srgbClr val="535C6A"/>
                </a:solidFill>
                <a:latin typeface="Segoe UI"/>
              </a:rPr>
              <a:t>Certify the call-level judgments — with coaches.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535C6A"/>
                </a:solidFill>
                <a:latin typeface="Segoe UI"/>
              </a:rPr>
              <a:t>KPIs are exact arithmetic on top — tested automatically, no labelling needed.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535C6A"/>
                </a:solidFill>
                <a:latin typeface="Segoe UI"/>
              </a:rPr>
              <a:t>Coaching narrative — judged against an SME rubric.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535C6A"/>
                </a:solidFill>
                <a:latin typeface="Segoe UI"/>
              </a:rPr>
              <a:t>Operational metrics — validated as data, not model output.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5394960"/>
            <a:ext cx="10881360" cy="868680"/>
          </a:xfrm>
          <a:prstGeom prst="rect">
            <a:avLst/>
          </a:prstGeom>
          <a:solidFill>
            <a:srgbClr val="F2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0E7C74"/>
                </a:solidFill>
                <a:latin typeface="Segoe UI"/>
              </a:rPr>
              <a:t>Certify the call level, and the KPIs are right by construction.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NEXT</a:t>
            </a:r>
          </a:p>
          <a:p>
            <a:pPr>
              <a:spcAft>
                <a:spcPts val="0"/>
              </a:spcAft>
            </a:pPr>
            <a:r>
              <a:rPr sz="3000" b="1">
                <a:solidFill>
                  <a:srgbClr val="1A1F27"/>
                </a:solidFill>
                <a:latin typeface="Segoe UI"/>
              </a:rPr>
              <a:t>Proposed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1.   Agree the golden-data sample and certification approach with coaches.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2.   Confirm the flagged definitions and acceptance thresholds.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3.   In parallel, we re-spec the roll-up score and align WCC.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0E7C74"/>
                </a:solidFill>
                <a:latin typeface="Segoe UI"/>
              </a:rPr>
              <a:t>Then: the evaluation gate goes live — prompt improvements without code changes.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