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E7C74"/>
                </a:solidFill>
                <a:latin typeface="Segoe UI"/>
              </a:rPr>
              <a:t>APEX  ·  METRICS DISCUSSION</a:t>
            </a:r>
          </a:p>
          <a:p>
            <a:pPr>
              <a:spcAft>
                <a:spcPts val="0"/>
              </a:spcAft>
            </a:pPr>
            <a:r>
              <a:rPr sz="3800" b="1">
                <a:solidFill>
                  <a:srgbClr val="1A1F27"/>
                </a:solidFill>
                <a:latin typeface="Segoe UI"/>
              </a:rPr>
              <a:t>The Apex KPIs — what they are,</a:t>
            </a:r>
          </a:p>
          <a:p>
            <a:pPr>
              <a:spcAft>
                <a:spcPts val="1600"/>
              </a:spcAft>
            </a:pPr>
            <a:r>
              <a:rPr sz="3800" b="1">
                <a:solidFill>
                  <a:srgbClr val="1A1F27"/>
                </a:solidFill>
                <a:latin typeface="Segoe UI"/>
              </a:rPr>
              <a:t>and the golden data we need for them</a:t>
            </a:r>
          </a:p>
          <a:p>
            <a:pPr>
              <a:spcAft>
                <a:spcPts val="0"/>
              </a:spcAft>
            </a:pPr>
            <a:r>
              <a:rPr sz="1800" b="0">
                <a:solidFill>
                  <a:srgbClr val="535C6A"/>
                </a:solidFill>
                <a:latin typeface="Segoe UI"/>
              </a:rPr>
              <a:t>Enumerated per program, for discussion with the business.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50" b="0">
                <a:solidFill>
                  <a:srgbClr val="8A93A1"/>
                </a:solidFill>
                <a:latin typeface="Segoe UI"/>
              </a:rPr>
              <a:t>3 programs   ·   47 KPIs   ·   ~500 golden calls proposed   ·   8 Sep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0E7C74"/>
                </a:solidFill>
                <a:latin typeface="Segoe UI"/>
              </a:rPr>
              <a:t>THE APEX METRIC SET</a:t>
            </a:r>
          </a:p>
          <a:p>
            <a:pPr>
              <a:spcAft>
                <a:spcPts val="0"/>
              </a:spcAft>
            </a:pPr>
            <a:r>
              <a:rPr sz="2700" b="1">
                <a:solidFill>
                  <a:srgbClr val="1A1F27"/>
                </a:solidFill>
                <a:latin typeface="Segoe UI"/>
              </a:rPr>
              <a:t>What Apex measures, by the numbers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83080"/>
          <a:ext cx="11521440" cy="2514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4754880"/>
                <a:gridCol w="1280160"/>
                <a:gridCol w="1737360"/>
                <a:gridCol w="173736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Program</a:t>
                      </a:r>
                    </a:p>
                  </a:txBody>
                  <a:tcPr anchor="ctr" marL="82296" marR="54864" marT="18288" marB="18288">
                    <a:solidFill>
                      <a:srgbClr val="0E7C7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Lens</a:t>
                      </a:r>
                    </a:p>
                  </a:txBody>
                  <a:tcPr anchor="ctr" marL="82296" marR="54864" marT="18288" marB="18288">
                    <a:solidFill>
                      <a:srgbClr val="0E7C7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KPIs</a:t>
                      </a:r>
                    </a:p>
                  </a:txBody>
                  <a:tcPr anchor="ctr" marL="82296" marR="54864" marT="18288" marB="18288">
                    <a:solidFill>
                      <a:srgbClr val="0E7C7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Behaviours</a:t>
                      </a:r>
                    </a:p>
                  </a:txBody>
                  <a:tcPr anchor="ctr" marL="82296" marR="54864" marT="18288" marB="18288">
                    <a:solidFill>
                      <a:srgbClr val="0E7C7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Soft skills</a:t>
                      </a:r>
                    </a:p>
                  </a:txBody>
                  <a:tcPr anchor="ctr" marL="82296" marR="54864" marT="18288" marB="18288">
                    <a:solidFill>
                      <a:srgbClr val="0E7C7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F27"/>
                          </a:solidFill>
                          <a:latin typeface="Segoe UI"/>
                        </a:rPr>
                        <a:t>Telesales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Sales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F27"/>
                          </a:solidFill>
                          <a:latin typeface="Segoe UI"/>
                        </a:rPr>
                        <a:t>WCC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Care &amp; retention (LEARN/PROVIDE/CLOSE)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F27"/>
                          </a:solidFill>
                          <a:latin typeface="Segoe UI"/>
                        </a:rPr>
                        <a:t>PSO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Care — VZ Mobile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24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F27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3 lines of business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47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38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6 shared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484632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535C6A"/>
                </a:solidFill>
                <a:latin typeface="Segoe UI"/>
              </a:rPr>
              <a:t>KPIs = counts or rates from per-call judgments.  Behaviours &amp; soft skills = 0–1 averages.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2578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A96E12"/>
                </a:solidFill>
                <a:latin typeface="Segoe UI"/>
              </a:rPr>
              <a:t>Separately: operational metrics (AHT · VXS · FCR · resolve/disconnect) come from Verizon data, not the 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0E7C74"/>
                </a:solidFill>
                <a:latin typeface="Segoe UI"/>
              </a:rPr>
              <a:t>KPIS · TELESALES (12)</a:t>
            </a:r>
          </a:p>
          <a:p>
            <a:pPr>
              <a:spcAft>
                <a:spcPts val="0"/>
              </a:spcAft>
            </a:pPr>
            <a:r>
              <a:rPr sz="2700" b="1">
                <a:solidFill>
                  <a:srgbClr val="1A1F27"/>
                </a:solidFill>
                <a:latin typeface="Segoe UI"/>
              </a:rPr>
              <a:t>Sales performance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83080"/>
          <a:ext cx="10927080" cy="42793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00400"/>
                <a:gridCol w="6446520"/>
                <a:gridCol w="128016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KPI</a:t>
                      </a:r>
                    </a:p>
                  </a:txBody>
                  <a:tcPr anchor="ctr" marL="82296" marR="54864" marT="18288" marB="18288">
                    <a:solidFill>
                      <a:srgbClr val="0E7C7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What it measures</a:t>
                      </a:r>
                    </a:p>
                  </a:txBody>
                  <a:tcPr anchor="ctr" marL="82296" marR="54864" marT="18288" marB="18288">
                    <a:solidFill>
                      <a:srgbClr val="0E7C7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Unit</a:t>
                      </a:r>
                    </a:p>
                  </a:txBody>
                  <a:tcPr anchor="ctr" marL="82296" marR="54864" marT="18288" marB="18288">
                    <a:solidFill>
                      <a:srgbClr val="0E7C74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7"/>
                          </a:solidFill>
                          <a:latin typeface="Segoe UI"/>
                        </a:rPr>
                        <a:t>new_line_pitches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35C6A"/>
                          </a:solidFill>
                          <a:latin typeface="Segoe UI"/>
                        </a:rPr>
                        <a:t>New-line pitches where an opportunity existed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35C6A"/>
                          </a:solidFill>
                          <a:latin typeface="Segoe UI"/>
                        </a:rPr>
                        <a:t>count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7"/>
                          </a:solidFill>
                          <a:latin typeface="Segoe UI"/>
                        </a:rPr>
                        <a:t>new_line_opportunity_exists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35C6A"/>
                          </a:solidFill>
                          <a:latin typeface="Segoe UI"/>
                        </a:rPr>
                        <a:t>New-line opportunities present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35C6A"/>
                          </a:solidFill>
                          <a:latin typeface="Segoe UI"/>
                        </a:rPr>
                        <a:t>count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7"/>
                          </a:solidFill>
                          <a:latin typeface="Segoe UI"/>
                        </a:rPr>
                        <a:t>new_line_opportunity_missed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35C6A"/>
                          </a:solidFill>
                          <a:latin typeface="Segoe UI"/>
                        </a:rPr>
                        <a:t>Share of new-line opportunities not pitched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35C6A"/>
                          </a:solidFill>
                          <a:latin typeface="Segoe UI"/>
                        </a:rPr>
                        <a:t>rate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7"/>
                          </a:solidFill>
                          <a:latin typeface="Segoe UI"/>
                        </a:rPr>
                        <a:t>upgrade_attempts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35C6A"/>
                          </a:solidFill>
                          <a:latin typeface="Segoe UI"/>
                        </a:rPr>
                        <a:t>Upgrade pitches where an opportunity existed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35C6A"/>
                          </a:solidFill>
                          <a:latin typeface="Segoe UI"/>
                        </a:rPr>
                        <a:t>count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7"/>
                          </a:solidFill>
                          <a:latin typeface="Segoe UI"/>
                        </a:rPr>
                        <a:t>upgrade_opportunity_exists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35C6A"/>
                          </a:solidFill>
                          <a:latin typeface="Segoe UI"/>
                        </a:rPr>
                        <a:t>Upgrade opportunities present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35C6A"/>
                          </a:solidFill>
                          <a:latin typeface="Segoe UI"/>
                        </a:rPr>
                        <a:t>count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7"/>
                          </a:solidFill>
                          <a:latin typeface="Segoe UI"/>
                        </a:rPr>
                        <a:t>upgrade_opportunity_missed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35C6A"/>
                          </a:solidFill>
                          <a:latin typeface="Segoe UI"/>
                        </a:rPr>
                        <a:t>Share of upgrade opportunities not pitched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35C6A"/>
                          </a:solidFill>
                          <a:latin typeface="Segoe UI"/>
                        </a:rPr>
                        <a:t>rate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7"/>
                          </a:solidFill>
                          <a:latin typeface="Segoe UI"/>
                        </a:rPr>
                        <a:t>save_attempts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35C6A"/>
                          </a:solidFill>
                          <a:latin typeface="Segoe UI"/>
                        </a:rPr>
                        <a:t>Retention save attempts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35C6A"/>
                          </a:solidFill>
                          <a:latin typeface="Segoe UI"/>
                        </a:rPr>
                        <a:t>count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7"/>
                          </a:solidFill>
                          <a:latin typeface="Segoe UI"/>
                        </a:rPr>
                        <a:t>escalations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35C6A"/>
                          </a:solidFill>
                          <a:latin typeface="Segoe UI"/>
                        </a:rPr>
                        <a:t>Calls with an escalation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35C6A"/>
                          </a:solidFill>
                          <a:latin typeface="Segoe UI"/>
                        </a:rPr>
                        <a:t>count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7"/>
                          </a:solidFill>
                          <a:latin typeface="Segoe UI"/>
                        </a:rPr>
                        <a:t>fwa_attempts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35C6A"/>
                          </a:solidFill>
                          <a:latin typeface="Segoe UI"/>
                        </a:rPr>
                        <a:t>Fixed-wireless-access pitches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35C6A"/>
                          </a:solidFill>
                          <a:latin typeface="Segoe UI"/>
                        </a:rPr>
                        <a:t>count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7"/>
                          </a:solidFill>
                          <a:latin typeface="Segoe UI"/>
                        </a:rPr>
                        <a:t>mobile_protection_attempts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35C6A"/>
                          </a:solidFill>
                          <a:latin typeface="Segoe UI"/>
                        </a:rPr>
                        <a:t>Mobile-protection pitches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35C6A"/>
                          </a:solidFill>
                          <a:latin typeface="Segoe UI"/>
                        </a:rPr>
                        <a:t>count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7"/>
                          </a:solidFill>
                          <a:latin typeface="Segoe UI"/>
                        </a:rPr>
                        <a:t>we_got_you_utterances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35C6A"/>
                          </a:solidFill>
                          <a:latin typeface="Segoe UI"/>
                        </a:rPr>
                        <a:t>Reassurance phrasing used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35C6A"/>
                          </a:solidFill>
                          <a:latin typeface="Segoe UI"/>
                        </a:rPr>
                        <a:t>count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7"/>
                          </a:solidFill>
                          <a:latin typeface="Segoe UI"/>
                        </a:rPr>
                        <a:t>customer_experience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35C6A"/>
                          </a:solidFill>
                          <a:latin typeface="Segoe UI"/>
                        </a:rPr>
                        <a:t>Rated calls not rated “Poor”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35C6A"/>
                          </a:solidFill>
                          <a:latin typeface="Segoe UI"/>
                        </a:rPr>
                        <a:t>rate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0E7C74"/>
                </a:solidFill>
                <a:latin typeface="Segoe UI"/>
              </a:rPr>
              <a:t>KPIS · WCC (11)</a:t>
            </a:r>
          </a:p>
          <a:p>
            <a:pPr>
              <a:spcAft>
                <a:spcPts val="0"/>
              </a:spcAft>
            </a:pPr>
            <a:r>
              <a:rPr sz="2700" b="1">
                <a:solidFill>
                  <a:srgbClr val="1A1F27"/>
                </a:solidFill>
                <a:latin typeface="Segoe UI"/>
              </a:rPr>
              <a:t>Care &amp; retention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83080"/>
          <a:ext cx="10927080" cy="41696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00400"/>
                <a:gridCol w="6446520"/>
                <a:gridCol w="128016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KPI</a:t>
                      </a:r>
                    </a:p>
                  </a:txBody>
                  <a:tcPr anchor="ctr" marL="82296" marR="54864" marT="18288" marB="18288">
                    <a:solidFill>
                      <a:srgbClr val="0E7C7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What it measures</a:t>
                      </a:r>
                    </a:p>
                  </a:txBody>
                  <a:tcPr anchor="ctr" marL="82296" marR="54864" marT="18288" marB="18288">
                    <a:solidFill>
                      <a:srgbClr val="0E7C7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Unit</a:t>
                      </a:r>
                    </a:p>
                  </a:txBody>
                  <a:tcPr anchor="ctr" marL="82296" marR="54864" marT="18288" marB="18288">
                    <a:solidFill>
                      <a:srgbClr val="0E7C7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7"/>
                          </a:solidFill>
                          <a:latin typeface="Segoe UI"/>
                        </a:rPr>
                        <a:t>resolution_opportunities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35C6A"/>
                          </a:solidFill>
                          <a:latin typeface="Segoe UI"/>
                        </a:rPr>
                        <a:t>Calls where the issue could be resolved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35C6A"/>
                          </a:solidFill>
                          <a:latin typeface="Segoe UI"/>
                        </a:rPr>
                        <a:t>count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7"/>
                          </a:solidFill>
                          <a:latin typeface="Segoe UI"/>
                        </a:rPr>
                        <a:t>resolutions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35C6A"/>
                          </a:solidFill>
                          <a:latin typeface="Segoe UI"/>
                        </a:rPr>
                        <a:t>Of those, calls actually resolved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35C6A"/>
                          </a:solidFill>
                          <a:latin typeface="Segoe UI"/>
                        </a:rPr>
                        <a:t>count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7"/>
                          </a:solidFill>
                          <a:latin typeface="Segoe UI"/>
                        </a:rPr>
                        <a:t>survival_opportunities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35C6A"/>
                          </a:solidFill>
                          <a:latin typeface="Segoe UI"/>
                        </a:rPr>
                        <a:t>Calls with churn / retention risk present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35C6A"/>
                          </a:solidFill>
                          <a:latin typeface="Segoe UI"/>
                        </a:rPr>
                        <a:t>count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7"/>
                          </a:solidFill>
                          <a:latin typeface="Segoe UI"/>
                        </a:rPr>
                        <a:t>saves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35C6A"/>
                          </a:solidFill>
                          <a:latin typeface="Segoe UI"/>
                        </a:rPr>
                        <a:t>Of those, customers retained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35C6A"/>
                          </a:solidFill>
                          <a:latin typeface="Segoe UI"/>
                        </a:rPr>
                        <a:t>count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7"/>
                          </a:solidFill>
                          <a:latin typeface="Segoe UI"/>
                        </a:rPr>
                        <a:t>right_of_sell_opportunities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35C6A"/>
                          </a:solidFill>
                          <a:latin typeface="Segoe UI"/>
                        </a:rPr>
                        <a:t>Calls where a sell was appropriate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35C6A"/>
                          </a:solidFill>
                          <a:latin typeface="Segoe UI"/>
                        </a:rPr>
                        <a:t>count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7"/>
                          </a:solidFill>
                          <a:latin typeface="Segoe UI"/>
                        </a:rPr>
                        <a:t>right_of_sell_actuals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35C6A"/>
                          </a:solidFill>
                          <a:latin typeface="Segoe UI"/>
                        </a:rPr>
                        <a:t>Of those, sell attempts made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35C6A"/>
                          </a:solidFill>
                          <a:latin typeface="Segoe UI"/>
                        </a:rPr>
                        <a:t>count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7"/>
                          </a:solidFill>
                          <a:latin typeface="Segoe UI"/>
                        </a:rPr>
                        <a:t>sales_made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35C6A"/>
                          </a:solidFill>
                          <a:latin typeface="Segoe UI"/>
                        </a:rPr>
                        <a:t>Sales completed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35C6A"/>
                          </a:solidFill>
                          <a:latin typeface="Segoe UI"/>
                        </a:rPr>
                        <a:t>count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7"/>
                          </a:solidFill>
                          <a:latin typeface="Segoe UI"/>
                        </a:rPr>
                        <a:t>new_prospects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35C6A"/>
                          </a:solidFill>
                          <a:latin typeface="Segoe UI"/>
                        </a:rPr>
                        <a:t>New leads identified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35C6A"/>
                          </a:solidFill>
                          <a:latin typeface="Segoe UI"/>
                        </a:rPr>
                        <a:t>count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7"/>
                          </a:solidFill>
                          <a:latin typeface="Segoe UI"/>
                        </a:rPr>
                        <a:t>new_prospects_converted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35C6A"/>
                          </a:solidFill>
                          <a:latin typeface="Segoe UI"/>
                        </a:rPr>
                        <a:t>Leads converted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35C6A"/>
                          </a:solidFill>
                          <a:latin typeface="Segoe UI"/>
                        </a:rPr>
                        <a:t>count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7"/>
                          </a:solidFill>
                          <a:latin typeface="Segoe UI"/>
                        </a:rPr>
                        <a:t>escalations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35C6A"/>
                          </a:solidFill>
                          <a:latin typeface="Segoe UI"/>
                        </a:rPr>
                        <a:t>Calls with an escalation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35C6A"/>
                          </a:solidFill>
                          <a:latin typeface="Segoe UI"/>
                        </a:rPr>
                        <a:t>count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7"/>
                          </a:solidFill>
                          <a:latin typeface="Segoe UI"/>
                        </a:rPr>
                        <a:t>customer_experience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35C6A"/>
                          </a:solidFill>
                          <a:latin typeface="Segoe UI"/>
                        </a:rPr>
                        <a:t>Rated calls not rated “Poor”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35C6A"/>
                          </a:solidFill>
                          <a:latin typeface="Segoe UI"/>
                        </a:rPr>
                        <a:t>rate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0E7C74"/>
                </a:solidFill>
                <a:latin typeface="Segoe UI"/>
              </a:rPr>
              <a:t>KPIS · PSO (24)</a:t>
            </a:r>
          </a:p>
          <a:p>
            <a:pPr>
              <a:spcAft>
                <a:spcPts val="0"/>
              </a:spcAft>
            </a:pPr>
            <a:r>
              <a:rPr sz="2700" b="1">
                <a:solidFill>
                  <a:srgbClr val="1A1F27"/>
                </a:solidFill>
                <a:latin typeface="Segoe UI"/>
              </a:rPr>
              <a:t>Care — VZ Mobile (grouped)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83080"/>
          <a:ext cx="10927080" cy="43891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86000"/>
                <a:gridCol w="7360920"/>
                <a:gridCol w="128016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Group</a:t>
                      </a:r>
                    </a:p>
                  </a:txBody>
                  <a:tcPr anchor="ctr" marL="82296" marR="54864" marT="18288" marB="18288">
                    <a:solidFill>
                      <a:srgbClr val="0E7C7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KPIs in the group</a:t>
                      </a:r>
                    </a:p>
                  </a:txBody>
                  <a:tcPr anchor="ctr" marL="82296" marR="54864" marT="18288" marB="18288">
                    <a:solidFill>
                      <a:srgbClr val="0E7C7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Unit</a:t>
                      </a:r>
                    </a:p>
                  </a:txBody>
                  <a:tcPr anchor="ctr" marL="82296" marR="54864" marT="18288" marB="18288">
                    <a:solidFill>
                      <a:srgbClr val="0E7C7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F27"/>
                          </a:solidFill>
                          <a:latin typeface="Segoe UI"/>
                        </a:rPr>
                        <a:t>Customer Experience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535C6A"/>
                          </a:solidFill>
                          <a:latin typeface="Segoe UI"/>
                        </a:rPr>
                        <a:t>Predicted CSAT · Customer confidence · Customer effort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535C6A"/>
                          </a:solidFill>
                          <a:latin typeface="Segoe UI"/>
                        </a:rPr>
                        <a:t>rate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F27"/>
                          </a:solidFill>
                          <a:latin typeface="Segoe UI"/>
                        </a:rPr>
                        <a:t>Resolve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535C6A"/>
                          </a:solidFill>
                          <a:latin typeface="Segoe UI"/>
                        </a:rPr>
                        <a:t>FCR likelihood · Resolution completeness · Resolution confidence · Next-steps clarity · Issue-resolution effectiveness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535C6A"/>
                          </a:solidFill>
                          <a:latin typeface="Segoe UI"/>
                        </a:rPr>
                        <a:t>rate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F27"/>
                          </a:solidFill>
                          <a:latin typeface="Segoe UI"/>
                        </a:rPr>
                        <a:t>Quality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535C6A"/>
                          </a:solidFill>
                          <a:latin typeface="Segoe UI"/>
                        </a:rPr>
                        <a:t>Quality · Compliance · Process adherence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535C6A"/>
                          </a:solidFill>
                          <a:latin typeface="Segoe UI"/>
                        </a:rPr>
                        <a:t>rate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F27"/>
                          </a:solidFill>
                          <a:latin typeface="Segoe UI"/>
                        </a:rPr>
                        <a:t>Care Handling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535C6A"/>
                          </a:solidFill>
                          <a:latin typeface="Segoe UI"/>
                        </a:rPr>
                        <a:t>Issue ownership · Escalation necessity · Transfer avoidance · Case management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535C6A"/>
                          </a:solidFill>
                          <a:latin typeface="Segoe UI"/>
                        </a:rPr>
                        <a:t>rate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F27"/>
                          </a:solidFill>
                          <a:latin typeface="Segoe UI"/>
                        </a:rPr>
                        <a:t>Operational Efficiency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535C6A"/>
                          </a:solidFill>
                          <a:latin typeface="Segoe UI"/>
                        </a:rPr>
                        <a:t>AHT assessment · Contact-handling efficiency · Hold management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535C6A"/>
                          </a:solidFill>
                          <a:latin typeface="Segoe UI"/>
                        </a:rPr>
                        <a:t>rate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F27"/>
                          </a:solidFill>
                          <a:latin typeface="Segoe UI"/>
                        </a:rPr>
                        <a:t>Repeat-Contact Risk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535C6A"/>
                          </a:solidFill>
                          <a:latin typeface="Segoe UI"/>
                        </a:rPr>
                        <a:t>Repeat-contact · Escalation · Callback · Reopen risk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535C6A"/>
                          </a:solidFill>
                          <a:latin typeface="Segoe UI"/>
                        </a:rPr>
                        <a:t>count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F27"/>
                          </a:solidFill>
                          <a:latin typeface="Segoe UI"/>
                        </a:rPr>
                        <a:t>Customer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535C6A"/>
                          </a:solidFill>
                          <a:latin typeface="Segoe UI"/>
                        </a:rPr>
                        <a:t>Escalations · Customer experience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535C6A"/>
                          </a:solidFill>
                          <a:latin typeface="Segoe UI"/>
                        </a:rPr>
                        <a:t>count / rate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0E7C74"/>
                </a:solidFill>
                <a:latin typeface="Segoe UI"/>
              </a:rPr>
              <a:t>GOLDEN DATA · WHAT WE NEED TO HOLD</a:t>
            </a:r>
          </a:p>
          <a:p>
            <a:pPr>
              <a:spcAft>
                <a:spcPts val="0"/>
              </a:spcAft>
            </a:pPr>
            <a:r>
              <a:rPr sz="2700" b="1">
                <a:solidFill>
                  <a:srgbClr val="1A1F27"/>
                </a:solidFill>
                <a:latin typeface="Segoe UI"/>
              </a:rPr>
              <a:t>The certified dataset, by the numbers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83080"/>
          <a:ext cx="10927080" cy="2377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03120"/>
                <a:gridCol w="3291840"/>
                <a:gridCol w="1828800"/>
                <a:gridCol w="2468880"/>
                <a:gridCol w="123444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Program</a:t>
                      </a:r>
                    </a:p>
                  </a:txBody>
                  <a:tcPr anchor="ctr" marL="82296" marR="54864" marT="18288" marB="18288">
                    <a:solidFill>
                      <a:srgbClr val="0E7C7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Call-level fields to certify</a:t>
                      </a:r>
                    </a:p>
                  </a:txBody>
                  <a:tcPr anchor="ctr" marL="82296" marR="54864" marT="18288" marB="18288">
                    <a:solidFill>
                      <a:srgbClr val="0E7C7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KPIs covered</a:t>
                      </a:r>
                    </a:p>
                  </a:txBody>
                  <a:tcPr anchor="ctr" marL="82296" marR="54864" marT="18288" marB="18288">
                    <a:solidFill>
                      <a:srgbClr val="0E7C7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Proposed golden calls</a:t>
                      </a:r>
                    </a:p>
                  </a:txBody>
                  <a:tcPr anchor="ctr" marL="82296" marR="54864" marT="18288" marB="18288">
                    <a:solidFill>
                      <a:srgbClr val="0E7C7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Reviewers</a:t>
                      </a:r>
                    </a:p>
                  </a:txBody>
                  <a:tcPr anchor="ctr" marL="82296" marR="54864" marT="18288" marB="18288">
                    <a:solidFill>
                      <a:srgbClr val="0E7C7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F27"/>
                          </a:solidFill>
                          <a:latin typeface="Segoe UI"/>
                        </a:rPr>
                        <a:t>Telesales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≈30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150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≥2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F27"/>
                          </a:solidFill>
                          <a:latin typeface="Segoe UI"/>
                        </a:rPr>
                        <a:t>WCC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≈40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150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≥2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F27"/>
                          </a:solidFill>
                          <a:latin typeface="Segoe UI"/>
                        </a:rPr>
                        <a:t>PSO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≈60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24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200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≥2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F27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47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500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16052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450" b="0">
                <a:solidFill>
                  <a:srgbClr val="1A1F27"/>
                </a:solidFill>
                <a:latin typeface="Segoe UI"/>
              </a:rPr>
              <a:t>Certify at the call level (not the aggregate) — coaches confirm each field + its evidence.</a:t>
            </a:r>
          </a:p>
          <a:p>
            <a:pPr>
              <a:spcAft>
                <a:spcPts val="1100"/>
              </a:spcAft>
            </a:pPr>
            <a:r>
              <a:rPr sz="1450" b="0">
                <a:solidFill>
                  <a:srgbClr val="1A1F27"/>
                </a:solidFill>
                <a:latin typeface="Segoe UI"/>
              </a:rPr>
              <a:t>Coverage per KPI: ≥ 15 positive AND ≥ 15 negative certified calls; rare fields (escalations, saves, Poor CX) over-sampled.</a:t>
            </a:r>
          </a:p>
          <a:p>
            <a:pPr>
              <a:spcAft>
                <a:spcPts val="1100"/>
              </a:spcAft>
            </a:pPr>
            <a:r>
              <a:rPr sz="1450" b="0">
                <a:solidFill>
                  <a:srgbClr val="1A1F27"/>
                </a:solidFill>
                <a:latin typeface="Segoe UI"/>
              </a:rPr>
              <a:t>Keep only calls where ≥ 2 reviewers agree; disagreement = the definition needs fixing.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0E7C74"/>
                </a:solidFill>
                <a:latin typeface="Segoe UI"/>
              </a:rPr>
              <a:t>STATUS</a:t>
            </a:r>
          </a:p>
          <a:p>
            <a:pPr>
              <a:spcAft>
                <a:spcPts val="0"/>
              </a:spcAft>
            </a:pPr>
            <a:r>
              <a:rPr sz="2700" b="1">
                <a:solidFill>
                  <a:srgbClr val="1A1F27"/>
                </a:solidFill>
                <a:latin typeface="Segoe UI"/>
              </a:rPr>
              <a:t>What's there  /  what we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0">
                <a:solidFill>
                  <a:srgbClr val="2E8B5E"/>
                </a:solidFill>
                <a:latin typeface="Segoe UI"/>
              </a:rPr>
              <a:t>WHAT'S THERE</a:t>
            </a:r>
          </a:p>
          <a:p>
            <a:pPr>
              <a:spcAft>
                <a:spcPts val="1100"/>
              </a:spcAft>
            </a:pPr>
            <a:r>
              <a:rPr sz="1500" b="0">
                <a:solidFill>
                  <a:srgbClr val="535C6A"/>
                </a:solidFill>
                <a:latin typeface="Segoe UI"/>
              </a:rPr>
              <a:t>All 47 KPIs mapped (field → calc → unit)</a:t>
            </a:r>
          </a:p>
          <a:p>
            <a:pPr>
              <a:spcAft>
                <a:spcPts val="1100"/>
              </a:spcAft>
            </a:pPr>
            <a:r>
              <a:rPr sz="1500" b="0">
                <a:solidFill>
                  <a:srgbClr val="535C6A"/>
                </a:solidFill>
                <a:latin typeface="Segoe UI"/>
              </a:rPr>
              <a:t>3 programs documented</a:t>
            </a:r>
          </a:p>
          <a:p>
            <a:pPr>
              <a:spcAft>
                <a:spcPts val="1100"/>
              </a:spcAft>
            </a:pPr>
            <a:r>
              <a:rPr sz="1500" b="0">
                <a:solidFill>
                  <a:srgbClr val="535C6A"/>
                </a:solidFill>
                <a:latin typeface="Segoe UI"/>
              </a:rPr>
              <a:t>Evidence trail on every judgment</a:t>
            </a:r>
          </a:p>
          <a:p>
            <a:pPr>
              <a:spcAft>
                <a:spcPts val="1100"/>
              </a:spcAft>
            </a:pPr>
            <a:r>
              <a:rPr sz="1500" b="0">
                <a:solidFill>
                  <a:srgbClr val="535C6A"/>
                </a:solidFill>
                <a:latin typeface="Segoe UI"/>
              </a:rPr>
              <a:t>Labelling fixed (count vs rate)</a:t>
            </a:r>
          </a:p>
          <a:p>
            <a:pPr>
              <a:spcAft>
                <a:spcPts val="1100"/>
              </a:spcAft>
            </a:pPr>
            <a:r>
              <a:rPr sz="1500" b="0">
                <a:solidFill>
                  <a:srgbClr val="535C6A"/>
                </a:solidFill>
                <a:latin typeface="Segoe UI"/>
              </a:rPr>
              <a:t>Evaluation platform integrated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0">
                <a:solidFill>
                  <a:srgbClr val="A96E12"/>
                </a:solidFill>
                <a:latin typeface="Segoe UI"/>
              </a:rPr>
              <a:t>WHAT WE NEED</a:t>
            </a:r>
          </a:p>
          <a:p>
            <a:pPr>
              <a:spcAft>
                <a:spcPts val="1100"/>
              </a:spcAft>
            </a:pPr>
            <a:r>
              <a:rPr sz="1500" b="0">
                <a:solidFill>
                  <a:srgbClr val="535C6A"/>
                </a:solidFill>
                <a:latin typeface="Segoe UI"/>
              </a:rPr>
              <a:t>Golden data (table on previous slide)</a:t>
            </a:r>
          </a:p>
          <a:p>
            <a:pPr>
              <a:spcAft>
                <a:spcPts val="1100"/>
              </a:spcAft>
            </a:pPr>
            <a:r>
              <a:rPr sz="1500" b="0">
                <a:solidFill>
                  <a:srgbClr val="535C6A"/>
                </a:solidFill>
                <a:latin typeface="Segoe UI"/>
              </a:rPr>
              <a:t>Roll-up score re-specified per program</a:t>
            </a:r>
          </a:p>
          <a:p>
            <a:pPr>
              <a:spcAft>
                <a:spcPts val="1100"/>
              </a:spcAft>
            </a:pPr>
            <a:r>
              <a:rPr sz="1500" b="0">
                <a:solidFill>
                  <a:srgbClr val="535C6A"/>
                </a:solidFill>
                <a:latin typeface="Segoe UI"/>
              </a:rPr>
              <a:t>WCC prompt aligned to its scorecard</a:t>
            </a:r>
          </a:p>
          <a:p>
            <a:pPr>
              <a:spcAft>
                <a:spcPts val="1100"/>
              </a:spcAft>
            </a:pPr>
            <a:r>
              <a:rPr sz="1500" b="0">
                <a:solidFill>
                  <a:srgbClr val="535C6A"/>
                </a:solidFill>
                <a:latin typeface="Segoe UI"/>
              </a:rPr>
              <a:t>Acceptance threshold per KPI</a:t>
            </a:r>
          </a:p>
          <a:p>
            <a:pPr>
              <a:spcAft>
                <a:spcPts val="1100"/>
              </a:spcAft>
            </a:pPr>
            <a:r>
              <a:rPr sz="1500" b="0">
                <a:solidFill>
                  <a:srgbClr val="535C6A"/>
                </a:solidFill>
                <a:latin typeface="Segoe UI"/>
              </a:rPr>
              <a:t>A few definitions confirmed by SMEs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0E7C74"/>
                </a:solidFill>
                <a:latin typeface="Segoe UI"/>
              </a:rPr>
              <a:t>WHAT WE ASK THE BUSINESS</a:t>
            </a:r>
          </a:p>
          <a:p>
            <a:pPr>
              <a:spcAft>
                <a:spcPts val="0"/>
              </a:spcAft>
            </a:pPr>
            <a:r>
              <a:rPr sz="2700" b="1">
                <a:solidFill>
                  <a:srgbClr val="1A1F27"/>
                </a:solidFill>
                <a:latin typeface="Segoe UI"/>
              </a:rPr>
              <a:t>Five focused requests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83080"/>
          <a:ext cx="10927080" cy="3291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40080"/>
                <a:gridCol w="6766560"/>
                <a:gridCol w="352044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anchor="ctr" marL="82296" marR="54864" marT="18288" marB="18288">
                    <a:solidFill>
                      <a:srgbClr val="0E7C7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Ask</a:t>
                      </a:r>
                    </a:p>
                  </a:txBody>
                  <a:tcPr anchor="ctr" marL="82296" marR="54864" marT="18288" marB="18288">
                    <a:solidFill>
                      <a:srgbClr val="0E7C7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Gives us</a:t>
                      </a:r>
                    </a:p>
                  </a:txBody>
                  <a:tcPr anchor="ctr" marL="82296" marR="54864" marT="18288" marB="18288">
                    <a:solidFill>
                      <a:srgbClr val="0E7C7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F2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Certify labels on the proposed golden calls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The golden dataset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F27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Confirm the flagged ambiguous KPI definitions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Correct metrics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F2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Define what makes a coaching recommendation “good”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The coaching rubric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F27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Set the acceptable range per KPI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The evaluation threshold</a:t>
                      </a:r>
                    </a:p>
                  </a:txBody>
                  <a:tcPr anchor="ctr" marL="82296" marR="54864" marT="18288" marB="18288">
                    <a:solidFill>
                      <a:srgbClr val="F7F9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F27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Confirm operational metrics exist for WCC &amp; PSO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Coaching-data coverage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0E7C74"/>
                </a:solidFill>
                <a:latin typeface="Segoe UI"/>
              </a:rPr>
              <a:t>NEXT</a:t>
            </a:r>
          </a:p>
          <a:p>
            <a:pPr>
              <a:spcAft>
                <a:spcPts val="0"/>
              </a:spcAft>
            </a:pPr>
            <a:r>
              <a:rPr sz="2700" b="1">
                <a:solidFill>
                  <a:srgbClr val="1A1F27"/>
                </a:solidFill>
                <a:latin typeface="Segoe UI"/>
              </a:rPr>
              <a:t>Proposed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>
                <a:solidFill>
                  <a:srgbClr val="1A1F27"/>
                </a:solidFill>
                <a:latin typeface="Segoe UI"/>
              </a:rPr>
              <a:t>1.   Agree the golden-call sample &amp; certification with coaches.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1A1F27"/>
                </a:solidFill>
                <a:latin typeface="Segoe UI"/>
              </a:rPr>
              <a:t>2.   Confirm the flagged definitions and acceptance thresholds.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1A1F27"/>
                </a:solidFill>
                <a:latin typeface="Segoe UI"/>
              </a:rPr>
              <a:t>3.   In parallel, we re-spec the roll-up score and align WCC.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1A1F27"/>
                </a:solidFill>
                <a:latin typeface="Segoe UI"/>
              </a:rPr>
              <a:t/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0E7C74"/>
                </a:solidFill>
                <a:latin typeface="Segoe UI"/>
              </a:rPr>
              <a:t>Then: the evaluation gate goes live — prompt improvements without code changes.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