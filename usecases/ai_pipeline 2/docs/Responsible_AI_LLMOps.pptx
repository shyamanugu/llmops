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00" b="1">
                <a:solidFill>
                  <a:srgbClr val="16324F"/>
                </a:solidFill>
                <a:latin typeface="Segoe UI"/>
              </a:rPr>
              <a:t>LLMOps PLATFORM  ·  RESPONSIBLE AI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1C2733"/>
                </a:solidFill>
                <a:latin typeface="Segoe UI"/>
              </a:rPr>
              <a:t>Responsible AI for the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C2733"/>
                </a:solidFill>
                <a:latin typeface="Segoe UI"/>
              </a:rPr>
              <a:t>LLMOps platform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566573"/>
                </a:solidFill>
                <a:latin typeface="Segoe UI"/>
              </a:rPr>
              <a:t>What we have today, what Responsible AI adds, and how we'll build it — with the APIX AI pipeline as the example, and real transcripts as reference.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93A0AD"/>
                </a:solidFill>
                <a:latin typeface="Segoe UI"/>
              </a:rPr>
              <a:t>For: program &amp; business stakeholders, coaches, and the engineering team 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THE STARTING POINT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What we have today — and what Responsible AI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TODAY · THE LLMOps PLATFORM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Prompt management (versioned prompts)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Model management (models by config)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Evaluation gate (quality before release)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Monitoring (cost, speed, errors)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Guardrails (PII detection, audit)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Feedback loop (user ratings)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Operational controls (limits, retries)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Summary: makes AI use cases run reliably.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737360"/>
            <a:ext cx="5212080" cy="4114800"/>
          </a:xfrm>
          <a:prstGeom prst="rect">
            <a:avLst/>
          </a:prstGeom>
          <a:solidFill>
            <a:srgbClr val="E8F0EA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F6E4E"/>
                </a:solidFill>
                <a:latin typeface="Segoe UI"/>
              </a:rPr>
              <a:t>THE RESPONSIBLE-AI LAYER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Fairness — even treatment, no hidden bias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Safety — catch unsafe / wrong outputs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Privacy — protect personal data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Transparency — explain every result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Human oversight — people stay in control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Evidence-based — no made-up outputs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Accountability — versioned &amp; auditable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F6E4E"/>
                </a:solidFill>
                <a:latin typeface="Segoe UI"/>
              </a:rPr>
              <a:t>Summary: makes them trustworthy &amp; defensible.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927080" cy="65836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122A42"/>
                </a:solidFill>
                <a:latin typeface="Segoe UI"/>
              </a:rPr>
              <a:t>Responsible AI is not a separate system — it is a layer added on the platform, so every use case (APIX first) inherits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THE IDEA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What Responsible AI is, and why it matters to 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Responsible AI = a set of checks that make an AI system fair, safe, private, explainable and under human control — proven, not promised.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22A42"/>
                </a:solidFill>
                <a:latin typeface="Segoe UI"/>
              </a:rPr>
              <a:t>Value to the platform: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66573"/>
                </a:solidFill>
                <a:latin typeface="Segoe UI"/>
              </a:rPr>
              <a:t>Build it once on the platform → every use case inherits it (no rebuild per app).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66573"/>
                </a:solidFill>
                <a:latin typeface="Segoe UI"/>
              </a:rPr>
              <a:t>Reduces legal, reputational and operational risk before outputs reach people.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66573"/>
                </a:solidFill>
                <a:latin typeface="Segoe UI"/>
              </a:rPr>
              <a:t>Turns “trust us” into “here is the check, the number, and the evidence.”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66573"/>
                </a:solidFill>
                <a:latin typeface="Segoe UI"/>
              </a:rPr>
              <a:t>Prepares for tightening AI regulation, and differentiates us with clients.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27080" cy="74980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122A42"/>
                </a:solidFill>
                <a:latin typeface="Segoe UI"/>
              </a:rPr>
              <a:t>Especially important for APIX, because APIX uses AI to help evaluate people's work — a high-stakes case where trust must be demonstrable.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THE EXAMPLE USE CASE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The APIX AI pipeline — why it's the right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What it does: scores 100% of contact-centre calls each week into per-agent coaching.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C2733"/>
                </a:solidFill>
                <a:latin typeface="Segoe UI"/>
              </a:rPr>
              <a:t>Why RAI matters here: it evaluates people — fairness, transparency and oversight are essential.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22A42"/>
                </a:solidFill>
                <a:latin typeface="Segoe UI"/>
              </a:rPr>
              <a:t>Why it's ready: two Responsible-AI foundations already exist in the pipeline 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840480"/>
            <a:ext cx="5486400" cy="155448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Already built · evidence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Every AI judgment stores the exact call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segments that justify it (segment_ids).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→ transparency is already in the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3840480"/>
            <a:ext cx="5212080" cy="1554480"/>
          </a:xfrm>
          <a:prstGeom prst="rect">
            <a:avLst/>
          </a:prstGeom>
          <a:solidFill>
            <a:srgbClr val="E8F0EA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F6E4E"/>
                </a:solidFill>
                <a:latin typeface="Segoe UI"/>
              </a:rPr>
              <a:t>Already built · human oversight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Coaches review the AI output and rate it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(1–5) via the feedback loop.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→ the AI assists; it does not decide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852160"/>
            <a:ext cx="10927080" cy="65836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122A42"/>
                </a:solidFill>
                <a:latin typeface="Segoe UI"/>
              </a:rPr>
              <a:t>Next: a reference transcript, then Responsible AI shown in action on it — with how we implement each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REFERENCE TRANSCRIPT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One mock call we'll refer to throughout (illustrative)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7498079" cy="4114800"/>
          </a:xfrm>
          <a:prstGeom prst="rect">
            <a:avLst/>
          </a:prstGeom>
          <a:solidFill>
            <a:srgbClr val="F3F1EC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MOCK CALL TRANSCRIPT — APIX example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[1] Agent: Verizon, this is Priya. How can I help?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[2] Cust : My new phone won't activate and I've been on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hold forever. My card number is 4147 8992...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[3] Agent: No need to read the full number — I can see the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account. Let me stop you there.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[4] Cust : Okay. I'm just really frustrated.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[5] Agent: I completely understand. Let me fix this now.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[6] Agent: I've pushed the activation and credited the wait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           time. You're all set.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C2733"/>
                </a:solidFill>
                <a:latin typeface="Consolas"/>
              </a:rPr>
              <a:t>[7] Cust : Oh, thank you — that's a relief.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1737360"/>
            <a:ext cx="3246120" cy="4114800"/>
          </a:xfrm>
          <a:prstGeom prst="rect">
            <a:avLst/>
          </a:prstGeom>
          <a:solidFill>
            <a:srgbClr val="EAEEF2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18872" tIns="118872" bIns="73152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16324F"/>
                </a:solidFill>
                <a:latin typeface="Segoe UI"/>
              </a:rPr>
              <a:t>WHAT'S IN THIS CALL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Card number spoken  [2]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Agent deflects it   [3]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Frustration         [4]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Empathy             [5]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Ownership           [5-6]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Resolution          [6]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66573"/>
                </a:solidFill>
                <a:latin typeface="Segoe UI"/>
              </a:rPr>
              <a:t>Positive close      [7]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C2733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Every RAI point next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22A42"/>
                </a:solidFill>
                <a:latin typeface="Segoe UI"/>
              </a:rPr>
              <a:t>maps to a line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RESPONSIBLE AI IN ACTION  (1 / 2)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On this call: what it catches, and how we build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5257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4297680"/>
                <a:gridCol w="48920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On the reference call (example)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How we implement it (in the pipeline)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Transparency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Consolas"/>
                        </a:rPr>
                        <a:t>empathy = 0.9  ← line 5;  experience = Good  ← line 7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Each analysis field already stores segment_ids; render those lines beside the score in the coaching UI.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Evidence /
groundedness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Consolas"/>
                        </a:rPr>
                        <a:t>A tip “agent lacked empathy” has no supporting line → blocked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Pydantic model_validator rejects any positive judgment or tip without a valid segment_id (enforced at analysis output).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Privacy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Consolas"/>
                        </a:rPr>
                        <a:t>Card number on line 2 is detected and masked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PII detection + redaction in the denoise / guardrail step; store only redacted text; log the hit for audit.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Safety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Consolas"/>
                        </a:rPr>
                        <a:t>A coaching note with inappropriate wording is held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Every model output passes a content-safety guardrail before it is saved; flagged items go to review.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6263640"/>
            <a:ext cx="10927080" cy="4572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Every row is a real check we can build on the pipeline we already have — not a slogan.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RESPONSIBLE AI IN ACTION  (2 / 2)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Beyond one call: fairness, oversight, assurance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5257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3657600"/>
                <a:gridCol w="571500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Example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How we implement it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Fairness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Language-proficiency avg: native 0.86 vs non-native 0.71 → flagged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Group the weekly score table by agent segment (tenure / language / program); compute disparity; flag beyond a threshold; block a prompt in the gate if it worsens it.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Human
oversight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Agent disputes the frustration/escalation call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A “contest” action in the feedback loop reopens the record for a reviewer; scores are advisory until reviewed.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Reliability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The same call must score the same across prompt versions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Golden-data evaluation gate: per-field precision / recall vs certified labels; a prompt below threshold is rejected before deploy.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Accountability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“Which model &amp; prompt produced this score?”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Stamp every output with model + prompt version (model cards); keep an audit log via monitoring; nothing ships unlogged.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6263640"/>
            <a:ext cx="10927080" cy="4572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~8 categories, each with a concrete example and a concrete build — proof, not just 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WHAT WE ARE GOING TO DO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A phased plan — each phase reuses the platform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800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063240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Phase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What we build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Reuses / touches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1 · Foundation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Evidence validators (no score without a line) + surface evidence in the UI; stamp model/prompt versions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analysis schema · dashboard · model mgmt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2 · Fairness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Score-disparity check across agent segments; add fairness to the release gate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KPI output · evaluation gate · monitoring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3 · Safety &amp; privacy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Formalise content-safety + PII redaction with audit logging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guardrails · denoise step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Segoe UI"/>
                        </a:rPr>
                        <a:t>4 · Oversight &amp; assurance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Contest / appeal workflow; golden-data gate live with thresholds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66573"/>
                          </a:solidFill>
                          <a:latin typeface="Segoe UI"/>
                        </a:rPr>
                        <a:t>feedback loop · evaluation gate · golden data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6035040"/>
            <a:ext cx="10927080" cy="5486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22A42"/>
                </a:solidFill>
                <a:latin typeface="Segoe UI"/>
              </a:rPr>
              <a:t>Start with Phase 1 (highest trust, lowest effort — the evidence is already in the data) and grow from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WHO THIS IS FOR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The intended users, and what each does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608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7635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they do with Responsible AI</a:t>
                      </a:r>
                    </a:p>
                  </a:txBody>
                  <a:tcPr anchor="ctr" marL="82296" marR="54864" marT="27432" marB="27432">
                    <a:solidFill>
                      <a:srgbClr val="16324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Coaches / QA reviewers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Review AI scores with the evidence; override or contest; rate outputs (feedback)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Prompt / maintenance engineers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Maintain prompts; run the quality-and-fairness gate; act on feedback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Data / ML engineers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Build the validators, fairness checks and guardrails; maintain the golden dataset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Program managers / leadership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Set acceptance thresholds; review fairness &amp; drift reports; sign off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Compliance / risk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Use the audit log, model cards and incident records</a:t>
                      </a:r>
                    </a:p>
                  </a:txBody>
                  <a:tcPr anchor="ctr" marL="82296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Segoe UI"/>
                        </a:rPr>
                        <a:t>Agents (the people scored)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66573"/>
                          </a:solidFill>
                          <a:latin typeface="Segoe UI"/>
                        </a:rPr>
                        <a:t>See why they were scored; raise a challenge</a:t>
                      </a:r>
                    </a:p>
                  </a:txBody>
                  <a:tcPr anchor="ctr" marL="82296" marR="54864" marT="27432" marB="27432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6324F"/>
                </a:solidFill>
                <a:latin typeface="Segoe UI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C2733"/>
                </a:solidFill>
                <a:latin typeface="Segoe UI"/>
              </a:rPr>
              <a:t>The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1.  We have a working LLMOps platform. Responsible AI is the next layer on it.</a:t>
            </a:r>
          </a:p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2.  It makes AI fair, safe, private, explainable and overseen — proven with checks.</a:t>
            </a:r>
          </a:p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3.  APIX is the example: it scores people, and already stores evidence + coach review.</a:t>
            </a:r>
          </a:p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4.  Each Responsible-AI point maps to a real check we can build on the pipeline.</a:t>
            </a:r>
          </a:p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5.  We start with evidence validators (Phase 1) and grow through fairness, safety, oversight.</a:t>
            </a:r>
          </a:p>
          <a:p>
            <a:pPr>
              <a:spcAft>
                <a:spcPts val="1500"/>
              </a:spcAft>
            </a:pPr>
            <a:r>
              <a:rPr sz="1550" b="0">
                <a:solidFill>
                  <a:srgbClr val="1C2733"/>
                </a:solidFill>
                <a:latin typeface="Segoe UI"/>
              </a:rPr>
              <a:t>6.  Clear owners: coaches, engineers, managers, compliance — and the agents it affects.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