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50" b="1">
                <a:solidFill>
                  <a:srgbClr val="0E7C74"/>
                </a:solidFill>
                <a:latin typeface="Segoe UI"/>
              </a:rPr>
              <a:t>LLMOps PLATFORM  ·  RESPONSIBLE AI</a:t>
            </a:r>
          </a:p>
          <a:p>
            <a:pPr>
              <a:spcAft>
                <a:spcPts val="0"/>
              </a:spcAft>
            </a:pPr>
            <a:r>
              <a:rPr sz="3700" b="1">
                <a:solidFill>
                  <a:srgbClr val="1A1F27"/>
                </a:solidFill>
                <a:latin typeface="Segoe UI"/>
              </a:rPr>
              <a:t>Responsible AI for the</a:t>
            </a:r>
          </a:p>
          <a:p>
            <a:pPr>
              <a:spcAft>
                <a:spcPts val="1500"/>
              </a:spcAft>
            </a:pPr>
            <a:r>
              <a:rPr sz="3700" b="1">
                <a:solidFill>
                  <a:srgbClr val="1A1F27"/>
                </a:solidFill>
                <a:latin typeface="Segoe UI"/>
              </a:rPr>
              <a:t>LLMOps platform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535C6A"/>
                </a:solidFill>
                <a:latin typeface="Segoe UI"/>
              </a:rPr>
              <a:t>The maturity layer that makes every AI use case on the platform trustworthy — shown with the APIX AI pipeline (our first use case) as the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8A93A1"/>
                </a:solidFill>
                <a:latin typeface="Segoe UI"/>
              </a:rPr>
              <a:t>One platform · many use cases · APIX is the first      Fair · Safe · Private · Clear · Human-controlled      9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7C74"/>
                </a:solidFill>
                <a:latin typeface="Segoe UI"/>
              </a:rPr>
              <a:t>THE FRAME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A1F27"/>
                </a:solidFill>
                <a:latin typeface="Segoe UI"/>
              </a:rPr>
              <a:t>Responsible AI belongs to the platform, not one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35C6A"/>
                </a:solidFill>
                <a:latin typeface="Segoe UI"/>
              </a:rPr>
              <a:t>The LLMOps platform runs many AI use cases (APIX today; hiring intelligence, agent-assist, quality-scoring next). Responsible AI is a layer added once, on the platform — every use case inherits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486400" cy="3108960"/>
          </a:xfrm>
          <a:prstGeom prst="roundRect">
            <a:avLst/>
          </a:prstGeom>
          <a:solidFill>
            <a:srgbClr val="E1F0EE"/>
          </a:solidFill>
          <a:ln w="9525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7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The platform makes AI  WORK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Runs prompts &amp; models reliably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Checks quality before release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Monitors cost, speed, errors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A1F27"/>
                </a:solidFill>
                <a:latin typeface="Segoe UI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0A5B55"/>
                </a:solidFill>
                <a:latin typeface="Segoe UI"/>
              </a:rPr>
              <a:t>→ reliable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2331720"/>
            <a:ext cx="5212080" cy="3108960"/>
          </a:xfrm>
          <a:prstGeom prst="roundRect">
            <a:avLst/>
          </a:prstGeom>
          <a:solidFill>
            <a:srgbClr val="E4F3EB"/>
          </a:solidFill>
          <a:ln w="9525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700"/>
              </a:spcAft>
            </a:pPr>
            <a:r>
              <a:rPr sz="1250" b="1">
                <a:solidFill>
                  <a:srgbClr val="2E8B5E"/>
                </a:solidFill>
                <a:latin typeface="Segoe UI"/>
              </a:rPr>
              <a:t>Responsible AI makes AI  TRUSTED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Fair · safe · private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Explainable &amp; contestable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Kept under human control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A1F27"/>
                </a:solidFill>
                <a:latin typeface="Segoe UI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E8B5E"/>
                </a:solidFill>
                <a:latin typeface="Segoe UI"/>
              </a:rPr>
              <a:t>→ trustworthy &amp; defensible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0927080" cy="749808"/>
          </a:xfrm>
          <a:prstGeom prst="round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A5B55"/>
                </a:solidFill>
                <a:latin typeface="Segoe UI"/>
              </a:rPr>
              <a:t>The platform is built. Responsible AI is the next layer — added once and inherited by every use case, APIX included.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7C74"/>
                </a:solidFill>
                <a:latin typeface="Segoe UI"/>
              </a:rPr>
              <a:t>WHAT IT IS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A1F27"/>
                </a:solidFill>
                <a:latin typeface="Segoe UI"/>
              </a:rPr>
              <a:t>Six commitments — with an example in a use case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27080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4023360"/>
                <a:gridCol w="46177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Commitment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In plain words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Example (in APIX)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7"/>
                          </a:solidFill>
                          <a:latin typeface="Segoe UI"/>
                        </a:rPr>
                        <a:t>Fairness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Treats people evenly, no hidden bias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Scores don't penalise accented agents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7"/>
                          </a:solidFill>
                          <a:latin typeface="Segoe UI"/>
                        </a:rPr>
                        <a:t>Safety &amp; reliability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Catches unsafe or wrong outputs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An offensive output is flagged, not shown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7"/>
                          </a:solidFill>
                          <a:latin typeface="Segoe UI"/>
                        </a:rPr>
                        <a:t>Privacy &amp; security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Protects personal information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A card number in a call is shielded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7"/>
                          </a:solidFill>
                          <a:latin typeface="Segoe UI"/>
                        </a:rPr>
                        <a:t>Transparency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Explains why it produced a result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Each score links to the exact call moments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7"/>
                          </a:solidFill>
                          <a:latin typeface="Segoe UI"/>
                        </a:rPr>
                        <a:t>Human oversight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People stay in control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A coach reviews before it reaches the agent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7"/>
                          </a:solidFill>
                          <a:latin typeface="Segoe UI"/>
                        </a:rPr>
                        <a:t>Evidence-based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Backed by real information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35C6A"/>
                          </a:solidFill>
                          <a:latin typeface="Segoe UI"/>
                        </a:rPr>
                        <a:t>A coaching tip must cite the call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7C74"/>
                </a:solidFill>
                <a:latin typeface="Segoe UI"/>
              </a:rPr>
              <a:t>WHY ON THE PLATFORM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A1F27"/>
                </a:solidFill>
                <a:latin typeface="Segoe UI"/>
              </a:rPr>
              <a:t>Build it once — every use case inherits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2708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4846320"/>
                <a:gridCol w="306324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Bolt-on per use case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Each app builds its own checks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Slow · inconsistent · gaps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F27"/>
                          </a:solidFill>
                          <a:latin typeface="Segoe UI"/>
                        </a:rPr>
                        <a:t>Platform layer  (our approach)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Build once; every use case inherits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Fast · consistent · auditable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3566160"/>
            <a:ext cx="10927080" cy="914400"/>
          </a:xfrm>
          <a:prstGeom prst="round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0A5B55"/>
                </a:solidFill>
                <a:latin typeface="Segoe UI"/>
              </a:rPr>
              <a:t>The value compounds:  reduces risk (legal / reputational)   ·   builds client &amp; auditor confidence   ·   prepares for AI regulation   ·   differentiates every future use case.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0927080" cy="1417320"/>
          </a:xfrm>
          <a:prstGeom prst="roundRect">
            <a:avLst/>
          </a:prstGeom>
          <a:solidFill>
            <a:srgbClr val="E1F0EE"/>
          </a:solidFill>
          <a:ln w="9525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7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THE ONE MOVE THAT MATTERS MOST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0A5B55"/>
                </a:solidFill>
                <a:latin typeface="Segoe UI"/>
              </a:rPr>
              <a:t>The quality check the platform already runs before releasing a change becomes a quality-AND-responsibility check.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Same mechanism, wider protection — and it applies to every use case at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7C74"/>
                </a:solidFill>
                <a:latin typeface="Segoe UI"/>
              </a:rPr>
              <a:t>HOW IT FITS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A1F27"/>
                </a:solidFill>
                <a:latin typeface="Segoe UI"/>
              </a:rPr>
              <a:t>It extends the platform capabilities we already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27080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3200400"/>
                <a:gridCol w="50749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Platform capability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does today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Responsible-AI addition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7"/>
                          </a:solidFill>
                          <a:latin typeface="Segoe UI"/>
                        </a:rPr>
                        <a:t>Pre-release checks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Scores quality before release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Also checks fairness, safety, evidence — blocks failures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7"/>
                          </a:solidFill>
                          <a:latin typeface="Segoe UI"/>
                        </a:rPr>
                        <a:t>Guardrails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Detects sensitive data (PII)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Adds unsafe-content checks + an audit record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7"/>
                          </a:solidFill>
                          <a:latin typeface="Segoe UI"/>
                        </a:rPr>
                        <a:t>Monitoring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Tracks cost, speed, errors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Also tracks fairness &amp; unusual behaviour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7"/>
                          </a:solidFill>
                          <a:latin typeface="Segoe UI"/>
                        </a:rPr>
                        <a:t>Feedback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Users rate results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Becomes a way to report &amp; challenge a result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7"/>
                          </a:solidFill>
                          <a:latin typeface="Segoe UI"/>
                        </a:rPr>
                        <a:t>Model &amp; prompt mgmt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Manages versions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Records intended use &amp; known limits (model cards)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7"/>
                          </a:solidFill>
                          <a:latin typeface="Segoe UI"/>
                        </a:rPr>
                        <a:t>Controls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Rate limits, retries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35C6A"/>
                          </a:solidFill>
                          <a:latin typeface="Segoe UI"/>
                        </a:rPr>
                        <a:t>Human-in-the-loop + a switch to stop a bad model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7C74"/>
                </a:solidFill>
                <a:latin typeface="Segoe UI"/>
              </a:rPr>
              <a:t>EXAMPLE USE CASE · APIX AI PIPELINE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A1F27"/>
                </a:solidFill>
                <a:latin typeface="Segoe UI"/>
              </a:rPr>
              <a:t>Why it matters most where AI scores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35C6A"/>
                </a:solidFill>
                <a:latin typeface="Segoe UI"/>
              </a:rPr>
              <a:t>The APIX AI pipeline uses AI to help evaluate agents' work — a high-stakes case. It is also already well suited to Responsible AI: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 b="0">
                <a:solidFill>
                  <a:srgbClr val="1A1F27"/>
                </a:solidFill>
                <a:latin typeface="Segoe UI"/>
              </a:rPr>
              <a:t>Fairness — check scores don't disadvantage any group (e.g. non-native speakers)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1A1F27"/>
                </a:solidFill>
                <a:latin typeface="Segoe UI"/>
              </a:rPr>
              <a:t>Transparency — every score already carries the exact call moments behind it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1A1F27"/>
                </a:solidFill>
                <a:latin typeface="Segoe UI"/>
              </a:rPr>
              <a:t>Human oversight — coaches review; the AI assists, it doesn't decide alone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1A1F27"/>
                </a:solidFill>
                <a:latin typeface="Segoe UI"/>
              </a:rPr>
              <a:t>Privacy — customer details in recordings are protected</a:t>
            </a:r>
          </a:p>
          <a:p>
            <a:pPr>
              <a:spcAft>
                <a:spcPts val="1300"/>
              </a:spcAft>
            </a:pPr>
            <a:r>
              <a:rPr sz="1500" b="0">
                <a:solidFill>
                  <a:srgbClr val="1A1F27"/>
                </a:solidFill>
                <a:latin typeface="Segoe UI"/>
              </a:rPr>
              <a:t>Evidence-based — coaching is tied to what actually happened on the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86400"/>
            <a:ext cx="10927080" cy="822960"/>
          </a:xfrm>
          <a:prstGeom prst="roundRect">
            <a:avLst/>
          </a:prstGeom>
          <a:solidFill>
            <a:srgbClr val="E4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E8B5E"/>
                </a:solidFill>
                <a:latin typeface="Segoe UI"/>
              </a:rPr>
              <a:t>Because APIX already keeps the evidence and keeps coaches in the loop, it shows Responsible AI in practice — a template the next use case reuses.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7C74"/>
                </a:solidFill>
                <a:latin typeface="Segoe UI"/>
              </a:rPr>
              <a:t>WORKED EXAMPLES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A1F27"/>
                </a:solidFill>
                <a:latin typeface="Segoe UI"/>
              </a:rPr>
              <a:t>Fairness and transparency, made concrete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86400" cy="3657600"/>
          </a:xfrm>
          <a:prstGeom prst="roundRect">
            <a:avLst/>
          </a:prstGeom>
          <a:solidFill>
            <a:srgbClr val="E1F0EE"/>
          </a:solidFill>
          <a:ln w="9525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7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FAIRNESS CHECK · language-proficiency score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Compare average scores by group: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0A5B55"/>
                </a:solidFill>
                <a:latin typeface="Consolas"/>
              </a:rPr>
              <a:t>native speakers      : 0.86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0A5B55"/>
                </a:solidFill>
                <a:latin typeface="Consolas"/>
              </a:rPr>
              <a:t>non-native speakers  : 0.71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A96E12"/>
                </a:solidFill>
                <a:latin typeface="Consolas"/>
              </a:rPr>
              <a:t>gap                  : 0.15  → review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A1F27"/>
                </a:solidFill>
                <a:latin typeface="Segoe UI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A gap isn't proof of bias — but we LOOK,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measure, and explain it, not assume.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828800"/>
            <a:ext cx="5212080" cy="3657600"/>
          </a:xfrm>
          <a:prstGeom prst="roundRect">
            <a:avLst/>
          </a:prstGeom>
          <a:solidFill>
            <a:srgbClr val="E1F0EE"/>
          </a:solidFill>
          <a:ln w="9525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700"/>
              </a:spcAft>
            </a:pPr>
            <a:r>
              <a:rPr sz="1250" b="1">
                <a:solidFill>
                  <a:srgbClr val="0E7C74"/>
                </a:solidFill>
                <a:latin typeface="Segoe UI"/>
              </a:rPr>
              <a:t>TRANSPARENCY · a score with its evidence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0A5B55"/>
                </a:solidFill>
                <a:latin typeface="Consolas"/>
              </a:rPr>
              <a:t>empathy = 0.9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because, on call #4471: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0A5B55"/>
                </a:solidFill>
                <a:latin typeface="Consolas"/>
              </a:rPr>
              <a:t>  “I completely understand,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0A5B55"/>
                </a:solidFill>
                <a:latin typeface="Consolas"/>
              </a:rPr>
              <a:t>   let me sort this for you.”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  (lines 12–14)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1A1F27"/>
                </a:solidFill>
                <a:latin typeface="Segoe UI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E8B5E"/>
                </a:solidFill>
                <a:latin typeface="Segoe UI"/>
              </a:rPr>
              <a:t>The agent can see WHY — and challenge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927080" cy="749808"/>
          </a:xfrm>
          <a:prstGeom prst="round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A5B55"/>
                </a:solidFill>
                <a:latin typeface="Segoe UI"/>
              </a:rPr>
              <a:t>Responsible AI turns “trust us” into “here is the check, the number, and the evidence.”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E7C74"/>
                </a:solidFill>
                <a:latin typeface="Segoe UI"/>
              </a:rPr>
              <a:t>THE PATH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A1F27"/>
                </a:solidFill>
                <a:latin typeface="Segoe UI"/>
              </a:rPr>
              <a:t>From protected today to governed and trusted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86400" cy="2286000"/>
          </a:xfrm>
          <a:prstGeom prst="roundRect">
            <a:avLst/>
          </a:prstGeom>
          <a:solidFill>
            <a:srgbClr val="F6ECD6"/>
          </a:solidFill>
          <a:ln w="9525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700"/>
              </a:spcAft>
            </a:pPr>
            <a:r>
              <a:rPr sz="1250" b="1">
                <a:solidFill>
                  <a:srgbClr val="A96E12"/>
                </a:solidFill>
                <a:latin typeface="Segoe UI"/>
              </a:rPr>
              <a:t>TODAY · protected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Data protection (PII detection)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Basic safety checks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Reliable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828800"/>
            <a:ext cx="5212080" cy="2286000"/>
          </a:xfrm>
          <a:prstGeom prst="roundRect">
            <a:avLst/>
          </a:prstGeom>
          <a:solidFill>
            <a:srgbClr val="E4F3EB"/>
          </a:solidFill>
          <a:ln w="9525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18872" bIns="91440"/>
          <a:lstStyle/>
          <a:p>
            <a:pPr algn="ctr">
              <a:spcAft>
                <a:spcPts val="700"/>
              </a:spcAft>
            </a:pPr>
            <a:r>
              <a:rPr sz="1250" b="1">
                <a:solidFill>
                  <a:srgbClr val="2E8B5E"/>
                </a:solidFill>
                <a:latin typeface="Segoe UI"/>
              </a:rPr>
              <a:t>NEXT · governed &amp; trusted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Fairness checks in the release gate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Evidence + contestability for every score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35C6A"/>
                </a:solidFill>
                <a:latin typeface="Segoe UI"/>
              </a:rPr>
              <a:t>Model cards; fairness monitoring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343400"/>
          <a:ext cx="10927080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778240"/>
                <a:gridCol w="21488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Next steps — start with APIX, reuse for every use case</a:t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91440" marR="54864" marT="18288" marB="18288">
                    <a:solidFill>
                      <a:srgbClr val="0E7C7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1 · Fairness check on APIX scores across agent groups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2 · Evidence check so every coaching point cites the call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3 · A one-page “model card” per model (purpose + limits)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>4 · Extend the release gate to include fairness &amp; safety</a:t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35C6A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91440" marR="54864" marT="18288" marB="18288"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