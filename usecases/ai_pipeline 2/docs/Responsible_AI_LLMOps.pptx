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16324F"/>
                </a:solidFill>
                <a:latin typeface="Segoe UI"/>
              </a:rPr>
              <a:t>LLMOps PLATFORM  ·  RESPONSIBLE AI</a:t>
            </a:r>
          </a:p>
          <a:p>
            <a:pPr>
              <a:spcAft>
                <a:spcPts val="0"/>
              </a:spcAft>
            </a:pPr>
            <a:r>
              <a:rPr sz="3700" b="1">
                <a:solidFill>
                  <a:srgbClr val="1C2733"/>
                </a:solidFill>
                <a:latin typeface="Segoe UI"/>
              </a:rPr>
              <a:t>Responsible AI for the</a:t>
            </a:r>
          </a:p>
          <a:p>
            <a:pPr>
              <a:spcAft>
                <a:spcPts val="1500"/>
              </a:spcAft>
            </a:pPr>
            <a:r>
              <a:rPr sz="3700" b="1">
                <a:solidFill>
                  <a:srgbClr val="1C2733"/>
                </a:solidFill>
                <a:latin typeface="Segoe UI"/>
              </a:rPr>
              <a:t>LLMOps platform</a:t>
            </a:r>
          </a:p>
          <a:p>
            <a:pPr>
              <a:spcAft>
                <a:spcPts val="0"/>
              </a:spcAft>
            </a:pPr>
            <a:r>
              <a:rPr sz="1700" b="0">
                <a:solidFill>
                  <a:srgbClr val="566573"/>
                </a:solidFill>
                <a:latin typeface="Segoe UI"/>
              </a:rPr>
              <a:t>The maturity layer that makes every AI use case on the platform trustworthy — shown with the APIX AI pipeline (our first use case) as the example.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978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0">
                <a:solidFill>
                  <a:srgbClr val="93A0AD"/>
                </a:solidFill>
                <a:latin typeface="Segoe UI"/>
              </a:rPr>
              <a:t>One platform · many use cases · APIX is the first      Fair · Safe · Private · Clear · Human-controlled      9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THE FRAME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C2733"/>
                </a:solidFill>
                <a:latin typeface="Segoe UI"/>
              </a:rPr>
              <a:t>Responsible AI belongs to the platform, not one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>
                <a:solidFill>
                  <a:srgbClr val="566573"/>
                </a:solidFill>
                <a:latin typeface="Segoe UI"/>
              </a:rPr>
              <a:t>The LLMOps platform runs many AI use cases (APIX today; hiring intelligence, agent-assist, quality-scoring next). Responsible AI is a layer added once, on the platform — every use case inherits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486400" cy="3108960"/>
          </a:xfrm>
          <a:prstGeom prst="rect">
            <a:avLst/>
          </a:prstGeom>
          <a:solidFill>
            <a:srgbClr val="EAEEF2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16324F"/>
                </a:solidFill>
                <a:latin typeface="Segoe UI"/>
              </a:rPr>
              <a:t>The platform makes AI  WORK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Runs prompts &amp; models reliably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Checks quality before release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Monitors cost, speed, errors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Segoe UI"/>
              </a:rPr>
              <a:t>→ reliable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2331720"/>
            <a:ext cx="5212080" cy="3108960"/>
          </a:xfrm>
          <a:prstGeom prst="rect">
            <a:avLst/>
          </a:prstGeom>
          <a:solidFill>
            <a:srgbClr val="E8F0EA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F6E4E"/>
                </a:solidFill>
                <a:latin typeface="Segoe UI"/>
              </a:rPr>
              <a:t>Responsible AI makes AI  TRUSTED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Fair · safe · private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Explainable &amp; contestable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Kept under human control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F6E4E"/>
                </a:solidFill>
                <a:latin typeface="Segoe UI"/>
              </a:rPr>
              <a:t>→ trustworthy &amp; defensible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806440"/>
            <a:ext cx="10927080" cy="749808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22A42"/>
                </a:solidFill>
                <a:latin typeface="Segoe UI"/>
              </a:rPr>
              <a:t>The platform is built. Responsible AI is the next layer — added once and inherited by every use case, APIX included.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WHAT IT IS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C2733"/>
                </a:solidFill>
                <a:latin typeface="Segoe UI"/>
              </a:rPr>
              <a:t>Six commitments — with an example in a use case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4023360"/>
                <a:gridCol w="4617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Commitment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 plain words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Example (in APIX)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Segoe UI"/>
                        </a:rPr>
                        <a:t>Fairness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Treats people evenly, no hidden bias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Scores don't penalise accented agents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Segoe UI"/>
                        </a:rPr>
                        <a:t>Safety &amp; reliability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Catches unsafe or wrong outputs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An offensive output is flagged, not shown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Segoe UI"/>
                        </a:rPr>
                        <a:t>Privacy &amp; security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Protects personal information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A card number in a call is shielded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Segoe UI"/>
                        </a:rPr>
                        <a:t>Transparency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Explains why it produced a result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Each score links to the exact call moments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Segoe UI"/>
                        </a:rPr>
                        <a:t>Human oversight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People stay in control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A coach reviews before it reaches the agent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Segoe UI"/>
                        </a:rPr>
                        <a:t>Evidence-based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Backed by real information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66573"/>
                          </a:solidFill>
                          <a:latin typeface="Segoe UI"/>
                        </a:rPr>
                        <a:t>A coaching tip must cite the call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WHY ON THE PLATFORM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C2733"/>
                </a:solidFill>
                <a:latin typeface="Segoe UI"/>
              </a:rPr>
              <a:t>Build it once — every use case inherits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846320"/>
                <a:gridCol w="306324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Approach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means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Segoe UI"/>
                        </a:rPr>
                        <a:t>Bolt-on per use case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>Each app builds its own checks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>Slow · inconsistent · gaps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Segoe UI"/>
                        </a:rPr>
                        <a:t>Platform layer  (our approach)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>Build once; every use case inherits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>Fast · consistent · auditable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3566160"/>
            <a:ext cx="10927080" cy="9144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122A42"/>
                </a:solidFill>
                <a:latin typeface="Segoe UI"/>
              </a:rPr>
              <a:t>The value compounds:  reduces risk (legal / reputational)   ·   builds client &amp; auditor confidence   ·   prepares for AI regulation   ·   differentiates every future use case.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709160"/>
            <a:ext cx="10927080" cy="1417320"/>
          </a:xfrm>
          <a:prstGeom prst="rect">
            <a:avLst/>
          </a:prstGeom>
          <a:solidFill>
            <a:srgbClr val="EAEEF2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16324F"/>
                </a:solidFill>
                <a:latin typeface="Segoe UI"/>
              </a:rPr>
              <a:t>THE ONE MOVE THAT MATTERS MOST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Segoe UI"/>
              </a:rPr>
              <a:t>The quality check the platform already runs before releasing a change becomes a quality-AND-responsibility check.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Same mechanism, wider protection — and it applies to every use case at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HOW IT FITS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C2733"/>
                </a:solidFill>
                <a:latin typeface="Segoe UI"/>
              </a:rPr>
              <a:t>It extends the platform capabilities we already run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200400"/>
                <a:gridCol w="5074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Platform capability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does today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Responsible-AI addition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Pre-release checks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Scores quality before release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Also checks fairness, safety, evidence — blocks failures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Guardrails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Detects sensitive data (PII)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Adds unsafe-content checks + an audit record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Monitoring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Tracks cost, speed, errors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Also tracks fairness &amp; unusual behaviour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Feedback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Users rate results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Becomes a way to report &amp; challenge a result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Model &amp; prompt mgmt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Manages versions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Records intended use &amp; known limits (model cards)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Controls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Rate limits, retries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Human-in-the-loop + a switch to stop a bad model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EXAMPLE USE CASE · APIX AI PIPELINE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C2733"/>
                </a:solidFill>
                <a:latin typeface="Segoe UI"/>
              </a:rPr>
              <a:t>Why it matters most where AI scores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>
                <a:solidFill>
                  <a:srgbClr val="566573"/>
                </a:solidFill>
                <a:latin typeface="Segoe UI"/>
              </a:rPr>
              <a:t>The APIX AI pipeline uses AI to help evaluate agents' work — a high-stakes case. It is also already well suited to Responsible AI: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>Fairness — check scores don't disadvantage any group (e.g. non-native speakers)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>Transparency — every score already carries the exact call moments behind it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>Human oversight — coaches review; the AI assists, it doesn't decide alone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>Privacy — customer details in recordings are protected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>Evidence-based — coaching is tied to what actually happened on the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486400"/>
            <a:ext cx="10927080" cy="822960"/>
          </a:xfrm>
          <a:prstGeom prst="rect">
            <a:avLst/>
          </a:prstGeom>
          <a:solidFill>
            <a:srgbClr val="E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F6E4E"/>
                </a:solidFill>
                <a:latin typeface="Segoe UI"/>
              </a:rPr>
              <a:t>Because APIX already keeps the evidence and keeps coaches in the loop, it shows Responsible AI in practice — a template the next use case reuses.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WORKED EXAMPLE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C2733"/>
                </a:solidFill>
                <a:latin typeface="Segoe UI"/>
              </a:rPr>
              <a:t>Transparency on a real call — every score has its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6126480" cy="4069080"/>
          </a:xfrm>
          <a:prstGeom prst="rect">
            <a:avLst/>
          </a:prstGeom>
          <a:solidFill>
            <a:srgbClr val="F3F1EC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122A42"/>
                </a:solidFill>
                <a:latin typeface="Segoe UI"/>
              </a:rPr>
              <a:t>MOCK CALL TRANSCRIPT — APIX example (illustrative)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[10] Cust : My phone died right before an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            important call. I'm really stressed.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[11] Agent: I completely understand how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            frustrating that is — let me sort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            this out for you right now.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[12] Agent: I've fast-tracked a replacement for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            tomorrow and added a credit.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[13] Cust : Thank you, that really helps.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1737360"/>
            <a:ext cx="4617720" cy="4069080"/>
          </a:xfrm>
          <a:prstGeom prst="rect">
            <a:avLst/>
          </a:prstGeom>
          <a:solidFill>
            <a:srgbClr val="EAEEF2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16324F"/>
                </a:solidFill>
                <a:latin typeface="Segoe UI"/>
              </a:rPr>
              <a:t>WHAT RESPONSIBLE AI ADDS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The pipeline scores this call: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Consolas"/>
              </a:rPr>
              <a:t>empathy    = 0.9   ← line 11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Consolas"/>
              </a:rPr>
              <a:t>ownership  = yes   ← line 12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Consolas"/>
              </a:rPr>
              <a:t>experience = Good  ← line 13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F6E4E"/>
                </a:solidFill>
                <a:latin typeface="Segoe UI"/>
              </a:rPr>
              <a:t>Transparency — the agent sees the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exact lines behind each score.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F6E4E"/>
                </a:solidFill>
                <a:latin typeface="Segoe UI"/>
              </a:rPr>
              <a:t>Contestable — if they disagree they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can challenge it, evidence in 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43600"/>
            <a:ext cx="10927080" cy="749808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22A42"/>
                </a:solidFill>
                <a:latin typeface="Segoe UI"/>
              </a:rPr>
              <a:t>No score without evidence — plus a fairness check on top (native vs non-native averages 0.86 vs 0.71 → flagged for review). That is what makes AI that evaluates people defensible.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THE PATH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C2733"/>
                </a:solidFill>
                <a:latin typeface="Segoe UI"/>
              </a:rPr>
              <a:t>From protected today to governed and trusted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5486400" cy="2286000"/>
          </a:xfrm>
          <a:prstGeom prst="rect">
            <a:avLst/>
          </a:prstGeom>
          <a:solidFill>
            <a:srgbClr val="F2EBDE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8A5A1B"/>
                </a:solidFill>
                <a:latin typeface="Segoe UI"/>
              </a:rPr>
              <a:t>TODAY · protected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Data protection (PII detection)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Basic safety checks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Reliable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828800"/>
            <a:ext cx="5212080" cy="2286000"/>
          </a:xfrm>
          <a:prstGeom prst="rect">
            <a:avLst/>
          </a:prstGeom>
          <a:solidFill>
            <a:srgbClr val="E8F0EA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F6E4E"/>
                </a:solidFill>
                <a:latin typeface="Segoe UI"/>
              </a:rPr>
              <a:t>NEXT · governed &amp; trusted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Fairness checks in the release gate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Evidence + contestability for every score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Model cards; fairness monitoring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343400"/>
          <a:ext cx="1092708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778240"/>
                <a:gridCol w="21488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Next steps — start with APIX, reuse for every use case</a:t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16324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>1 · Fairness check on APIX scores across agent groups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>2 · Evidence check so every coaching point cites the call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>3 · A one-page “model card” per model (purpose + limits)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>4 · Extend the release gate to include fairness &amp; safety</a:t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66573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