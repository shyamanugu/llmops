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simple. Two things today: the platform we built, and proof it works because APIX already runs on it. The one idea to land is leverage — build once, reuse for every future use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trap with GenAI is doing it feature by feature — each team rebuilds scaffolding and does safety and cost differently. We flipped it: one platform, use cases plug in. APIX is the first one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these top to bottom, one line each — don't dwell. The ones that matter most for APIX are 02, 03, 04, 05, 06. 01 and 07 are foundation and extras the other use cases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half, same pace. Reassure them these all exist and are reusable; APIX doesn't need every one yet, but the next use case picks up whatever it needs with no new platform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concrete: transcripts in, coaching out, five steps. The key fact for the next slide is that all five steps send their model calls through one function — that's our single integration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Top row is the application — the five pipeline steps. Every step sends its model calls down into the one 'seam' in the middle. That seam is where the platform does its work: the right prompt, guardrails, model choice, and cost/trace recording. The bottom row is the reusable platform providing those services. Point out we added the middle and bottom without changing the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Plain version: the developer already funnelled every model call through one function; we wrapped that one spot. We added capabilities one at a time so nothing was big-bang. And it's reversible — that's why it was low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four bullets are done and demonstrable. Stress two things: prompt changes go live without a deployment, and guardrails flag PII but never drop a call because these are real transcripts.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tabs simply — don't read every word. If we're live, click Application then Playground. Be upfront that the numbers are sample data so it runs on any machine; the same screens work with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de-risking slide for a regulated contact-centre business. Nothing hits a model without guardrails, and everything is costed and traced. Use case two inherits the same safety — we don't redo governance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aren't blockers to the demo — they turn it into production and set the roadmap. If I can get four things: approved models and rates, the PII stance, a small set of ground-truth examples, and which second use case you want.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leverage: you funded a platform, not a feature. The next use case reuses all of this and lands fast with the same governance. Ask for the decisions and the green light to take APIX live and start #2.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A89A"/>
                </a:solidFill>
                <a:latin typeface="Segoe UI"/>
              </a:rPr>
              <a:t>AFNI  ·  OFFICE OF GenAI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17373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An Enterprise LLMOps Platform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proven on the AI Pipeline (APIX)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200400"/>
            <a:ext cx="2194560" cy="54864"/>
          </a:xfrm>
          <a:prstGeom prst="rect">
            <a:avLst/>
          </a:prstGeom>
          <a:solidFill>
            <a:srgbClr val="1F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241280" cy="10058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D7E3F1"/>
                </a:solidFill>
                <a:latin typeface="Segoe UI"/>
              </a:rPr>
              <a:t>We didn't build one AI feature. We built the platform all our AI use cases run on —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D7E3F1"/>
                </a:solidFill>
                <a:latin typeface="Segoe UI"/>
              </a:rPr>
              <a:t>and we already have a real application running on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892040"/>
            <a:ext cx="10515600" cy="685800"/>
          </a:xfrm>
          <a:prstGeom prst="roundRect">
            <a:avLst/>
          </a:prstGeom>
          <a:solidFill>
            <a:srgbClr val="143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B6DFD7"/>
                </a:solidFill>
                <a:latin typeface="Segoe UI"/>
              </a:rPr>
              <a:t>14 reusable components      6 already used by APIX      one console to run &amp; govern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6FB7"/>
                </a:solidFill>
                <a:latin typeface="Segoe UI"/>
              </a:rPr>
              <a:t>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0F2A47"/>
                </a:solidFill>
                <a:latin typeface="Segoe UI"/>
              </a:rPr>
              <a:t>Build the platform, not one-off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2303F"/>
                </a:solidFill>
                <a:latin typeface="Segoe UI"/>
              </a:rPr>
              <a:t>If every AI use case is built from scratch, each one redoes the same plumbing — model calls, prompts, safety, cost tracking, evaluation — slowly and inconsistently.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5257800" cy="1371600"/>
          </a:xfrm>
          <a:prstGeom prst="roundRect">
            <a:avLst/>
          </a:prstGeom>
          <a:solidFill>
            <a:srgbClr val="FBEEEE"/>
          </a:solidFill>
          <a:ln w="12700">
            <a:solidFill>
              <a:srgbClr val="E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9A3B3B"/>
                </a:solidFill>
                <a:latin typeface="Segoe UI"/>
              </a:rPr>
              <a:t>Without a platform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F"/>
                </a:solidFill>
                <a:latin typeface="Segoe UI"/>
              </a:rPr>
              <a:t>Every use case re-invents model calls, safety, cost and evaluation. Slow, inconsistent, risky.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468880"/>
            <a:ext cx="5257800" cy="1371600"/>
          </a:xfrm>
          <a:prstGeom prst="roundRect">
            <a:avLst/>
          </a:prstGeom>
          <a:solidFill>
            <a:srgbClr val="E6F6F3"/>
          </a:solidFill>
          <a:ln w="12700">
            <a:solidFill>
              <a:srgbClr val="B9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86E63"/>
                </a:solidFill>
                <a:latin typeface="Segoe UI"/>
              </a:rPr>
              <a:t>With the platform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2303F"/>
                </a:solidFill>
                <a:latin typeface="Segoe UI"/>
              </a:rPr>
              <a:t>Every use case inherits guardrails, observability, evaluation and prompt versioning — the same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00" b="1">
                <a:solidFill>
                  <a:srgbClr val="0F2A47"/>
                </a:solidFill>
                <a:latin typeface="Segoe UI"/>
              </a:rPr>
              <a:t>Build once. </a:t>
            </a:r>
            <a:r>
              <a:rPr sz="1600" b="0">
                <a:solidFill>
                  <a:srgbClr val="22303F"/>
                </a:solidFill>
                <a:latin typeface="Segoe UI"/>
              </a:rPr>
              <a:t>The platform solves the hard, shared parts a single time.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00" b="1">
                <a:solidFill>
                  <a:srgbClr val="0F2A47"/>
                </a:solidFill>
                <a:latin typeface="Segoe UI"/>
              </a:rPr>
              <a:t>Reuse everywhere. </a:t>
            </a:r>
            <a:r>
              <a:rPr sz="1600" b="0">
                <a:solidFill>
                  <a:srgbClr val="22303F"/>
                </a:solidFill>
                <a:latin typeface="Segoe UI"/>
              </a:rPr>
              <a:t>A new use case plugs in with config, not a rebuild.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00" b="1">
                <a:solidFill>
                  <a:srgbClr val="0F2A47"/>
                </a:solidFill>
                <a:latin typeface="Segoe UI"/>
              </a:rPr>
              <a:t>Governed by design. </a:t>
            </a:r>
            <a:r>
              <a:rPr sz="1600" b="0">
                <a:solidFill>
                  <a:srgbClr val="22303F"/>
                </a:solidFill>
                <a:latin typeface="Segoe UI"/>
              </a:rPr>
              <a:t>Safety, cost and quality checks are built in, not bolted on.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00" b="1">
                <a:solidFill>
                  <a:srgbClr val="0F2A47"/>
                </a:solidFill>
                <a:latin typeface="Segoe UI"/>
              </a:rPr>
              <a:t>Faster and cheaper. </a:t>
            </a:r>
            <a:r>
              <a:rPr sz="1600" b="0">
                <a:solidFill>
                  <a:srgbClr val="22303F"/>
                </a:solidFill>
                <a:latin typeface="Segoe UI"/>
              </a:rPr>
              <a:t>Second and third use cases land in weeks, not quarters.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6FB7"/>
                </a:solidFill>
                <a:latin typeface="Segoe UI"/>
              </a:rPr>
              <a:t>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0F2A47"/>
                </a:solidFill>
                <a:latin typeface="Segoe UI"/>
              </a:rPr>
              <a:t>What's in it — part 1 of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72768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63624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Repo &amp; foundation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the shared project structure and cloud setup everything else builds 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71116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061972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Prompt management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prompts are stored and versioned; you edit them without touching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69464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60320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Model management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pick the model by a simple name; swap models by config, per environment.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67812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058668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Evaluation gate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score prompts and models against known-good examples before anything ships.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66160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57016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Observability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every model call is traced — tokens, cost, time taken, and any safety flag.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64508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55364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Guardrails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checks each call for PII, secrets and prompt-injection, before and after the model.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62856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553712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Data tools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search over documents (RAG), speech to/from text, and API connectors.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6FB7"/>
                </a:solidFill>
                <a:latin typeface="Segoe UI"/>
              </a:rPr>
              <a:t>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0F2A47"/>
                </a:solidFill>
                <a:latin typeface="Segoe UI"/>
              </a:rPr>
              <a:t>What's in it — part 2 of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72768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63624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Orchestration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the engine that runs a pipeline's steps in order, with tracing built 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71116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061972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CI/CD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automated checks on every change, including the evaluation gate as a required step.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69464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60320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Serving / hosting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expose a pipeline as a service or a container when we need 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67812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058668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Feedback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capture human corrections and turn them into new test cases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66160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57016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FinOps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cost budgets and spend tracking so we stay in control of the bill.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64508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55364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Governance &amp; onboarding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the step-by-step path to bring a new use case onto the platform.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62856"/>
            <a:ext cx="566928" cy="402336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553712"/>
            <a:ext cx="10149840" cy="457200"/>
          </a:xfrm>
          <a:prstGeom prst="rect">
            <a:avLst/>
          </a:prstGeom>
          <a:noFill/>
        </p:spPr>
        <p:txBody>
          <a:bodyPr wrap="square" anchor="ctr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F2A47"/>
                </a:solidFill>
                <a:latin typeface="Segoe UI"/>
              </a:rPr>
              <a:t>Security &amp; compliance  —  </a:t>
            </a:r>
            <a:r>
              <a:rPr sz="1450" b="0">
                <a:solidFill>
                  <a:srgbClr val="22303F"/>
                </a:solidFill>
                <a:latin typeface="Segoe UI"/>
              </a:rPr>
              <a:t>data-handling and privacy policy, mapped to industry standards.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6FB7"/>
                </a:solidFill>
                <a:latin typeface="Segoe UI"/>
              </a:rPr>
              <a:t>THE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0F2A47"/>
                </a:solidFill>
                <a:latin typeface="Segoe UI"/>
              </a:rPr>
              <a:t>What the AI Pipeline (APIX)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5486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2303F"/>
                </a:solidFill>
                <a:latin typeface="Segoe UI"/>
              </a:rPr>
              <a:t>It turns raw contact-centre call transcripts into per-agent coaching — in five steps: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1874519" cy="1051560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Denoise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F0FA"/>
                </a:solidFill>
                <a:latin typeface="Segoe UI"/>
              </a:rPr>
              <a:t>clean the transcript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3744" y="2788920"/>
            <a:ext cx="237744" cy="411480"/>
          </a:xfrm>
          <a:prstGeom prst="rightArrow">
            <a:avLst/>
          </a:prstGeom>
          <a:solidFill>
            <a:srgbClr val="D7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70632" y="2468880"/>
            <a:ext cx="1874519" cy="1051560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Analysis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F0FA"/>
                </a:solidFill>
                <a:latin typeface="Segoe UI"/>
              </a:rPr>
              <a:t>score each call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654296" y="2788920"/>
            <a:ext cx="237744" cy="411480"/>
          </a:xfrm>
          <a:prstGeom prst="rightArrow">
            <a:avLst/>
          </a:prstGeom>
          <a:solidFill>
            <a:srgbClr val="D7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01184" y="2468880"/>
            <a:ext cx="1874519" cy="1051560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Summary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F0FA"/>
                </a:solidFill>
                <a:latin typeface="Segoe UI"/>
              </a:rPr>
              <a:t>weekly reflection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784848" y="2788920"/>
            <a:ext cx="237744" cy="411480"/>
          </a:xfrm>
          <a:prstGeom prst="rightArrow">
            <a:avLst/>
          </a:prstGeom>
          <a:solidFill>
            <a:srgbClr val="D7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31736" y="2468880"/>
            <a:ext cx="1874519" cy="1051560"/>
          </a:xfrm>
          <a:prstGeom prst="round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Metrics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F0FA"/>
                </a:solidFill>
                <a:latin typeface="Segoe UI"/>
              </a:rPr>
              <a:t>coaching metrics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15400" y="2788920"/>
            <a:ext cx="237744" cy="411480"/>
          </a:xfrm>
          <a:prstGeom prst="rightArrow">
            <a:avLst/>
          </a:prstGeom>
          <a:solidFill>
            <a:srgbClr val="D7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62288" y="2468880"/>
            <a:ext cx="1874519" cy="1051560"/>
          </a:xfrm>
          <a:prstGeom prst="roundRect">
            <a:avLst/>
          </a:prstGeom>
          <a:solidFill>
            <a:srgbClr val="1F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KPI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F0FA"/>
                </a:solidFill>
                <a:latin typeface="Segoe UI"/>
              </a:rPr>
              <a:t>aggregate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77639"/>
            <a:ext cx="10881360" cy="86868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D8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2303F"/>
                </a:solidFill>
                <a:latin typeface="Segoe UI"/>
              </a:rPr>
              <a:t>Every step makes its model calls through </a:t>
            </a:r>
            <a:r>
              <a:rPr sz="1500" b="1">
                <a:solidFill>
                  <a:srgbClr val="0F2A47"/>
                </a:solidFill>
                <a:latin typeface="Segoe UI"/>
              </a:rPr>
              <a:t>one shared function</a:t>
            </a:r>
            <a:r>
              <a:rPr sz="1500" b="0">
                <a:solidFill>
                  <a:srgbClr val="22303F"/>
                </a:solidFill>
                <a:latin typeface="Segoe UI"/>
              </a:rPr>
              <a:t> — that single point is where the LLMOps platform plugs in (next slide).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74920"/>
            <a:ext cx="10881360" cy="12801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450" b="1">
                <a:solidFill>
                  <a:srgbClr val="0F2A47"/>
                </a:solidFill>
                <a:latin typeface="Segoe UI"/>
              </a:rPr>
              <a:t>Only 'Analysis' and 'KPI' feed the scores; </a:t>
            </a:r>
            <a:r>
              <a:rPr sz="1450" b="0">
                <a:solidFill>
                  <a:srgbClr val="22303F"/>
                </a:solidFill>
                <a:latin typeface="Segoe UI"/>
              </a:rPr>
              <a:t>the flow is linear and easy to reason about.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450" b="1">
                <a:solidFill>
                  <a:srgbClr val="0F2A47"/>
                </a:solidFill>
                <a:latin typeface="Segoe UI"/>
              </a:rPr>
              <a:t>KPI is pure aggregation — </a:t>
            </a:r>
            <a:r>
              <a:rPr sz="1450" b="0">
                <a:solidFill>
                  <a:srgbClr val="22303F"/>
                </a:solidFill>
                <a:latin typeface="Segoe UI"/>
              </a:rPr>
              <a:t>no model call, so it's fast and free.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6FB7"/>
                </a:solidFill>
                <a:latin typeface="Segoe U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0F2A47"/>
                </a:solidFill>
                <a:latin typeface="Segoe UI"/>
              </a:rPr>
              <a:t>The platform plugs in at one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08792" cy="1234440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5D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17904"/>
            <a:ext cx="5486400" cy="27432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E6FB7"/>
                </a:solidFill>
                <a:latin typeface="Segoe UI"/>
              </a:rPr>
              <a:t>APPLICATION · AI PIPELINE (APIX)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1874519"/>
            <a:ext cx="17373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D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A47"/>
                </a:solidFill>
                <a:latin typeface="Segoe UI"/>
              </a:rPr>
              <a:t>Denoise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60903" y="2084831"/>
            <a:ext cx="274320" cy="256032"/>
          </a:xfrm>
          <a:prstGeom prst="rightArrow">
            <a:avLst/>
          </a:prstGeom>
          <a:solidFill>
            <a:srgbClr val="9D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17373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D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A47"/>
                </a:solidFill>
                <a:latin typeface="Segoe UI"/>
              </a:rPr>
              <a:t>Analysis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27448" y="2084831"/>
            <a:ext cx="274320" cy="256032"/>
          </a:xfrm>
          <a:prstGeom prst="rightArrow">
            <a:avLst/>
          </a:prstGeom>
          <a:solidFill>
            <a:srgbClr val="9D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1874519"/>
            <a:ext cx="17373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D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A47"/>
                </a:solidFill>
                <a:latin typeface="Segoe UI"/>
              </a:rPr>
              <a:t>Summary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793992" y="2084831"/>
            <a:ext cx="274320" cy="256032"/>
          </a:xfrm>
          <a:prstGeom prst="rightArrow">
            <a:avLst/>
          </a:prstGeom>
          <a:solidFill>
            <a:srgbClr val="9D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095744" y="1874519"/>
            <a:ext cx="17373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D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A47"/>
                </a:solidFill>
                <a:latin typeface="Segoe UI"/>
              </a:rPr>
              <a:t>Metrics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0536" y="2084831"/>
            <a:ext cx="274320" cy="256032"/>
          </a:xfrm>
          <a:prstGeom prst="rightArrow">
            <a:avLst/>
          </a:prstGeom>
          <a:solidFill>
            <a:srgbClr val="9D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62288" y="1874519"/>
            <a:ext cx="17373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D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A47"/>
                </a:solidFill>
                <a:latin typeface="Segoe UI"/>
              </a:rPr>
              <a:t>KPI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577840" y="2761488"/>
            <a:ext cx="457200" cy="384048"/>
          </a:xfrm>
          <a:prstGeom prst="downArrow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788920"/>
            <a:ext cx="36576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A6B7B"/>
                </a:solidFill>
                <a:latin typeface="Segoe UI"/>
              </a:rPr>
              <a:t>every model call goes down through…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46120"/>
            <a:ext cx="10908792" cy="868680"/>
          </a:xfrm>
          <a:prstGeom prst="round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FA89A"/>
                </a:solidFill>
                <a:latin typeface="Segoe UI"/>
              </a:rPr>
              <a:t>THE LLMOps SEAM  </a:t>
            </a:r>
            <a:r>
              <a:rPr sz="1400" b="1">
                <a:solidFill>
                  <a:srgbClr val="FFFFFF"/>
                </a:solidFill>
                <a:latin typeface="Segoe UI"/>
              </a:rPr>
              <a:t>render prompt  ›  check guardrails  ›  pick model  ›  call  ›  check output  ›  record cost &amp; trace</a:t>
            </a:r>
          </a:p>
        </p:txBody>
      </p:sp>
      <p:sp>
        <p:nvSpPr>
          <p:cNvPr id="20" name="Up Arrow 19"/>
          <p:cNvSpPr/>
          <p:nvPr/>
        </p:nvSpPr>
        <p:spPr>
          <a:xfrm>
            <a:off x="2926080" y="4160520"/>
            <a:ext cx="457200" cy="365760"/>
          </a:xfrm>
          <a:prstGeom prst="upArrow">
            <a:avLst/>
          </a:prstGeom>
          <a:solidFill>
            <a:srgbClr val="1F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Up Arrow 20"/>
          <p:cNvSpPr/>
          <p:nvPr/>
        </p:nvSpPr>
        <p:spPr>
          <a:xfrm>
            <a:off x="5806440" y="4160520"/>
            <a:ext cx="457200" cy="365760"/>
          </a:xfrm>
          <a:prstGeom prst="upArrow">
            <a:avLst/>
          </a:prstGeom>
          <a:solidFill>
            <a:srgbClr val="1F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8686800" y="4160520"/>
            <a:ext cx="457200" cy="365760"/>
          </a:xfrm>
          <a:prstGeom prst="upArrow">
            <a:avLst/>
          </a:prstGeom>
          <a:solidFill>
            <a:srgbClr val="1F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187952"/>
            <a:ext cx="219456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A6B7B"/>
                </a:solidFill>
                <a:latin typeface="Segoe UI"/>
              </a:rPr>
              <a:t>…provided by 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617720"/>
            <a:ext cx="10908792" cy="1600200"/>
          </a:xfrm>
          <a:prstGeom prst="roundRect">
            <a:avLst/>
          </a:prstGeom>
          <a:solidFill>
            <a:srgbClr val="E6F6F3"/>
          </a:solidFill>
          <a:ln w="12700">
            <a:solidFill>
              <a:srgbClr val="BF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72584"/>
            <a:ext cx="5486400" cy="27432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86E63"/>
                </a:solidFill>
                <a:latin typeface="Segoe UI"/>
              </a:rPr>
              <a:t>LLMOps PLATFORM (reusable)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" y="5029200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A89A"/>
                </a:solidFill>
                <a:latin typeface="Segoe UI"/>
              </a:rPr>
              <a:t>02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A47"/>
                </a:solidFill>
                <a:latin typeface="Segoe UI"/>
              </a:rPr>
              <a:t>Prompts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5029200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A89A"/>
                </a:solidFill>
                <a:latin typeface="Segoe UI"/>
              </a:rPr>
              <a:t>03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A47"/>
                </a:solidFill>
                <a:latin typeface="Segoe UI"/>
              </a:rPr>
              <a:t>Models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98848" y="5029200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A89A"/>
                </a:solidFill>
                <a:latin typeface="Segoe UI"/>
              </a:rPr>
              <a:t>06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A47"/>
                </a:solidFill>
                <a:latin typeface="Segoe UI"/>
              </a:rPr>
              <a:t>Guardrails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0216" y="5029200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A89A"/>
                </a:solidFill>
                <a:latin typeface="Segoe UI"/>
              </a:rPr>
              <a:t>05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A47"/>
                </a:solidFill>
                <a:latin typeface="Segoe UI"/>
              </a:rPr>
              <a:t>Observability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5029200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A89A"/>
                </a:solidFill>
                <a:latin typeface="Segoe UI"/>
              </a:rPr>
              <a:t>04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A47"/>
                </a:solidFill>
                <a:latin typeface="Segoe UI"/>
              </a:rPr>
              <a:t>Evaluation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02952" y="5029200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A89A"/>
                </a:solidFill>
                <a:latin typeface="Segoe UI"/>
              </a:rPr>
              <a:t>11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A47"/>
                </a:solidFill>
                <a:latin typeface="Segoe UI"/>
              </a:rPr>
              <a:t>Feedback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6FB7"/>
                </a:solidFill>
                <a:latin typeface="Segoe UI"/>
              </a:rPr>
              <a:t>HOW WE BUILT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0F2A47"/>
                </a:solidFill>
                <a:latin typeface="Segoe UI"/>
              </a:rPr>
              <a:t>A safe add-on, not a rewrite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365760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00" b="1">
                <a:solidFill>
                  <a:srgbClr val="0F2A47"/>
                </a:solidFill>
                <a:latin typeface="Segoe UI"/>
              </a:rPr>
              <a:t>One integration point. </a:t>
            </a:r>
            <a:r>
              <a:rPr sz="1600" b="0">
                <a:solidFill>
                  <a:srgbClr val="22303F"/>
                </a:solidFill>
                <a:latin typeface="Segoe UI"/>
              </a:rPr>
              <a:t>We wrapped the single shared function — the five steps were left untouched.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00" b="1">
                <a:solidFill>
                  <a:srgbClr val="0F2A47"/>
                </a:solidFill>
                <a:latin typeface="Segoe UI"/>
              </a:rPr>
              <a:t>Low risk and reversible. </a:t>
            </a:r>
            <a:r>
              <a:rPr sz="1600" b="0">
                <a:solidFill>
                  <a:srgbClr val="22303F"/>
                </a:solidFill>
                <a:latin typeface="Segoe UI"/>
              </a:rPr>
              <a:t>It's an add-on; we can switch any layer off and the pipeline still runs.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00" b="1">
                <a:solidFill>
                  <a:srgbClr val="0F2A47"/>
                </a:solidFill>
                <a:latin typeface="Segoe UI"/>
              </a:rPr>
              <a:t>Shipped piece by piece. </a:t>
            </a:r>
            <a:r>
              <a:rPr sz="1600" b="0">
                <a:solidFill>
                  <a:srgbClr val="22303F"/>
                </a:solidFill>
                <a:latin typeface="Segoe UI"/>
              </a:rPr>
              <a:t>Observability first, then models, guardrails, prompts, evaluation, feedback.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00" b="1">
                <a:solidFill>
                  <a:srgbClr val="0F2A47"/>
                </a:solidFill>
                <a:latin typeface="Segoe UI"/>
              </a:rPr>
              <a:t>Config, not code. </a:t>
            </a:r>
            <a:r>
              <a:rPr sz="1600" b="0">
                <a:solidFill>
                  <a:srgbClr val="22303F"/>
                </a:solidFill>
                <a:latin typeface="Segoe UI"/>
              </a:rPr>
              <a:t>APIX is registered with a few settings — model names, a guardrail policy, thresholds.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00" b="1">
                <a:solidFill>
                  <a:srgbClr val="0F2A47"/>
                </a:solidFill>
                <a:latin typeface="Segoe UI"/>
              </a:rPr>
              <a:t>Fail-open. </a:t>
            </a:r>
            <a:r>
              <a:rPr sz="1600" b="0">
                <a:solidFill>
                  <a:srgbClr val="22303F"/>
                </a:solidFill>
                <a:latin typeface="Segoe UI"/>
              </a:rPr>
              <a:t>If a cloud service is down, the pipeline keeps running; tracing just pauses.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6FB7"/>
                </a:solidFill>
                <a:latin typeface="Segoe UI"/>
              </a:rPr>
              <a:t>WHERE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0F2A47"/>
                </a:solidFill>
                <a:latin typeface="Segoe UI"/>
              </a:rPr>
              <a:t>What's working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32918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Done: </a:t>
            </a:r>
            <a:r>
              <a:rPr sz="1550" b="0">
                <a:solidFill>
                  <a:srgbClr val="22303F"/>
                </a:solidFill>
                <a:latin typeface="Segoe UI"/>
              </a:rPr>
              <a:t>observability &amp; cost, model management, guardrails, prompt versioning, evaluation gate, feedback — plus one console to run and operate it all.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Prompt change goes live by clicking Activate — </a:t>
            </a:r>
            <a:r>
              <a:rPr sz="1550" b="0">
                <a:solidFill>
                  <a:srgbClr val="22303F"/>
                </a:solidFill>
                <a:latin typeface="Segoe UI"/>
              </a:rPr>
              <a:t>no redeployment.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PII flagged for audit, never dropped; secrets blocked. </a:t>
            </a:r>
            <a:r>
              <a:rPr sz="1550" b="0">
                <a:solidFill>
                  <a:srgbClr val="22303F"/>
                </a:solidFill>
                <a:latin typeface="Segoe UI"/>
              </a:rPr>
              <a:t>Real customer data stays safe.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Runs on a locked-down machine — </a:t>
            </a:r>
            <a:r>
              <a:rPr sz="1550" b="0">
                <a:solidFill>
                  <a:srgbClr val="22303F"/>
                </a:solidFill>
                <a:latin typeface="Segoe UI"/>
              </a:rPr>
              <a:t>the demo is plain Python, nothing to install.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Next: </a:t>
            </a:r>
            <a:r>
              <a:rPr sz="1550" b="0">
                <a:solidFill>
                  <a:srgbClr val="22303F"/>
                </a:solidFill>
                <a:latin typeface="Segoe UI"/>
              </a:rPr>
              <a:t>send cost and traces to Azure Monitor once we have accounts and rates.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Ready when needed: </a:t>
            </a:r>
            <a:r>
              <a:rPr sz="1550" b="0">
                <a:solidFill>
                  <a:srgbClr val="22303F"/>
                </a:solidFill>
                <a:latin typeface="Segoe UI"/>
              </a:rPr>
              <a:t>search/RAG, voice, and hosting for the next use case.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6FB7"/>
                </a:solidFill>
                <a:latin typeface="Segoe UI"/>
              </a:rPr>
              <a:t>HOW WE OPERATE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0F2A47"/>
                </a:solidFill>
                <a:latin typeface="Segoe UI"/>
              </a:rPr>
              <a:t>One console for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29584" cy="137160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D8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2A47"/>
                </a:solidFill>
                <a:latin typeface="Segoe UI"/>
              </a:rPr>
              <a:t>Application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F"/>
                </a:solidFill>
                <a:latin typeface="Segoe UI"/>
              </a:rPr>
              <a:t>Run the pipeline; see KPIs, per-agent scores, reflections and the calls behind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5" y="1645920"/>
            <a:ext cx="3529584" cy="137160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D8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2A47"/>
                </a:solidFill>
                <a:latin typeface="Segoe UI"/>
              </a:rPr>
              <a:t>Playground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F"/>
                </a:solidFill>
                <a:latin typeface="Segoe UI"/>
              </a:rPr>
              <a:t>Edit a prompt, pick a model, score it against known-good examples; see the cost.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645920"/>
            <a:ext cx="3529584" cy="137160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D8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2A47"/>
                </a:solidFill>
                <a:latin typeface="Segoe UI"/>
              </a:rPr>
              <a:t>Evaluation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F"/>
                </a:solidFill>
                <a:latin typeface="Segoe UI"/>
              </a:rPr>
              <a:t>Quality over time and per prompt version — the gate before anything ships.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82112"/>
            <a:ext cx="3529584" cy="137160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D8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2A47"/>
                </a:solidFill>
                <a:latin typeface="Segoe UI"/>
              </a:rPr>
              <a:t>Golden datasets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F"/>
                </a:solidFill>
                <a:latin typeface="Segoe UI"/>
              </a:rPr>
              <a:t>View, edit, add or upload the known-good examples we score against.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5" y="3182112"/>
            <a:ext cx="3529584" cy="137160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D8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2A47"/>
                </a:solidFill>
                <a:latin typeface="Segoe UI"/>
              </a:rPr>
              <a:t>Monitoring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F"/>
                </a:solidFill>
                <a:latin typeface="Segoe UI"/>
              </a:rPr>
              <a:t>Calls, tokens, cost, time taken, and guardrail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3182112"/>
            <a:ext cx="3529584" cy="137160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D8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2A47"/>
                </a:solidFill>
                <a:latin typeface="Segoe UI"/>
              </a:rPr>
              <a:t>Feedback &amp; Guardrails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22303F"/>
                </a:solidFill>
                <a:latin typeface="Segoe UI"/>
              </a:rPr>
              <a:t>Coach feedback on calls, and an audit trail of every safety decision.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1088136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6B7B"/>
                </a:solidFill>
                <a:latin typeface="Segoe UI"/>
              </a:rPr>
              <a:t>Note: the demo uses a small sample of made-up call data so it runs anywhere. The same screens show real numbers once we connect live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6FB7"/>
                </a:solidFill>
                <a:latin typeface="Segoe UI"/>
              </a:rPr>
              <a:t>WHY IT MATTERS TO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0F2A47"/>
                </a:solidFill>
                <a:latin typeface="Segoe UI"/>
              </a:rPr>
              <a:t>Safe and measured by default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881360" cy="31089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1500"/>
              </a:spcAft>
            </a:pPr>
            <a:r>
              <a:rPr sz="16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50" b="1">
                <a:solidFill>
                  <a:srgbClr val="0F2A47"/>
                </a:solidFill>
                <a:latin typeface="Segoe UI"/>
              </a:rPr>
              <a:t>Safety on every call. </a:t>
            </a:r>
            <a:r>
              <a:rPr sz="1650" b="0">
                <a:solidFill>
                  <a:srgbClr val="22303F"/>
                </a:solidFill>
                <a:latin typeface="Segoe UI"/>
              </a:rPr>
              <a:t>PII flagged, secrets blocked, injection checked. Change the policy in one place and it applies everywhere.</a:t>
            </a:r>
          </a:p>
          <a:p>
            <a:pPr algn="l">
              <a:spcBef>
                <a:spcPts val="0"/>
              </a:spcBef>
              <a:spcAft>
                <a:spcPts val="1500"/>
              </a:spcAft>
            </a:pPr>
            <a:r>
              <a:rPr sz="16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50" b="1">
                <a:solidFill>
                  <a:srgbClr val="0F2A47"/>
                </a:solidFill>
                <a:latin typeface="Segoe UI"/>
              </a:rPr>
              <a:t>Nothing is a black box. </a:t>
            </a:r>
            <a:r>
              <a:rPr sz="1650" b="0">
                <a:solidFill>
                  <a:srgbClr val="22303F"/>
                </a:solidFill>
                <a:latin typeface="Segoe UI"/>
              </a:rPr>
              <a:t>Every model call is traced with its cost and time.</a:t>
            </a:r>
          </a:p>
          <a:p>
            <a:pPr algn="l">
              <a:spcBef>
                <a:spcPts val="0"/>
              </a:spcBef>
              <a:spcAft>
                <a:spcPts val="1500"/>
              </a:spcAft>
            </a:pPr>
            <a:r>
              <a:rPr sz="16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50" b="1">
                <a:solidFill>
                  <a:srgbClr val="0F2A47"/>
                </a:solidFill>
                <a:latin typeface="Segoe UI"/>
              </a:rPr>
              <a:t>Cost is a first-class number. </a:t>
            </a:r>
            <a:r>
              <a:rPr sz="1650" b="0">
                <a:solidFill>
                  <a:srgbClr val="22303F"/>
                </a:solidFill>
                <a:latin typeface="Segoe UI"/>
              </a:rPr>
              <a:t>Track spend live; use a cheaper model for bulk steps to save.</a:t>
            </a:r>
          </a:p>
          <a:p>
            <a:pPr algn="l">
              <a:spcBef>
                <a:spcPts val="0"/>
              </a:spcBef>
              <a:spcAft>
                <a:spcPts val="1500"/>
              </a:spcAft>
            </a:pPr>
            <a:r>
              <a:rPr sz="16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650" b="1">
                <a:solidFill>
                  <a:srgbClr val="0F2A47"/>
                </a:solidFill>
                <a:latin typeface="Segoe UI"/>
              </a:rPr>
              <a:t>Same rules for the next use case. </a:t>
            </a:r>
            <a:r>
              <a:rPr sz="1650" b="0">
                <a:solidFill>
                  <a:srgbClr val="22303F"/>
                </a:solidFill>
                <a:latin typeface="Segoe UI"/>
              </a:rPr>
              <a:t>It inherits this safety and cost story automatically.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6FB7"/>
                </a:solidFill>
                <a:latin typeface="Segoe UI"/>
              </a:rPr>
              <a:t>WHAT WE NEED FROM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0F2A47"/>
                </a:solidFill>
                <a:latin typeface="Segoe UI"/>
              </a:rPr>
              <a:t>A few decisions to move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32918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Azure accounts and environments — </a:t>
            </a:r>
            <a:r>
              <a:rPr sz="1550" b="0">
                <a:solidFill>
                  <a:srgbClr val="22303F"/>
                </a:solidFill>
                <a:latin typeface="Segoe UI"/>
              </a:rPr>
              <a:t>where we run, and dev/test/prod split.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Approved models and their real rates — </a:t>
            </a:r>
            <a:r>
              <a:rPr sz="1550" b="0">
                <a:solidFill>
                  <a:srgbClr val="22303F"/>
                </a:solidFill>
                <a:latin typeface="Segoe UI"/>
              </a:rPr>
              <a:t>turns cost tracking into exact numbers.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PII policy — </a:t>
            </a:r>
            <a:r>
              <a:rPr sz="1550" b="0">
                <a:solidFill>
                  <a:srgbClr val="22303F"/>
                </a:solidFill>
                <a:latin typeface="Segoe UI"/>
              </a:rPr>
              <a:t>flag for audit (today) or mask/redact; anything that must be hard-blocked.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Ground-truth examples — </a:t>
            </a:r>
            <a:r>
              <a:rPr sz="1550" b="0">
                <a:solidFill>
                  <a:srgbClr val="22303F"/>
                </a:solidFill>
                <a:latin typeface="Segoe UI"/>
              </a:rPr>
              <a:t>who owns them, and a first small batch for APIX.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Human sign-off — </a:t>
            </a:r>
            <a:r>
              <a:rPr sz="1550" b="0">
                <a:solidFill>
                  <a:srgbClr val="22303F"/>
                </a:solidFill>
                <a:latin typeface="Segoe UI"/>
              </a:rPr>
              <a:t>do coaches approve the AI's notes before agents see them?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A89A"/>
                </a:solidFill>
                <a:latin typeface="Segoe UI"/>
              </a:rPr>
              <a:t>—  </a:t>
            </a:r>
            <a:r>
              <a:rPr sz="1550" b="1">
                <a:solidFill>
                  <a:srgbClr val="0F2A47"/>
                </a:solidFill>
                <a:latin typeface="Segoe UI"/>
              </a:rPr>
              <a:t>The next use case — </a:t>
            </a:r>
            <a:r>
              <a:rPr sz="1550" b="0">
                <a:solidFill>
                  <a:srgbClr val="22303F"/>
                </a:solidFill>
                <a:latin typeface="Segoe UI"/>
              </a:rPr>
              <a:t>which one to onboard to prove reuse (voice, performance index, hiring).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10881360" cy="640080"/>
          </a:xfrm>
          <a:prstGeom prst="roundRect">
            <a:avLst/>
          </a:prstGeom>
          <a:solidFill>
            <a:srgbClr val="E6F6F3"/>
          </a:solidFill>
          <a:ln w="12700">
            <a:solidFill>
              <a:srgbClr val="B9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86E63"/>
                </a:solidFill>
                <a:latin typeface="Segoe UI"/>
              </a:rPr>
              <a:t>If we get the first four, we can take APIX live and start the next use case at the same time.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Build once. Onboard many.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8229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7E3F1"/>
                </a:solidFill>
                <a:latin typeface="Segoe UI"/>
              </a:rPr>
              <a:t>The next use case reuses the same guardrails, cost controls and console — and lands in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1874519" cy="731520"/>
          </a:xfrm>
          <a:prstGeom prst="roundRect">
            <a:avLst/>
          </a:prstGeom>
          <a:solidFill>
            <a:srgbClr val="143559"/>
          </a:solidFill>
          <a:ln w="12700">
            <a:solidFill>
              <a:srgbClr val="1FA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06623" y="2962656"/>
            <a:ext cx="237744" cy="292608"/>
          </a:xfrm>
          <a:prstGeom prst="rightArrow">
            <a:avLst/>
          </a:prstGeom>
          <a:solidFill>
            <a:srgbClr val="1F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53512" y="2743200"/>
            <a:ext cx="1874519" cy="731520"/>
          </a:xfrm>
          <a:prstGeom prst="roundRect">
            <a:avLst/>
          </a:prstGeom>
          <a:solidFill>
            <a:srgbClr val="143559"/>
          </a:solidFill>
          <a:ln w="12700">
            <a:solidFill>
              <a:srgbClr val="1FA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Segoe UI"/>
              </a:rPr>
              <a:t>Configure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37175" y="2962656"/>
            <a:ext cx="237744" cy="292608"/>
          </a:xfrm>
          <a:prstGeom prst="rightArrow">
            <a:avLst/>
          </a:prstGeom>
          <a:solidFill>
            <a:srgbClr val="1F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84064" y="2743200"/>
            <a:ext cx="1874519" cy="731520"/>
          </a:xfrm>
          <a:prstGeom prst="roundRect">
            <a:avLst/>
          </a:prstGeom>
          <a:solidFill>
            <a:srgbClr val="143559"/>
          </a:solidFill>
          <a:ln w="12700">
            <a:solidFill>
              <a:srgbClr val="1FA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Segoe UI"/>
              </a:rPr>
              <a:t>Evaluate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67728" y="2962656"/>
            <a:ext cx="237744" cy="292608"/>
          </a:xfrm>
          <a:prstGeom prst="rightArrow">
            <a:avLst/>
          </a:prstGeom>
          <a:solidFill>
            <a:srgbClr val="1F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14616" y="2743200"/>
            <a:ext cx="1874519" cy="731520"/>
          </a:xfrm>
          <a:prstGeom prst="roundRect">
            <a:avLst/>
          </a:prstGeom>
          <a:solidFill>
            <a:srgbClr val="143559"/>
          </a:solidFill>
          <a:ln w="12700">
            <a:solidFill>
              <a:srgbClr val="1FA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Segoe UI"/>
              </a:rPr>
              <a:t>Operate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098280" y="2962656"/>
            <a:ext cx="237744" cy="292608"/>
          </a:xfrm>
          <a:prstGeom prst="rightArrow">
            <a:avLst/>
          </a:prstGeom>
          <a:solidFill>
            <a:srgbClr val="1F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45168" y="2743200"/>
            <a:ext cx="1874519" cy="731520"/>
          </a:xfrm>
          <a:prstGeom prst="roundRect">
            <a:avLst/>
          </a:prstGeom>
          <a:solidFill>
            <a:srgbClr val="143559"/>
          </a:solidFill>
          <a:ln w="12700">
            <a:solidFill>
              <a:srgbClr val="1FA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Segoe UI"/>
              </a:rPr>
              <a:t>Improve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49039"/>
            <a:ext cx="10515600" cy="3657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6CF"/>
                </a:solidFill>
                <a:latin typeface="Segoe UI"/>
              </a:rPr>
              <a:t>Only the config and the known-good examples are new each time — everything else is inherited.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343400"/>
            <a:ext cx="3383280" cy="1051560"/>
          </a:xfrm>
          <a:prstGeom prst="roundRect">
            <a:avLst/>
          </a:prstGeom>
          <a:solidFill>
            <a:srgbClr val="143559"/>
          </a:solidFill>
          <a:ln w="12700">
            <a:solidFill>
              <a:srgbClr val="2B4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FD6C9"/>
                </a:solidFill>
                <a:latin typeface="Segoe UI"/>
              </a:rPr>
              <a:t>Voice Agent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D7E3F1"/>
                </a:solidFill>
                <a:latin typeface="Segoe UI"/>
              </a:rPr>
              <a:t>adds voice; reuses the rest.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2272" y="4343400"/>
            <a:ext cx="3383280" cy="1051560"/>
          </a:xfrm>
          <a:prstGeom prst="roundRect">
            <a:avLst/>
          </a:prstGeom>
          <a:solidFill>
            <a:srgbClr val="143559"/>
          </a:solidFill>
          <a:ln w="12700">
            <a:solidFill>
              <a:srgbClr val="2B4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FD6C9"/>
                </a:solidFill>
                <a:latin typeface="Segoe UI"/>
              </a:rPr>
              <a:t>Performance Index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D7E3F1"/>
                </a:solidFill>
                <a:latin typeface="Segoe UI"/>
              </a:rPr>
              <a:t>reuses the exact APIX analysis approach.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4343400"/>
            <a:ext cx="3383280" cy="1051560"/>
          </a:xfrm>
          <a:prstGeom prst="roundRect">
            <a:avLst/>
          </a:prstGeom>
          <a:solidFill>
            <a:srgbClr val="143559"/>
          </a:solidFill>
          <a:ln w="12700">
            <a:solidFill>
              <a:srgbClr val="2B4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FD6C9"/>
                </a:solidFill>
                <a:latin typeface="Segoe UI"/>
              </a:rPr>
              <a:t>Hiring Intelligence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D7E3F1"/>
                </a:solidFill>
                <a:latin typeface="Segoe UI"/>
              </a:rPr>
              <a:t>reuses guardrails and human sign-off.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B6DFD7"/>
                </a:solidFill>
                <a:latin typeface="Segoe UI"/>
              </a:rPr>
              <a:t>The ask: approve the decisions, and let us take APIX live and start use case #2.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