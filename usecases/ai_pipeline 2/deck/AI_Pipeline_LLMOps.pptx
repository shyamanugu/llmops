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simple. Two things today: the platform we built, and proof it works because APIX already runs on it. The point I want to land is leverage — build it once, reuse it for every future use case. Keep it short,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with GenAI is doing it feature by feature. Each team rebuilds the scaffolding and each does safety and cost differently. We flipped it — one platform, use cases plug in. APIX is the first one on it, so it already paid for itself as the proof.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these top to bottom, one line each — don't dwell. The ones that matter most for APIX are 02 prompts, 03 models, 04 evaluation, 05 observability, 06 guardrails. 01 and 07 are foundation and extras that other use cases will 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 same pace, one line each. Reassure them these all exist and are reusable; APIX doesn't need every one yet, but the next use case can pick up whatever it needs without new platform work. The theme to repeat: reusable, config-driven.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 version: the developer's pipeline already sent every model call through one function. That was our way in — we wrapped that one spot. Now the platform handles prompts, safety, model choice, and cost tracking, and the five steps were left as they were. Emphasise low risk and reversible.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first four bullets is done and I can show it. Two things worth stressing: prompt changes go live without a deployment, and guardrails flag PII but never drop a call because these are real transcripts. The 'next' and 'ready' bullets set up the decisions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the tabs simply — don't read every word. If we're live, click through Application then Playground. Be upfront that the numbers are sample data so it runs on any machine; the exact same screens work with real data once we flip to live.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de-risking slide for a regulated contact-centre business. Nothing hits a model without guardrails, and everything is costed and traced. And when use case two arrives, it gets the same safety — we don't redo governance every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aren't blockers to the demo — they're what turns it into production and sets the roadmap. If I can get four things: approved models and rates, the PII stance, a small set of ground-truth examples, and which second use case you want. Then we go live and prove reuse in parallel.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leverage: you funded a platform, not a feature. The next use case reuses all of this and lands fast with the same governance. Ask for the decisions and the green light to take APIX live and start number two.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468880"/>
            <a:ext cx="12191695" cy="54864"/>
          </a:xfrm>
          <a:prstGeom prst="rect">
            <a:avLst/>
          </a:prstGeom>
          <a:solidFill>
            <a:srgbClr val="2BB8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822960"/>
            <a:ext cx="10515600" cy="457200"/>
          </a:xfrm>
          <a:prstGeom prst="rect">
            <a:avLst/>
          </a:prstGeom>
          <a:noFill/>
        </p:spPr>
        <p:txBody>
          <a:bodyPr wrap="square">
            <a:spAutoFit/>
          </a:bodyPr>
          <a:lstStyle/>
          <a:p>
            <a:pPr algn="l">
              <a:spcAft>
                <a:spcPts val="600"/>
              </a:spcAft>
            </a:pPr>
            <a:r>
              <a:rPr sz="1400" b="1">
                <a:solidFill>
                  <a:srgbClr val="2BB8A3"/>
                </a:solidFill>
                <a:latin typeface="Segoe UI"/>
              </a:rPr>
              <a:t>AFNI · Office of GenAI Architecture</a:t>
            </a:r>
          </a:p>
        </p:txBody>
      </p:sp>
      <p:sp>
        <p:nvSpPr>
          <p:cNvPr id="5" name="TextBox 4"/>
          <p:cNvSpPr txBox="1"/>
          <p:nvPr/>
        </p:nvSpPr>
        <p:spPr>
          <a:xfrm>
            <a:off x="822960" y="1371600"/>
            <a:ext cx="10515600" cy="1463040"/>
          </a:xfrm>
          <a:prstGeom prst="rect">
            <a:avLst/>
          </a:prstGeom>
          <a:noFill/>
        </p:spPr>
        <p:txBody>
          <a:bodyPr wrap="square">
            <a:spAutoFit/>
          </a:bodyPr>
          <a:lstStyle/>
          <a:p>
            <a:pPr algn="l">
              <a:spcAft>
                <a:spcPts val="600"/>
              </a:spcAft>
            </a:pPr>
            <a:r>
              <a:rPr sz="4000" b="1">
                <a:solidFill>
                  <a:srgbClr val="FFFFFF"/>
                </a:solidFill>
                <a:latin typeface="Segoe UI"/>
              </a:rPr>
              <a:t>An Enterprise LLMOps Platform</a:t>
            </a:r>
          </a:p>
          <a:p>
            <a:pPr algn="l">
              <a:spcAft>
                <a:spcPts val="600"/>
              </a:spcAft>
            </a:pPr>
            <a:r>
              <a:rPr sz="4000" b="1">
                <a:solidFill>
                  <a:srgbClr val="FFFFFF"/>
                </a:solidFill>
                <a:latin typeface="Segoe UI"/>
              </a:rPr>
              <a:t>proven on the AI Pipeline (APIX)</a:t>
            </a:r>
          </a:p>
        </p:txBody>
      </p:sp>
      <p:sp>
        <p:nvSpPr>
          <p:cNvPr id="6" name="TextBox 5"/>
          <p:cNvSpPr txBox="1"/>
          <p:nvPr/>
        </p:nvSpPr>
        <p:spPr>
          <a:xfrm>
            <a:off x="822960" y="2834640"/>
            <a:ext cx="10058400" cy="1097280"/>
          </a:xfrm>
          <a:prstGeom prst="rect">
            <a:avLst/>
          </a:prstGeom>
          <a:noFill/>
        </p:spPr>
        <p:txBody>
          <a:bodyPr wrap="square">
            <a:spAutoFit/>
          </a:bodyPr>
          <a:lstStyle/>
          <a:p>
            <a:pPr algn="l">
              <a:spcAft>
                <a:spcPts val="600"/>
              </a:spcAft>
            </a:pPr>
            <a:r>
              <a:rPr sz="1800" b="0">
                <a:solidFill>
                  <a:srgbClr val="D5E1F0"/>
                </a:solidFill>
                <a:latin typeface="Segoe UI"/>
              </a:rPr>
              <a:t>We didn't build one AI feature. We built the platform that all our AI use cases run on —</a:t>
            </a:r>
          </a:p>
          <a:p>
            <a:pPr algn="l">
              <a:spcAft>
                <a:spcPts val="600"/>
              </a:spcAft>
            </a:pPr>
            <a:r>
              <a:rPr sz="1800" b="0">
                <a:solidFill>
                  <a:srgbClr val="D5E1F0"/>
                </a:solidFill>
                <a:latin typeface="Segoe UI"/>
              </a:rPr>
              <a:t>and we already have a real application running on it.</a:t>
            </a:r>
          </a:p>
        </p:txBody>
      </p:sp>
      <p:sp>
        <p:nvSpPr>
          <p:cNvPr id="7" name="TextBox 6"/>
          <p:cNvSpPr txBox="1"/>
          <p:nvPr/>
        </p:nvSpPr>
        <p:spPr>
          <a:xfrm>
            <a:off x="822960" y="4297680"/>
            <a:ext cx="10515600" cy="548640"/>
          </a:xfrm>
          <a:prstGeom prst="rect">
            <a:avLst/>
          </a:prstGeom>
          <a:noFill/>
        </p:spPr>
        <p:txBody>
          <a:bodyPr wrap="square">
            <a:spAutoFit/>
          </a:bodyPr>
          <a:lstStyle/>
          <a:p>
            <a:pPr algn="l">
              <a:spcAft>
                <a:spcPts val="600"/>
              </a:spcAft>
            </a:pPr>
            <a:r>
              <a:rPr sz="1500" b="1">
                <a:solidFill>
                  <a:srgbClr val="9FD8CC"/>
                </a:solidFill>
                <a:latin typeface="Segoe UI"/>
              </a:rPr>
              <a:t>14 reusable components    •    6 already used by APIX    •    one console to run and govern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THE IDEA</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Build the platform, not one-off features</a:t>
            </a:r>
          </a:p>
        </p:txBody>
      </p:sp>
      <p:sp>
        <p:nvSpPr>
          <p:cNvPr id="5" name="TextBox 4"/>
          <p:cNvSpPr txBox="1"/>
          <p:nvPr/>
        </p:nvSpPr>
        <p:spPr>
          <a:xfrm>
            <a:off x="548640" y="1554480"/>
            <a:ext cx="10972800" cy="731520"/>
          </a:xfrm>
          <a:prstGeom prst="rect">
            <a:avLst/>
          </a:prstGeom>
          <a:noFill/>
        </p:spPr>
        <p:txBody>
          <a:bodyPr wrap="square">
            <a:spAutoFit/>
          </a:bodyPr>
          <a:lstStyle/>
          <a:p>
            <a:pPr algn="l">
              <a:spcAft>
                <a:spcPts val="600"/>
              </a:spcAft>
            </a:pPr>
            <a:r>
              <a:rPr sz="1600" b="0">
                <a:solidFill>
                  <a:srgbClr val="202A36"/>
                </a:solidFill>
                <a:latin typeface="Segoe UI"/>
              </a:rPr>
              <a:t>If every AI use case is built from scratch, each one redoes the same plumbing — model calls, prompts, safety, cost tracking, evaluation — slowly and inconsistently.</a:t>
            </a:r>
          </a:p>
        </p:txBody>
      </p:sp>
      <p:sp>
        <p:nvSpPr>
          <p:cNvPr id="6" name="TextBox 5"/>
          <p:cNvSpPr txBox="1"/>
          <p:nvPr/>
        </p:nvSpPr>
        <p:spPr>
          <a:xfrm>
            <a:off x="548640" y="2651760"/>
            <a:ext cx="10972800" cy="2743200"/>
          </a:xfrm>
          <a:prstGeom prst="rect">
            <a:avLst/>
          </a:prstGeom>
          <a:noFill/>
        </p:spPr>
        <p:txBody>
          <a:bodyPr wrap="square">
            <a:spAutoFit/>
          </a:bodyPr>
          <a:lstStyle/>
          <a:p>
            <a:pPr algn="l">
              <a:spcAft>
                <a:spcPts val="1200"/>
              </a:spcAft>
            </a:pPr>
            <a:r>
              <a:rPr sz="1700" b="1">
                <a:solidFill>
                  <a:srgbClr val="3B74C4"/>
                </a:solidFill>
                <a:latin typeface="Segoe UI"/>
              </a:rPr>
              <a:t>•  </a:t>
            </a:r>
            <a:r>
              <a:rPr sz="1700" b="1">
                <a:solidFill>
                  <a:srgbClr val="202A36"/>
                </a:solidFill>
                <a:latin typeface="Segoe UI"/>
              </a:rPr>
              <a:t>Build it once. </a:t>
            </a:r>
            <a:r>
              <a:rPr sz="1700" b="0">
                <a:solidFill>
                  <a:srgbClr val="202A36"/>
                </a:solidFill>
                <a:latin typeface="Segoe UI"/>
              </a:rPr>
              <a:t>The platform solves the hard, shared parts a single time.</a:t>
            </a:r>
          </a:p>
          <a:p>
            <a:pPr algn="l">
              <a:spcAft>
                <a:spcPts val="1200"/>
              </a:spcAft>
            </a:pPr>
            <a:r>
              <a:rPr sz="1700" b="1">
                <a:solidFill>
                  <a:srgbClr val="3B74C4"/>
                </a:solidFill>
                <a:latin typeface="Segoe UI"/>
              </a:rPr>
              <a:t>•  </a:t>
            </a:r>
            <a:r>
              <a:rPr sz="1700" b="1">
                <a:solidFill>
                  <a:srgbClr val="202A36"/>
                </a:solidFill>
                <a:latin typeface="Segoe UI"/>
              </a:rPr>
              <a:t>Reuse everywhere. </a:t>
            </a:r>
            <a:r>
              <a:rPr sz="1700" b="0">
                <a:solidFill>
                  <a:srgbClr val="202A36"/>
                </a:solidFill>
                <a:latin typeface="Segoe UI"/>
              </a:rPr>
              <a:t>A new use case plugs in with config, not a rebuild.</a:t>
            </a:r>
          </a:p>
          <a:p>
            <a:pPr algn="l">
              <a:spcAft>
                <a:spcPts val="1200"/>
              </a:spcAft>
            </a:pPr>
            <a:r>
              <a:rPr sz="1700" b="1">
                <a:solidFill>
                  <a:srgbClr val="3B74C4"/>
                </a:solidFill>
                <a:latin typeface="Segoe UI"/>
              </a:rPr>
              <a:t>•  </a:t>
            </a:r>
            <a:r>
              <a:rPr sz="1700" b="1">
                <a:solidFill>
                  <a:srgbClr val="202A36"/>
                </a:solidFill>
                <a:latin typeface="Segoe UI"/>
              </a:rPr>
              <a:t>Governed by design. </a:t>
            </a:r>
            <a:r>
              <a:rPr sz="1700" b="0">
                <a:solidFill>
                  <a:srgbClr val="202A36"/>
                </a:solidFill>
                <a:latin typeface="Segoe UI"/>
              </a:rPr>
              <a:t>Safety, cost and quality checks are built in, not bolted on later.</a:t>
            </a:r>
          </a:p>
          <a:p>
            <a:pPr algn="l">
              <a:spcAft>
                <a:spcPts val="1200"/>
              </a:spcAft>
            </a:pPr>
            <a:r>
              <a:rPr sz="1700" b="1">
                <a:solidFill>
                  <a:srgbClr val="3B74C4"/>
                </a:solidFill>
                <a:latin typeface="Segoe UI"/>
              </a:rPr>
              <a:t>•  </a:t>
            </a:r>
            <a:r>
              <a:rPr sz="1700" b="1">
                <a:solidFill>
                  <a:srgbClr val="202A36"/>
                </a:solidFill>
                <a:latin typeface="Segoe UI"/>
              </a:rPr>
              <a:t>Faster and cheaper. </a:t>
            </a:r>
            <a:r>
              <a:rPr sz="1700" b="0">
                <a:solidFill>
                  <a:srgbClr val="202A36"/>
                </a:solidFill>
                <a:latin typeface="Segoe UI"/>
              </a:rPr>
              <a:t>Second and third use cases land in weeks instead of quarters.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THE PLATFORM</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What's in it — part 1 of 2</a:t>
            </a:r>
          </a:p>
        </p:txBody>
      </p:sp>
      <p:sp>
        <p:nvSpPr>
          <p:cNvPr id="5" name="Rectangle 4"/>
          <p:cNvSpPr/>
          <p:nvPr/>
        </p:nvSpPr>
        <p:spPr>
          <a:xfrm>
            <a:off x="548640" y="1600200"/>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01</a:t>
            </a:r>
          </a:p>
        </p:txBody>
      </p:sp>
      <p:sp>
        <p:nvSpPr>
          <p:cNvPr id="6" name="TextBox 5"/>
          <p:cNvSpPr txBox="1"/>
          <p:nvPr/>
        </p:nvSpPr>
        <p:spPr>
          <a:xfrm>
            <a:off x="1280160" y="1581912"/>
            <a:ext cx="10424160" cy="457200"/>
          </a:xfrm>
          <a:prstGeom prst="rect">
            <a:avLst/>
          </a:prstGeom>
          <a:noFill/>
        </p:spPr>
        <p:txBody>
          <a:bodyPr wrap="square">
            <a:spAutoFit/>
          </a:bodyPr>
          <a:lstStyle/>
          <a:p>
            <a:pPr algn="l">
              <a:spcAft>
                <a:spcPts val="600"/>
              </a:spcAft>
            </a:pPr>
            <a:r>
              <a:rPr sz="1450" b="1">
                <a:solidFill>
                  <a:srgbClr val="0F2138"/>
                </a:solidFill>
                <a:latin typeface="Segoe UI"/>
              </a:rPr>
              <a:t>Repo &amp; foundation — </a:t>
            </a:r>
            <a:r>
              <a:rPr sz="1450" b="0">
                <a:solidFill>
                  <a:srgbClr val="202A36"/>
                </a:solidFill>
                <a:latin typeface="Segoe UI"/>
              </a:rPr>
              <a:t>the shared project structure and cloud setup everything else builds on.</a:t>
            </a:r>
          </a:p>
        </p:txBody>
      </p:sp>
      <p:sp>
        <p:nvSpPr>
          <p:cNvPr id="7" name="Rectangle 6"/>
          <p:cNvSpPr/>
          <p:nvPr/>
        </p:nvSpPr>
        <p:spPr>
          <a:xfrm>
            <a:off x="548640" y="2075688"/>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02</a:t>
            </a:r>
          </a:p>
        </p:txBody>
      </p:sp>
      <p:sp>
        <p:nvSpPr>
          <p:cNvPr id="8" name="TextBox 7"/>
          <p:cNvSpPr txBox="1"/>
          <p:nvPr/>
        </p:nvSpPr>
        <p:spPr>
          <a:xfrm>
            <a:off x="1280160" y="2057400"/>
            <a:ext cx="10424160" cy="457200"/>
          </a:xfrm>
          <a:prstGeom prst="rect">
            <a:avLst/>
          </a:prstGeom>
          <a:noFill/>
        </p:spPr>
        <p:txBody>
          <a:bodyPr wrap="square">
            <a:spAutoFit/>
          </a:bodyPr>
          <a:lstStyle/>
          <a:p>
            <a:pPr algn="l">
              <a:spcAft>
                <a:spcPts val="600"/>
              </a:spcAft>
            </a:pPr>
            <a:r>
              <a:rPr sz="1450" b="1">
                <a:solidFill>
                  <a:srgbClr val="0F2138"/>
                </a:solidFill>
                <a:latin typeface="Segoe UI"/>
              </a:rPr>
              <a:t>Prompt management — </a:t>
            </a:r>
            <a:r>
              <a:rPr sz="1450" b="0">
                <a:solidFill>
                  <a:srgbClr val="202A36"/>
                </a:solidFill>
                <a:latin typeface="Segoe UI"/>
              </a:rPr>
              <a:t>prompts are stored and versioned; you edit them without touching code.</a:t>
            </a:r>
          </a:p>
        </p:txBody>
      </p:sp>
      <p:sp>
        <p:nvSpPr>
          <p:cNvPr id="9" name="Rectangle 8"/>
          <p:cNvSpPr/>
          <p:nvPr/>
        </p:nvSpPr>
        <p:spPr>
          <a:xfrm>
            <a:off x="548640" y="2551176"/>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03</a:t>
            </a:r>
          </a:p>
        </p:txBody>
      </p:sp>
      <p:sp>
        <p:nvSpPr>
          <p:cNvPr id="10" name="TextBox 9"/>
          <p:cNvSpPr txBox="1"/>
          <p:nvPr/>
        </p:nvSpPr>
        <p:spPr>
          <a:xfrm>
            <a:off x="1280160" y="2532888"/>
            <a:ext cx="10424160" cy="457200"/>
          </a:xfrm>
          <a:prstGeom prst="rect">
            <a:avLst/>
          </a:prstGeom>
          <a:noFill/>
        </p:spPr>
        <p:txBody>
          <a:bodyPr wrap="square">
            <a:spAutoFit/>
          </a:bodyPr>
          <a:lstStyle/>
          <a:p>
            <a:pPr algn="l">
              <a:spcAft>
                <a:spcPts val="600"/>
              </a:spcAft>
            </a:pPr>
            <a:r>
              <a:rPr sz="1450" b="1">
                <a:solidFill>
                  <a:srgbClr val="0F2138"/>
                </a:solidFill>
                <a:latin typeface="Segoe UI"/>
              </a:rPr>
              <a:t>Model management — </a:t>
            </a:r>
            <a:r>
              <a:rPr sz="1450" b="0">
                <a:solidFill>
                  <a:srgbClr val="202A36"/>
                </a:solidFill>
                <a:latin typeface="Segoe UI"/>
              </a:rPr>
              <a:t>pick the model by a simple name (alias); swap models by config, per environment.</a:t>
            </a:r>
          </a:p>
        </p:txBody>
      </p:sp>
      <p:sp>
        <p:nvSpPr>
          <p:cNvPr id="11" name="Rectangle 10"/>
          <p:cNvSpPr/>
          <p:nvPr/>
        </p:nvSpPr>
        <p:spPr>
          <a:xfrm>
            <a:off x="548640" y="3026664"/>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04</a:t>
            </a:r>
          </a:p>
        </p:txBody>
      </p:sp>
      <p:sp>
        <p:nvSpPr>
          <p:cNvPr id="12" name="TextBox 11"/>
          <p:cNvSpPr txBox="1"/>
          <p:nvPr/>
        </p:nvSpPr>
        <p:spPr>
          <a:xfrm>
            <a:off x="1280160" y="3008376"/>
            <a:ext cx="10424160" cy="457200"/>
          </a:xfrm>
          <a:prstGeom prst="rect">
            <a:avLst/>
          </a:prstGeom>
          <a:noFill/>
        </p:spPr>
        <p:txBody>
          <a:bodyPr wrap="square">
            <a:spAutoFit/>
          </a:bodyPr>
          <a:lstStyle/>
          <a:p>
            <a:pPr algn="l">
              <a:spcAft>
                <a:spcPts val="600"/>
              </a:spcAft>
            </a:pPr>
            <a:r>
              <a:rPr sz="1450" b="1">
                <a:solidFill>
                  <a:srgbClr val="0F2138"/>
                </a:solidFill>
                <a:latin typeface="Segoe UI"/>
              </a:rPr>
              <a:t>Evaluation gate — </a:t>
            </a:r>
            <a:r>
              <a:rPr sz="1450" b="0">
                <a:solidFill>
                  <a:srgbClr val="202A36"/>
                </a:solidFill>
                <a:latin typeface="Segoe UI"/>
              </a:rPr>
              <a:t>score prompts and models against known-good examples before anything ships.</a:t>
            </a:r>
          </a:p>
        </p:txBody>
      </p:sp>
      <p:sp>
        <p:nvSpPr>
          <p:cNvPr id="13" name="Rectangle 12"/>
          <p:cNvSpPr/>
          <p:nvPr/>
        </p:nvSpPr>
        <p:spPr>
          <a:xfrm>
            <a:off x="548640" y="3502152"/>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05</a:t>
            </a:r>
          </a:p>
        </p:txBody>
      </p:sp>
      <p:sp>
        <p:nvSpPr>
          <p:cNvPr id="14" name="TextBox 13"/>
          <p:cNvSpPr txBox="1"/>
          <p:nvPr/>
        </p:nvSpPr>
        <p:spPr>
          <a:xfrm>
            <a:off x="1280160" y="3483864"/>
            <a:ext cx="10424160" cy="457200"/>
          </a:xfrm>
          <a:prstGeom prst="rect">
            <a:avLst/>
          </a:prstGeom>
          <a:noFill/>
        </p:spPr>
        <p:txBody>
          <a:bodyPr wrap="square">
            <a:spAutoFit/>
          </a:bodyPr>
          <a:lstStyle/>
          <a:p>
            <a:pPr algn="l">
              <a:spcAft>
                <a:spcPts val="600"/>
              </a:spcAft>
            </a:pPr>
            <a:r>
              <a:rPr sz="1450" b="1">
                <a:solidFill>
                  <a:srgbClr val="0F2138"/>
                </a:solidFill>
                <a:latin typeface="Segoe UI"/>
              </a:rPr>
              <a:t>Observability — </a:t>
            </a:r>
            <a:r>
              <a:rPr sz="1450" b="0">
                <a:solidFill>
                  <a:srgbClr val="202A36"/>
                </a:solidFill>
                <a:latin typeface="Segoe UI"/>
              </a:rPr>
              <a:t>every model call is traced — tokens, cost, time taken, and any safety flag.</a:t>
            </a:r>
          </a:p>
        </p:txBody>
      </p:sp>
      <p:sp>
        <p:nvSpPr>
          <p:cNvPr id="15" name="Rectangle 14"/>
          <p:cNvSpPr/>
          <p:nvPr/>
        </p:nvSpPr>
        <p:spPr>
          <a:xfrm>
            <a:off x="548640" y="3977640"/>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06</a:t>
            </a:r>
          </a:p>
        </p:txBody>
      </p:sp>
      <p:sp>
        <p:nvSpPr>
          <p:cNvPr id="16" name="TextBox 15"/>
          <p:cNvSpPr txBox="1"/>
          <p:nvPr/>
        </p:nvSpPr>
        <p:spPr>
          <a:xfrm>
            <a:off x="1280160" y="3959352"/>
            <a:ext cx="10424160" cy="457200"/>
          </a:xfrm>
          <a:prstGeom prst="rect">
            <a:avLst/>
          </a:prstGeom>
          <a:noFill/>
        </p:spPr>
        <p:txBody>
          <a:bodyPr wrap="square">
            <a:spAutoFit/>
          </a:bodyPr>
          <a:lstStyle/>
          <a:p>
            <a:pPr algn="l">
              <a:spcAft>
                <a:spcPts val="600"/>
              </a:spcAft>
            </a:pPr>
            <a:r>
              <a:rPr sz="1450" b="1">
                <a:solidFill>
                  <a:srgbClr val="0F2138"/>
                </a:solidFill>
                <a:latin typeface="Segoe UI"/>
              </a:rPr>
              <a:t>Guardrails — </a:t>
            </a:r>
            <a:r>
              <a:rPr sz="1450" b="0">
                <a:solidFill>
                  <a:srgbClr val="202A36"/>
                </a:solidFill>
                <a:latin typeface="Segoe UI"/>
              </a:rPr>
              <a:t>checks each call for PII, secrets, and prompt-injection before and after the model.</a:t>
            </a:r>
          </a:p>
        </p:txBody>
      </p:sp>
      <p:sp>
        <p:nvSpPr>
          <p:cNvPr id="17" name="Rectangle 16"/>
          <p:cNvSpPr/>
          <p:nvPr/>
        </p:nvSpPr>
        <p:spPr>
          <a:xfrm>
            <a:off x="548640" y="4453128"/>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07</a:t>
            </a:r>
          </a:p>
        </p:txBody>
      </p:sp>
      <p:sp>
        <p:nvSpPr>
          <p:cNvPr id="18" name="TextBox 17"/>
          <p:cNvSpPr txBox="1"/>
          <p:nvPr/>
        </p:nvSpPr>
        <p:spPr>
          <a:xfrm>
            <a:off x="1280160" y="4434840"/>
            <a:ext cx="10424160" cy="457200"/>
          </a:xfrm>
          <a:prstGeom prst="rect">
            <a:avLst/>
          </a:prstGeom>
          <a:noFill/>
        </p:spPr>
        <p:txBody>
          <a:bodyPr wrap="square">
            <a:spAutoFit/>
          </a:bodyPr>
          <a:lstStyle/>
          <a:p>
            <a:pPr algn="l">
              <a:spcAft>
                <a:spcPts val="600"/>
              </a:spcAft>
            </a:pPr>
            <a:r>
              <a:rPr sz="1450" b="1">
                <a:solidFill>
                  <a:srgbClr val="0F2138"/>
                </a:solidFill>
                <a:latin typeface="Segoe UI"/>
              </a:rPr>
              <a:t>Data tools — </a:t>
            </a:r>
            <a:r>
              <a:rPr sz="1450" b="0">
                <a:solidFill>
                  <a:srgbClr val="202A36"/>
                </a:solidFill>
                <a:latin typeface="Segoe UI"/>
              </a:rPr>
              <a:t>search over documents (RAG), speech-to-text/text-to-speech, and API connectors.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THE PLATFORM</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What's in it — part 2 of 2</a:t>
            </a:r>
          </a:p>
        </p:txBody>
      </p:sp>
      <p:sp>
        <p:nvSpPr>
          <p:cNvPr id="5" name="Rectangle 4"/>
          <p:cNvSpPr/>
          <p:nvPr/>
        </p:nvSpPr>
        <p:spPr>
          <a:xfrm>
            <a:off x="548640" y="1600200"/>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08</a:t>
            </a:r>
          </a:p>
        </p:txBody>
      </p:sp>
      <p:sp>
        <p:nvSpPr>
          <p:cNvPr id="6" name="TextBox 5"/>
          <p:cNvSpPr txBox="1"/>
          <p:nvPr/>
        </p:nvSpPr>
        <p:spPr>
          <a:xfrm>
            <a:off x="1280160" y="1581912"/>
            <a:ext cx="10424160" cy="457200"/>
          </a:xfrm>
          <a:prstGeom prst="rect">
            <a:avLst/>
          </a:prstGeom>
          <a:noFill/>
        </p:spPr>
        <p:txBody>
          <a:bodyPr wrap="square">
            <a:spAutoFit/>
          </a:bodyPr>
          <a:lstStyle/>
          <a:p>
            <a:pPr algn="l">
              <a:spcAft>
                <a:spcPts val="600"/>
              </a:spcAft>
            </a:pPr>
            <a:r>
              <a:rPr sz="1450" b="1">
                <a:solidFill>
                  <a:srgbClr val="0F2138"/>
                </a:solidFill>
                <a:latin typeface="Segoe UI"/>
              </a:rPr>
              <a:t>Orchestration — </a:t>
            </a:r>
            <a:r>
              <a:rPr sz="1450" b="0">
                <a:solidFill>
                  <a:srgbClr val="202A36"/>
                </a:solidFill>
                <a:latin typeface="Segoe UI"/>
              </a:rPr>
              <a:t>the engine that runs the steps of a pipeline in order, with tracing built in.</a:t>
            </a:r>
          </a:p>
        </p:txBody>
      </p:sp>
      <p:sp>
        <p:nvSpPr>
          <p:cNvPr id="7" name="Rectangle 6"/>
          <p:cNvSpPr/>
          <p:nvPr/>
        </p:nvSpPr>
        <p:spPr>
          <a:xfrm>
            <a:off x="548640" y="2075688"/>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09</a:t>
            </a:r>
          </a:p>
        </p:txBody>
      </p:sp>
      <p:sp>
        <p:nvSpPr>
          <p:cNvPr id="8" name="TextBox 7"/>
          <p:cNvSpPr txBox="1"/>
          <p:nvPr/>
        </p:nvSpPr>
        <p:spPr>
          <a:xfrm>
            <a:off x="1280160" y="2057400"/>
            <a:ext cx="10424160" cy="457200"/>
          </a:xfrm>
          <a:prstGeom prst="rect">
            <a:avLst/>
          </a:prstGeom>
          <a:noFill/>
        </p:spPr>
        <p:txBody>
          <a:bodyPr wrap="square">
            <a:spAutoFit/>
          </a:bodyPr>
          <a:lstStyle/>
          <a:p>
            <a:pPr algn="l">
              <a:spcAft>
                <a:spcPts val="600"/>
              </a:spcAft>
            </a:pPr>
            <a:r>
              <a:rPr sz="1450" b="1">
                <a:solidFill>
                  <a:srgbClr val="0F2138"/>
                </a:solidFill>
                <a:latin typeface="Segoe UI"/>
              </a:rPr>
              <a:t>CI/CD — </a:t>
            </a:r>
            <a:r>
              <a:rPr sz="1450" b="0">
                <a:solidFill>
                  <a:srgbClr val="202A36"/>
                </a:solidFill>
                <a:latin typeface="Segoe UI"/>
              </a:rPr>
              <a:t>automated checks on every change, including the evaluation gate as a required step.</a:t>
            </a:r>
          </a:p>
        </p:txBody>
      </p:sp>
      <p:sp>
        <p:nvSpPr>
          <p:cNvPr id="9" name="Rectangle 8"/>
          <p:cNvSpPr/>
          <p:nvPr/>
        </p:nvSpPr>
        <p:spPr>
          <a:xfrm>
            <a:off x="548640" y="2551176"/>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10</a:t>
            </a:r>
          </a:p>
        </p:txBody>
      </p:sp>
      <p:sp>
        <p:nvSpPr>
          <p:cNvPr id="10" name="TextBox 9"/>
          <p:cNvSpPr txBox="1"/>
          <p:nvPr/>
        </p:nvSpPr>
        <p:spPr>
          <a:xfrm>
            <a:off x="1280160" y="2532888"/>
            <a:ext cx="10424160" cy="457200"/>
          </a:xfrm>
          <a:prstGeom prst="rect">
            <a:avLst/>
          </a:prstGeom>
          <a:noFill/>
        </p:spPr>
        <p:txBody>
          <a:bodyPr wrap="square">
            <a:spAutoFit/>
          </a:bodyPr>
          <a:lstStyle/>
          <a:p>
            <a:pPr algn="l">
              <a:spcAft>
                <a:spcPts val="600"/>
              </a:spcAft>
            </a:pPr>
            <a:r>
              <a:rPr sz="1450" b="1">
                <a:solidFill>
                  <a:srgbClr val="0F2138"/>
                </a:solidFill>
                <a:latin typeface="Segoe UI"/>
              </a:rPr>
              <a:t>Serving / hosting — </a:t>
            </a:r>
            <a:r>
              <a:rPr sz="1450" b="0">
                <a:solidFill>
                  <a:srgbClr val="202A36"/>
                </a:solidFill>
                <a:latin typeface="Segoe UI"/>
              </a:rPr>
              <a:t>expose a pipeline as a service or a container when we need to.</a:t>
            </a:r>
          </a:p>
        </p:txBody>
      </p:sp>
      <p:sp>
        <p:nvSpPr>
          <p:cNvPr id="11" name="Rectangle 10"/>
          <p:cNvSpPr/>
          <p:nvPr/>
        </p:nvSpPr>
        <p:spPr>
          <a:xfrm>
            <a:off x="548640" y="3026664"/>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11</a:t>
            </a:r>
          </a:p>
        </p:txBody>
      </p:sp>
      <p:sp>
        <p:nvSpPr>
          <p:cNvPr id="12" name="TextBox 11"/>
          <p:cNvSpPr txBox="1"/>
          <p:nvPr/>
        </p:nvSpPr>
        <p:spPr>
          <a:xfrm>
            <a:off x="1280160" y="3008376"/>
            <a:ext cx="10424160" cy="457200"/>
          </a:xfrm>
          <a:prstGeom prst="rect">
            <a:avLst/>
          </a:prstGeom>
          <a:noFill/>
        </p:spPr>
        <p:txBody>
          <a:bodyPr wrap="square">
            <a:spAutoFit/>
          </a:bodyPr>
          <a:lstStyle/>
          <a:p>
            <a:pPr algn="l">
              <a:spcAft>
                <a:spcPts val="600"/>
              </a:spcAft>
            </a:pPr>
            <a:r>
              <a:rPr sz="1450" b="1">
                <a:solidFill>
                  <a:srgbClr val="0F2138"/>
                </a:solidFill>
                <a:latin typeface="Segoe UI"/>
              </a:rPr>
              <a:t>Feedback — </a:t>
            </a:r>
            <a:r>
              <a:rPr sz="1450" b="0">
                <a:solidFill>
                  <a:srgbClr val="202A36"/>
                </a:solidFill>
                <a:latin typeface="Segoe UI"/>
              </a:rPr>
              <a:t>capture human corrections and turn them into new test cases automatically.</a:t>
            </a:r>
          </a:p>
        </p:txBody>
      </p:sp>
      <p:sp>
        <p:nvSpPr>
          <p:cNvPr id="13" name="Rectangle 12"/>
          <p:cNvSpPr/>
          <p:nvPr/>
        </p:nvSpPr>
        <p:spPr>
          <a:xfrm>
            <a:off x="548640" y="3502152"/>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12</a:t>
            </a:r>
          </a:p>
        </p:txBody>
      </p:sp>
      <p:sp>
        <p:nvSpPr>
          <p:cNvPr id="14" name="TextBox 13"/>
          <p:cNvSpPr txBox="1"/>
          <p:nvPr/>
        </p:nvSpPr>
        <p:spPr>
          <a:xfrm>
            <a:off x="1280160" y="3483864"/>
            <a:ext cx="10424160" cy="457200"/>
          </a:xfrm>
          <a:prstGeom prst="rect">
            <a:avLst/>
          </a:prstGeom>
          <a:noFill/>
        </p:spPr>
        <p:txBody>
          <a:bodyPr wrap="square">
            <a:spAutoFit/>
          </a:bodyPr>
          <a:lstStyle/>
          <a:p>
            <a:pPr algn="l">
              <a:spcAft>
                <a:spcPts val="600"/>
              </a:spcAft>
            </a:pPr>
            <a:r>
              <a:rPr sz="1450" b="1">
                <a:solidFill>
                  <a:srgbClr val="0F2138"/>
                </a:solidFill>
                <a:latin typeface="Segoe UI"/>
              </a:rPr>
              <a:t>FinOps — </a:t>
            </a:r>
            <a:r>
              <a:rPr sz="1450" b="0">
                <a:solidFill>
                  <a:srgbClr val="202A36"/>
                </a:solidFill>
                <a:latin typeface="Segoe UI"/>
              </a:rPr>
              <a:t>cost budgets and spend tracking so we stay in control of the bill.</a:t>
            </a:r>
          </a:p>
        </p:txBody>
      </p:sp>
      <p:sp>
        <p:nvSpPr>
          <p:cNvPr id="15" name="Rectangle 14"/>
          <p:cNvSpPr/>
          <p:nvPr/>
        </p:nvSpPr>
        <p:spPr>
          <a:xfrm>
            <a:off x="548640" y="3977640"/>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13</a:t>
            </a:r>
          </a:p>
        </p:txBody>
      </p:sp>
      <p:sp>
        <p:nvSpPr>
          <p:cNvPr id="16" name="TextBox 15"/>
          <p:cNvSpPr txBox="1"/>
          <p:nvPr/>
        </p:nvSpPr>
        <p:spPr>
          <a:xfrm>
            <a:off x="1280160" y="3959352"/>
            <a:ext cx="10424160" cy="457200"/>
          </a:xfrm>
          <a:prstGeom prst="rect">
            <a:avLst/>
          </a:prstGeom>
          <a:noFill/>
        </p:spPr>
        <p:txBody>
          <a:bodyPr wrap="square">
            <a:spAutoFit/>
          </a:bodyPr>
          <a:lstStyle/>
          <a:p>
            <a:pPr algn="l">
              <a:spcAft>
                <a:spcPts val="600"/>
              </a:spcAft>
            </a:pPr>
            <a:r>
              <a:rPr sz="1450" b="1">
                <a:solidFill>
                  <a:srgbClr val="0F2138"/>
                </a:solidFill>
                <a:latin typeface="Segoe UI"/>
              </a:rPr>
              <a:t>Governance &amp; onboarding — </a:t>
            </a:r>
            <a:r>
              <a:rPr sz="1450" b="0">
                <a:solidFill>
                  <a:srgbClr val="202A36"/>
                </a:solidFill>
                <a:latin typeface="Segoe UI"/>
              </a:rPr>
              <a:t>the step-by-step path to bring a new use case onto the platform.</a:t>
            </a:r>
          </a:p>
        </p:txBody>
      </p:sp>
      <p:sp>
        <p:nvSpPr>
          <p:cNvPr id="17" name="Rectangle 16"/>
          <p:cNvSpPr/>
          <p:nvPr/>
        </p:nvSpPr>
        <p:spPr>
          <a:xfrm>
            <a:off x="548640" y="4453128"/>
            <a:ext cx="566928" cy="38404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rPr>
              <a:t>14</a:t>
            </a:r>
          </a:p>
        </p:txBody>
      </p:sp>
      <p:sp>
        <p:nvSpPr>
          <p:cNvPr id="18" name="TextBox 17"/>
          <p:cNvSpPr txBox="1"/>
          <p:nvPr/>
        </p:nvSpPr>
        <p:spPr>
          <a:xfrm>
            <a:off x="1280160" y="4434840"/>
            <a:ext cx="10424160" cy="457200"/>
          </a:xfrm>
          <a:prstGeom prst="rect">
            <a:avLst/>
          </a:prstGeom>
          <a:noFill/>
        </p:spPr>
        <p:txBody>
          <a:bodyPr wrap="square">
            <a:spAutoFit/>
          </a:bodyPr>
          <a:lstStyle/>
          <a:p>
            <a:pPr algn="l">
              <a:spcAft>
                <a:spcPts val="600"/>
              </a:spcAft>
            </a:pPr>
            <a:r>
              <a:rPr sz="1450" b="1">
                <a:solidFill>
                  <a:srgbClr val="0F2138"/>
                </a:solidFill>
                <a:latin typeface="Segoe UI"/>
              </a:rPr>
              <a:t>Security &amp; compliance — </a:t>
            </a:r>
            <a:r>
              <a:rPr sz="1450" b="0">
                <a:solidFill>
                  <a:srgbClr val="202A36"/>
                </a:solidFill>
                <a:latin typeface="Segoe UI"/>
              </a:rPr>
              <a:t>data-handling and privacy policy, mapped to industry standards.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HOW WE USED IT</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Plugged into the AI Pipeline at one point</a:t>
            </a:r>
          </a:p>
        </p:txBody>
      </p:sp>
      <p:sp>
        <p:nvSpPr>
          <p:cNvPr id="5" name="TextBox 4"/>
          <p:cNvSpPr txBox="1"/>
          <p:nvPr/>
        </p:nvSpPr>
        <p:spPr>
          <a:xfrm>
            <a:off x="548640" y="1554480"/>
            <a:ext cx="10972800" cy="640080"/>
          </a:xfrm>
          <a:prstGeom prst="rect">
            <a:avLst/>
          </a:prstGeom>
          <a:noFill/>
        </p:spPr>
        <p:txBody>
          <a:bodyPr wrap="square">
            <a:spAutoFit/>
          </a:bodyPr>
          <a:lstStyle/>
          <a:p>
            <a:pPr algn="l">
              <a:spcAft>
                <a:spcPts val="600"/>
              </a:spcAft>
            </a:pPr>
            <a:r>
              <a:rPr sz="1600" b="0">
                <a:solidFill>
                  <a:srgbClr val="202A36"/>
                </a:solidFill>
                <a:latin typeface="Segoe UI"/>
              </a:rPr>
              <a:t>APIX turns raw call transcripts into per-agent coaching. It runs in five steps:</a:t>
            </a:r>
          </a:p>
        </p:txBody>
      </p:sp>
      <p:sp>
        <p:nvSpPr>
          <p:cNvPr id="6" name="Rectangle 5"/>
          <p:cNvSpPr/>
          <p:nvPr/>
        </p:nvSpPr>
        <p:spPr>
          <a:xfrm>
            <a:off x="548640" y="2286000"/>
            <a:ext cx="2011680" cy="777240"/>
          </a:xfrm>
          <a:prstGeom prst="rect">
            <a:avLst/>
          </a:prstGeom>
          <a:solidFill>
            <a:srgbClr val="F2F6FB"/>
          </a:solidFill>
          <a:ln w="12700">
            <a:solidFill>
              <a:srgbClr val="CFE0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2138"/>
                </a:solidFill>
              </a:rPr>
              <a:t>Denoise</a:t>
            </a:r>
          </a:p>
        </p:txBody>
      </p:sp>
      <p:sp>
        <p:nvSpPr>
          <p:cNvPr id="7" name="Rectangle 6"/>
          <p:cNvSpPr/>
          <p:nvPr/>
        </p:nvSpPr>
        <p:spPr>
          <a:xfrm>
            <a:off x="2788920" y="2286000"/>
            <a:ext cx="2011680" cy="777240"/>
          </a:xfrm>
          <a:prstGeom prst="rect">
            <a:avLst/>
          </a:prstGeom>
          <a:solidFill>
            <a:srgbClr val="F2F6FB"/>
          </a:solidFill>
          <a:ln w="12700">
            <a:solidFill>
              <a:srgbClr val="CFE0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2138"/>
                </a:solidFill>
              </a:rPr>
              <a:t>Analysis</a:t>
            </a:r>
          </a:p>
        </p:txBody>
      </p:sp>
      <p:sp>
        <p:nvSpPr>
          <p:cNvPr id="8" name="Rectangle 7"/>
          <p:cNvSpPr/>
          <p:nvPr/>
        </p:nvSpPr>
        <p:spPr>
          <a:xfrm>
            <a:off x="5029200" y="2286000"/>
            <a:ext cx="2011680" cy="777240"/>
          </a:xfrm>
          <a:prstGeom prst="rect">
            <a:avLst/>
          </a:prstGeom>
          <a:solidFill>
            <a:srgbClr val="F2F6FB"/>
          </a:solidFill>
          <a:ln w="12700">
            <a:solidFill>
              <a:srgbClr val="CFE0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2138"/>
                </a:solidFill>
              </a:rPr>
              <a:t>Summary</a:t>
            </a:r>
          </a:p>
        </p:txBody>
      </p:sp>
      <p:sp>
        <p:nvSpPr>
          <p:cNvPr id="9" name="Rectangle 8"/>
          <p:cNvSpPr/>
          <p:nvPr/>
        </p:nvSpPr>
        <p:spPr>
          <a:xfrm>
            <a:off x="7269480" y="2286000"/>
            <a:ext cx="2011680" cy="777240"/>
          </a:xfrm>
          <a:prstGeom prst="rect">
            <a:avLst/>
          </a:prstGeom>
          <a:solidFill>
            <a:srgbClr val="F2F6FB"/>
          </a:solidFill>
          <a:ln w="12700">
            <a:solidFill>
              <a:srgbClr val="CFE0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2138"/>
                </a:solidFill>
              </a:rPr>
              <a:t>Metrics</a:t>
            </a:r>
          </a:p>
        </p:txBody>
      </p:sp>
      <p:sp>
        <p:nvSpPr>
          <p:cNvPr id="10" name="Rectangle 9"/>
          <p:cNvSpPr/>
          <p:nvPr/>
        </p:nvSpPr>
        <p:spPr>
          <a:xfrm>
            <a:off x="9509760" y="2286000"/>
            <a:ext cx="2011680" cy="777240"/>
          </a:xfrm>
          <a:prstGeom prst="rect">
            <a:avLst/>
          </a:prstGeom>
          <a:solidFill>
            <a:srgbClr val="F2F6FB"/>
          </a:solidFill>
          <a:ln w="12700">
            <a:solidFill>
              <a:srgbClr val="CFE0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0F2138"/>
                </a:solidFill>
              </a:rPr>
              <a:t>KPI</a:t>
            </a:r>
          </a:p>
        </p:txBody>
      </p:sp>
      <p:sp>
        <p:nvSpPr>
          <p:cNvPr id="11" name="TextBox 10"/>
          <p:cNvSpPr txBox="1"/>
          <p:nvPr/>
        </p:nvSpPr>
        <p:spPr>
          <a:xfrm>
            <a:off x="548640" y="3383280"/>
            <a:ext cx="11155680" cy="822960"/>
          </a:xfrm>
          <a:prstGeom prst="rect">
            <a:avLst/>
          </a:prstGeom>
          <a:noFill/>
        </p:spPr>
        <p:txBody>
          <a:bodyPr wrap="square">
            <a:spAutoFit/>
          </a:bodyPr>
          <a:lstStyle/>
          <a:p>
            <a:pPr algn="l">
              <a:spcAft>
                <a:spcPts val="600"/>
              </a:spcAft>
            </a:pPr>
            <a:r>
              <a:rPr sz="1500" b="0">
                <a:solidFill>
                  <a:srgbClr val="202A36"/>
                </a:solidFill>
                <a:latin typeface="Segoe UI"/>
              </a:rPr>
              <a:t>Every step makes its model calls through one shared function. We added the platform at that single point — so the steps themselves were left untouched.</a:t>
            </a:r>
          </a:p>
        </p:txBody>
      </p:sp>
      <p:sp>
        <p:nvSpPr>
          <p:cNvPr id="12" name="TextBox 11"/>
          <p:cNvSpPr txBox="1"/>
          <p:nvPr/>
        </p:nvSpPr>
        <p:spPr>
          <a:xfrm>
            <a:off x="548640" y="4297680"/>
            <a:ext cx="11155680" cy="1828800"/>
          </a:xfrm>
          <a:prstGeom prst="rect">
            <a:avLst/>
          </a:prstGeom>
          <a:noFill/>
        </p:spPr>
        <p:txBody>
          <a:bodyPr wrap="square">
            <a:spAutoFit/>
          </a:bodyPr>
          <a:lstStyle/>
          <a:p>
            <a:pPr algn="l">
              <a:spcAft>
                <a:spcPts val="1000"/>
              </a:spcAft>
            </a:pPr>
            <a:r>
              <a:rPr sz="1500" b="1">
                <a:solidFill>
                  <a:srgbClr val="3B74C4"/>
                </a:solidFill>
                <a:latin typeface="Segoe UI"/>
              </a:rPr>
              <a:t>•  </a:t>
            </a:r>
            <a:r>
              <a:rPr sz="1500" b="1">
                <a:solidFill>
                  <a:srgbClr val="202A36"/>
                </a:solidFill>
                <a:latin typeface="Segoe UI"/>
              </a:rPr>
              <a:t>At that one point: </a:t>
            </a:r>
            <a:r>
              <a:rPr sz="1500" b="0">
                <a:solidFill>
                  <a:srgbClr val="202A36"/>
                </a:solidFill>
                <a:latin typeface="Segoe UI"/>
              </a:rPr>
              <a:t>pick the right prompt version, run guardrails, choose the model, call it, check the output, and record cost and traces.</a:t>
            </a:r>
          </a:p>
          <a:p>
            <a:pPr algn="l">
              <a:spcAft>
                <a:spcPts val="1000"/>
              </a:spcAft>
            </a:pPr>
            <a:r>
              <a:rPr sz="1500" b="1">
                <a:solidFill>
                  <a:srgbClr val="3B74C4"/>
                </a:solidFill>
                <a:latin typeface="Segoe UI"/>
              </a:rPr>
              <a:t>•  </a:t>
            </a:r>
            <a:r>
              <a:rPr sz="1500" b="1">
                <a:solidFill>
                  <a:srgbClr val="202A36"/>
                </a:solidFill>
                <a:latin typeface="Segoe UI"/>
              </a:rPr>
              <a:t>Low risk. </a:t>
            </a:r>
            <a:r>
              <a:rPr sz="1500" b="0">
                <a:solidFill>
                  <a:srgbClr val="202A36"/>
                </a:solidFill>
                <a:latin typeface="Segoe UI"/>
              </a:rPr>
              <a:t>It's an add-on, not a rewrite — we can switch any part off and the pipeline still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WHERE WE ARE</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What's working today</a:t>
            </a:r>
          </a:p>
        </p:txBody>
      </p:sp>
      <p:sp>
        <p:nvSpPr>
          <p:cNvPr id="5" name="TextBox 4"/>
          <p:cNvSpPr txBox="1"/>
          <p:nvPr/>
        </p:nvSpPr>
        <p:spPr>
          <a:xfrm>
            <a:off x="548640" y="1645920"/>
            <a:ext cx="11155680" cy="3108960"/>
          </a:xfrm>
          <a:prstGeom prst="rect">
            <a:avLst/>
          </a:prstGeom>
          <a:noFill/>
        </p:spPr>
        <p:txBody>
          <a:bodyPr wrap="square">
            <a:spAutoFit/>
          </a:bodyPr>
          <a:lstStyle/>
          <a:p>
            <a:pPr algn="l">
              <a:spcAft>
                <a:spcPts val="1100"/>
              </a:spcAft>
            </a:pPr>
            <a:r>
              <a:rPr sz="1550" b="1">
                <a:solidFill>
                  <a:srgbClr val="3B74C4"/>
                </a:solidFill>
                <a:latin typeface="Segoe UI"/>
              </a:rPr>
              <a:t>•  </a:t>
            </a:r>
            <a:r>
              <a:rPr sz="1550" b="1">
                <a:solidFill>
                  <a:srgbClr val="202A36"/>
                </a:solidFill>
                <a:latin typeface="Segoe UI"/>
              </a:rPr>
              <a:t>Done: </a:t>
            </a:r>
            <a:r>
              <a:rPr sz="1550" b="0">
                <a:solidFill>
                  <a:srgbClr val="202A36"/>
                </a:solidFill>
                <a:latin typeface="Segoe UI"/>
              </a:rPr>
              <a:t>observability &amp; cost, model management, guardrails, prompt versioning, evaluation gate, feedback loop — plus one console to run and operate it all.</a:t>
            </a:r>
          </a:p>
          <a:p>
            <a:pPr algn="l">
              <a:spcAft>
                <a:spcPts val="1100"/>
              </a:spcAft>
            </a:pPr>
            <a:r>
              <a:rPr sz="1550" b="1">
                <a:solidFill>
                  <a:srgbClr val="3B74C4"/>
                </a:solidFill>
                <a:latin typeface="Segoe UI"/>
              </a:rPr>
              <a:t>•  </a:t>
            </a:r>
            <a:r>
              <a:rPr sz="1550" b="1">
                <a:solidFill>
                  <a:srgbClr val="202A36"/>
                </a:solidFill>
                <a:latin typeface="Segoe UI"/>
              </a:rPr>
              <a:t>Prompt change goes live by clicking Activate — </a:t>
            </a:r>
            <a:r>
              <a:rPr sz="1550" b="0">
                <a:solidFill>
                  <a:srgbClr val="202A36"/>
                </a:solidFill>
                <a:latin typeface="Segoe UI"/>
              </a:rPr>
              <a:t>no redeployment needed.</a:t>
            </a:r>
          </a:p>
          <a:p>
            <a:pPr algn="l">
              <a:spcAft>
                <a:spcPts val="1100"/>
              </a:spcAft>
            </a:pPr>
            <a:r>
              <a:rPr sz="1550" b="1">
                <a:solidFill>
                  <a:srgbClr val="3B74C4"/>
                </a:solidFill>
                <a:latin typeface="Segoe UI"/>
              </a:rPr>
              <a:t>•  </a:t>
            </a:r>
            <a:r>
              <a:rPr sz="1550" b="1">
                <a:solidFill>
                  <a:srgbClr val="202A36"/>
                </a:solidFill>
                <a:latin typeface="Segoe UI"/>
              </a:rPr>
              <a:t>PII is flagged for audit, never dropped; </a:t>
            </a:r>
            <a:r>
              <a:rPr sz="1550" b="0">
                <a:solidFill>
                  <a:srgbClr val="202A36"/>
                </a:solidFill>
                <a:latin typeface="Segoe UI"/>
              </a:rPr>
              <a:t>secrets are blocked. Real customer data stays safe.</a:t>
            </a:r>
          </a:p>
          <a:p>
            <a:pPr algn="l">
              <a:spcAft>
                <a:spcPts val="1100"/>
              </a:spcAft>
            </a:pPr>
            <a:r>
              <a:rPr sz="1550" b="1">
                <a:solidFill>
                  <a:srgbClr val="3B74C4"/>
                </a:solidFill>
                <a:latin typeface="Segoe UI"/>
              </a:rPr>
              <a:t>•  </a:t>
            </a:r>
            <a:r>
              <a:rPr sz="1550" b="1">
                <a:solidFill>
                  <a:srgbClr val="202A36"/>
                </a:solidFill>
                <a:latin typeface="Segoe UI"/>
              </a:rPr>
              <a:t>Runs on a locked-down machine — </a:t>
            </a:r>
            <a:r>
              <a:rPr sz="1550" b="0">
                <a:solidFill>
                  <a:srgbClr val="202A36"/>
                </a:solidFill>
                <a:latin typeface="Segoe UI"/>
              </a:rPr>
              <a:t>the demo is plain Python, nothing to install.</a:t>
            </a:r>
          </a:p>
          <a:p>
            <a:pPr algn="l">
              <a:spcAft>
                <a:spcPts val="1100"/>
              </a:spcAft>
            </a:pPr>
            <a:r>
              <a:rPr sz="1550" b="1">
                <a:solidFill>
                  <a:srgbClr val="3B74C4"/>
                </a:solidFill>
                <a:latin typeface="Segoe UI"/>
              </a:rPr>
              <a:t>•  </a:t>
            </a:r>
            <a:r>
              <a:rPr sz="1550" b="1">
                <a:solidFill>
                  <a:srgbClr val="202A36"/>
                </a:solidFill>
                <a:latin typeface="Segoe UI"/>
              </a:rPr>
              <a:t>Next: </a:t>
            </a:r>
            <a:r>
              <a:rPr sz="1550" b="0">
                <a:solidFill>
                  <a:srgbClr val="202A36"/>
                </a:solidFill>
                <a:latin typeface="Segoe UI"/>
              </a:rPr>
              <a:t>send cost and traces to Azure Monitor once the client provides accounts and rates.</a:t>
            </a:r>
          </a:p>
          <a:p>
            <a:pPr algn="l">
              <a:spcAft>
                <a:spcPts val="1100"/>
              </a:spcAft>
            </a:pPr>
            <a:r>
              <a:rPr sz="1550" b="1">
                <a:solidFill>
                  <a:srgbClr val="3B74C4"/>
                </a:solidFill>
                <a:latin typeface="Segoe UI"/>
              </a:rPr>
              <a:t>•  </a:t>
            </a:r>
            <a:r>
              <a:rPr sz="1550" b="1">
                <a:solidFill>
                  <a:srgbClr val="202A36"/>
                </a:solidFill>
                <a:latin typeface="Segoe UI"/>
              </a:rPr>
              <a:t>Ready when needed: </a:t>
            </a:r>
            <a:r>
              <a:rPr sz="1550" b="0">
                <a:solidFill>
                  <a:srgbClr val="202A36"/>
                </a:solidFill>
                <a:latin typeface="Segoe UI"/>
              </a:rPr>
              <a:t>search/RAG, voice, and hosting for the next use case.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HOW WE OPERATE IT</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One console for everything</a:t>
            </a:r>
          </a:p>
        </p:txBody>
      </p:sp>
      <p:sp>
        <p:nvSpPr>
          <p:cNvPr id="5" name="TextBox 4"/>
          <p:cNvSpPr txBox="1"/>
          <p:nvPr/>
        </p:nvSpPr>
        <p:spPr>
          <a:xfrm>
            <a:off x="548640" y="1645920"/>
            <a:ext cx="11155680" cy="3657600"/>
          </a:xfrm>
          <a:prstGeom prst="rect">
            <a:avLst/>
          </a:prstGeom>
          <a:noFill/>
        </p:spPr>
        <p:txBody>
          <a:bodyPr wrap="square">
            <a:spAutoFit/>
          </a:bodyPr>
          <a:lstStyle/>
          <a:p>
            <a:pPr algn="l">
              <a:spcAft>
                <a:spcPts val="1000"/>
              </a:spcAft>
            </a:pPr>
            <a:r>
              <a:rPr sz="1500" b="1">
                <a:solidFill>
                  <a:srgbClr val="3B74C4"/>
                </a:solidFill>
                <a:latin typeface="Segoe UI"/>
              </a:rPr>
              <a:t>•  </a:t>
            </a:r>
            <a:r>
              <a:rPr sz="1500" b="1">
                <a:solidFill>
                  <a:srgbClr val="202A36"/>
                </a:solidFill>
                <a:latin typeface="Segoe UI"/>
              </a:rPr>
              <a:t>Application — </a:t>
            </a:r>
            <a:r>
              <a:rPr sz="1500" b="0">
                <a:solidFill>
                  <a:srgbClr val="202A36"/>
                </a:solidFill>
                <a:latin typeface="Segoe UI"/>
              </a:rPr>
              <a:t>run the pipeline and see the coaching output: KPIs and per-agent scores, reflections, and the calls behind them.</a:t>
            </a:r>
          </a:p>
          <a:p>
            <a:pPr algn="l">
              <a:spcAft>
                <a:spcPts val="1000"/>
              </a:spcAft>
            </a:pPr>
            <a:r>
              <a:rPr sz="1500" b="1">
                <a:solidFill>
                  <a:srgbClr val="3B74C4"/>
                </a:solidFill>
                <a:latin typeface="Segoe UI"/>
              </a:rPr>
              <a:t>•  </a:t>
            </a:r>
            <a:r>
              <a:rPr sz="1500" b="1">
                <a:solidFill>
                  <a:srgbClr val="202A36"/>
                </a:solidFill>
                <a:latin typeface="Segoe UI"/>
              </a:rPr>
              <a:t>Playground — </a:t>
            </a:r>
            <a:r>
              <a:rPr sz="1500" b="0">
                <a:solidFill>
                  <a:srgbClr val="202A36"/>
                </a:solidFill>
                <a:latin typeface="Segoe UI"/>
              </a:rPr>
              <a:t>edit a prompt, pick a model, and score it against known-good examples; see the cost.</a:t>
            </a:r>
          </a:p>
          <a:p>
            <a:pPr algn="l">
              <a:spcAft>
                <a:spcPts val="1000"/>
              </a:spcAft>
            </a:pPr>
            <a:r>
              <a:rPr sz="1500" b="1">
                <a:solidFill>
                  <a:srgbClr val="3B74C4"/>
                </a:solidFill>
                <a:latin typeface="Segoe UI"/>
              </a:rPr>
              <a:t>•  </a:t>
            </a:r>
            <a:r>
              <a:rPr sz="1500" b="1">
                <a:solidFill>
                  <a:srgbClr val="202A36"/>
                </a:solidFill>
                <a:latin typeface="Segoe UI"/>
              </a:rPr>
              <a:t>Evaluation — </a:t>
            </a:r>
            <a:r>
              <a:rPr sz="1500" b="0">
                <a:solidFill>
                  <a:srgbClr val="202A36"/>
                </a:solidFill>
                <a:latin typeface="Segoe UI"/>
              </a:rPr>
              <a:t>quality over time, and per prompt version — the gate before anything ships.</a:t>
            </a:r>
          </a:p>
          <a:p>
            <a:pPr algn="l">
              <a:spcAft>
                <a:spcPts val="1000"/>
              </a:spcAft>
            </a:pPr>
            <a:r>
              <a:rPr sz="1500" b="1">
                <a:solidFill>
                  <a:srgbClr val="3B74C4"/>
                </a:solidFill>
                <a:latin typeface="Segoe UI"/>
              </a:rPr>
              <a:t>•  </a:t>
            </a:r>
            <a:r>
              <a:rPr sz="1500" b="1">
                <a:solidFill>
                  <a:srgbClr val="202A36"/>
                </a:solidFill>
                <a:latin typeface="Segoe UI"/>
              </a:rPr>
              <a:t>Golden datasets — </a:t>
            </a:r>
            <a:r>
              <a:rPr sz="1500" b="0">
                <a:solidFill>
                  <a:srgbClr val="202A36"/>
                </a:solidFill>
                <a:latin typeface="Segoe UI"/>
              </a:rPr>
              <a:t>view, edit, add, or upload the known-good examples we score against.</a:t>
            </a:r>
          </a:p>
          <a:p>
            <a:pPr algn="l">
              <a:spcAft>
                <a:spcPts val="1000"/>
              </a:spcAft>
            </a:pPr>
            <a:r>
              <a:rPr sz="1500" b="1">
                <a:solidFill>
                  <a:srgbClr val="3B74C4"/>
                </a:solidFill>
                <a:latin typeface="Segoe UI"/>
              </a:rPr>
              <a:t>•  </a:t>
            </a:r>
            <a:r>
              <a:rPr sz="1500" b="1">
                <a:solidFill>
                  <a:srgbClr val="202A36"/>
                </a:solidFill>
                <a:latin typeface="Segoe UI"/>
              </a:rPr>
              <a:t>Monitoring — </a:t>
            </a:r>
            <a:r>
              <a:rPr sz="1500" b="0">
                <a:solidFill>
                  <a:srgbClr val="202A36"/>
                </a:solidFill>
                <a:latin typeface="Segoe UI"/>
              </a:rPr>
              <a:t>calls, tokens, cost, time taken, and guardrail activity.</a:t>
            </a:r>
          </a:p>
          <a:p>
            <a:pPr algn="l">
              <a:spcAft>
                <a:spcPts val="1000"/>
              </a:spcAft>
            </a:pPr>
            <a:r>
              <a:rPr sz="1500" b="1">
                <a:solidFill>
                  <a:srgbClr val="3B74C4"/>
                </a:solidFill>
                <a:latin typeface="Segoe UI"/>
              </a:rPr>
              <a:t>•  </a:t>
            </a:r>
            <a:r>
              <a:rPr sz="1500" b="1">
                <a:solidFill>
                  <a:srgbClr val="202A36"/>
                </a:solidFill>
                <a:latin typeface="Segoe UI"/>
              </a:rPr>
              <a:t>Feedback &amp; Guardrails — </a:t>
            </a:r>
            <a:r>
              <a:rPr sz="1500" b="0">
                <a:solidFill>
                  <a:srgbClr val="202A36"/>
                </a:solidFill>
                <a:latin typeface="Segoe UI"/>
              </a:rPr>
              <a:t>coach feedback on calls, and an audit trail of every safety decision.</a:t>
            </a:r>
          </a:p>
        </p:txBody>
      </p:sp>
      <p:sp>
        <p:nvSpPr>
          <p:cNvPr id="6" name="TextBox 5"/>
          <p:cNvSpPr txBox="1"/>
          <p:nvPr/>
        </p:nvSpPr>
        <p:spPr>
          <a:xfrm>
            <a:off x="548640" y="5806440"/>
            <a:ext cx="11155680" cy="640080"/>
          </a:xfrm>
          <a:prstGeom prst="rect">
            <a:avLst/>
          </a:prstGeom>
          <a:noFill/>
        </p:spPr>
        <p:txBody>
          <a:bodyPr wrap="square">
            <a:spAutoFit/>
          </a:bodyPr>
          <a:lstStyle/>
          <a:p>
            <a:pPr algn="l">
              <a:spcAft>
                <a:spcPts val="600"/>
              </a:spcAft>
            </a:pPr>
            <a:r>
              <a:rPr sz="1300" b="1">
                <a:solidFill>
                  <a:srgbClr val="5C6B7D"/>
                </a:solidFill>
                <a:latin typeface="Segoe UI"/>
              </a:rPr>
              <a:t>Note: the demo uses a small sample of made-up call data so it runs anywhere. The same screens show real numbers once we connect live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WHY IT MATTERS TO LEADERSHIP</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Safe and measured by default</a:t>
            </a:r>
          </a:p>
        </p:txBody>
      </p:sp>
      <p:sp>
        <p:nvSpPr>
          <p:cNvPr id="5" name="TextBox 4"/>
          <p:cNvSpPr txBox="1"/>
          <p:nvPr/>
        </p:nvSpPr>
        <p:spPr>
          <a:xfrm>
            <a:off x="548640" y="1737360"/>
            <a:ext cx="11155680" cy="3108960"/>
          </a:xfrm>
          <a:prstGeom prst="rect">
            <a:avLst/>
          </a:prstGeom>
          <a:noFill/>
        </p:spPr>
        <p:txBody>
          <a:bodyPr wrap="square">
            <a:spAutoFit/>
          </a:bodyPr>
          <a:lstStyle/>
          <a:p>
            <a:pPr algn="l">
              <a:spcAft>
                <a:spcPts val="1300"/>
              </a:spcAft>
            </a:pPr>
            <a:r>
              <a:rPr sz="1600" b="1">
                <a:solidFill>
                  <a:srgbClr val="3B74C4"/>
                </a:solidFill>
                <a:latin typeface="Segoe UI"/>
              </a:rPr>
              <a:t>•  </a:t>
            </a:r>
            <a:r>
              <a:rPr sz="1600" b="1">
                <a:solidFill>
                  <a:srgbClr val="202A36"/>
                </a:solidFill>
                <a:latin typeface="Segoe UI"/>
              </a:rPr>
              <a:t>Safety on every call — </a:t>
            </a:r>
            <a:r>
              <a:rPr sz="1600" b="0">
                <a:solidFill>
                  <a:srgbClr val="202A36"/>
                </a:solidFill>
                <a:latin typeface="Segoe UI"/>
              </a:rPr>
              <a:t>PII flagged, secrets blocked, injection checked. Change the policy in one place and it applies everywhere.</a:t>
            </a:r>
          </a:p>
          <a:p>
            <a:pPr algn="l">
              <a:spcAft>
                <a:spcPts val="1300"/>
              </a:spcAft>
            </a:pPr>
            <a:r>
              <a:rPr sz="1600" b="1">
                <a:solidFill>
                  <a:srgbClr val="3B74C4"/>
                </a:solidFill>
                <a:latin typeface="Segoe UI"/>
              </a:rPr>
              <a:t>•  </a:t>
            </a:r>
            <a:r>
              <a:rPr sz="1600" b="1">
                <a:solidFill>
                  <a:srgbClr val="202A36"/>
                </a:solidFill>
                <a:latin typeface="Segoe UI"/>
              </a:rPr>
              <a:t>Nothing is a black box — </a:t>
            </a:r>
            <a:r>
              <a:rPr sz="1600" b="0">
                <a:solidFill>
                  <a:srgbClr val="202A36"/>
                </a:solidFill>
                <a:latin typeface="Segoe UI"/>
              </a:rPr>
              <a:t>every model call is traced with its cost and time.</a:t>
            </a:r>
          </a:p>
          <a:p>
            <a:pPr algn="l">
              <a:spcAft>
                <a:spcPts val="1300"/>
              </a:spcAft>
            </a:pPr>
            <a:r>
              <a:rPr sz="1600" b="1">
                <a:solidFill>
                  <a:srgbClr val="3B74C4"/>
                </a:solidFill>
                <a:latin typeface="Segoe UI"/>
              </a:rPr>
              <a:t>•  </a:t>
            </a:r>
            <a:r>
              <a:rPr sz="1600" b="1">
                <a:solidFill>
                  <a:srgbClr val="202A36"/>
                </a:solidFill>
                <a:latin typeface="Segoe UI"/>
              </a:rPr>
              <a:t>Cost is a first-class number — </a:t>
            </a:r>
            <a:r>
              <a:rPr sz="1600" b="0">
                <a:solidFill>
                  <a:srgbClr val="202A36"/>
                </a:solidFill>
                <a:latin typeface="Segoe UI"/>
              </a:rPr>
              <a:t>track spend live, and use a cheaper model for bulk steps to save.</a:t>
            </a:r>
          </a:p>
          <a:p>
            <a:pPr algn="l">
              <a:spcAft>
                <a:spcPts val="1300"/>
              </a:spcAft>
            </a:pPr>
            <a:r>
              <a:rPr sz="1600" b="1">
                <a:solidFill>
                  <a:srgbClr val="3B74C4"/>
                </a:solidFill>
                <a:latin typeface="Segoe UI"/>
              </a:rPr>
              <a:t>•  </a:t>
            </a:r>
            <a:r>
              <a:rPr sz="1600" b="1">
                <a:solidFill>
                  <a:srgbClr val="202A36"/>
                </a:solidFill>
                <a:latin typeface="Segoe UI"/>
              </a:rPr>
              <a:t>Same rules for the next use case — </a:t>
            </a:r>
            <a:r>
              <a:rPr sz="1600" b="0">
                <a:solidFill>
                  <a:srgbClr val="202A36"/>
                </a:solidFill>
                <a:latin typeface="Segoe UI"/>
              </a:rPr>
              <a:t>it inherits this safety and cost story automatically.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3B74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365760"/>
          </a:xfrm>
          <a:prstGeom prst="rect">
            <a:avLst/>
          </a:prstGeom>
          <a:noFill/>
        </p:spPr>
        <p:txBody>
          <a:bodyPr wrap="square">
            <a:spAutoFit/>
          </a:bodyPr>
          <a:lstStyle/>
          <a:p>
            <a:pPr algn="l">
              <a:spcAft>
                <a:spcPts val="600"/>
              </a:spcAft>
            </a:pPr>
            <a:r>
              <a:rPr sz="1200" b="1">
                <a:solidFill>
                  <a:srgbClr val="3B74C4"/>
                </a:solidFill>
                <a:latin typeface="Segoe UI"/>
              </a:rPr>
              <a:t>WHAT WE NEED FROM YOU</a:t>
            </a:r>
          </a:p>
        </p:txBody>
      </p:sp>
      <p:sp>
        <p:nvSpPr>
          <p:cNvPr id="4" name="TextBox 3"/>
          <p:cNvSpPr txBox="1"/>
          <p:nvPr/>
        </p:nvSpPr>
        <p:spPr>
          <a:xfrm>
            <a:off x="548640" y="640080"/>
            <a:ext cx="11155680" cy="822960"/>
          </a:xfrm>
          <a:prstGeom prst="rect">
            <a:avLst/>
          </a:prstGeom>
          <a:noFill/>
        </p:spPr>
        <p:txBody>
          <a:bodyPr wrap="square">
            <a:spAutoFit/>
          </a:bodyPr>
          <a:lstStyle/>
          <a:p>
            <a:pPr algn="l">
              <a:spcAft>
                <a:spcPts val="600"/>
              </a:spcAft>
            </a:pPr>
            <a:r>
              <a:rPr sz="3000" b="1">
                <a:solidFill>
                  <a:srgbClr val="0F2138"/>
                </a:solidFill>
                <a:latin typeface="Segoe UI"/>
              </a:rPr>
              <a:t>A few decisions to move forward</a:t>
            </a:r>
          </a:p>
        </p:txBody>
      </p:sp>
      <p:sp>
        <p:nvSpPr>
          <p:cNvPr id="5" name="TextBox 4"/>
          <p:cNvSpPr txBox="1"/>
          <p:nvPr/>
        </p:nvSpPr>
        <p:spPr>
          <a:xfrm>
            <a:off x="548640" y="1737360"/>
            <a:ext cx="11155680" cy="3291840"/>
          </a:xfrm>
          <a:prstGeom prst="rect">
            <a:avLst/>
          </a:prstGeom>
          <a:noFill/>
        </p:spPr>
        <p:txBody>
          <a:bodyPr wrap="square">
            <a:spAutoFit/>
          </a:bodyPr>
          <a:lstStyle/>
          <a:p>
            <a:pPr algn="l">
              <a:spcAft>
                <a:spcPts val="1100"/>
              </a:spcAft>
            </a:pPr>
            <a:r>
              <a:rPr sz="1550" b="1">
                <a:solidFill>
                  <a:srgbClr val="3B74C4"/>
                </a:solidFill>
                <a:latin typeface="Segoe UI"/>
              </a:rPr>
              <a:t>•  </a:t>
            </a:r>
            <a:r>
              <a:rPr sz="1550" b="1">
                <a:solidFill>
                  <a:srgbClr val="202A36"/>
                </a:solidFill>
                <a:latin typeface="Segoe UI"/>
              </a:rPr>
              <a:t>Azure accounts and environments — </a:t>
            </a:r>
            <a:r>
              <a:rPr sz="1550" b="0">
                <a:solidFill>
                  <a:srgbClr val="202A36"/>
                </a:solidFill>
                <a:latin typeface="Segoe UI"/>
              </a:rPr>
              <a:t>where we run, and dev/test/prod split.</a:t>
            </a:r>
          </a:p>
          <a:p>
            <a:pPr algn="l">
              <a:spcAft>
                <a:spcPts val="1100"/>
              </a:spcAft>
            </a:pPr>
            <a:r>
              <a:rPr sz="1550" b="1">
                <a:solidFill>
                  <a:srgbClr val="3B74C4"/>
                </a:solidFill>
                <a:latin typeface="Segoe UI"/>
              </a:rPr>
              <a:t>•  </a:t>
            </a:r>
            <a:r>
              <a:rPr sz="1550" b="1">
                <a:solidFill>
                  <a:srgbClr val="202A36"/>
                </a:solidFill>
                <a:latin typeface="Segoe UI"/>
              </a:rPr>
              <a:t>Approved models and their real rates — </a:t>
            </a:r>
            <a:r>
              <a:rPr sz="1550" b="0">
                <a:solidFill>
                  <a:srgbClr val="202A36"/>
                </a:solidFill>
                <a:latin typeface="Segoe UI"/>
              </a:rPr>
              <a:t>turns cost tracking into exact numbers.</a:t>
            </a:r>
          </a:p>
          <a:p>
            <a:pPr algn="l">
              <a:spcAft>
                <a:spcPts val="1100"/>
              </a:spcAft>
            </a:pPr>
            <a:r>
              <a:rPr sz="1550" b="1">
                <a:solidFill>
                  <a:srgbClr val="3B74C4"/>
                </a:solidFill>
                <a:latin typeface="Segoe UI"/>
              </a:rPr>
              <a:t>•  </a:t>
            </a:r>
            <a:r>
              <a:rPr sz="1550" b="1">
                <a:solidFill>
                  <a:srgbClr val="202A36"/>
                </a:solidFill>
                <a:latin typeface="Segoe UI"/>
              </a:rPr>
              <a:t>PII policy — </a:t>
            </a:r>
            <a:r>
              <a:rPr sz="1550" b="0">
                <a:solidFill>
                  <a:srgbClr val="202A36"/>
                </a:solidFill>
                <a:latin typeface="Segoe UI"/>
              </a:rPr>
              <a:t>flag for audit (today) or mask/redact; anything that must be hard-blocked.</a:t>
            </a:r>
          </a:p>
          <a:p>
            <a:pPr algn="l">
              <a:spcAft>
                <a:spcPts val="1100"/>
              </a:spcAft>
            </a:pPr>
            <a:r>
              <a:rPr sz="1550" b="1">
                <a:solidFill>
                  <a:srgbClr val="3B74C4"/>
                </a:solidFill>
                <a:latin typeface="Segoe UI"/>
              </a:rPr>
              <a:t>•  </a:t>
            </a:r>
            <a:r>
              <a:rPr sz="1550" b="1">
                <a:solidFill>
                  <a:srgbClr val="202A36"/>
                </a:solidFill>
                <a:latin typeface="Segoe UI"/>
              </a:rPr>
              <a:t>Ground-truth examples — </a:t>
            </a:r>
            <a:r>
              <a:rPr sz="1550" b="0">
                <a:solidFill>
                  <a:srgbClr val="202A36"/>
                </a:solidFill>
                <a:latin typeface="Segoe UI"/>
              </a:rPr>
              <a:t>who owns them, and a first small batch for APIX.</a:t>
            </a:r>
          </a:p>
          <a:p>
            <a:pPr algn="l">
              <a:spcAft>
                <a:spcPts val="1100"/>
              </a:spcAft>
            </a:pPr>
            <a:r>
              <a:rPr sz="1550" b="1">
                <a:solidFill>
                  <a:srgbClr val="3B74C4"/>
                </a:solidFill>
                <a:latin typeface="Segoe UI"/>
              </a:rPr>
              <a:t>•  </a:t>
            </a:r>
            <a:r>
              <a:rPr sz="1550" b="1">
                <a:solidFill>
                  <a:srgbClr val="202A36"/>
                </a:solidFill>
                <a:latin typeface="Segoe UI"/>
              </a:rPr>
              <a:t>Human sign-off — </a:t>
            </a:r>
            <a:r>
              <a:rPr sz="1550" b="0">
                <a:solidFill>
                  <a:srgbClr val="202A36"/>
                </a:solidFill>
                <a:latin typeface="Segoe UI"/>
              </a:rPr>
              <a:t>do coaches approve the AI's notes before agents see them?</a:t>
            </a:r>
          </a:p>
          <a:p>
            <a:pPr algn="l">
              <a:spcAft>
                <a:spcPts val="1100"/>
              </a:spcAft>
            </a:pPr>
            <a:r>
              <a:rPr sz="1550" b="1">
                <a:solidFill>
                  <a:srgbClr val="3B74C4"/>
                </a:solidFill>
                <a:latin typeface="Segoe UI"/>
              </a:rPr>
              <a:t>•  </a:t>
            </a:r>
            <a:r>
              <a:rPr sz="1550" b="1">
                <a:solidFill>
                  <a:srgbClr val="202A36"/>
                </a:solidFill>
                <a:latin typeface="Segoe UI"/>
              </a:rPr>
              <a:t>The next use case — </a:t>
            </a:r>
            <a:r>
              <a:rPr sz="1550" b="0">
                <a:solidFill>
                  <a:srgbClr val="202A36"/>
                </a:solidFill>
                <a:latin typeface="Segoe UI"/>
              </a:rPr>
              <a:t>which one to onboard to prove reuse (voice, performance index, hiring).</a:t>
            </a:r>
          </a:p>
        </p:txBody>
      </p:sp>
      <p:sp>
        <p:nvSpPr>
          <p:cNvPr id="6" name="TextBox 5"/>
          <p:cNvSpPr txBox="1"/>
          <p:nvPr/>
        </p:nvSpPr>
        <p:spPr>
          <a:xfrm>
            <a:off x="548640" y="5852160"/>
            <a:ext cx="11155680" cy="548640"/>
          </a:xfrm>
          <a:prstGeom prst="rect">
            <a:avLst/>
          </a:prstGeom>
          <a:noFill/>
        </p:spPr>
        <p:txBody>
          <a:bodyPr wrap="square">
            <a:spAutoFit/>
          </a:bodyPr>
          <a:lstStyle/>
          <a:p>
            <a:pPr algn="l">
              <a:spcAft>
                <a:spcPts val="600"/>
              </a:spcAft>
            </a:pPr>
            <a:r>
              <a:rPr sz="1400" b="1">
                <a:solidFill>
                  <a:srgbClr val="2BB8A3"/>
                </a:solidFill>
                <a:latin typeface="Segoe UI"/>
              </a:rPr>
              <a:t>If we get the first four, we can take APIX live and start the next use case at the same 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10515600" cy="1097280"/>
          </a:xfrm>
          <a:prstGeom prst="rect">
            <a:avLst/>
          </a:prstGeom>
          <a:noFill/>
        </p:spPr>
        <p:txBody>
          <a:bodyPr wrap="square">
            <a:spAutoFit/>
          </a:bodyPr>
          <a:lstStyle/>
          <a:p>
            <a:pPr algn="l">
              <a:spcAft>
                <a:spcPts val="600"/>
              </a:spcAft>
            </a:pPr>
            <a:r>
              <a:rPr sz="4000" b="1">
                <a:solidFill>
                  <a:srgbClr val="FFFFFF"/>
                </a:solidFill>
                <a:latin typeface="Segoe UI"/>
              </a:rPr>
              <a:t>Build once. Onboard many.</a:t>
            </a:r>
          </a:p>
        </p:txBody>
      </p:sp>
      <p:sp>
        <p:nvSpPr>
          <p:cNvPr id="4" name="TextBox 3"/>
          <p:cNvSpPr txBox="1"/>
          <p:nvPr/>
        </p:nvSpPr>
        <p:spPr>
          <a:xfrm>
            <a:off x="822960" y="2286000"/>
            <a:ext cx="10515600" cy="914400"/>
          </a:xfrm>
          <a:prstGeom prst="rect">
            <a:avLst/>
          </a:prstGeom>
          <a:noFill/>
        </p:spPr>
        <p:txBody>
          <a:bodyPr wrap="square">
            <a:spAutoFit/>
          </a:bodyPr>
          <a:lstStyle/>
          <a:p>
            <a:pPr algn="l">
              <a:spcAft>
                <a:spcPts val="600"/>
              </a:spcAft>
            </a:pPr>
            <a:r>
              <a:rPr sz="1800" b="0">
                <a:solidFill>
                  <a:srgbClr val="D5E1F0"/>
                </a:solidFill>
                <a:latin typeface="Segoe UI"/>
              </a:rPr>
              <a:t>APIX proved the platform works. The next use case reuses the same guardrails, cost controls, and console — and lands in weeks.</a:t>
            </a:r>
          </a:p>
        </p:txBody>
      </p:sp>
      <p:sp>
        <p:nvSpPr>
          <p:cNvPr id="5" name="TextBox 4"/>
          <p:cNvSpPr txBox="1"/>
          <p:nvPr/>
        </p:nvSpPr>
        <p:spPr>
          <a:xfrm>
            <a:off x="822960" y="3566160"/>
            <a:ext cx="10515600" cy="1828800"/>
          </a:xfrm>
          <a:prstGeom prst="rect">
            <a:avLst/>
          </a:prstGeom>
          <a:noFill/>
        </p:spPr>
        <p:txBody>
          <a:bodyPr wrap="square">
            <a:spAutoFit/>
          </a:bodyPr>
          <a:lstStyle/>
          <a:p>
            <a:pPr algn="l">
              <a:spcAft>
                <a:spcPts val="1200"/>
              </a:spcAft>
            </a:pPr>
            <a:r>
              <a:rPr sz="1700" b="1">
                <a:solidFill>
                  <a:srgbClr val="2BB8A3"/>
                </a:solidFill>
                <a:latin typeface="Segoe UI"/>
              </a:rPr>
              <a:t>•  </a:t>
            </a:r>
            <a:r>
              <a:rPr sz="1700" b="0">
                <a:solidFill>
                  <a:srgbClr val="EAF1FB"/>
                </a:solidFill>
                <a:latin typeface="Segoe UI"/>
              </a:rPr>
              <a:t>Voice Agent — adds voice; reuses everything else.</a:t>
            </a:r>
          </a:p>
          <a:p>
            <a:pPr algn="l">
              <a:spcAft>
                <a:spcPts val="1200"/>
              </a:spcAft>
            </a:pPr>
            <a:r>
              <a:rPr sz="1700" b="1">
                <a:solidFill>
                  <a:srgbClr val="2BB8A3"/>
                </a:solidFill>
                <a:latin typeface="Segoe UI"/>
              </a:rPr>
              <a:t>•  </a:t>
            </a:r>
            <a:r>
              <a:rPr sz="1700" b="0">
                <a:solidFill>
                  <a:srgbClr val="EAF1FB"/>
                </a:solidFill>
                <a:latin typeface="Segoe UI"/>
              </a:rPr>
              <a:t>Performance Index — reuses the exact APIX analysis approach.</a:t>
            </a:r>
          </a:p>
          <a:p>
            <a:pPr algn="l">
              <a:spcAft>
                <a:spcPts val="1200"/>
              </a:spcAft>
            </a:pPr>
            <a:r>
              <a:rPr sz="1700" b="1">
                <a:solidFill>
                  <a:srgbClr val="2BB8A3"/>
                </a:solidFill>
                <a:latin typeface="Segoe UI"/>
              </a:rPr>
              <a:t>•  </a:t>
            </a:r>
            <a:r>
              <a:rPr sz="1700" b="0">
                <a:solidFill>
                  <a:srgbClr val="EAF1FB"/>
                </a:solidFill>
                <a:latin typeface="Segoe UI"/>
              </a:rPr>
              <a:t>Hiring Intelligence — reuses guardrails and human sign-off.</a:t>
            </a:r>
          </a:p>
        </p:txBody>
      </p:sp>
      <p:sp>
        <p:nvSpPr>
          <p:cNvPr id="6" name="TextBox 5"/>
          <p:cNvSpPr txBox="1"/>
          <p:nvPr/>
        </p:nvSpPr>
        <p:spPr>
          <a:xfrm>
            <a:off x="822960" y="5577840"/>
            <a:ext cx="10515600" cy="640080"/>
          </a:xfrm>
          <a:prstGeom prst="rect">
            <a:avLst/>
          </a:prstGeom>
          <a:noFill/>
        </p:spPr>
        <p:txBody>
          <a:bodyPr wrap="square">
            <a:spAutoFit/>
          </a:bodyPr>
          <a:lstStyle/>
          <a:p>
            <a:pPr algn="l">
              <a:spcAft>
                <a:spcPts val="600"/>
              </a:spcAft>
            </a:pPr>
            <a:r>
              <a:rPr sz="1600" b="1">
                <a:solidFill>
                  <a:srgbClr val="9FD8CC"/>
                </a:solidFill>
                <a:latin typeface="Segoe UI"/>
              </a:rPr>
              <a:t>The ask: approve the decisions, and let us take APIX live and start use case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